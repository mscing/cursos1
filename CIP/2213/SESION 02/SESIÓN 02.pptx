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311" r:id="rId2"/>
    <p:sldId id="313" r:id="rId3"/>
    <p:sldId id="314" r:id="rId4"/>
    <p:sldId id="315" r:id="rId5"/>
    <p:sldId id="316" r:id="rId6"/>
    <p:sldId id="317" r:id="rId7"/>
    <p:sldId id="318" r:id="rId8"/>
    <p:sldId id="319" r:id="rId9"/>
    <p:sldId id="320" r:id="rId10"/>
    <p:sldId id="321" r:id="rId11"/>
    <p:sldId id="322" r:id="rId12"/>
    <p:sldId id="323" r:id="rId13"/>
    <p:sldId id="324" r:id="rId14"/>
    <p:sldId id="325" r:id="rId15"/>
    <p:sldId id="326" r:id="rId16"/>
    <p:sldId id="327" r:id="rId17"/>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34" autoAdjust="0"/>
    <p:restoredTop sz="94660"/>
  </p:normalViewPr>
  <p:slideViewPr>
    <p:cSldViewPr snapToGrid="0">
      <p:cViewPr varScale="1">
        <p:scale>
          <a:sx n="65" d="100"/>
          <a:sy n="65" d="100"/>
        </p:scale>
        <p:origin x="732"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7CEF1F-FE78-42FF-AFD8-D6E650E5D1AE}" type="datetimeFigureOut">
              <a:rPr lang="es-PE" smtClean="0"/>
              <a:t>28/10/2024</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F3D5AA-2868-47D7-9A31-16DC9A147307}" type="slidenum">
              <a:rPr lang="es-PE" smtClean="0"/>
              <a:t>‹Nº›</a:t>
            </a:fld>
            <a:endParaRPr lang="es-PE"/>
          </a:p>
        </p:txBody>
      </p:sp>
    </p:spTree>
    <p:extLst>
      <p:ext uri="{BB962C8B-B14F-4D97-AF65-F5344CB8AC3E}">
        <p14:creationId xmlns:p14="http://schemas.microsoft.com/office/powerpoint/2010/main" val="3647093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1860827" y="5265683"/>
            <a:ext cx="6495393" cy="409904"/>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editar el estilo de subtítulo del patrón</a:t>
            </a:r>
            <a:endParaRPr lang="es-PE" dirty="0"/>
          </a:p>
        </p:txBody>
      </p:sp>
      <p:sp>
        <p:nvSpPr>
          <p:cNvPr id="4" name="Marcador de fecha 3"/>
          <p:cNvSpPr>
            <a:spLocks noGrp="1"/>
          </p:cNvSpPr>
          <p:nvPr>
            <p:ph type="dt" sz="half" idx="10"/>
          </p:nvPr>
        </p:nvSpPr>
        <p:spPr/>
        <p:txBody>
          <a:bodyPr/>
          <a:lstStyle/>
          <a:p>
            <a:fld id="{06D8BD8A-34F6-4620-907D-6D1CD67ED4DA}" type="datetimeFigureOut">
              <a:rPr lang="es-PE" smtClean="0"/>
              <a:t>28/10/2024</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
        <p:nvSpPr>
          <p:cNvPr id="7" name="Rectángulo 6"/>
          <p:cNvSpPr/>
          <p:nvPr userDrawn="1"/>
        </p:nvSpPr>
        <p:spPr>
          <a:xfrm>
            <a:off x="0" y="0"/>
            <a:ext cx="727364" cy="6858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13" name="Rectángulo redondeado 12"/>
          <p:cNvSpPr/>
          <p:nvPr userDrawn="1"/>
        </p:nvSpPr>
        <p:spPr>
          <a:xfrm>
            <a:off x="3078455" y="2611903"/>
            <a:ext cx="6508531" cy="620111"/>
          </a:xfrm>
          <a:prstGeom prst="roundRect">
            <a:avLst>
              <a:gd name="adj" fmla="val 50000"/>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pic>
        <p:nvPicPr>
          <p:cNvPr id="16" name="Imagen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02304" y="4539723"/>
            <a:ext cx="1559792" cy="783020"/>
          </a:xfrm>
          <a:prstGeom prst="rect">
            <a:avLst/>
          </a:prstGeom>
        </p:spPr>
      </p:pic>
      <p:sp>
        <p:nvSpPr>
          <p:cNvPr id="2" name="AutoShape 2" descr="Resultado de imagen para word.png"/>
          <p:cNvSpPr>
            <a:spLocks noChangeAspect="1" noChangeArrowheads="1"/>
          </p:cNvSpPr>
          <p:nvPr userDrawn="1"/>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PE"/>
          </a:p>
        </p:txBody>
      </p:sp>
      <p:pic>
        <p:nvPicPr>
          <p:cNvPr id="9" name="Picture 2" descr="Resultado de imagen para icono excel.png"/>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4759" t="2527" r="24871" b="9594"/>
          <a:stretch/>
        </p:blipFill>
        <p:spPr bwMode="auto">
          <a:xfrm>
            <a:off x="10869966" y="4518551"/>
            <a:ext cx="967667" cy="82536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Resultado de imagen para colegio de ingenieros del peru lambayeque"/>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158372" y="160338"/>
            <a:ext cx="1647680" cy="1647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226055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mato de Sesión">
    <p:spTree>
      <p:nvGrpSpPr>
        <p:cNvPr id="1" name=""/>
        <p:cNvGrpSpPr/>
        <p:nvPr/>
      </p:nvGrpSpPr>
      <p:grpSpPr>
        <a:xfrm>
          <a:off x="0" y="0"/>
          <a:ext cx="0" cy="0"/>
          <a:chOff x="0" y="0"/>
          <a:chExt cx="0" cy="0"/>
        </a:xfrm>
      </p:grpSpPr>
      <p:pic>
        <p:nvPicPr>
          <p:cNvPr id="10"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387812"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4" name="Marcador de fecha 3"/>
          <p:cNvSpPr>
            <a:spLocks noGrp="1"/>
          </p:cNvSpPr>
          <p:nvPr>
            <p:ph type="dt" sz="half" idx="10"/>
          </p:nvPr>
        </p:nvSpPr>
        <p:spPr/>
        <p:txBody>
          <a:bodyPr/>
          <a:lstStyle/>
          <a:p>
            <a:fld id="{06D8BD8A-34F6-4620-907D-6D1CD67ED4DA}" type="datetimeFigureOut">
              <a:rPr lang="es-PE" smtClean="0"/>
              <a:t>28/10/2024</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
        <p:nvSpPr>
          <p:cNvPr id="7" name="Rectángulo 6"/>
          <p:cNvSpPr/>
          <p:nvPr userDrawn="1"/>
        </p:nvSpPr>
        <p:spPr>
          <a:xfrm rot="5400000">
            <a:off x="5732318" y="-5732318"/>
            <a:ext cx="72736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9" name="Marcador de texto 8"/>
          <p:cNvSpPr>
            <a:spLocks noGrp="1"/>
          </p:cNvSpPr>
          <p:nvPr>
            <p:ph type="body" sz="quarter" idx="13"/>
          </p:nvPr>
        </p:nvSpPr>
        <p:spPr>
          <a:xfrm>
            <a:off x="838200" y="2459181"/>
            <a:ext cx="10515600" cy="3668350"/>
          </a:xfrm>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11" name="Título 10"/>
          <p:cNvSpPr>
            <a:spLocks noGrp="1"/>
          </p:cNvSpPr>
          <p:nvPr>
            <p:ph type="title"/>
          </p:nvPr>
        </p:nvSpPr>
        <p:spPr>
          <a:xfrm>
            <a:off x="838200" y="953704"/>
            <a:ext cx="10515600" cy="1325563"/>
          </a:xfrm>
        </p:spPr>
        <p:txBody>
          <a:bodyPr/>
          <a:lstStyle/>
          <a:p>
            <a:r>
              <a:rPr lang="es-ES"/>
              <a:t>Haga clic para modificar el estilo de título del patrón</a:t>
            </a:r>
            <a:endParaRPr lang="es-PE"/>
          </a:p>
        </p:txBody>
      </p:sp>
    </p:spTree>
    <p:extLst>
      <p:ext uri="{BB962C8B-B14F-4D97-AF65-F5344CB8AC3E}">
        <p14:creationId xmlns:p14="http://schemas.microsoft.com/office/powerpoint/2010/main" val="22516504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9"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642206"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p:cNvSpPr/>
          <p:nvPr userDrawn="1"/>
        </p:nvSpPr>
        <p:spPr>
          <a:xfrm rot="5400000">
            <a:off x="5234873" y="-5233430"/>
            <a:ext cx="172225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2" name="Título 1"/>
          <p:cNvSpPr>
            <a:spLocks noGrp="1"/>
          </p:cNvSpPr>
          <p:nvPr>
            <p:ph type="title"/>
          </p:nvPr>
        </p:nvSpPr>
        <p:spPr>
          <a:xfrm>
            <a:off x="838200" y="250753"/>
            <a:ext cx="10515600" cy="1325563"/>
          </a:xfrm>
        </p:spPr>
        <p:txBody>
          <a:bodyPr/>
          <a:lstStyle/>
          <a:p>
            <a:r>
              <a:rPr lang="es-ES"/>
              <a:t>Haga clic para modificar el estilo de título del patrón</a:t>
            </a:r>
            <a:endParaRPr lang="es-PE"/>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28/10/2024</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40169328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06D8BD8A-34F6-4620-907D-6D1CD67ED4DA}" type="datetimeFigureOut">
              <a:rPr lang="es-PE" smtClean="0"/>
              <a:t>28/10/2024</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70447625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9"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642206"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p:cNvSpPr/>
          <p:nvPr userDrawn="1"/>
        </p:nvSpPr>
        <p:spPr>
          <a:xfrm rot="5400000">
            <a:off x="5234873" y="-5234873"/>
            <a:ext cx="172225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2" name="Título 1"/>
          <p:cNvSpPr>
            <a:spLocks noGrp="1"/>
          </p:cNvSpPr>
          <p:nvPr>
            <p:ph type="title"/>
          </p:nvPr>
        </p:nvSpPr>
        <p:spPr>
          <a:xfrm>
            <a:off x="838200" y="330200"/>
            <a:ext cx="10515600" cy="1325563"/>
          </a:xfrm>
        </p:spPr>
        <p:txBody>
          <a:bodyPr/>
          <a:lstStyle/>
          <a:p>
            <a:r>
              <a:rPr lang="es-ES"/>
              <a:t>Haga clic para modificar el estilo de título del patrón</a:t>
            </a:r>
            <a:endParaRPr lang="es-PE"/>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p:cNvSpPr>
            <a:spLocks noGrp="1"/>
          </p:cNvSpPr>
          <p:nvPr>
            <p:ph type="dt" sz="half" idx="10"/>
          </p:nvPr>
        </p:nvSpPr>
        <p:spPr/>
        <p:txBody>
          <a:bodyPr/>
          <a:lstStyle/>
          <a:p>
            <a:fld id="{06D8BD8A-34F6-4620-907D-6D1CD67ED4DA}" type="datetimeFigureOut">
              <a:rPr lang="es-PE" smtClean="0"/>
              <a:t>28/10/2024</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73095632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p:cNvSpPr>
            <a:spLocks noGrp="1"/>
          </p:cNvSpPr>
          <p:nvPr>
            <p:ph type="dt" sz="half" idx="10"/>
          </p:nvPr>
        </p:nvSpPr>
        <p:spPr/>
        <p:txBody>
          <a:bodyPr/>
          <a:lstStyle/>
          <a:p>
            <a:fld id="{06D8BD8A-34F6-4620-907D-6D1CD67ED4DA}" type="datetimeFigureOut">
              <a:rPr lang="es-PE" smtClean="0"/>
              <a:t>28/10/2024</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99063604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fecha 2"/>
          <p:cNvSpPr>
            <a:spLocks noGrp="1"/>
          </p:cNvSpPr>
          <p:nvPr>
            <p:ph type="dt" sz="half" idx="10"/>
          </p:nvPr>
        </p:nvSpPr>
        <p:spPr/>
        <p:txBody>
          <a:bodyPr/>
          <a:lstStyle/>
          <a:p>
            <a:fld id="{06D8BD8A-34F6-4620-907D-6D1CD67ED4DA}" type="datetimeFigureOut">
              <a:rPr lang="es-PE" smtClean="0"/>
              <a:t>28/10/2024</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339929191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06D8BD8A-34F6-4620-907D-6D1CD67ED4DA}" type="datetimeFigureOut">
              <a:rPr lang="es-PE" smtClean="0"/>
              <a:t>28/10/2024</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07483457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06D8BD8A-34F6-4620-907D-6D1CD67ED4DA}" type="datetimeFigureOut">
              <a:rPr lang="es-PE" smtClean="0"/>
              <a:t>28/10/2024</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41753097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06D8BD8A-34F6-4620-907D-6D1CD67ED4DA}" type="datetimeFigureOut">
              <a:rPr lang="es-PE" smtClean="0"/>
              <a:t>28/10/2024</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424330554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28/10/2024</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43487580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28/10/2024</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3372347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D8BD8A-34F6-4620-907D-6D1CD67ED4DA}" type="datetimeFigureOut">
              <a:rPr lang="es-PE" smtClean="0"/>
              <a:t>28/10/2024</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40BBE2-C205-44BA-AF9E-D64C0961F059}" type="slidenum">
              <a:rPr lang="es-PE" smtClean="0"/>
              <a:t>‹Nº›</a:t>
            </a:fld>
            <a:endParaRPr lang="es-PE"/>
          </a:p>
        </p:txBody>
      </p:sp>
    </p:spTree>
    <p:extLst>
      <p:ext uri="{BB962C8B-B14F-4D97-AF65-F5344CB8AC3E}">
        <p14:creationId xmlns:p14="http://schemas.microsoft.com/office/powerpoint/2010/main" val="151470313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CuadroTexto 3"/>
          <p:cNvSpPr txBox="1">
            <a:spLocks noChangeArrowheads="1"/>
          </p:cNvSpPr>
          <p:nvPr/>
        </p:nvSpPr>
        <p:spPr bwMode="auto">
          <a:xfrm>
            <a:off x="3839577" y="2655888"/>
            <a:ext cx="45612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s-ES" altLang="es-PE" sz="2800" b="1" dirty="0">
                <a:solidFill>
                  <a:schemeClr val="bg1"/>
                </a:solidFill>
              </a:rPr>
              <a:t>SESIÓN 02: EXCEL AVANZADO</a:t>
            </a:r>
          </a:p>
        </p:txBody>
      </p:sp>
      <p:sp>
        <p:nvSpPr>
          <p:cNvPr id="5" name="Título 1"/>
          <p:cNvSpPr txBox="1">
            <a:spLocks/>
          </p:cNvSpPr>
          <p:nvPr/>
        </p:nvSpPr>
        <p:spPr>
          <a:xfrm>
            <a:off x="2824163" y="376238"/>
            <a:ext cx="6907212" cy="1252537"/>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auto">
              <a:spcAft>
                <a:spcPts val="0"/>
              </a:spcAft>
              <a:defRPr/>
            </a:pPr>
            <a:r>
              <a:rPr lang="es-PE" sz="2800" b="1" dirty="0">
                <a:latin typeface="+mn-lt"/>
              </a:rPr>
              <a:t>COLEGIO DE INGENIEROS DEL PERU</a:t>
            </a:r>
            <a:br>
              <a:rPr lang="es-PE" sz="2800" b="1" dirty="0">
                <a:latin typeface="+mn-lt"/>
              </a:rPr>
            </a:br>
            <a:r>
              <a:rPr lang="es-PE" sz="2800" b="1" dirty="0">
                <a:latin typeface="+mn-lt"/>
              </a:rPr>
              <a:t>CONSEJO DEPARTAMENTAL DE LAMBAYEQUE</a:t>
            </a:r>
            <a:br>
              <a:rPr lang="es-PE" sz="2800" b="1" dirty="0">
                <a:latin typeface="+mn-lt"/>
              </a:rPr>
            </a:br>
            <a:r>
              <a:rPr lang="es-PE" sz="2200" b="1" dirty="0">
                <a:latin typeface="+mn-lt"/>
              </a:rPr>
              <a:t>INSTITUTO DE ESTUDIOS PROFESIONALES DE INGENIERÍA IEPI</a:t>
            </a:r>
          </a:p>
          <a:p>
            <a:pPr algn="ctr" fontAlgn="auto">
              <a:spcAft>
                <a:spcPts val="0"/>
              </a:spcAft>
              <a:defRPr/>
            </a:pPr>
            <a:r>
              <a:rPr lang="es-PE" sz="2200" b="1" dirty="0">
                <a:latin typeface="+mn-lt"/>
              </a:rPr>
              <a:t>CENTRO DE CAPACITACIÓN</a:t>
            </a:r>
          </a:p>
        </p:txBody>
      </p:sp>
      <p:sp>
        <p:nvSpPr>
          <p:cNvPr id="6" name="Subtítulo 2"/>
          <p:cNvSpPr>
            <a:spLocks noGrp="1"/>
          </p:cNvSpPr>
          <p:nvPr>
            <p:ph type="subTitle" idx="1"/>
          </p:nvPr>
        </p:nvSpPr>
        <p:spPr>
          <a:xfrm>
            <a:off x="3427413" y="5948363"/>
            <a:ext cx="5702300" cy="411162"/>
          </a:xfrm>
        </p:spPr>
        <p:txBody>
          <a:bodyPr>
            <a:normAutofit lnSpcReduction="10000"/>
          </a:bodyPr>
          <a:lstStyle/>
          <a:p>
            <a:r>
              <a:rPr lang="es-PE" altLang="es-PE" sz="2400" dirty="0"/>
              <a:t>Docente: Ing. Eric Alberto Heredia Mendoza</a:t>
            </a:r>
          </a:p>
        </p:txBody>
      </p:sp>
    </p:spTree>
    <p:extLst>
      <p:ext uri="{BB962C8B-B14F-4D97-AF65-F5344CB8AC3E}">
        <p14:creationId xmlns:p14="http://schemas.microsoft.com/office/powerpoint/2010/main" val="423767460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571796" y="676902"/>
            <a:ext cx="3501440" cy="584775"/>
          </a:xfrm>
          <a:prstGeom prst="rect">
            <a:avLst/>
          </a:prstGeom>
          <a:noFill/>
        </p:spPr>
        <p:txBody>
          <a:bodyPr wrap="square" rtlCol="0">
            <a:spAutoFit/>
          </a:bodyPr>
          <a:lstStyle/>
          <a:p>
            <a:r>
              <a:rPr lang="es-ES" sz="3200" b="1" dirty="0">
                <a:solidFill>
                  <a:schemeClr val="bg1"/>
                </a:solidFill>
                <a:effectLst>
                  <a:outerShdw blurRad="38100" dist="38100" dir="2700000" algn="tl">
                    <a:srgbClr val="000000">
                      <a:alpha val="43137"/>
                    </a:srgbClr>
                  </a:outerShdw>
                </a:effectLst>
              </a:rPr>
              <a:t>FUNCIÓN INDICE</a:t>
            </a:r>
          </a:p>
        </p:txBody>
      </p:sp>
      <p:sp>
        <p:nvSpPr>
          <p:cNvPr id="5" name="Rectángulo 4"/>
          <p:cNvSpPr/>
          <p:nvPr/>
        </p:nvSpPr>
        <p:spPr>
          <a:xfrm>
            <a:off x="457694" y="1899189"/>
            <a:ext cx="11159341" cy="1200329"/>
          </a:xfrm>
          <a:prstGeom prst="rect">
            <a:avLst/>
          </a:prstGeom>
        </p:spPr>
        <p:txBody>
          <a:bodyPr wrap="square">
            <a:spAutoFit/>
          </a:bodyPr>
          <a:lstStyle/>
          <a:p>
            <a:pPr algn="just"/>
            <a:r>
              <a:rPr lang="es-PE" sz="2400" dirty="0"/>
              <a:t>La </a:t>
            </a:r>
            <a:r>
              <a:rPr lang="es-PE" sz="2400" b="1" dirty="0"/>
              <a:t>función INDICE en Excel</a:t>
            </a:r>
            <a:r>
              <a:rPr lang="es-PE" sz="2400" dirty="0"/>
              <a:t> nos ayuda a obtener el valor de una celda dentro de una matriz especificando el número de fila y columna. Esta función tiene dos formas de uso: de forma matricial y de forma de referencia.</a:t>
            </a:r>
          </a:p>
        </p:txBody>
      </p:sp>
      <p:sp>
        <p:nvSpPr>
          <p:cNvPr id="6" name="Rectángulo 5"/>
          <p:cNvSpPr/>
          <p:nvPr/>
        </p:nvSpPr>
        <p:spPr>
          <a:xfrm>
            <a:off x="457694" y="3701362"/>
            <a:ext cx="11159341" cy="1569660"/>
          </a:xfrm>
          <a:prstGeom prst="rect">
            <a:avLst/>
          </a:prstGeom>
        </p:spPr>
        <p:txBody>
          <a:bodyPr wrap="square">
            <a:spAutoFit/>
          </a:bodyPr>
          <a:lstStyle/>
          <a:p>
            <a:pPr algn="just"/>
            <a:r>
              <a:rPr lang="es-PE" sz="2400" b="1" cap="all" dirty="0">
                <a:effectLst>
                  <a:outerShdw blurRad="38100" dist="38100" dir="2700000" algn="tl">
                    <a:srgbClr val="000000">
                      <a:alpha val="43137"/>
                    </a:srgbClr>
                  </a:outerShdw>
                </a:effectLst>
              </a:rPr>
              <a:t>FORMA MATRICIAL DE LA FUNCIÓN INDICE</a:t>
            </a:r>
          </a:p>
          <a:p>
            <a:pPr algn="just"/>
            <a:r>
              <a:rPr lang="es-PE" sz="2400" dirty="0"/>
              <a:t>En su forma matricial, la </a:t>
            </a:r>
            <a:r>
              <a:rPr lang="es-PE" sz="2400" b="1" dirty="0"/>
              <a:t>función INDICE en Excel</a:t>
            </a:r>
            <a:r>
              <a:rPr lang="es-PE" sz="2400" dirty="0"/>
              <a:t> nos ayuda a obtener el valor de la celda que se encuentra justamente en el cruce de la fila y de la columna que hayamos especificado. La sintaxis de la función INDICE es la siguiente:</a:t>
            </a:r>
          </a:p>
        </p:txBody>
      </p:sp>
      <p:sp>
        <p:nvSpPr>
          <p:cNvPr id="7" name="Rectángulo 6"/>
          <p:cNvSpPr/>
          <p:nvPr/>
        </p:nvSpPr>
        <p:spPr>
          <a:xfrm>
            <a:off x="457695" y="5872868"/>
            <a:ext cx="8613976" cy="830997"/>
          </a:xfrm>
          <a:prstGeom prst="rect">
            <a:avLst/>
          </a:prstGeom>
        </p:spPr>
        <p:txBody>
          <a:bodyPr wrap="square">
            <a:spAutoFit/>
          </a:bodyPr>
          <a:lstStyle/>
          <a:p>
            <a:r>
              <a:rPr lang="es-PE" sz="2400" b="1" dirty="0">
                <a:effectLst>
                  <a:outerShdw blurRad="38100" dist="38100" dir="2700000" algn="tl">
                    <a:srgbClr val="000000">
                      <a:alpha val="43137"/>
                    </a:srgbClr>
                  </a:outerShdw>
                </a:effectLst>
              </a:rPr>
              <a:t>SINTAXIS</a:t>
            </a:r>
          </a:p>
          <a:p>
            <a:r>
              <a:rPr lang="es-PE" sz="2400" dirty="0"/>
              <a:t>INDICE(matriz, </a:t>
            </a:r>
            <a:r>
              <a:rPr lang="es-PE" sz="2400" dirty="0" err="1"/>
              <a:t>núm_fila</a:t>
            </a:r>
            <a:r>
              <a:rPr lang="es-PE" sz="2400" dirty="0"/>
              <a:t>, [</a:t>
            </a:r>
            <a:r>
              <a:rPr lang="es-PE" sz="2400" dirty="0" err="1"/>
              <a:t>núm_columna</a:t>
            </a:r>
            <a:r>
              <a:rPr lang="es-PE" sz="2400" dirty="0"/>
              <a:t>])</a:t>
            </a:r>
          </a:p>
        </p:txBody>
      </p:sp>
    </p:spTree>
    <p:extLst>
      <p:ext uri="{BB962C8B-B14F-4D97-AF65-F5344CB8AC3E}">
        <p14:creationId xmlns:p14="http://schemas.microsoft.com/office/powerpoint/2010/main" val="1349134173"/>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619992" y="2050300"/>
            <a:ext cx="10425544" cy="3785652"/>
          </a:xfrm>
          <a:prstGeom prst="rect">
            <a:avLst/>
          </a:prstGeom>
        </p:spPr>
        <p:txBody>
          <a:bodyPr wrap="square">
            <a:spAutoFit/>
          </a:bodyPr>
          <a:lstStyle/>
          <a:p>
            <a:pPr algn="just"/>
            <a:r>
              <a:rPr lang="es-PE" sz="2400" dirty="0"/>
              <a:t>La sintaxis de la función INDICE tiene los siguientes argumentos:</a:t>
            </a:r>
          </a:p>
          <a:p>
            <a:pPr marL="342900" indent="-342900" algn="just">
              <a:buFont typeface="Arial" panose="020B0604020202020204" pitchFamily="34" charset="0"/>
              <a:buChar char="•"/>
            </a:pPr>
            <a:r>
              <a:rPr lang="es-PE" sz="2400" b="1" dirty="0"/>
              <a:t>Matriz</a:t>
            </a:r>
            <a:r>
              <a:rPr lang="es-PE" sz="2400" dirty="0"/>
              <a:t>    Obligatorio. Es un rango de celdas o una constante de matriz.</a:t>
            </a:r>
          </a:p>
          <a:p>
            <a:pPr marL="800100" lvl="1" indent="-342900" algn="just">
              <a:buFont typeface="Courier New" panose="02070309020205020404" pitchFamily="49" charset="0"/>
              <a:buChar char="o"/>
            </a:pPr>
            <a:r>
              <a:rPr lang="es-PE" sz="2400" dirty="0"/>
              <a:t>Si matriz contiene solo una fila o columna, el argumento </a:t>
            </a:r>
            <a:r>
              <a:rPr lang="es-PE" sz="2400" dirty="0" err="1"/>
              <a:t>núm_fila</a:t>
            </a:r>
            <a:r>
              <a:rPr lang="es-PE" sz="2400" dirty="0"/>
              <a:t> o </a:t>
            </a:r>
            <a:r>
              <a:rPr lang="es-PE" sz="2400" dirty="0" err="1"/>
              <a:t>núm_columna</a:t>
            </a:r>
            <a:r>
              <a:rPr lang="es-PE" sz="2400" dirty="0"/>
              <a:t> correspondiente es opcional.</a:t>
            </a:r>
          </a:p>
          <a:p>
            <a:pPr marL="800100" lvl="1" indent="-342900" algn="just">
              <a:buFont typeface="Courier New" panose="02070309020205020404" pitchFamily="49" charset="0"/>
              <a:buChar char="o"/>
            </a:pPr>
            <a:r>
              <a:rPr lang="es-PE" sz="2400" dirty="0"/>
              <a:t>Si matriz tiene varias filas y columnas, y solo usa </a:t>
            </a:r>
            <a:r>
              <a:rPr lang="es-PE" sz="2400" dirty="0" err="1"/>
              <a:t>núm_fila</a:t>
            </a:r>
            <a:r>
              <a:rPr lang="es-PE" sz="2400" dirty="0"/>
              <a:t> o </a:t>
            </a:r>
            <a:r>
              <a:rPr lang="es-PE" sz="2400" dirty="0" err="1"/>
              <a:t>núm_columna</a:t>
            </a:r>
            <a:r>
              <a:rPr lang="es-PE" sz="2400" dirty="0"/>
              <a:t>, INDICE devuelve una matriz de dicha fila o columna completa.</a:t>
            </a:r>
          </a:p>
          <a:p>
            <a:pPr marL="342900" indent="-342900" algn="just">
              <a:buFont typeface="Arial" panose="020B0604020202020204" pitchFamily="34" charset="0"/>
              <a:buChar char="•"/>
            </a:pPr>
            <a:r>
              <a:rPr lang="es-PE" sz="2400" b="1" dirty="0" err="1"/>
              <a:t>Núm_fila</a:t>
            </a:r>
            <a:r>
              <a:rPr lang="es-PE" sz="2400" dirty="0"/>
              <a:t>    Obligatorio. Selecciona la fila de la matriz desde la cual devolverá un valor. Si omite </a:t>
            </a:r>
            <a:r>
              <a:rPr lang="es-PE" sz="2400" dirty="0" err="1"/>
              <a:t>núm_fila</a:t>
            </a:r>
            <a:r>
              <a:rPr lang="es-PE" sz="2400" dirty="0"/>
              <a:t>, se necesita el argumento </a:t>
            </a:r>
            <a:r>
              <a:rPr lang="es-PE" sz="2400" dirty="0" err="1"/>
              <a:t>núm_columna</a:t>
            </a:r>
            <a:r>
              <a:rPr lang="es-PE" sz="2400" dirty="0"/>
              <a:t>.</a:t>
            </a:r>
          </a:p>
          <a:p>
            <a:pPr marL="342900" indent="-342900" algn="just">
              <a:buFont typeface="Arial" panose="020B0604020202020204" pitchFamily="34" charset="0"/>
              <a:buChar char="•"/>
            </a:pPr>
            <a:r>
              <a:rPr lang="es-PE" sz="2400" b="1" dirty="0" err="1"/>
              <a:t>Núm_columna</a:t>
            </a:r>
            <a:r>
              <a:rPr lang="es-PE" sz="2400" dirty="0"/>
              <a:t>    Opcional. Selecciona la columna de la matriz desde la cual devolverá un valor. Si omite </a:t>
            </a:r>
            <a:r>
              <a:rPr lang="es-PE" sz="2400" dirty="0" err="1"/>
              <a:t>núm_columna</a:t>
            </a:r>
            <a:r>
              <a:rPr lang="es-PE" sz="2400" dirty="0"/>
              <a:t>, se necesita el argumento </a:t>
            </a:r>
            <a:r>
              <a:rPr lang="es-PE" sz="2400" dirty="0" err="1"/>
              <a:t>núm_fila</a:t>
            </a:r>
            <a:r>
              <a:rPr lang="es-PE" sz="2400" dirty="0"/>
              <a:t>.</a:t>
            </a:r>
          </a:p>
        </p:txBody>
      </p:sp>
      <p:sp>
        <p:nvSpPr>
          <p:cNvPr id="5" name="CuadroTexto 4"/>
          <p:cNvSpPr txBox="1"/>
          <p:nvPr/>
        </p:nvSpPr>
        <p:spPr>
          <a:xfrm>
            <a:off x="619992" y="365175"/>
            <a:ext cx="6352308" cy="584775"/>
          </a:xfrm>
          <a:prstGeom prst="rect">
            <a:avLst/>
          </a:prstGeom>
          <a:noFill/>
        </p:spPr>
        <p:txBody>
          <a:bodyPr wrap="square" rtlCol="0">
            <a:spAutoFit/>
          </a:bodyPr>
          <a:lstStyle/>
          <a:p>
            <a:r>
              <a:rPr lang="es-ES" sz="3200" b="1" dirty="0">
                <a:solidFill>
                  <a:schemeClr val="bg1"/>
                </a:solidFill>
                <a:effectLst>
                  <a:outerShdw blurRad="38100" dist="38100" dir="2700000" algn="tl">
                    <a:srgbClr val="000000">
                      <a:alpha val="43137"/>
                    </a:srgbClr>
                  </a:outerShdw>
                </a:effectLst>
              </a:rPr>
              <a:t>INDICE: Sintaxis Forma Matricial</a:t>
            </a:r>
          </a:p>
        </p:txBody>
      </p:sp>
    </p:spTree>
    <p:extLst>
      <p:ext uri="{BB962C8B-B14F-4D97-AF65-F5344CB8AC3E}">
        <p14:creationId xmlns:p14="http://schemas.microsoft.com/office/powerpoint/2010/main" val="2753211559"/>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rotWithShape="1">
          <a:blip r:embed="rId2"/>
          <a:srcRect t="20663" r="10454" b="23125"/>
          <a:stretch/>
        </p:blipFill>
        <p:spPr>
          <a:xfrm>
            <a:off x="1510237" y="2375207"/>
            <a:ext cx="8261769" cy="2917229"/>
          </a:xfrm>
          <a:prstGeom prst="rect">
            <a:avLst/>
          </a:prstGeom>
        </p:spPr>
      </p:pic>
      <p:sp>
        <p:nvSpPr>
          <p:cNvPr id="5" name="CuadroTexto 4"/>
          <p:cNvSpPr txBox="1"/>
          <p:nvPr/>
        </p:nvSpPr>
        <p:spPr>
          <a:xfrm>
            <a:off x="1510236" y="583383"/>
            <a:ext cx="6282945" cy="584775"/>
          </a:xfrm>
          <a:prstGeom prst="rect">
            <a:avLst/>
          </a:prstGeom>
          <a:noFill/>
        </p:spPr>
        <p:txBody>
          <a:bodyPr wrap="square" rtlCol="0">
            <a:spAutoFit/>
          </a:bodyPr>
          <a:lstStyle/>
          <a:p>
            <a:r>
              <a:rPr lang="es-ES" sz="3200" b="1" dirty="0">
                <a:solidFill>
                  <a:schemeClr val="bg1"/>
                </a:solidFill>
                <a:effectLst>
                  <a:outerShdw blurRad="38100" dist="38100" dir="2700000" algn="tl">
                    <a:srgbClr val="000000">
                      <a:alpha val="43137"/>
                    </a:srgbClr>
                  </a:outerShdw>
                </a:effectLst>
              </a:rPr>
              <a:t>INDICE: Ejemplo  Forma Matricial</a:t>
            </a:r>
          </a:p>
        </p:txBody>
      </p:sp>
    </p:spTree>
    <p:extLst>
      <p:ext uri="{BB962C8B-B14F-4D97-AF65-F5344CB8AC3E}">
        <p14:creationId xmlns:p14="http://schemas.microsoft.com/office/powerpoint/2010/main" val="2175614413"/>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343196" y="365174"/>
            <a:ext cx="7751322" cy="584775"/>
          </a:xfrm>
          <a:prstGeom prst="rect">
            <a:avLst/>
          </a:prstGeom>
          <a:noFill/>
        </p:spPr>
        <p:txBody>
          <a:bodyPr wrap="square" rtlCol="0">
            <a:spAutoFit/>
          </a:bodyPr>
          <a:lstStyle/>
          <a:p>
            <a:r>
              <a:rPr lang="es-ES" sz="3200" b="1" dirty="0">
                <a:solidFill>
                  <a:schemeClr val="bg1"/>
                </a:solidFill>
                <a:effectLst>
                  <a:outerShdw blurRad="38100" dist="38100" dir="2700000" algn="tl">
                    <a:srgbClr val="000000">
                      <a:alpha val="43137"/>
                    </a:srgbClr>
                  </a:outerShdw>
                </a:effectLst>
              </a:rPr>
              <a:t>INDICE: Sintaxis  Forma Referencia</a:t>
            </a:r>
          </a:p>
        </p:txBody>
      </p:sp>
      <p:sp>
        <p:nvSpPr>
          <p:cNvPr id="5" name="Rectángulo 4"/>
          <p:cNvSpPr/>
          <p:nvPr/>
        </p:nvSpPr>
        <p:spPr>
          <a:xfrm>
            <a:off x="244928" y="1973055"/>
            <a:ext cx="11694226" cy="4154984"/>
          </a:xfrm>
          <a:prstGeom prst="rect">
            <a:avLst/>
          </a:prstGeom>
        </p:spPr>
        <p:txBody>
          <a:bodyPr wrap="square">
            <a:spAutoFit/>
          </a:bodyPr>
          <a:lstStyle/>
          <a:p>
            <a:pPr algn="just"/>
            <a:r>
              <a:rPr lang="es-PE" sz="2400" b="1" cap="all" dirty="0">
                <a:effectLst>
                  <a:outerShdw blurRad="38100" dist="38100" dir="2700000" algn="tl">
                    <a:srgbClr val="000000">
                      <a:alpha val="43137"/>
                    </a:srgbClr>
                  </a:outerShdw>
                </a:effectLst>
              </a:rPr>
              <a:t>FORMA DE REFERENCIA DE LA FUNCIÓN INDICE</a:t>
            </a:r>
          </a:p>
          <a:p>
            <a:pPr algn="just"/>
            <a:r>
              <a:rPr lang="es-PE" sz="2400" dirty="0"/>
              <a:t>La segunda forma de uso de la </a:t>
            </a:r>
            <a:r>
              <a:rPr lang="es-PE" sz="2400" b="1" dirty="0"/>
              <a:t>función INDICE en Excel</a:t>
            </a:r>
            <a:r>
              <a:rPr lang="es-PE" sz="2400" dirty="0"/>
              <a:t> es similar a la anterior pero con la diferencia de que en lugar de especificar una sola matriz podemos indicar más de una matriz. Bajo esta forma, la función INDICE tiene una sintaxis un poco diferente que el método anterior:</a:t>
            </a:r>
          </a:p>
          <a:p>
            <a:pPr marL="342900" indent="-342900" algn="just">
              <a:buFont typeface="Arial" panose="020B0604020202020204" pitchFamily="34" charset="0"/>
              <a:buChar char="•"/>
            </a:pPr>
            <a:r>
              <a:rPr lang="es-PE" sz="2400" b="1" dirty="0" err="1"/>
              <a:t>Ref</a:t>
            </a:r>
            <a:r>
              <a:rPr lang="es-PE" sz="2400" dirty="0"/>
              <a:t> (</a:t>
            </a:r>
            <a:r>
              <a:rPr lang="es-PE" sz="2400" i="1" dirty="0"/>
              <a:t>obligatorio</a:t>
            </a:r>
            <a:r>
              <a:rPr lang="es-PE" sz="2400" dirty="0"/>
              <a:t>): La referencia a las matrices que tienen los datos.</a:t>
            </a:r>
          </a:p>
          <a:p>
            <a:pPr marL="342900" indent="-342900" algn="just">
              <a:buFont typeface="Arial" panose="020B0604020202020204" pitchFamily="34" charset="0"/>
              <a:buChar char="•"/>
            </a:pPr>
            <a:r>
              <a:rPr lang="es-PE" sz="2400" b="1" dirty="0" err="1"/>
              <a:t>Núm_fila</a:t>
            </a:r>
            <a:r>
              <a:rPr lang="es-PE" sz="2400" dirty="0"/>
              <a:t> (</a:t>
            </a:r>
            <a:r>
              <a:rPr lang="es-PE" sz="2400" i="1" dirty="0"/>
              <a:t>obligatorio</a:t>
            </a:r>
            <a:r>
              <a:rPr lang="es-PE" sz="2400" dirty="0"/>
              <a:t>): El número de fila de la celda que deseamos obtener.</a:t>
            </a:r>
          </a:p>
          <a:p>
            <a:pPr marL="342900" indent="-342900" algn="just">
              <a:buFont typeface="Arial" panose="020B0604020202020204" pitchFamily="34" charset="0"/>
              <a:buChar char="•"/>
            </a:pPr>
            <a:r>
              <a:rPr lang="es-PE" sz="2400" b="1" dirty="0" err="1"/>
              <a:t>Núm_columna</a:t>
            </a:r>
            <a:r>
              <a:rPr lang="es-PE" sz="2400" dirty="0"/>
              <a:t> (</a:t>
            </a:r>
            <a:r>
              <a:rPr lang="es-PE" sz="2400" i="1" dirty="0"/>
              <a:t>opcional</a:t>
            </a:r>
            <a:r>
              <a:rPr lang="es-PE" sz="2400" dirty="0"/>
              <a:t>): El número de columna de la celda a obtener.</a:t>
            </a:r>
          </a:p>
          <a:p>
            <a:pPr marL="342900" indent="-342900" algn="just">
              <a:buFont typeface="Arial" panose="020B0604020202020204" pitchFamily="34" charset="0"/>
              <a:buChar char="•"/>
            </a:pPr>
            <a:r>
              <a:rPr lang="es-PE" sz="2400" b="1" dirty="0" err="1"/>
              <a:t>Núm_área</a:t>
            </a:r>
            <a:r>
              <a:rPr lang="es-PE" sz="2400" dirty="0"/>
              <a:t> (</a:t>
            </a:r>
            <a:r>
              <a:rPr lang="es-PE" sz="2400" i="1" dirty="0"/>
              <a:t>opcional</a:t>
            </a:r>
            <a:r>
              <a:rPr lang="es-PE" sz="2400" dirty="0"/>
              <a:t>): Ya que </a:t>
            </a:r>
            <a:r>
              <a:rPr lang="es-PE" sz="2400" i="1" dirty="0" err="1"/>
              <a:t>Ref</a:t>
            </a:r>
            <a:r>
              <a:rPr lang="es-PE" sz="2400" dirty="0"/>
              <a:t> puede tener especificados varios rangos como A1:C6, A8:C11 entonces </a:t>
            </a:r>
            <a:r>
              <a:rPr lang="es-PE" sz="2400" i="1" dirty="0" err="1"/>
              <a:t>Núm_área</a:t>
            </a:r>
            <a:r>
              <a:rPr lang="es-PE" sz="2400" dirty="0" err="1"/>
              <a:t>indicará</a:t>
            </a:r>
            <a:r>
              <a:rPr lang="es-PE" sz="2400" dirty="0"/>
              <a:t> cual de los rangos se debe utilizar.</a:t>
            </a:r>
          </a:p>
          <a:p>
            <a:pPr algn="just"/>
            <a:endParaRPr lang="es-PE" sz="2400" dirty="0"/>
          </a:p>
        </p:txBody>
      </p:sp>
    </p:spTree>
    <p:extLst>
      <p:ext uri="{BB962C8B-B14F-4D97-AF65-F5344CB8AC3E}">
        <p14:creationId xmlns:p14="http://schemas.microsoft.com/office/powerpoint/2010/main" val="29803156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294309" y="469084"/>
            <a:ext cx="7304513" cy="584775"/>
          </a:xfrm>
          <a:prstGeom prst="rect">
            <a:avLst/>
          </a:prstGeom>
          <a:noFill/>
        </p:spPr>
        <p:txBody>
          <a:bodyPr wrap="square" rtlCol="0">
            <a:spAutoFit/>
          </a:bodyPr>
          <a:lstStyle/>
          <a:p>
            <a:r>
              <a:rPr lang="es-ES" sz="3200" b="1" dirty="0">
                <a:solidFill>
                  <a:schemeClr val="bg1"/>
                </a:solidFill>
                <a:effectLst>
                  <a:outerShdw blurRad="38100" dist="38100" dir="2700000" algn="tl">
                    <a:srgbClr val="000000">
                      <a:alpha val="43137"/>
                    </a:srgbClr>
                  </a:outerShdw>
                </a:effectLst>
              </a:rPr>
              <a:t>INDICE: Sintaxis  Forma Referencia</a:t>
            </a:r>
          </a:p>
        </p:txBody>
      </p:sp>
      <p:pic>
        <p:nvPicPr>
          <p:cNvPr id="5" name="Imagen 4"/>
          <p:cNvPicPr>
            <a:picLocks noChangeAspect="1"/>
          </p:cNvPicPr>
          <p:nvPr/>
        </p:nvPicPr>
        <p:blipFill rotWithShape="1">
          <a:blip r:embed="rId2"/>
          <a:srcRect t="20058" r="11642" b="19527"/>
          <a:stretch/>
        </p:blipFill>
        <p:spPr>
          <a:xfrm>
            <a:off x="185056" y="1833967"/>
            <a:ext cx="6221186" cy="2392763"/>
          </a:xfrm>
          <a:prstGeom prst="rect">
            <a:avLst/>
          </a:prstGeom>
        </p:spPr>
      </p:pic>
      <p:pic>
        <p:nvPicPr>
          <p:cNvPr id="7" name="Imagen 6"/>
          <p:cNvPicPr>
            <a:picLocks noChangeAspect="1"/>
          </p:cNvPicPr>
          <p:nvPr/>
        </p:nvPicPr>
        <p:blipFill rotWithShape="1">
          <a:blip r:embed="rId3"/>
          <a:srcRect l="1124" t="20112" r="10384" b="19931"/>
          <a:stretch/>
        </p:blipFill>
        <p:spPr>
          <a:xfrm>
            <a:off x="3946566" y="4226730"/>
            <a:ext cx="6221186" cy="2371049"/>
          </a:xfrm>
          <a:prstGeom prst="rect">
            <a:avLst/>
          </a:prstGeom>
        </p:spPr>
      </p:pic>
    </p:spTree>
    <p:extLst>
      <p:ext uri="{BB962C8B-B14F-4D97-AF65-F5344CB8AC3E}">
        <p14:creationId xmlns:p14="http://schemas.microsoft.com/office/powerpoint/2010/main" val="1283110334"/>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408441" y="679974"/>
            <a:ext cx="3950907" cy="584775"/>
          </a:xfrm>
          <a:prstGeom prst="rect">
            <a:avLst/>
          </a:prstGeom>
          <a:noFill/>
        </p:spPr>
        <p:txBody>
          <a:bodyPr wrap="square" rtlCol="0">
            <a:spAutoFit/>
          </a:bodyPr>
          <a:lstStyle/>
          <a:p>
            <a:r>
              <a:rPr lang="es-ES" sz="3200" b="1" dirty="0">
                <a:solidFill>
                  <a:schemeClr val="bg1"/>
                </a:solidFill>
                <a:effectLst>
                  <a:outerShdw blurRad="38100" dist="38100" dir="2700000" algn="tl">
                    <a:srgbClr val="000000">
                      <a:alpha val="43137"/>
                    </a:srgbClr>
                  </a:outerShdw>
                </a:effectLst>
              </a:rPr>
              <a:t>FUNCIÓN INDIRECTO</a:t>
            </a:r>
          </a:p>
        </p:txBody>
      </p:sp>
      <p:sp>
        <p:nvSpPr>
          <p:cNvPr id="6" name="Rectángulo 5"/>
          <p:cNvSpPr/>
          <p:nvPr/>
        </p:nvSpPr>
        <p:spPr>
          <a:xfrm>
            <a:off x="131997" y="2018802"/>
            <a:ext cx="12060003" cy="1631216"/>
          </a:xfrm>
          <a:prstGeom prst="rect">
            <a:avLst/>
          </a:prstGeom>
        </p:spPr>
        <p:txBody>
          <a:bodyPr wrap="square">
            <a:spAutoFit/>
          </a:bodyPr>
          <a:lstStyle/>
          <a:p>
            <a:pPr algn="just"/>
            <a:r>
              <a:rPr lang="es-PE" sz="2000" b="1" dirty="0"/>
              <a:t>La función INDIRECTO en Excel</a:t>
            </a:r>
            <a:r>
              <a:rPr lang="es-PE" sz="2000" dirty="0"/>
              <a:t> nos ayuda a obtener una referencia a una celda o a un rango de celdas. Puedes utilizar esta función para crear una referencia que no cambiará aun cuando se inserten filas o columnas a la hoja de Excel.</a:t>
            </a:r>
          </a:p>
          <a:p>
            <a:pPr algn="just"/>
            <a:r>
              <a:rPr lang="es-PE" sz="2000" b="1" dirty="0"/>
              <a:t>La función INDIRECTO</a:t>
            </a:r>
            <a:r>
              <a:rPr lang="es-PE" sz="2000" dirty="0"/>
              <a:t> también puede ser utilizada para crear una referencia a partir de una letra y un número dando forma a la dirección de la celda de la cual deseamos obtener la referencia.</a:t>
            </a:r>
          </a:p>
        </p:txBody>
      </p:sp>
      <p:sp>
        <p:nvSpPr>
          <p:cNvPr id="3" name="Rectángulo 2"/>
          <p:cNvSpPr/>
          <p:nvPr/>
        </p:nvSpPr>
        <p:spPr>
          <a:xfrm>
            <a:off x="223030" y="3650018"/>
            <a:ext cx="11335169" cy="2246769"/>
          </a:xfrm>
          <a:prstGeom prst="rect">
            <a:avLst/>
          </a:prstGeom>
        </p:spPr>
        <p:txBody>
          <a:bodyPr wrap="square">
            <a:spAutoFit/>
          </a:bodyPr>
          <a:lstStyle/>
          <a:p>
            <a:pPr eaLnBrk="0" fontAlgn="base" hangingPunct="0">
              <a:spcBef>
                <a:spcPct val="0"/>
              </a:spcBef>
              <a:spcAft>
                <a:spcPct val="0"/>
              </a:spcAft>
            </a:pPr>
            <a:r>
              <a:rPr lang="es-PE" sz="2000" b="1" dirty="0"/>
              <a:t>SINTAXIS</a:t>
            </a:r>
          </a:p>
          <a:p>
            <a:pPr eaLnBrk="0" fontAlgn="base" hangingPunct="0">
              <a:spcBef>
                <a:spcPct val="0"/>
              </a:spcBef>
              <a:spcAft>
                <a:spcPct val="0"/>
              </a:spcAft>
            </a:pPr>
            <a:r>
              <a:rPr lang="es-PE" sz="2000" dirty="0"/>
              <a:t>INDIRECTO(</a:t>
            </a:r>
            <a:r>
              <a:rPr lang="es-PE" sz="2000" dirty="0" err="1"/>
              <a:t>ref</a:t>
            </a:r>
            <a:r>
              <a:rPr lang="es-PE" sz="2000" dirty="0"/>
              <a:t>; [a1])</a:t>
            </a:r>
          </a:p>
          <a:p>
            <a:pPr eaLnBrk="0" fontAlgn="base" hangingPunct="0">
              <a:spcBef>
                <a:spcPct val="0"/>
              </a:spcBef>
              <a:spcAft>
                <a:spcPct val="0"/>
              </a:spcAft>
            </a:pPr>
            <a:endParaRPr lang="es-PE" sz="2000" b="1" dirty="0"/>
          </a:p>
          <a:p>
            <a:pPr eaLnBrk="0" fontAlgn="base" hangingPunct="0">
              <a:spcBef>
                <a:spcPct val="0"/>
              </a:spcBef>
              <a:spcAft>
                <a:spcPct val="0"/>
              </a:spcAft>
            </a:pPr>
            <a:r>
              <a:rPr lang="es-PE" sz="2000" b="1" dirty="0"/>
              <a:t>La función INDIRECTO</a:t>
            </a:r>
            <a:r>
              <a:rPr lang="es-PE" sz="2000" dirty="0"/>
              <a:t> tiene dos argumentos.</a:t>
            </a:r>
          </a:p>
          <a:p>
            <a:pPr marL="342900" indent="-342900" eaLnBrk="0" fontAlgn="base" hangingPunct="0">
              <a:spcBef>
                <a:spcPct val="0"/>
              </a:spcBef>
              <a:spcAft>
                <a:spcPct val="0"/>
              </a:spcAft>
              <a:buFont typeface="Arial" panose="020B0604020202020204" pitchFamily="34" charset="0"/>
              <a:buChar char="•"/>
            </a:pPr>
            <a:r>
              <a:rPr lang="es-PE" sz="2000" b="1" dirty="0" err="1"/>
              <a:t>Ref</a:t>
            </a:r>
            <a:r>
              <a:rPr lang="es-PE" sz="2000" dirty="0"/>
              <a:t> (</a:t>
            </a:r>
            <a:r>
              <a:rPr lang="es-PE" sz="2000" i="1" dirty="0"/>
              <a:t>obligatorio</a:t>
            </a:r>
            <a:r>
              <a:rPr lang="es-PE" sz="2000" dirty="0"/>
              <a:t>): Es la referencia especificada como una cadena de texto.</a:t>
            </a:r>
          </a:p>
          <a:p>
            <a:pPr marL="342900" indent="-342900" eaLnBrk="0" fontAlgn="base" hangingPunct="0">
              <a:spcBef>
                <a:spcPct val="0"/>
              </a:spcBef>
              <a:spcAft>
                <a:spcPct val="0"/>
              </a:spcAft>
              <a:buFont typeface="Arial" panose="020B0604020202020204" pitchFamily="34" charset="0"/>
              <a:buChar char="•"/>
            </a:pPr>
            <a:r>
              <a:rPr lang="es-PE" sz="2000" b="1" dirty="0"/>
              <a:t>A1</a:t>
            </a:r>
            <a:r>
              <a:rPr lang="es-PE" sz="2000" dirty="0"/>
              <a:t> (</a:t>
            </a:r>
            <a:r>
              <a:rPr lang="es-PE" sz="2000" i="1" dirty="0"/>
              <a:t>opcional</a:t>
            </a:r>
            <a:r>
              <a:rPr lang="es-PE" sz="2000" dirty="0"/>
              <a:t>): Valor lógico que indica el tipo de referencia especificada: A1 (verdadero) o F1C1 (falso).</a:t>
            </a:r>
          </a:p>
          <a:p>
            <a:pPr eaLnBrk="0" fontAlgn="base" hangingPunct="0">
              <a:spcBef>
                <a:spcPct val="0"/>
              </a:spcBef>
              <a:spcAft>
                <a:spcPct val="0"/>
              </a:spcAft>
            </a:pPr>
            <a:endParaRPr lang="es-PE" sz="2000" dirty="0"/>
          </a:p>
        </p:txBody>
      </p:sp>
    </p:spTree>
    <p:extLst>
      <p:ext uri="{BB962C8B-B14F-4D97-AF65-F5344CB8AC3E}">
        <p14:creationId xmlns:p14="http://schemas.microsoft.com/office/powerpoint/2010/main" val="157661372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2951314" y="645729"/>
            <a:ext cx="6088776" cy="584775"/>
          </a:xfrm>
          <a:prstGeom prst="rect">
            <a:avLst/>
          </a:prstGeom>
          <a:noFill/>
        </p:spPr>
        <p:txBody>
          <a:bodyPr wrap="square" rtlCol="0">
            <a:spAutoFit/>
          </a:bodyPr>
          <a:lstStyle/>
          <a:p>
            <a:pPr algn="ctr"/>
            <a:r>
              <a:rPr lang="es-ES" sz="3200" b="1" dirty="0">
                <a:solidFill>
                  <a:schemeClr val="bg1"/>
                </a:solidFill>
                <a:effectLst>
                  <a:outerShdw blurRad="38100" dist="38100" dir="2700000" algn="tl">
                    <a:srgbClr val="000000">
                      <a:alpha val="43137"/>
                    </a:srgbClr>
                  </a:outerShdw>
                </a:effectLst>
              </a:rPr>
              <a:t>INDIRECTO: Ejemplo 1</a:t>
            </a:r>
          </a:p>
        </p:txBody>
      </p:sp>
      <p:pic>
        <p:nvPicPr>
          <p:cNvPr id="7" name="Imagen 6"/>
          <p:cNvPicPr>
            <a:picLocks noChangeAspect="1"/>
          </p:cNvPicPr>
          <p:nvPr/>
        </p:nvPicPr>
        <p:blipFill rotWithShape="1">
          <a:blip r:embed="rId2"/>
          <a:srcRect t="19643" r="25998" b="39253"/>
          <a:stretch/>
        </p:blipFill>
        <p:spPr>
          <a:xfrm>
            <a:off x="1743606" y="2559331"/>
            <a:ext cx="7757340" cy="2693026"/>
          </a:xfrm>
          <a:prstGeom prst="rect">
            <a:avLst/>
          </a:prstGeom>
        </p:spPr>
      </p:pic>
    </p:spTree>
    <p:extLst>
      <p:ext uri="{BB962C8B-B14F-4D97-AF65-F5344CB8AC3E}">
        <p14:creationId xmlns:p14="http://schemas.microsoft.com/office/powerpoint/2010/main" val="233913813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420091" y="1882814"/>
            <a:ext cx="8229600" cy="4525963"/>
          </a:xfrm>
        </p:spPr>
        <p:txBody>
          <a:bodyPr>
            <a:normAutofit/>
          </a:bodyPr>
          <a:lstStyle/>
          <a:p>
            <a:pPr marL="0" indent="0" algn="just">
              <a:buNone/>
            </a:pPr>
            <a:r>
              <a:rPr lang="es-PE" sz="2400" b="1" dirty="0"/>
              <a:t>DESCRIPCIÓN</a:t>
            </a:r>
          </a:p>
          <a:p>
            <a:pPr marL="0" indent="0" algn="just">
              <a:buNone/>
            </a:pPr>
            <a:r>
              <a:rPr lang="es-PE" sz="2400" dirty="0"/>
              <a:t>Devuelve una referencia a un rango que es un número de filas y de columnas de una celda o rango de celdas. La referencia devuelta puede ser una celda o un rango de celdas. Puede especificar el número de filas y el número de columnas a devolver.</a:t>
            </a:r>
          </a:p>
        </p:txBody>
      </p:sp>
      <p:sp>
        <p:nvSpPr>
          <p:cNvPr id="7" name="CuadroTexto 6"/>
          <p:cNvSpPr txBox="1"/>
          <p:nvPr/>
        </p:nvSpPr>
        <p:spPr>
          <a:xfrm>
            <a:off x="1314004" y="282644"/>
            <a:ext cx="6940831" cy="769441"/>
          </a:xfrm>
          <a:prstGeom prst="rect">
            <a:avLst/>
          </a:prstGeom>
          <a:noFill/>
        </p:spPr>
        <p:txBody>
          <a:bodyPr wrap="square" rtlCol="0">
            <a:spAutoFit/>
          </a:bodyPr>
          <a:lstStyle/>
          <a:p>
            <a:r>
              <a:rPr lang="es-ES" sz="4400" b="1" dirty="0">
                <a:solidFill>
                  <a:schemeClr val="bg1"/>
                </a:solidFill>
                <a:effectLst>
                  <a:outerShdw blurRad="38100" dist="38100" dir="2700000" algn="tl">
                    <a:srgbClr val="000000">
                      <a:alpha val="43137"/>
                    </a:srgbClr>
                  </a:outerShdw>
                </a:effectLst>
              </a:rPr>
              <a:t>FUNCIÓN DESREF</a:t>
            </a:r>
          </a:p>
        </p:txBody>
      </p:sp>
      <p:sp>
        <p:nvSpPr>
          <p:cNvPr id="4" name="Rectángulo 3"/>
          <p:cNvSpPr/>
          <p:nvPr/>
        </p:nvSpPr>
        <p:spPr>
          <a:xfrm>
            <a:off x="2137064" y="4313713"/>
            <a:ext cx="6117771" cy="830997"/>
          </a:xfrm>
          <a:prstGeom prst="rect">
            <a:avLst/>
          </a:prstGeom>
        </p:spPr>
        <p:txBody>
          <a:bodyPr wrap="square">
            <a:spAutoFit/>
          </a:bodyPr>
          <a:lstStyle/>
          <a:p>
            <a:r>
              <a:rPr lang="es-PE" sz="2400" b="1" dirty="0">
                <a:solidFill>
                  <a:srgbClr val="2F2F2F"/>
                </a:solidFill>
              </a:rPr>
              <a:t>SINTAXIS</a:t>
            </a:r>
            <a:endParaRPr lang="es-PE" b="1" dirty="0">
              <a:solidFill>
                <a:srgbClr val="2F2F2F"/>
              </a:solidFill>
            </a:endParaRPr>
          </a:p>
          <a:p>
            <a:r>
              <a:rPr lang="es-PE" sz="2400" dirty="0">
                <a:solidFill>
                  <a:srgbClr val="2F2F2F"/>
                </a:solidFill>
              </a:rPr>
              <a:t>DESREF(</a:t>
            </a:r>
            <a:r>
              <a:rPr lang="es-PE" sz="2400" dirty="0" err="1">
                <a:solidFill>
                  <a:srgbClr val="2F2F2F"/>
                </a:solidFill>
              </a:rPr>
              <a:t>ref</a:t>
            </a:r>
            <a:r>
              <a:rPr lang="es-PE" sz="2400" dirty="0">
                <a:solidFill>
                  <a:srgbClr val="2F2F2F"/>
                </a:solidFill>
              </a:rPr>
              <a:t>, filas, columnas, [alto], [ancho])</a:t>
            </a:r>
          </a:p>
        </p:txBody>
      </p:sp>
    </p:spTree>
    <p:extLst>
      <p:ext uri="{BB962C8B-B14F-4D97-AF65-F5344CB8AC3E}">
        <p14:creationId xmlns:p14="http://schemas.microsoft.com/office/powerpoint/2010/main" val="55131919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645721" y="386490"/>
            <a:ext cx="8969830" cy="954107"/>
          </a:xfrm>
          <a:prstGeom prst="rect">
            <a:avLst/>
          </a:prstGeom>
        </p:spPr>
        <p:txBody>
          <a:bodyPr wrap="square">
            <a:spAutoFit/>
          </a:bodyPr>
          <a:lstStyle/>
          <a:p>
            <a:r>
              <a:rPr lang="es-PE" sz="2800" dirty="0">
                <a:solidFill>
                  <a:schemeClr val="bg1"/>
                </a:solidFill>
                <a:latin typeface="Segoe UI" panose="020B0502040204020203" pitchFamily="34" charset="0"/>
              </a:rPr>
              <a:t>La sintaxis de la función </a:t>
            </a:r>
            <a:r>
              <a:rPr lang="es-PE" sz="2800" b="1" dirty="0">
                <a:solidFill>
                  <a:schemeClr val="bg1"/>
                </a:solidFill>
                <a:effectLst>
                  <a:outerShdw blurRad="38100" dist="38100" dir="2700000" algn="tl">
                    <a:srgbClr val="000000">
                      <a:alpha val="43137"/>
                    </a:srgbClr>
                  </a:outerShdw>
                </a:effectLst>
                <a:latin typeface="Segoe UI" panose="020B0502040204020203" pitchFamily="34" charset="0"/>
              </a:rPr>
              <a:t>DESREF</a:t>
            </a:r>
            <a:r>
              <a:rPr lang="es-PE" sz="2800" dirty="0">
                <a:solidFill>
                  <a:schemeClr val="bg1"/>
                </a:solidFill>
                <a:latin typeface="Segoe UI" panose="020B0502040204020203" pitchFamily="34" charset="0"/>
              </a:rPr>
              <a:t> tiene los siguientes argumentos</a:t>
            </a:r>
            <a:r>
              <a:rPr lang="es-PE" sz="2400" dirty="0">
                <a:solidFill>
                  <a:schemeClr val="bg1"/>
                </a:solidFill>
                <a:latin typeface="Segoe UI" panose="020B0502040204020203" pitchFamily="34" charset="0"/>
              </a:rPr>
              <a:t>:</a:t>
            </a:r>
            <a:endParaRPr lang="es-PE" sz="2400" dirty="0">
              <a:solidFill>
                <a:schemeClr val="bg1"/>
              </a:solidFill>
            </a:endParaRPr>
          </a:p>
        </p:txBody>
      </p:sp>
      <p:sp>
        <p:nvSpPr>
          <p:cNvPr id="3" name="Rectángulo 2"/>
          <p:cNvSpPr/>
          <p:nvPr/>
        </p:nvSpPr>
        <p:spPr>
          <a:xfrm>
            <a:off x="1527465" y="1873427"/>
            <a:ext cx="8469085" cy="4801314"/>
          </a:xfrm>
          <a:prstGeom prst="rect">
            <a:avLst/>
          </a:prstGeom>
        </p:spPr>
        <p:txBody>
          <a:bodyPr wrap="square">
            <a:spAutoFit/>
          </a:bodyPr>
          <a:lstStyle/>
          <a:p>
            <a:pPr marL="285750" indent="-285750" algn="just">
              <a:buFont typeface="Arial" panose="020B0604020202020204" pitchFamily="34" charset="0"/>
              <a:buChar char="•"/>
            </a:pPr>
            <a:r>
              <a:rPr lang="es-PE" b="1" dirty="0">
                <a:solidFill>
                  <a:srgbClr val="2F2F2F"/>
                </a:solidFill>
              </a:rPr>
              <a:t>Referencia</a:t>
            </a:r>
            <a:r>
              <a:rPr lang="es-PE" dirty="0">
                <a:solidFill>
                  <a:srgbClr val="2F2F2F"/>
                </a:solidFill>
              </a:rPr>
              <a:t>    Obligatorio. La referencia en la que desea basar el desplazamiento. Referencia debe referirse a una celda o rango de celdas adyacentes; en caso contrario, DESREF devuelve el valor de error #¡VALOR!</a:t>
            </a:r>
          </a:p>
          <a:p>
            <a:pPr marL="285750" indent="-285750" algn="just">
              <a:buFont typeface="Arial" panose="020B0604020202020204" pitchFamily="34" charset="0"/>
              <a:buChar char="•"/>
            </a:pPr>
            <a:r>
              <a:rPr lang="es-PE" b="1" dirty="0">
                <a:solidFill>
                  <a:srgbClr val="2F2F2F"/>
                </a:solidFill>
              </a:rPr>
              <a:t>Filas</a:t>
            </a:r>
            <a:r>
              <a:rPr lang="es-PE" dirty="0">
                <a:solidFill>
                  <a:srgbClr val="2F2F2F"/>
                </a:solidFill>
              </a:rPr>
              <a:t>    Obligatorio. Es el número de filas, hacia arriba o hacia abajo, al que desea que haga referencia la celda superior izquierda. Si el argumento filas es 5, la celda superior izquierda de la referencia pasa a estar cinco filas más abajo que la referencia. Filas puede ser positivo (lo que significa que está por debajo de la referencia de inicio) o negativo (por encima).</a:t>
            </a:r>
          </a:p>
          <a:p>
            <a:pPr marL="285750" indent="-285750" algn="just">
              <a:buFont typeface="Arial" panose="020B0604020202020204" pitchFamily="34" charset="0"/>
              <a:buChar char="•"/>
            </a:pPr>
            <a:r>
              <a:rPr lang="es-PE" b="1" dirty="0">
                <a:solidFill>
                  <a:srgbClr val="2F2F2F"/>
                </a:solidFill>
              </a:rPr>
              <a:t>Columnas</a:t>
            </a:r>
            <a:r>
              <a:rPr lang="es-PE" dirty="0">
                <a:solidFill>
                  <a:srgbClr val="2F2F2F"/>
                </a:solidFill>
              </a:rPr>
              <a:t>    Obligatorio. Es el número de columnas, hacia la derecha o izquierda, al que desea que haga referencia la celda superior izquierda del resultado. Si el argumento columnas es 5, la celda superior izquierda de la referencia pasa a estar cinco columnas hacia la derecha de la referencia. Columnas puede ser positivo (lo que significa a la derecha de la referencia de inicio) o negativo (a la izquierda).</a:t>
            </a:r>
          </a:p>
          <a:p>
            <a:pPr marL="285750" indent="-285750" algn="just">
              <a:buFont typeface="Arial" panose="020B0604020202020204" pitchFamily="34" charset="0"/>
              <a:buChar char="•"/>
            </a:pPr>
            <a:r>
              <a:rPr lang="es-PE" b="1" dirty="0">
                <a:solidFill>
                  <a:srgbClr val="2F2F2F"/>
                </a:solidFill>
              </a:rPr>
              <a:t>Alto</a:t>
            </a:r>
            <a:r>
              <a:rPr lang="es-PE" dirty="0">
                <a:solidFill>
                  <a:srgbClr val="2F2F2F"/>
                </a:solidFill>
              </a:rPr>
              <a:t>    Opcional. Es el alto, en número de filas, que se desea que tenga la referencia devuelta. El alto debe ser un número positivo.</a:t>
            </a:r>
          </a:p>
          <a:p>
            <a:pPr marL="285750" indent="-285750" algn="just">
              <a:buFont typeface="Arial" panose="020B0604020202020204" pitchFamily="34" charset="0"/>
              <a:buChar char="•"/>
            </a:pPr>
            <a:r>
              <a:rPr lang="es-PE" b="1" dirty="0">
                <a:solidFill>
                  <a:srgbClr val="2F2F2F"/>
                </a:solidFill>
              </a:rPr>
              <a:t>Ancho</a:t>
            </a:r>
            <a:r>
              <a:rPr lang="es-PE" dirty="0">
                <a:solidFill>
                  <a:srgbClr val="2F2F2F"/>
                </a:solidFill>
              </a:rPr>
              <a:t>    Opcional. Es el ancho, en número de columnas, que se desea que tenga la referencia devuelta. El argumento ancho debe ser un número positivo.</a:t>
            </a:r>
          </a:p>
        </p:txBody>
      </p:sp>
    </p:spTree>
    <p:extLst>
      <p:ext uri="{BB962C8B-B14F-4D97-AF65-F5344CB8AC3E}">
        <p14:creationId xmlns:p14="http://schemas.microsoft.com/office/powerpoint/2010/main" val="3901360154"/>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687283" y="209845"/>
            <a:ext cx="8033660" cy="1200329"/>
          </a:xfrm>
          <a:prstGeom prst="rect">
            <a:avLst/>
          </a:prstGeom>
        </p:spPr>
        <p:txBody>
          <a:bodyPr wrap="square">
            <a:spAutoFit/>
          </a:bodyPr>
          <a:lstStyle/>
          <a:p>
            <a:pPr algn="ctr"/>
            <a:r>
              <a:rPr lang="es-PE" sz="3600" b="1" dirty="0">
                <a:solidFill>
                  <a:schemeClr val="bg1"/>
                </a:solidFill>
                <a:effectLst>
                  <a:outerShdw blurRad="38100" dist="38100" dir="2700000" algn="tl">
                    <a:srgbClr val="000000">
                      <a:alpha val="43137"/>
                    </a:srgbClr>
                  </a:outerShdw>
                </a:effectLst>
              </a:rPr>
              <a:t>Ejemplo 1: Extrayendo un valor de una celda hacia adelante </a:t>
            </a:r>
          </a:p>
        </p:txBody>
      </p:sp>
      <p:pic>
        <p:nvPicPr>
          <p:cNvPr id="4" name="Imagen 3"/>
          <p:cNvPicPr>
            <a:picLocks noChangeAspect="1"/>
          </p:cNvPicPr>
          <p:nvPr/>
        </p:nvPicPr>
        <p:blipFill rotWithShape="1">
          <a:blip r:embed="rId2"/>
          <a:srcRect t="19871" r="25247" b="22857"/>
          <a:stretch/>
        </p:blipFill>
        <p:spPr>
          <a:xfrm>
            <a:off x="2055207" y="1828119"/>
            <a:ext cx="8059184" cy="3473224"/>
          </a:xfrm>
          <a:prstGeom prst="rect">
            <a:avLst/>
          </a:prstGeom>
        </p:spPr>
      </p:pic>
    </p:spTree>
    <p:extLst>
      <p:ext uri="{BB962C8B-B14F-4D97-AF65-F5344CB8AC3E}">
        <p14:creationId xmlns:p14="http://schemas.microsoft.com/office/powerpoint/2010/main" val="78823347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rotWithShape="1">
          <a:blip r:embed="rId2"/>
          <a:srcRect t="19649" r="33503" b="32567"/>
          <a:stretch/>
        </p:blipFill>
        <p:spPr>
          <a:xfrm>
            <a:off x="2060276" y="1826916"/>
            <a:ext cx="7932811" cy="3206426"/>
          </a:xfrm>
          <a:prstGeom prst="rect">
            <a:avLst/>
          </a:prstGeom>
        </p:spPr>
      </p:pic>
      <p:sp>
        <p:nvSpPr>
          <p:cNvPr id="5" name="Rectángulo 4"/>
          <p:cNvSpPr/>
          <p:nvPr/>
        </p:nvSpPr>
        <p:spPr>
          <a:xfrm>
            <a:off x="1687284" y="209845"/>
            <a:ext cx="8382002" cy="1446550"/>
          </a:xfrm>
          <a:prstGeom prst="rect">
            <a:avLst/>
          </a:prstGeom>
        </p:spPr>
        <p:txBody>
          <a:bodyPr wrap="square">
            <a:spAutoFit/>
          </a:bodyPr>
          <a:lstStyle/>
          <a:p>
            <a:pPr algn="ctr"/>
            <a:r>
              <a:rPr lang="es-PE" sz="3200" b="1" dirty="0">
                <a:solidFill>
                  <a:schemeClr val="bg1"/>
                </a:solidFill>
                <a:effectLst>
                  <a:outerShdw blurRad="38100" dist="38100" dir="2700000" algn="tl">
                    <a:srgbClr val="000000">
                      <a:alpha val="43137"/>
                    </a:srgbClr>
                  </a:outerShdw>
                </a:effectLst>
              </a:rPr>
              <a:t>Ejemplo 2: Extrayendo un valor de una celda hacia atrás</a:t>
            </a:r>
          </a:p>
          <a:p>
            <a:endParaRPr lang="es-PE" sz="2400" b="1"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92385640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rotWithShape="1">
          <a:blip r:embed="rId2"/>
          <a:srcRect t="19378" r="22892" b="12863"/>
          <a:stretch/>
        </p:blipFill>
        <p:spPr>
          <a:xfrm>
            <a:off x="2176043" y="2436345"/>
            <a:ext cx="8016217" cy="3962399"/>
          </a:xfrm>
          <a:prstGeom prst="rect">
            <a:avLst/>
          </a:prstGeom>
        </p:spPr>
      </p:pic>
      <p:sp>
        <p:nvSpPr>
          <p:cNvPr id="5" name="Llamada con línea 1 4"/>
          <p:cNvSpPr/>
          <p:nvPr/>
        </p:nvSpPr>
        <p:spPr>
          <a:xfrm>
            <a:off x="6919423" y="3804300"/>
            <a:ext cx="1132972" cy="332747"/>
          </a:xfrm>
          <a:prstGeom prst="borderCallout1">
            <a:avLst>
              <a:gd name="adj1" fmla="val 60750"/>
              <a:gd name="adj2" fmla="val 720"/>
              <a:gd name="adj3" fmla="val 156734"/>
              <a:gd name="adj4" fmla="val -127352"/>
            </a:avLst>
          </a:prstGeom>
          <a:solidFill>
            <a:schemeClr val="bg1"/>
          </a:solidFill>
          <a:ln w="28575">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PE" b="1">
                <a:solidFill>
                  <a:sysClr val="windowText" lastClr="000000"/>
                </a:solidFill>
              </a:rPr>
              <a:t>=SUMA(C3:D5)</a:t>
            </a:r>
          </a:p>
        </p:txBody>
      </p:sp>
      <p:sp>
        <p:nvSpPr>
          <p:cNvPr id="6" name="CuadroTexto 15"/>
          <p:cNvSpPr txBox="1"/>
          <p:nvPr/>
        </p:nvSpPr>
        <p:spPr>
          <a:xfrm>
            <a:off x="6919423" y="3317136"/>
            <a:ext cx="3027947" cy="310815"/>
          </a:xfrm>
          <a:prstGeom prst="rect">
            <a:avLst/>
          </a:prstGeom>
          <a:ln w="28575">
            <a:solidFill>
              <a:srgbClr val="FF0000"/>
            </a:solid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s-PE" dirty="0"/>
              <a:t>La equivalencia sería empleando la función </a:t>
            </a:r>
            <a:r>
              <a:rPr lang="es-PE" b="1" dirty="0"/>
              <a:t>SUMA</a:t>
            </a:r>
            <a:endParaRPr lang="es-PE" b="1" u="sng" dirty="0"/>
          </a:p>
        </p:txBody>
      </p:sp>
      <p:sp>
        <p:nvSpPr>
          <p:cNvPr id="7" name="Rectángulo 6"/>
          <p:cNvSpPr/>
          <p:nvPr/>
        </p:nvSpPr>
        <p:spPr>
          <a:xfrm>
            <a:off x="1375558" y="546343"/>
            <a:ext cx="9212780" cy="584775"/>
          </a:xfrm>
          <a:prstGeom prst="rect">
            <a:avLst/>
          </a:prstGeom>
        </p:spPr>
        <p:txBody>
          <a:bodyPr wrap="square">
            <a:spAutoFit/>
          </a:bodyPr>
          <a:lstStyle/>
          <a:p>
            <a:pPr algn="ctr"/>
            <a:r>
              <a:rPr lang="es-PE" sz="3200" b="1" dirty="0">
                <a:solidFill>
                  <a:schemeClr val="bg1"/>
                </a:solidFill>
                <a:effectLst>
                  <a:outerShdw blurRad="38100" dist="38100" dir="2700000" algn="tl">
                    <a:srgbClr val="000000">
                      <a:alpha val="43137"/>
                    </a:srgbClr>
                  </a:outerShdw>
                </a:effectLst>
              </a:rPr>
              <a:t>Ejemplo 3: Empleando la función SUMA</a:t>
            </a:r>
          </a:p>
        </p:txBody>
      </p:sp>
    </p:spTree>
    <p:extLst>
      <p:ext uri="{BB962C8B-B14F-4D97-AF65-F5344CB8AC3E}">
        <p14:creationId xmlns:p14="http://schemas.microsoft.com/office/powerpoint/2010/main" val="367745710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734784" y="1825682"/>
            <a:ext cx="10830298" cy="4893647"/>
          </a:xfrm>
          <a:prstGeom prst="rect">
            <a:avLst/>
          </a:prstGeom>
        </p:spPr>
        <p:txBody>
          <a:bodyPr wrap="square">
            <a:spAutoFit/>
          </a:bodyPr>
          <a:lstStyle/>
          <a:p>
            <a:pPr algn="just"/>
            <a:r>
              <a:rPr lang="es-PE" sz="2400" b="1" dirty="0"/>
              <a:t>DESCRIPCIÓN</a:t>
            </a:r>
          </a:p>
          <a:p>
            <a:pPr algn="just"/>
            <a:r>
              <a:rPr lang="es-PE" sz="2400" b="1" dirty="0"/>
              <a:t>La función COINCIDIR en Excel</a:t>
            </a:r>
            <a:r>
              <a:rPr lang="es-PE" sz="2400" dirty="0"/>
              <a:t> nos ayuda a localizar un elemento dentro de un rango de celdas y nos devuelve su posición. En otras palabras, la </a:t>
            </a:r>
            <a:r>
              <a:rPr lang="es-PE" sz="2400" b="1" dirty="0"/>
              <a:t>función COINCIDIR</a:t>
            </a:r>
            <a:r>
              <a:rPr lang="es-PE" sz="2400" dirty="0"/>
              <a:t> nos ayuda a obtener el número de fila que ocupa el elemento buscado.</a:t>
            </a:r>
          </a:p>
          <a:p>
            <a:pPr algn="just"/>
            <a:endParaRPr lang="es-PE" sz="2400" dirty="0"/>
          </a:p>
          <a:p>
            <a:pPr algn="just"/>
            <a:r>
              <a:rPr lang="es-PE" sz="2400" b="1" dirty="0"/>
              <a:t>SINTAXIS</a:t>
            </a:r>
          </a:p>
          <a:p>
            <a:pPr algn="just"/>
            <a:r>
              <a:rPr lang="es-PE" sz="2400" dirty="0"/>
              <a:t>=COINCIDIR(</a:t>
            </a:r>
            <a:r>
              <a:rPr lang="es-PE" sz="2400" dirty="0" err="1"/>
              <a:t>Valor_buscado</a:t>
            </a:r>
            <a:r>
              <a:rPr lang="es-PE" sz="2400" dirty="0"/>
              <a:t>, </a:t>
            </a:r>
            <a:r>
              <a:rPr lang="es-PE" sz="2400" dirty="0" err="1"/>
              <a:t>Matriz_buscada,Tipo_de_coincidencia</a:t>
            </a:r>
            <a:r>
              <a:rPr lang="es-PE" sz="2400" dirty="0"/>
              <a:t>)</a:t>
            </a:r>
          </a:p>
          <a:p>
            <a:pPr algn="just"/>
            <a:endParaRPr lang="es-PE" sz="2400" b="1" dirty="0"/>
          </a:p>
          <a:p>
            <a:pPr algn="just"/>
            <a:r>
              <a:rPr lang="es-PE" sz="2400" b="1" dirty="0" err="1"/>
              <a:t>Valor_buscado</a:t>
            </a:r>
            <a:r>
              <a:rPr lang="es-PE" sz="2400" dirty="0"/>
              <a:t> (</a:t>
            </a:r>
            <a:r>
              <a:rPr lang="es-PE" sz="2400" i="1" dirty="0"/>
              <a:t>obligatorio</a:t>
            </a:r>
            <a:r>
              <a:rPr lang="es-PE" sz="2400" dirty="0"/>
              <a:t>): El valor que estamos buscando.</a:t>
            </a:r>
          </a:p>
          <a:p>
            <a:pPr algn="just"/>
            <a:r>
              <a:rPr lang="es-PE" sz="2400" b="1" dirty="0" err="1"/>
              <a:t>Matriz_buscada</a:t>
            </a:r>
            <a:r>
              <a:rPr lang="es-PE" sz="2400" dirty="0"/>
              <a:t> (</a:t>
            </a:r>
            <a:r>
              <a:rPr lang="es-PE" sz="2400" i="1" dirty="0"/>
              <a:t>obligatorio</a:t>
            </a:r>
            <a:r>
              <a:rPr lang="es-PE" sz="2400" dirty="0"/>
              <a:t>): El rango de celdas donde realizaremos la búsqueda.</a:t>
            </a:r>
          </a:p>
          <a:p>
            <a:pPr algn="just"/>
            <a:r>
              <a:rPr lang="es-PE" sz="2400" b="1" dirty="0" err="1"/>
              <a:t>Tipo_de_coincidencia</a:t>
            </a:r>
            <a:r>
              <a:rPr lang="es-PE" sz="2400" dirty="0"/>
              <a:t> (</a:t>
            </a:r>
            <a:r>
              <a:rPr lang="es-PE" sz="2400" i="1" dirty="0"/>
              <a:t>opcional</a:t>
            </a:r>
            <a:r>
              <a:rPr lang="es-PE" sz="2400" dirty="0"/>
              <a:t>): Un número que indica el tipo de coincidencia en la búsqueda.</a:t>
            </a:r>
          </a:p>
          <a:p>
            <a:pPr algn="just"/>
            <a:endParaRPr lang="es-PE" sz="2400" dirty="0"/>
          </a:p>
        </p:txBody>
      </p:sp>
      <p:sp>
        <p:nvSpPr>
          <p:cNvPr id="5" name="CuadroTexto 4"/>
          <p:cNvSpPr txBox="1"/>
          <p:nvPr/>
        </p:nvSpPr>
        <p:spPr>
          <a:xfrm>
            <a:off x="945869" y="500256"/>
            <a:ext cx="4758740" cy="707886"/>
          </a:xfrm>
          <a:prstGeom prst="rect">
            <a:avLst/>
          </a:prstGeom>
          <a:noFill/>
        </p:spPr>
        <p:txBody>
          <a:bodyPr wrap="square" rtlCol="0">
            <a:spAutoFit/>
          </a:bodyPr>
          <a:lstStyle/>
          <a:p>
            <a:r>
              <a:rPr lang="es-ES" sz="4000" b="1" dirty="0">
                <a:solidFill>
                  <a:schemeClr val="bg1"/>
                </a:solidFill>
                <a:effectLst>
                  <a:outerShdw blurRad="38100" dist="38100" dir="2700000" algn="tl">
                    <a:srgbClr val="000000">
                      <a:alpha val="43137"/>
                    </a:srgbClr>
                  </a:outerShdw>
                </a:effectLst>
              </a:rPr>
              <a:t>FUNCIÓN COINCIDIR</a:t>
            </a:r>
          </a:p>
        </p:txBody>
      </p:sp>
    </p:spTree>
    <p:extLst>
      <p:ext uri="{BB962C8B-B14F-4D97-AF65-F5344CB8AC3E}">
        <p14:creationId xmlns:p14="http://schemas.microsoft.com/office/powerpoint/2010/main" val="267569379"/>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484910" y="1873252"/>
            <a:ext cx="11475026" cy="4154984"/>
          </a:xfrm>
          <a:prstGeom prst="rect">
            <a:avLst/>
          </a:prstGeom>
        </p:spPr>
        <p:txBody>
          <a:bodyPr wrap="square">
            <a:spAutoFit/>
          </a:bodyPr>
          <a:lstStyle/>
          <a:p>
            <a:pPr algn="just"/>
            <a:r>
              <a:rPr lang="es-PE" sz="2400" dirty="0"/>
              <a:t>El </a:t>
            </a:r>
            <a:r>
              <a:rPr lang="es-PE" sz="2400" i="1" dirty="0" err="1"/>
              <a:t>Tipo_de_coincidencia</a:t>
            </a:r>
            <a:r>
              <a:rPr lang="es-PE" sz="2400" dirty="0"/>
              <a:t> especificado en la función tendrá un efecto en la manera en que se hace la búsqueda. Los siguientes valores son los posibles para el tercer argumento de la </a:t>
            </a:r>
            <a:r>
              <a:rPr lang="es-PE" sz="2400" b="1" dirty="0"/>
              <a:t>función COINCIDIR</a:t>
            </a:r>
            <a:r>
              <a:rPr lang="es-PE" sz="2400" dirty="0"/>
              <a:t>:</a:t>
            </a:r>
          </a:p>
          <a:p>
            <a:pPr marL="342900" indent="-342900" algn="just">
              <a:buFont typeface="Arial" panose="020B0604020202020204" pitchFamily="34" charset="0"/>
              <a:buChar char="•"/>
            </a:pPr>
            <a:r>
              <a:rPr lang="es-PE" sz="2400" dirty="0"/>
              <a:t>1: La </a:t>
            </a:r>
            <a:r>
              <a:rPr lang="es-PE" sz="2400" b="1" dirty="0"/>
              <a:t>función COINCIDIR</a:t>
            </a:r>
            <a:r>
              <a:rPr lang="es-PE" sz="2400" dirty="0"/>
              <a:t> encontrará el valor más grande que sea menor o igual al valor buscado. La matriz de búsqueda debe estar ordenada de manera ascendente.</a:t>
            </a:r>
          </a:p>
          <a:p>
            <a:pPr marL="342900" indent="-342900" algn="just">
              <a:buFont typeface="Arial" panose="020B0604020202020204" pitchFamily="34" charset="0"/>
              <a:buChar char="•"/>
            </a:pPr>
            <a:r>
              <a:rPr lang="es-PE" sz="2400" dirty="0"/>
              <a:t>0: La </a:t>
            </a:r>
            <a:r>
              <a:rPr lang="es-PE" sz="2400" b="1" dirty="0"/>
              <a:t>función COINCIDIR</a:t>
            </a:r>
            <a:r>
              <a:rPr lang="es-PE" sz="2400" dirty="0"/>
              <a:t> encontrará el primer valor que sea exactamente igual al valor buscado. La matriz de búsqueda puede estar en cualquier orden.</a:t>
            </a:r>
          </a:p>
          <a:p>
            <a:pPr marL="342900" indent="-342900" algn="just">
              <a:buFont typeface="Arial" panose="020B0604020202020204" pitchFamily="34" charset="0"/>
              <a:buChar char="•"/>
            </a:pPr>
            <a:r>
              <a:rPr lang="es-PE" sz="2400" dirty="0"/>
              <a:t>-1: La </a:t>
            </a:r>
            <a:r>
              <a:rPr lang="es-PE" sz="2400" b="1" dirty="0"/>
              <a:t>función COINCIDIR</a:t>
            </a:r>
            <a:r>
              <a:rPr lang="es-PE" sz="2400" dirty="0"/>
              <a:t> encontrará el valor más pequeño que sea mayor o igual que el valor buscado. La matriz de búsqueda debe estar ordenada de manera descendente.</a:t>
            </a:r>
          </a:p>
          <a:p>
            <a:pPr algn="just"/>
            <a:r>
              <a:rPr lang="es-PE" sz="2400" dirty="0"/>
              <a:t>Cuando no se especifica el tercer argumento de la </a:t>
            </a:r>
            <a:r>
              <a:rPr lang="es-PE" sz="2400" b="1" dirty="0"/>
              <a:t>función COINCIDIR</a:t>
            </a:r>
            <a:r>
              <a:rPr lang="es-PE" sz="2400" dirty="0"/>
              <a:t> se utilizará de manera predeterminada el valor 1.</a:t>
            </a:r>
          </a:p>
        </p:txBody>
      </p:sp>
      <p:sp>
        <p:nvSpPr>
          <p:cNvPr id="5" name="CuadroTexto 4"/>
          <p:cNvSpPr txBox="1"/>
          <p:nvPr/>
        </p:nvSpPr>
        <p:spPr>
          <a:xfrm>
            <a:off x="613359" y="666511"/>
            <a:ext cx="5704313" cy="584775"/>
          </a:xfrm>
          <a:prstGeom prst="rect">
            <a:avLst/>
          </a:prstGeom>
          <a:noFill/>
        </p:spPr>
        <p:txBody>
          <a:bodyPr wrap="square" rtlCol="0">
            <a:spAutoFit/>
          </a:bodyPr>
          <a:lstStyle/>
          <a:p>
            <a:r>
              <a:rPr lang="es-ES" sz="3200" b="1" dirty="0">
                <a:solidFill>
                  <a:schemeClr val="bg1"/>
                </a:solidFill>
                <a:effectLst>
                  <a:outerShdw blurRad="38100" dist="38100" dir="2700000" algn="tl">
                    <a:srgbClr val="000000">
                      <a:alpha val="43137"/>
                    </a:srgbClr>
                  </a:outerShdw>
                </a:effectLst>
              </a:rPr>
              <a:t>FUNCIÓN COINCIDIR</a:t>
            </a:r>
          </a:p>
        </p:txBody>
      </p:sp>
    </p:spTree>
    <p:extLst>
      <p:ext uri="{BB962C8B-B14F-4D97-AF65-F5344CB8AC3E}">
        <p14:creationId xmlns:p14="http://schemas.microsoft.com/office/powerpoint/2010/main" val="102304160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652451" y="760030"/>
            <a:ext cx="2124892" cy="584775"/>
          </a:xfrm>
          <a:prstGeom prst="rect">
            <a:avLst/>
          </a:prstGeom>
          <a:noFill/>
        </p:spPr>
        <p:txBody>
          <a:bodyPr wrap="square" rtlCol="0">
            <a:spAutoFit/>
          </a:bodyPr>
          <a:lstStyle/>
          <a:p>
            <a:r>
              <a:rPr lang="es-ES" sz="3200" b="1" dirty="0">
                <a:solidFill>
                  <a:schemeClr val="bg1"/>
                </a:solidFill>
                <a:effectLst>
                  <a:outerShdw blurRad="38100" dist="38100" dir="2700000" algn="tl">
                    <a:srgbClr val="000000">
                      <a:alpha val="43137"/>
                    </a:srgbClr>
                  </a:outerShdw>
                </a:effectLst>
              </a:rPr>
              <a:t>Ejemplo 1:</a:t>
            </a:r>
          </a:p>
        </p:txBody>
      </p:sp>
      <p:pic>
        <p:nvPicPr>
          <p:cNvPr id="6" name="Imagen 5"/>
          <p:cNvPicPr>
            <a:picLocks noChangeAspect="1"/>
          </p:cNvPicPr>
          <p:nvPr/>
        </p:nvPicPr>
        <p:blipFill rotWithShape="1">
          <a:blip r:embed="rId2"/>
          <a:srcRect t="19631" r="43443" b="42459"/>
          <a:stretch/>
        </p:blipFill>
        <p:spPr>
          <a:xfrm>
            <a:off x="1652451" y="2547232"/>
            <a:ext cx="7461861" cy="2813488"/>
          </a:xfrm>
          <a:prstGeom prst="rect">
            <a:avLst/>
          </a:prstGeom>
        </p:spPr>
      </p:pic>
    </p:spTree>
    <p:extLst>
      <p:ext uri="{BB962C8B-B14F-4D97-AF65-F5344CB8AC3E}">
        <p14:creationId xmlns:p14="http://schemas.microsoft.com/office/powerpoint/2010/main" val="4072926724"/>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1342</TotalTime>
  <Words>1223</Words>
  <Application>Microsoft Office PowerPoint</Application>
  <PresentationFormat>Panorámica</PresentationFormat>
  <Paragraphs>69</Paragraphs>
  <Slides>16</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Arial</vt:lpstr>
      <vt:lpstr>Calibri</vt:lpstr>
      <vt:lpstr>Calibri Light</vt:lpstr>
      <vt:lpstr>Courier New</vt:lpstr>
      <vt:lpstr>Segoe UI</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MILAGROS-PC</dc:creator>
  <cp:lastModifiedBy>Burton Zephaniah</cp:lastModifiedBy>
  <cp:revision>97</cp:revision>
  <dcterms:created xsi:type="dcterms:W3CDTF">2019-09-09T03:46:59Z</dcterms:created>
  <dcterms:modified xsi:type="dcterms:W3CDTF">2024-10-28T22:37:27Z</dcterms:modified>
</cp:coreProperties>
</file>