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311" r:id="rId2"/>
    <p:sldId id="295" r:id="rId3"/>
    <p:sldId id="296" r:id="rId4"/>
    <p:sldId id="297" r:id="rId5"/>
    <p:sldId id="298" r:id="rId6"/>
    <p:sldId id="299" r:id="rId7"/>
    <p:sldId id="300" r:id="rId8"/>
    <p:sldId id="301" r:id="rId9"/>
    <p:sldId id="302" r:id="rId10"/>
    <p:sldId id="303" r:id="rId11"/>
    <p:sldId id="304" r:id="rId12"/>
    <p:sldId id="305" r:id="rId13"/>
    <p:sldId id="306" r:id="rId14"/>
    <p:sldId id="307" r:id="rId15"/>
    <p:sldId id="308" r:id="rId16"/>
    <p:sldId id="309" r:id="rId17"/>
    <p:sldId id="310" r:id="rId18"/>
    <p:sldId id="331" r:id="rId19"/>
    <p:sldId id="312" r:id="rId20"/>
    <p:sldId id="313" r:id="rId21"/>
    <p:sldId id="314" r:id="rId22"/>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34" autoAdjust="0"/>
    <p:restoredTop sz="94660"/>
  </p:normalViewPr>
  <p:slideViewPr>
    <p:cSldViewPr snapToGrid="0">
      <p:cViewPr varScale="1">
        <p:scale>
          <a:sx n="71" d="100"/>
          <a:sy n="71" d="100"/>
        </p:scale>
        <p:origin x="480" y="6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7CEF1F-FE78-42FF-AFD8-D6E650E5D1AE}" type="datetimeFigureOut">
              <a:rPr lang="es-PE" smtClean="0"/>
              <a:t>20/05/2020</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F3D5AA-2868-47D7-9A31-16DC9A147307}" type="slidenum">
              <a:rPr lang="es-PE" smtClean="0"/>
              <a:t>‹Nº›</a:t>
            </a:fld>
            <a:endParaRPr lang="es-PE"/>
          </a:p>
        </p:txBody>
      </p:sp>
    </p:spTree>
    <p:extLst>
      <p:ext uri="{BB962C8B-B14F-4D97-AF65-F5344CB8AC3E}">
        <p14:creationId xmlns:p14="http://schemas.microsoft.com/office/powerpoint/2010/main" val="3647093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1860827" y="5265683"/>
            <a:ext cx="6495393" cy="409904"/>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Haga clic para editar el estilo de subtítulo del patrón</a:t>
            </a:r>
            <a:endParaRPr lang="es-PE" dirty="0"/>
          </a:p>
        </p:txBody>
      </p:sp>
      <p:sp>
        <p:nvSpPr>
          <p:cNvPr id="4" name="Marcador de fecha 3"/>
          <p:cNvSpPr>
            <a:spLocks noGrp="1"/>
          </p:cNvSpPr>
          <p:nvPr>
            <p:ph type="dt" sz="half" idx="10"/>
          </p:nvPr>
        </p:nvSpPr>
        <p:spPr/>
        <p:txBody>
          <a:bodyPr/>
          <a:lstStyle/>
          <a:p>
            <a:fld id="{06D8BD8A-34F6-4620-907D-6D1CD67ED4DA}" type="datetimeFigureOut">
              <a:rPr lang="es-PE" smtClean="0"/>
              <a:t>20/05/2020</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
        <p:nvSpPr>
          <p:cNvPr id="7" name="Rectángulo 6"/>
          <p:cNvSpPr/>
          <p:nvPr userDrawn="1"/>
        </p:nvSpPr>
        <p:spPr>
          <a:xfrm>
            <a:off x="0" y="0"/>
            <a:ext cx="727364" cy="6858000"/>
          </a:xfrm>
          <a:prstGeom prst="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sp>
        <p:nvSpPr>
          <p:cNvPr id="13" name="Rectángulo redondeado 12"/>
          <p:cNvSpPr/>
          <p:nvPr userDrawn="1"/>
        </p:nvSpPr>
        <p:spPr>
          <a:xfrm>
            <a:off x="3078455" y="2611903"/>
            <a:ext cx="6508531" cy="620111"/>
          </a:xfrm>
          <a:prstGeom prst="roundRect">
            <a:avLst>
              <a:gd name="adj" fmla="val 50000"/>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pic>
        <p:nvPicPr>
          <p:cNvPr id="16" name="Imagen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202304" y="4539723"/>
            <a:ext cx="1559792" cy="783020"/>
          </a:xfrm>
          <a:prstGeom prst="rect">
            <a:avLst/>
          </a:prstGeom>
        </p:spPr>
      </p:pic>
      <p:sp>
        <p:nvSpPr>
          <p:cNvPr id="2" name="AutoShape 2" descr="Resultado de imagen para word.png"/>
          <p:cNvSpPr>
            <a:spLocks noChangeAspect="1" noChangeArrowheads="1"/>
          </p:cNvSpPr>
          <p:nvPr userDrawn="1"/>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PE"/>
          </a:p>
        </p:txBody>
      </p:sp>
      <p:pic>
        <p:nvPicPr>
          <p:cNvPr id="9" name="Picture 2" descr="Resultado de imagen para icono excel.png"/>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24759" t="2527" r="24871" b="9594"/>
          <a:stretch/>
        </p:blipFill>
        <p:spPr bwMode="auto">
          <a:xfrm>
            <a:off x="10869966" y="4518551"/>
            <a:ext cx="967667" cy="82536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Resultado de imagen para colegio de ingenieros del peru lambayeque"/>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0158372" y="160338"/>
            <a:ext cx="1647680" cy="1647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226055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mato de Sesión">
    <p:spTree>
      <p:nvGrpSpPr>
        <p:cNvPr id="1" name=""/>
        <p:cNvGrpSpPr/>
        <p:nvPr/>
      </p:nvGrpSpPr>
      <p:grpSpPr>
        <a:xfrm>
          <a:off x="0" y="0"/>
          <a:ext cx="0" cy="0"/>
          <a:chOff x="0" y="0"/>
          <a:chExt cx="0" cy="0"/>
        </a:xfrm>
      </p:grpSpPr>
      <p:pic>
        <p:nvPicPr>
          <p:cNvPr id="10" name="Picture 4" descr="Resultado de imagen para colegio de ingenieros del peru lambayeque"/>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0387812" y="5434812"/>
            <a:ext cx="1423188" cy="1423188"/>
          </a:xfrm>
          <a:prstGeom prst="rect">
            <a:avLst/>
          </a:prstGeom>
          <a:noFill/>
          <a:extLst>
            <a:ext uri="{909E8E84-426E-40DD-AFC4-6F175D3DCCD1}">
              <a14:hiddenFill xmlns:a14="http://schemas.microsoft.com/office/drawing/2010/main">
                <a:solidFill>
                  <a:srgbClr val="FFFFFF"/>
                </a:solidFill>
              </a14:hiddenFill>
            </a:ext>
          </a:extLst>
        </p:spPr>
      </p:pic>
      <p:sp>
        <p:nvSpPr>
          <p:cNvPr id="4" name="Marcador de fecha 3"/>
          <p:cNvSpPr>
            <a:spLocks noGrp="1"/>
          </p:cNvSpPr>
          <p:nvPr>
            <p:ph type="dt" sz="half" idx="10"/>
          </p:nvPr>
        </p:nvSpPr>
        <p:spPr/>
        <p:txBody>
          <a:bodyPr/>
          <a:lstStyle/>
          <a:p>
            <a:fld id="{06D8BD8A-34F6-4620-907D-6D1CD67ED4DA}" type="datetimeFigureOut">
              <a:rPr lang="es-PE" smtClean="0"/>
              <a:t>20/05/2020</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
        <p:nvSpPr>
          <p:cNvPr id="7" name="Rectángulo 6"/>
          <p:cNvSpPr/>
          <p:nvPr userDrawn="1"/>
        </p:nvSpPr>
        <p:spPr>
          <a:xfrm rot="5400000">
            <a:off x="5732318" y="-5732318"/>
            <a:ext cx="727364" cy="12192000"/>
          </a:xfrm>
          <a:prstGeom prst="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sp>
        <p:nvSpPr>
          <p:cNvPr id="9" name="Marcador de texto 8"/>
          <p:cNvSpPr>
            <a:spLocks noGrp="1"/>
          </p:cNvSpPr>
          <p:nvPr>
            <p:ph type="body" sz="quarter" idx="13"/>
          </p:nvPr>
        </p:nvSpPr>
        <p:spPr>
          <a:xfrm>
            <a:off x="838200" y="2459181"/>
            <a:ext cx="10515600" cy="3668350"/>
          </a:xfrm>
        </p:spPr>
        <p:txBody>
          <a:body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11" name="Título 10"/>
          <p:cNvSpPr>
            <a:spLocks noGrp="1"/>
          </p:cNvSpPr>
          <p:nvPr>
            <p:ph type="title"/>
          </p:nvPr>
        </p:nvSpPr>
        <p:spPr>
          <a:xfrm>
            <a:off x="838200" y="953704"/>
            <a:ext cx="10515600" cy="1325563"/>
          </a:xfrm>
        </p:spPr>
        <p:txBody>
          <a:bodyPr/>
          <a:lstStyle/>
          <a:p>
            <a:r>
              <a:rPr lang="es-ES"/>
              <a:t>Haga clic para modificar el estilo de título del patrón</a:t>
            </a:r>
            <a:endParaRPr lang="es-PE"/>
          </a:p>
        </p:txBody>
      </p:sp>
    </p:spTree>
    <p:extLst>
      <p:ext uri="{BB962C8B-B14F-4D97-AF65-F5344CB8AC3E}">
        <p14:creationId xmlns:p14="http://schemas.microsoft.com/office/powerpoint/2010/main" val="225165046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9" name="Picture 4" descr="Resultado de imagen para colegio de ingenieros del peru lambayeque"/>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0642206" y="5434812"/>
            <a:ext cx="1423188" cy="1423188"/>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p:cNvSpPr/>
          <p:nvPr userDrawn="1"/>
        </p:nvSpPr>
        <p:spPr>
          <a:xfrm rot="5400000">
            <a:off x="5234873" y="-5233430"/>
            <a:ext cx="1722254" cy="12192000"/>
          </a:xfrm>
          <a:prstGeom prst="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sp>
        <p:nvSpPr>
          <p:cNvPr id="2" name="Título 1"/>
          <p:cNvSpPr>
            <a:spLocks noGrp="1"/>
          </p:cNvSpPr>
          <p:nvPr>
            <p:ph type="title"/>
          </p:nvPr>
        </p:nvSpPr>
        <p:spPr>
          <a:xfrm>
            <a:off x="838200" y="250753"/>
            <a:ext cx="10515600" cy="1325563"/>
          </a:xfrm>
        </p:spPr>
        <p:txBody>
          <a:bodyPr/>
          <a:lstStyle/>
          <a:p>
            <a:r>
              <a:rPr lang="es-ES"/>
              <a:t>Haga clic para modificar el estilo de título del patrón</a:t>
            </a:r>
            <a:endParaRPr lang="es-PE"/>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06D8BD8A-34F6-4620-907D-6D1CD67ED4DA}" type="datetimeFigureOut">
              <a:rPr lang="es-PE" smtClean="0"/>
              <a:t>20/05/2020</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401693286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06D8BD8A-34F6-4620-907D-6D1CD67ED4DA}" type="datetimeFigureOut">
              <a:rPr lang="es-PE" smtClean="0"/>
              <a:t>20/05/2020</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270447625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9" name="Picture 4" descr="Resultado de imagen para colegio de ingenieros del peru lambayeque"/>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0642206" y="5434812"/>
            <a:ext cx="1423188" cy="1423188"/>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p:cNvSpPr/>
          <p:nvPr userDrawn="1"/>
        </p:nvSpPr>
        <p:spPr>
          <a:xfrm rot="5400000">
            <a:off x="5234873" y="-5234873"/>
            <a:ext cx="1722254" cy="12192000"/>
          </a:xfrm>
          <a:prstGeom prst="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sp>
        <p:nvSpPr>
          <p:cNvPr id="2" name="Título 1"/>
          <p:cNvSpPr>
            <a:spLocks noGrp="1"/>
          </p:cNvSpPr>
          <p:nvPr>
            <p:ph type="title"/>
          </p:nvPr>
        </p:nvSpPr>
        <p:spPr>
          <a:xfrm>
            <a:off x="838200" y="330200"/>
            <a:ext cx="10515600" cy="1325563"/>
          </a:xfrm>
        </p:spPr>
        <p:txBody>
          <a:bodyPr/>
          <a:lstStyle/>
          <a:p>
            <a:r>
              <a:rPr lang="es-ES"/>
              <a:t>Haga clic para modificar el estilo de título del patrón</a:t>
            </a:r>
            <a:endParaRPr lang="es-PE"/>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p:cNvSpPr>
            <a:spLocks noGrp="1"/>
          </p:cNvSpPr>
          <p:nvPr>
            <p:ph type="dt" sz="half" idx="10"/>
          </p:nvPr>
        </p:nvSpPr>
        <p:spPr/>
        <p:txBody>
          <a:bodyPr/>
          <a:lstStyle/>
          <a:p>
            <a:fld id="{06D8BD8A-34F6-4620-907D-6D1CD67ED4DA}" type="datetimeFigureOut">
              <a:rPr lang="es-PE" smtClean="0"/>
              <a:t>20/05/2020</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173095632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p:cNvSpPr>
            <a:spLocks noGrp="1"/>
          </p:cNvSpPr>
          <p:nvPr>
            <p:ph type="dt" sz="half" idx="10"/>
          </p:nvPr>
        </p:nvSpPr>
        <p:spPr/>
        <p:txBody>
          <a:bodyPr/>
          <a:lstStyle/>
          <a:p>
            <a:fld id="{06D8BD8A-34F6-4620-907D-6D1CD67ED4DA}" type="datetimeFigureOut">
              <a:rPr lang="es-PE" smtClean="0"/>
              <a:t>20/05/2020</a:t>
            </a:fld>
            <a:endParaRPr lang="es-PE"/>
          </a:p>
        </p:txBody>
      </p:sp>
      <p:sp>
        <p:nvSpPr>
          <p:cNvPr id="8" name="Marcador de pie de página 7"/>
          <p:cNvSpPr>
            <a:spLocks noGrp="1"/>
          </p:cNvSpPr>
          <p:nvPr>
            <p:ph type="ftr" sz="quarter" idx="11"/>
          </p:nvPr>
        </p:nvSpPr>
        <p:spPr/>
        <p:txBody>
          <a:bodyPr/>
          <a:lstStyle/>
          <a:p>
            <a:endParaRPr lang="es-PE"/>
          </a:p>
        </p:txBody>
      </p:sp>
      <p:sp>
        <p:nvSpPr>
          <p:cNvPr id="9" name="Marcador de número de diapositiva 8"/>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2990636041"/>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fecha 2"/>
          <p:cNvSpPr>
            <a:spLocks noGrp="1"/>
          </p:cNvSpPr>
          <p:nvPr>
            <p:ph type="dt" sz="half" idx="10"/>
          </p:nvPr>
        </p:nvSpPr>
        <p:spPr/>
        <p:txBody>
          <a:bodyPr/>
          <a:lstStyle/>
          <a:p>
            <a:fld id="{06D8BD8A-34F6-4620-907D-6D1CD67ED4DA}" type="datetimeFigureOut">
              <a:rPr lang="es-PE" smtClean="0"/>
              <a:t>20/05/2020</a:t>
            </a:fld>
            <a:endParaRPr lang="es-PE"/>
          </a:p>
        </p:txBody>
      </p:sp>
      <p:sp>
        <p:nvSpPr>
          <p:cNvPr id="4" name="Marcador de pie de página 3"/>
          <p:cNvSpPr>
            <a:spLocks noGrp="1"/>
          </p:cNvSpPr>
          <p:nvPr>
            <p:ph type="ftr" sz="quarter" idx="11"/>
          </p:nvPr>
        </p:nvSpPr>
        <p:spPr/>
        <p:txBody>
          <a:bodyPr/>
          <a:lstStyle/>
          <a:p>
            <a:endParaRPr lang="es-PE"/>
          </a:p>
        </p:txBody>
      </p:sp>
      <p:sp>
        <p:nvSpPr>
          <p:cNvPr id="5" name="Marcador de número de diapositiva 4"/>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339929191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06D8BD8A-34F6-4620-907D-6D1CD67ED4DA}" type="datetimeFigureOut">
              <a:rPr lang="es-PE" smtClean="0"/>
              <a:t>20/05/2020</a:t>
            </a:fld>
            <a:endParaRPr lang="es-PE"/>
          </a:p>
        </p:txBody>
      </p:sp>
      <p:sp>
        <p:nvSpPr>
          <p:cNvPr id="3" name="Marcador de pie de página 2"/>
          <p:cNvSpPr>
            <a:spLocks noGrp="1"/>
          </p:cNvSpPr>
          <p:nvPr>
            <p:ph type="ftr" sz="quarter" idx="11"/>
          </p:nvPr>
        </p:nvSpPr>
        <p:spPr/>
        <p:txBody>
          <a:bodyPr/>
          <a:lstStyle/>
          <a:p>
            <a:endParaRPr lang="es-PE"/>
          </a:p>
        </p:txBody>
      </p:sp>
      <p:sp>
        <p:nvSpPr>
          <p:cNvPr id="4" name="Marcador de número de diapositiva 3"/>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107483457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06D8BD8A-34F6-4620-907D-6D1CD67ED4DA}" type="datetimeFigureOut">
              <a:rPr lang="es-PE" smtClean="0"/>
              <a:t>20/05/2020</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2417530972"/>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06D8BD8A-34F6-4620-907D-6D1CD67ED4DA}" type="datetimeFigureOut">
              <a:rPr lang="es-PE" smtClean="0"/>
              <a:t>20/05/2020</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4243305541"/>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06D8BD8A-34F6-4620-907D-6D1CD67ED4DA}" type="datetimeFigureOut">
              <a:rPr lang="es-PE" smtClean="0"/>
              <a:t>20/05/2020</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2434875805"/>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06D8BD8A-34F6-4620-907D-6D1CD67ED4DA}" type="datetimeFigureOut">
              <a:rPr lang="es-PE" smtClean="0"/>
              <a:t>20/05/2020</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133723476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D8BD8A-34F6-4620-907D-6D1CD67ED4DA}" type="datetimeFigureOut">
              <a:rPr lang="es-PE" smtClean="0"/>
              <a:t>20/05/2020</a:t>
            </a:fld>
            <a:endParaRPr lang="es-PE"/>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40BBE2-C205-44BA-AF9E-D64C0961F059}" type="slidenum">
              <a:rPr lang="es-PE" smtClean="0"/>
              <a:t>‹Nº›</a:t>
            </a:fld>
            <a:endParaRPr lang="es-PE"/>
          </a:p>
        </p:txBody>
      </p:sp>
    </p:spTree>
    <p:extLst>
      <p:ext uri="{BB962C8B-B14F-4D97-AF65-F5344CB8AC3E}">
        <p14:creationId xmlns:p14="http://schemas.microsoft.com/office/powerpoint/2010/main" val="1514703138"/>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CuadroTexto 3"/>
          <p:cNvSpPr txBox="1">
            <a:spLocks noChangeArrowheads="1"/>
          </p:cNvSpPr>
          <p:nvPr/>
        </p:nvSpPr>
        <p:spPr bwMode="auto">
          <a:xfrm>
            <a:off x="3839577" y="2655888"/>
            <a:ext cx="45612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es-ES" altLang="es-PE" sz="2800" b="1" dirty="0">
                <a:solidFill>
                  <a:schemeClr val="bg1"/>
                </a:solidFill>
              </a:rPr>
              <a:t>SESIÓN 03: EXCEL AVANZADO</a:t>
            </a:r>
          </a:p>
        </p:txBody>
      </p:sp>
      <p:sp>
        <p:nvSpPr>
          <p:cNvPr id="5" name="Título 1"/>
          <p:cNvSpPr txBox="1">
            <a:spLocks/>
          </p:cNvSpPr>
          <p:nvPr/>
        </p:nvSpPr>
        <p:spPr>
          <a:xfrm>
            <a:off x="2824163" y="376238"/>
            <a:ext cx="6907212" cy="1252537"/>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auto">
              <a:spcAft>
                <a:spcPts val="0"/>
              </a:spcAft>
              <a:defRPr/>
            </a:pPr>
            <a:r>
              <a:rPr lang="es-PE" sz="2800" b="1" dirty="0">
                <a:latin typeface="+mn-lt"/>
              </a:rPr>
              <a:t>COLEGIO DE INGENIEROS DEL PERU</a:t>
            </a:r>
            <a:br>
              <a:rPr lang="es-PE" sz="2800" b="1" dirty="0">
                <a:latin typeface="+mn-lt"/>
              </a:rPr>
            </a:br>
            <a:r>
              <a:rPr lang="es-PE" sz="2800" b="1" dirty="0">
                <a:latin typeface="+mn-lt"/>
              </a:rPr>
              <a:t>CONSEJO DEPARTAMENTAL DE LAMBAYEQUE</a:t>
            </a:r>
            <a:br>
              <a:rPr lang="es-PE" sz="2800" b="1" dirty="0">
                <a:latin typeface="+mn-lt"/>
              </a:rPr>
            </a:br>
            <a:r>
              <a:rPr lang="es-PE" sz="2200" b="1" dirty="0">
                <a:latin typeface="+mn-lt"/>
              </a:rPr>
              <a:t>INSTITUTO DE ESTUDIOS PROFESIONALES DE INGENIERÍA IEPI</a:t>
            </a:r>
          </a:p>
          <a:p>
            <a:pPr algn="ctr" fontAlgn="auto">
              <a:spcAft>
                <a:spcPts val="0"/>
              </a:spcAft>
              <a:defRPr/>
            </a:pPr>
            <a:r>
              <a:rPr lang="es-PE" sz="2200" b="1" dirty="0">
                <a:latin typeface="+mn-lt"/>
              </a:rPr>
              <a:t>CENTRO DE CAPACITACIÓN</a:t>
            </a:r>
          </a:p>
        </p:txBody>
      </p:sp>
      <p:sp>
        <p:nvSpPr>
          <p:cNvPr id="6" name="Subtítulo 2"/>
          <p:cNvSpPr>
            <a:spLocks noGrp="1"/>
          </p:cNvSpPr>
          <p:nvPr>
            <p:ph type="subTitle" idx="1"/>
          </p:nvPr>
        </p:nvSpPr>
        <p:spPr>
          <a:xfrm>
            <a:off x="3427413" y="5948363"/>
            <a:ext cx="5702300" cy="411162"/>
          </a:xfrm>
        </p:spPr>
        <p:txBody>
          <a:bodyPr>
            <a:normAutofit lnSpcReduction="10000"/>
          </a:bodyPr>
          <a:lstStyle/>
          <a:p>
            <a:r>
              <a:rPr lang="es-PE" altLang="es-PE" sz="2400" dirty="0"/>
              <a:t>Docente: Ing. Eric Alberto Heredia Mendoza</a:t>
            </a:r>
          </a:p>
        </p:txBody>
      </p:sp>
    </p:spTree>
    <p:extLst>
      <p:ext uri="{BB962C8B-B14F-4D97-AF65-F5344CB8AC3E}">
        <p14:creationId xmlns:p14="http://schemas.microsoft.com/office/powerpoint/2010/main" val="423767460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11171" y="624110"/>
            <a:ext cx="10393442" cy="870861"/>
          </a:xfrm>
        </p:spPr>
        <p:txBody>
          <a:bodyPr>
            <a:normAutofit/>
          </a:bodyPr>
          <a:lstStyle/>
          <a:p>
            <a:pPr algn="ctr"/>
            <a:r>
              <a:rPr lang="es-PE" sz="4000" b="1" dirty="0">
                <a:solidFill>
                  <a:schemeClr val="bg1"/>
                </a:solidFill>
                <a:latin typeface="+mn-lt"/>
              </a:rPr>
              <a:t>MACROS EN VBA</a:t>
            </a:r>
          </a:p>
        </p:txBody>
      </p:sp>
      <p:sp>
        <p:nvSpPr>
          <p:cNvPr id="3" name="Marcador de contenido 2"/>
          <p:cNvSpPr>
            <a:spLocks noGrp="1"/>
          </p:cNvSpPr>
          <p:nvPr>
            <p:ph idx="1"/>
          </p:nvPr>
        </p:nvSpPr>
        <p:spPr>
          <a:xfrm>
            <a:off x="1030147" y="2069813"/>
            <a:ext cx="10290779" cy="1085763"/>
          </a:xfrm>
        </p:spPr>
        <p:txBody>
          <a:bodyPr/>
          <a:lstStyle/>
          <a:p>
            <a:pPr marL="0" indent="0" algn="just">
              <a:buNone/>
            </a:pPr>
            <a:r>
              <a:rPr lang="es-PE" sz="2400" dirty="0"/>
              <a:t>Para poder programar una Macros en VBA es necesario manejar la estructura de Jerarquía de Objetos.</a:t>
            </a:r>
          </a:p>
          <a:p>
            <a:pPr marL="0" indent="0" algn="just">
              <a:buNone/>
            </a:pPr>
            <a:endParaRPr lang="es-PE" dirty="0">
              <a:solidFill>
                <a:schemeClr val="tx1"/>
              </a:solidFill>
            </a:endParaRPr>
          </a:p>
        </p:txBody>
      </p:sp>
      <p:pic>
        <p:nvPicPr>
          <p:cNvPr id="1026" name="Picture 2" descr="Resultado de imagen para microsoft excel vba">
            <a:extLst>
              <a:ext uri="{FF2B5EF4-FFF2-40B4-BE49-F238E27FC236}">
                <a16:creationId xmlns:a16="http://schemas.microsoft.com/office/drawing/2014/main" xmlns="" id="{B3C5A29D-964E-430E-B3E9-1604862750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1289" y="3299012"/>
            <a:ext cx="5869756" cy="2934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408589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24D87948-5E21-4177-9B4F-EFADCECDE440}"/>
              </a:ext>
            </a:extLst>
          </p:cNvPr>
          <p:cNvSpPr>
            <a:spLocks noGrp="1"/>
          </p:cNvSpPr>
          <p:nvPr>
            <p:ph type="title"/>
          </p:nvPr>
        </p:nvSpPr>
        <p:spPr/>
        <p:txBody>
          <a:bodyPr>
            <a:normAutofit/>
          </a:bodyPr>
          <a:lstStyle/>
          <a:p>
            <a:pPr algn="ctr"/>
            <a:r>
              <a:rPr lang="es-PE" sz="4000" b="1" dirty="0">
                <a:solidFill>
                  <a:schemeClr val="bg1"/>
                </a:solidFill>
                <a:latin typeface="+mn-lt"/>
              </a:rPr>
              <a:t>JERARQUIA DE OBJETOS</a:t>
            </a:r>
          </a:p>
        </p:txBody>
      </p:sp>
      <p:pic>
        <p:nvPicPr>
          <p:cNvPr id="4" name="Imagen 3">
            <a:extLst>
              <a:ext uri="{FF2B5EF4-FFF2-40B4-BE49-F238E27FC236}">
                <a16:creationId xmlns:a16="http://schemas.microsoft.com/office/drawing/2014/main" xmlns="" id="{EF9115A7-5DD7-4769-A7C2-9E9E99E5C7DE}"/>
              </a:ext>
            </a:extLst>
          </p:cNvPr>
          <p:cNvPicPr>
            <a:picLocks noChangeAspect="1"/>
          </p:cNvPicPr>
          <p:nvPr/>
        </p:nvPicPr>
        <p:blipFill rotWithShape="1">
          <a:blip r:embed="rId2"/>
          <a:srcRect t="1484"/>
          <a:stretch/>
        </p:blipFill>
        <p:spPr>
          <a:xfrm>
            <a:off x="838200" y="2169459"/>
            <a:ext cx="10395990" cy="3944469"/>
          </a:xfrm>
          <a:prstGeom prst="rect">
            <a:avLst/>
          </a:prstGeom>
        </p:spPr>
      </p:pic>
    </p:spTree>
    <p:extLst>
      <p:ext uri="{BB962C8B-B14F-4D97-AF65-F5344CB8AC3E}">
        <p14:creationId xmlns:p14="http://schemas.microsoft.com/office/powerpoint/2010/main" val="184743634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ED3E6C3D-918C-410D-9D39-FDAF3722BD13}"/>
              </a:ext>
            </a:extLst>
          </p:cNvPr>
          <p:cNvSpPr>
            <a:spLocks noGrp="1"/>
          </p:cNvSpPr>
          <p:nvPr>
            <p:ph type="title"/>
          </p:nvPr>
        </p:nvSpPr>
        <p:spPr/>
        <p:txBody>
          <a:bodyPr>
            <a:normAutofit/>
          </a:bodyPr>
          <a:lstStyle/>
          <a:p>
            <a:pPr algn="ctr"/>
            <a:r>
              <a:rPr lang="es-PE" sz="4000" b="1" dirty="0">
                <a:solidFill>
                  <a:schemeClr val="bg1"/>
                </a:solidFill>
                <a:latin typeface="+mn-lt"/>
              </a:rPr>
              <a:t>JERARQUÍA DE OBJETO</a:t>
            </a:r>
          </a:p>
        </p:txBody>
      </p:sp>
      <p:sp>
        <p:nvSpPr>
          <p:cNvPr id="3" name="Marcador de contenido 2">
            <a:extLst>
              <a:ext uri="{FF2B5EF4-FFF2-40B4-BE49-F238E27FC236}">
                <a16:creationId xmlns:a16="http://schemas.microsoft.com/office/drawing/2014/main" xmlns="" id="{223B8B30-B2B9-4186-86DF-3FF2596348B3}"/>
              </a:ext>
            </a:extLst>
          </p:cNvPr>
          <p:cNvSpPr>
            <a:spLocks noGrp="1"/>
          </p:cNvSpPr>
          <p:nvPr>
            <p:ph idx="1"/>
          </p:nvPr>
        </p:nvSpPr>
        <p:spPr/>
        <p:txBody>
          <a:bodyPr>
            <a:normAutofit/>
          </a:bodyPr>
          <a:lstStyle/>
          <a:p>
            <a:pPr marL="0" indent="0" algn="just">
              <a:buNone/>
            </a:pPr>
            <a:r>
              <a:rPr lang="es-PE" sz="2400" dirty="0"/>
              <a:t>Objeto </a:t>
            </a:r>
            <a:r>
              <a:rPr lang="es-PE" sz="2400" dirty="0" err="1"/>
              <a:t>Aplication</a:t>
            </a:r>
            <a:r>
              <a:rPr lang="es-PE" sz="2400" dirty="0"/>
              <a:t>- Representa la Aplicación Excel y todo lo que se puede encontrar dentro del programa</a:t>
            </a:r>
          </a:p>
          <a:p>
            <a:pPr marL="0" indent="0" algn="just">
              <a:buNone/>
            </a:pPr>
            <a:endParaRPr lang="es-PE" sz="2400" dirty="0"/>
          </a:p>
          <a:p>
            <a:pPr marL="0" indent="0" algn="just">
              <a:buNone/>
            </a:pPr>
            <a:r>
              <a:rPr lang="es-PE" sz="2400" dirty="0"/>
              <a:t>Objeto </a:t>
            </a:r>
            <a:r>
              <a:rPr lang="es-PE" sz="2400" dirty="0" err="1"/>
              <a:t>Workbooks</a:t>
            </a:r>
            <a:r>
              <a:rPr lang="es-PE" sz="2400" dirty="0"/>
              <a:t>- Representa el Libro de Excel en el cual trabajarás la macro</a:t>
            </a:r>
          </a:p>
          <a:p>
            <a:pPr marL="0" indent="0" algn="just">
              <a:buNone/>
            </a:pPr>
            <a:endParaRPr lang="es-PE" sz="2400" dirty="0"/>
          </a:p>
          <a:p>
            <a:pPr marL="0" indent="0" algn="just">
              <a:buNone/>
            </a:pPr>
            <a:r>
              <a:rPr lang="es-PE" sz="2400" dirty="0"/>
              <a:t>Objeto </a:t>
            </a:r>
            <a:r>
              <a:rPr lang="es-PE" sz="2400" dirty="0" err="1"/>
              <a:t>Worksheets</a:t>
            </a:r>
            <a:r>
              <a:rPr lang="es-PE" sz="2400" dirty="0"/>
              <a:t>-Representa la hoja de calculo en la cual trabajaremos la macro.</a:t>
            </a:r>
          </a:p>
          <a:p>
            <a:pPr marL="0" indent="0" algn="just">
              <a:buNone/>
            </a:pPr>
            <a:endParaRPr lang="es-PE" sz="2400" dirty="0"/>
          </a:p>
          <a:p>
            <a:pPr marL="0" indent="0" algn="just">
              <a:buNone/>
            </a:pPr>
            <a:r>
              <a:rPr lang="es-PE" sz="2400" dirty="0"/>
              <a:t>Objeto Charts-Representa una referencia a un gráfico.</a:t>
            </a:r>
          </a:p>
        </p:txBody>
      </p:sp>
    </p:spTree>
    <p:extLst>
      <p:ext uri="{BB962C8B-B14F-4D97-AF65-F5344CB8AC3E}">
        <p14:creationId xmlns:p14="http://schemas.microsoft.com/office/powerpoint/2010/main" val="293422225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A082012C-7F25-4C44-B657-22D67D5FDFAC}"/>
              </a:ext>
            </a:extLst>
          </p:cNvPr>
          <p:cNvSpPr>
            <a:spLocks noGrp="1"/>
          </p:cNvSpPr>
          <p:nvPr>
            <p:ph type="title"/>
          </p:nvPr>
        </p:nvSpPr>
        <p:spPr/>
        <p:txBody>
          <a:bodyPr>
            <a:normAutofit/>
          </a:bodyPr>
          <a:lstStyle/>
          <a:p>
            <a:pPr algn="ctr"/>
            <a:r>
              <a:rPr lang="es-PE" sz="4000" b="1" dirty="0">
                <a:solidFill>
                  <a:schemeClr val="bg1"/>
                </a:solidFill>
                <a:latin typeface="+mn-lt"/>
              </a:rPr>
              <a:t>JERARQUÍA DE OBJETO</a:t>
            </a:r>
            <a:endParaRPr lang="es-PE" sz="4000" dirty="0">
              <a:solidFill>
                <a:schemeClr val="bg1"/>
              </a:solidFill>
              <a:latin typeface="+mn-lt"/>
            </a:endParaRPr>
          </a:p>
        </p:txBody>
      </p:sp>
      <p:sp>
        <p:nvSpPr>
          <p:cNvPr id="3" name="Marcador de contenido 2">
            <a:extLst>
              <a:ext uri="{FF2B5EF4-FFF2-40B4-BE49-F238E27FC236}">
                <a16:creationId xmlns:a16="http://schemas.microsoft.com/office/drawing/2014/main" xmlns="" id="{BED783F8-9161-4AD2-B20D-B4289E1601C7}"/>
              </a:ext>
            </a:extLst>
          </p:cNvPr>
          <p:cNvSpPr>
            <a:spLocks noGrp="1"/>
          </p:cNvSpPr>
          <p:nvPr>
            <p:ph idx="1"/>
          </p:nvPr>
        </p:nvSpPr>
        <p:spPr/>
        <p:txBody>
          <a:bodyPr>
            <a:normAutofit/>
          </a:bodyPr>
          <a:lstStyle/>
          <a:p>
            <a:pPr marL="0" indent="0" algn="just">
              <a:buNone/>
            </a:pPr>
            <a:r>
              <a:rPr lang="es-PE" sz="2400" dirty="0"/>
              <a:t>Objeto </a:t>
            </a:r>
            <a:r>
              <a:rPr lang="es-PE" sz="2400" dirty="0" err="1"/>
              <a:t>Cells</a:t>
            </a:r>
            <a:r>
              <a:rPr lang="es-PE" sz="2400" dirty="0"/>
              <a:t>- Representa a una celda estableciendo el número de columna y el número de fila</a:t>
            </a:r>
          </a:p>
          <a:p>
            <a:pPr marL="0" indent="0" algn="just">
              <a:buNone/>
            </a:pPr>
            <a:endParaRPr lang="es-PE" sz="2400" dirty="0"/>
          </a:p>
          <a:p>
            <a:pPr marL="0" indent="0" algn="just">
              <a:buNone/>
            </a:pPr>
            <a:r>
              <a:rPr lang="es-PE" sz="2400" dirty="0"/>
              <a:t>Objeto </a:t>
            </a:r>
            <a:r>
              <a:rPr lang="es-PE" sz="2400" dirty="0" err="1"/>
              <a:t>Column</a:t>
            </a:r>
            <a:r>
              <a:rPr lang="es-PE" sz="2400" dirty="0"/>
              <a:t>- Representa a una columna correspondiente a una hoja</a:t>
            </a:r>
          </a:p>
          <a:p>
            <a:pPr marL="0" indent="0" algn="just">
              <a:buNone/>
            </a:pPr>
            <a:endParaRPr lang="es-PE" sz="2400" dirty="0"/>
          </a:p>
          <a:p>
            <a:pPr marL="0" indent="0" algn="just">
              <a:buNone/>
            </a:pPr>
            <a:r>
              <a:rPr lang="es-PE" sz="2400" dirty="0"/>
              <a:t>Objeto </a:t>
            </a:r>
            <a:r>
              <a:rPr lang="es-PE" sz="2400" dirty="0" err="1"/>
              <a:t>Rows</a:t>
            </a:r>
            <a:r>
              <a:rPr lang="es-PE" sz="2400" dirty="0"/>
              <a:t>-Representa a una fila correspondiente a una hoja.</a:t>
            </a:r>
          </a:p>
          <a:p>
            <a:pPr marL="0" indent="0" algn="just">
              <a:buNone/>
            </a:pPr>
            <a:endParaRPr lang="es-PE" sz="2400" dirty="0"/>
          </a:p>
          <a:p>
            <a:pPr marL="0" indent="0" algn="just">
              <a:buNone/>
            </a:pPr>
            <a:r>
              <a:rPr lang="es-PE" sz="2400" dirty="0"/>
              <a:t>Objeto </a:t>
            </a:r>
            <a:r>
              <a:rPr lang="es-PE" sz="2400" dirty="0" err="1"/>
              <a:t>Range</a:t>
            </a:r>
            <a:r>
              <a:rPr lang="es-PE" sz="2400" dirty="0"/>
              <a:t>- Representa a una celda o a un rango de celdas de una hoja.</a:t>
            </a:r>
          </a:p>
        </p:txBody>
      </p:sp>
    </p:spTree>
    <p:extLst>
      <p:ext uri="{BB962C8B-B14F-4D97-AF65-F5344CB8AC3E}">
        <p14:creationId xmlns:p14="http://schemas.microsoft.com/office/powerpoint/2010/main" val="248525041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FD3E2443-C2E2-4F93-99BE-1D625604E7B5}"/>
              </a:ext>
            </a:extLst>
          </p:cNvPr>
          <p:cNvSpPr>
            <a:spLocks noGrp="1"/>
          </p:cNvSpPr>
          <p:nvPr>
            <p:ph type="title"/>
          </p:nvPr>
        </p:nvSpPr>
        <p:spPr/>
        <p:txBody>
          <a:bodyPr>
            <a:normAutofit/>
          </a:bodyPr>
          <a:lstStyle/>
          <a:p>
            <a:pPr algn="ctr"/>
            <a:r>
              <a:rPr lang="es-PE" sz="4000" b="1" dirty="0">
                <a:solidFill>
                  <a:schemeClr val="bg1"/>
                </a:solidFill>
                <a:latin typeface="+mn-lt"/>
              </a:rPr>
              <a:t>EJEMPLO DE PROGRAMACIÓN</a:t>
            </a:r>
          </a:p>
        </p:txBody>
      </p:sp>
      <p:pic>
        <p:nvPicPr>
          <p:cNvPr id="4" name="Imagen 3">
            <a:extLst>
              <a:ext uri="{FF2B5EF4-FFF2-40B4-BE49-F238E27FC236}">
                <a16:creationId xmlns:a16="http://schemas.microsoft.com/office/drawing/2014/main" xmlns="" id="{D438ABB9-F55C-4798-AAF3-7802B5BD2B4A}"/>
              </a:ext>
            </a:extLst>
          </p:cNvPr>
          <p:cNvPicPr>
            <a:picLocks noChangeAspect="1"/>
          </p:cNvPicPr>
          <p:nvPr/>
        </p:nvPicPr>
        <p:blipFill>
          <a:blip r:embed="rId2"/>
          <a:stretch>
            <a:fillRect/>
          </a:stretch>
        </p:blipFill>
        <p:spPr>
          <a:xfrm>
            <a:off x="1858278" y="2085321"/>
            <a:ext cx="8475443" cy="4407554"/>
          </a:xfrm>
          <a:prstGeom prst="rect">
            <a:avLst/>
          </a:prstGeom>
        </p:spPr>
      </p:pic>
    </p:spTree>
    <p:extLst>
      <p:ext uri="{BB962C8B-B14F-4D97-AF65-F5344CB8AC3E}">
        <p14:creationId xmlns:p14="http://schemas.microsoft.com/office/powerpoint/2010/main" val="267781493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DDB7D37E-3C83-44AB-84D9-044D54A0A85D}"/>
              </a:ext>
            </a:extLst>
          </p:cNvPr>
          <p:cNvSpPr>
            <a:spLocks noGrp="1"/>
          </p:cNvSpPr>
          <p:nvPr>
            <p:ph type="title"/>
          </p:nvPr>
        </p:nvSpPr>
        <p:spPr/>
        <p:txBody>
          <a:bodyPr>
            <a:normAutofit/>
          </a:bodyPr>
          <a:lstStyle/>
          <a:p>
            <a:pPr algn="ctr"/>
            <a:r>
              <a:rPr lang="es-PE" sz="4000" b="1" dirty="0">
                <a:solidFill>
                  <a:schemeClr val="bg1"/>
                </a:solidFill>
                <a:latin typeface="+mn-lt"/>
              </a:rPr>
              <a:t>MODULOS EN VBA</a:t>
            </a:r>
          </a:p>
        </p:txBody>
      </p:sp>
      <p:sp>
        <p:nvSpPr>
          <p:cNvPr id="3" name="Marcador de contenido 2">
            <a:extLst>
              <a:ext uri="{FF2B5EF4-FFF2-40B4-BE49-F238E27FC236}">
                <a16:creationId xmlns:a16="http://schemas.microsoft.com/office/drawing/2014/main" xmlns="" id="{C8A49DC4-DF4D-44B9-9F1A-A1501DFC5601}"/>
              </a:ext>
            </a:extLst>
          </p:cNvPr>
          <p:cNvSpPr>
            <a:spLocks noGrp="1"/>
          </p:cNvSpPr>
          <p:nvPr>
            <p:ph idx="1"/>
          </p:nvPr>
        </p:nvSpPr>
        <p:spPr>
          <a:xfrm>
            <a:off x="838200" y="1822449"/>
            <a:ext cx="10515600" cy="2372180"/>
          </a:xfrm>
        </p:spPr>
        <p:txBody>
          <a:bodyPr>
            <a:normAutofit/>
          </a:bodyPr>
          <a:lstStyle/>
          <a:p>
            <a:pPr marL="0" indent="0" algn="just">
              <a:buNone/>
            </a:pPr>
            <a:r>
              <a:rPr lang="es-PE" sz="2400" dirty="0"/>
              <a:t>Nos permite agrupar los procedimientos y funciones que serán programados para realizar una acción concreta. En los módulos nosotros trabajaremos con procedimientos los cuales se detallarán a continuación</a:t>
            </a:r>
          </a:p>
        </p:txBody>
      </p:sp>
      <p:pic>
        <p:nvPicPr>
          <p:cNvPr id="4" name="Imagen 3">
            <a:extLst>
              <a:ext uri="{FF2B5EF4-FFF2-40B4-BE49-F238E27FC236}">
                <a16:creationId xmlns:a16="http://schemas.microsoft.com/office/drawing/2014/main" xmlns="" id="{AA8859A7-DA44-40FC-ACE6-AB4F4B739FB8}"/>
              </a:ext>
            </a:extLst>
          </p:cNvPr>
          <p:cNvPicPr>
            <a:picLocks noChangeAspect="1"/>
          </p:cNvPicPr>
          <p:nvPr/>
        </p:nvPicPr>
        <p:blipFill>
          <a:blip r:embed="rId2"/>
          <a:stretch>
            <a:fillRect/>
          </a:stretch>
        </p:blipFill>
        <p:spPr>
          <a:xfrm>
            <a:off x="4084624" y="4445000"/>
            <a:ext cx="3638550" cy="1419225"/>
          </a:xfrm>
          <a:prstGeom prst="rect">
            <a:avLst/>
          </a:prstGeom>
        </p:spPr>
      </p:pic>
    </p:spTree>
    <p:extLst>
      <p:ext uri="{BB962C8B-B14F-4D97-AF65-F5344CB8AC3E}">
        <p14:creationId xmlns:p14="http://schemas.microsoft.com/office/powerpoint/2010/main" val="429245546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031498B2-CBB4-40C3-8255-9EDA4EB96899}"/>
              </a:ext>
            </a:extLst>
          </p:cNvPr>
          <p:cNvSpPr>
            <a:spLocks noGrp="1"/>
          </p:cNvSpPr>
          <p:nvPr>
            <p:ph type="title"/>
          </p:nvPr>
        </p:nvSpPr>
        <p:spPr/>
        <p:txBody>
          <a:bodyPr>
            <a:normAutofit/>
          </a:bodyPr>
          <a:lstStyle/>
          <a:p>
            <a:pPr algn="ctr"/>
            <a:r>
              <a:rPr lang="es-PE" sz="4000" b="1" dirty="0">
                <a:solidFill>
                  <a:schemeClr val="bg1"/>
                </a:solidFill>
                <a:latin typeface="+mn-lt"/>
              </a:rPr>
              <a:t>TIPOS DE PROCEDIMIENTOS</a:t>
            </a:r>
          </a:p>
        </p:txBody>
      </p:sp>
      <p:sp>
        <p:nvSpPr>
          <p:cNvPr id="3" name="Marcador de contenido 2">
            <a:extLst>
              <a:ext uri="{FF2B5EF4-FFF2-40B4-BE49-F238E27FC236}">
                <a16:creationId xmlns:a16="http://schemas.microsoft.com/office/drawing/2014/main" xmlns="" id="{13F52EDD-B36A-4183-AAAB-7D3964003AB4}"/>
              </a:ext>
            </a:extLst>
          </p:cNvPr>
          <p:cNvSpPr>
            <a:spLocks noGrp="1"/>
          </p:cNvSpPr>
          <p:nvPr>
            <p:ph idx="1"/>
          </p:nvPr>
        </p:nvSpPr>
        <p:spPr>
          <a:xfrm>
            <a:off x="838200" y="2039815"/>
            <a:ext cx="10515600" cy="4133972"/>
          </a:xfrm>
        </p:spPr>
        <p:txBody>
          <a:bodyPr>
            <a:normAutofit/>
          </a:bodyPr>
          <a:lstStyle/>
          <a:p>
            <a:pPr algn="just"/>
            <a:r>
              <a:rPr lang="es-PE" sz="2400" dirty="0"/>
              <a:t>Procedimientos SUB</a:t>
            </a:r>
          </a:p>
          <a:p>
            <a:pPr algn="just"/>
            <a:r>
              <a:rPr lang="es-PE" sz="2400" dirty="0"/>
              <a:t>Procedimientos </a:t>
            </a:r>
            <a:r>
              <a:rPr lang="es-PE" sz="2400" dirty="0" err="1"/>
              <a:t>Function</a:t>
            </a:r>
            <a:endParaRPr lang="es-PE" sz="2400" dirty="0"/>
          </a:p>
          <a:p>
            <a:pPr algn="just"/>
            <a:r>
              <a:rPr lang="es-PE" sz="2400" dirty="0"/>
              <a:t>Procedimientos </a:t>
            </a:r>
            <a:r>
              <a:rPr lang="es-PE" sz="2400" dirty="0" err="1"/>
              <a:t>Property</a:t>
            </a:r>
            <a:endParaRPr lang="es-PE" sz="2400" dirty="0"/>
          </a:p>
        </p:txBody>
      </p:sp>
    </p:spTree>
    <p:extLst>
      <p:ext uri="{BB962C8B-B14F-4D97-AF65-F5344CB8AC3E}">
        <p14:creationId xmlns:p14="http://schemas.microsoft.com/office/powerpoint/2010/main" val="265276377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ED0A336A-523F-40FA-86F2-CB1D519A9D8C}"/>
              </a:ext>
            </a:extLst>
          </p:cNvPr>
          <p:cNvSpPr>
            <a:spLocks noGrp="1"/>
          </p:cNvSpPr>
          <p:nvPr>
            <p:ph type="title"/>
          </p:nvPr>
        </p:nvSpPr>
        <p:spPr/>
        <p:txBody>
          <a:bodyPr>
            <a:normAutofit/>
          </a:bodyPr>
          <a:lstStyle/>
          <a:p>
            <a:pPr algn="ctr"/>
            <a:r>
              <a:rPr lang="es-PE" sz="4000" b="1" dirty="0">
                <a:solidFill>
                  <a:schemeClr val="bg1"/>
                </a:solidFill>
                <a:latin typeface="+mn-lt"/>
              </a:rPr>
              <a:t>PROCEDIMIENTOS SUB</a:t>
            </a:r>
          </a:p>
        </p:txBody>
      </p:sp>
      <p:sp>
        <p:nvSpPr>
          <p:cNvPr id="3" name="Marcador de contenido 2">
            <a:extLst>
              <a:ext uri="{FF2B5EF4-FFF2-40B4-BE49-F238E27FC236}">
                <a16:creationId xmlns:a16="http://schemas.microsoft.com/office/drawing/2014/main" xmlns="" id="{B8148A3C-CC16-49FF-AFCF-87FF065D942B}"/>
              </a:ext>
            </a:extLst>
          </p:cNvPr>
          <p:cNvSpPr>
            <a:spLocks noGrp="1"/>
          </p:cNvSpPr>
          <p:nvPr>
            <p:ph idx="1"/>
          </p:nvPr>
        </p:nvSpPr>
        <p:spPr>
          <a:xfrm>
            <a:off x="838200" y="1822449"/>
            <a:ext cx="10515600" cy="4670426"/>
          </a:xfrm>
        </p:spPr>
        <p:txBody>
          <a:bodyPr/>
          <a:lstStyle/>
          <a:p>
            <a:pPr marL="0" indent="0" algn="just">
              <a:buNone/>
            </a:pPr>
            <a:r>
              <a:rPr lang="es-PE" sz="2400" dirty="0"/>
              <a:t>Son aquellos que realizan una serie de acciones concretas y deben ser llamadas a través de la aplicación</a:t>
            </a:r>
          </a:p>
          <a:p>
            <a:pPr marL="0" indent="0" algn="just">
              <a:buNone/>
            </a:pPr>
            <a:r>
              <a:rPr lang="es-PE" sz="2400" dirty="0"/>
              <a:t>Es recomendable segmentar los procedimientos en varias para facilitar su modificación.</a:t>
            </a:r>
          </a:p>
          <a:p>
            <a:pPr marL="0" indent="0" algn="just">
              <a:buNone/>
            </a:pPr>
            <a:r>
              <a:rPr lang="es-PE" sz="2400" dirty="0"/>
              <a:t>Dentro de los Procedimientos Sub encontramos dos tipos con los cuales se pueden trabajar:</a:t>
            </a:r>
          </a:p>
          <a:p>
            <a:pPr marL="0" indent="0" algn="just">
              <a:buNone/>
            </a:pPr>
            <a:endParaRPr lang="es-PE" sz="2400" dirty="0"/>
          </a:p>
          <a:p>
            <a:pPr marL="0" indent="0" algn="just">
              <a:buNone/>
            </a:pPr>
            <a:r>
              <a:rPr lang="es-PE" sz="2400" dirty="0"/>
              <a:t>-Procedimientos Generales.</a:t>
            </a:r>
          </a:p>
          <a:p>
            <a:pPr marL="0" indent="0" algn="just">
              <a:buNone/>
            </a:pPr>
            <a:r>
              <a:rPr lang="es-PE" sz="2400" dirty="0"/>
              <a:t>-Procedimientos de Eventos.</a:t>
            </a:r>
          </a:p>
          <a:p>
            <a:pPr marL="0" indent="0">
              <a:buNone/>
            </a:pPr>
            <a:endParaRPr lang="es-PE" dirty="0"/>
          </a:p>
        </p:txBody>
      </p:sp>
    </p:spTree>
    <p:extLst>
      <p:ext uri="{BB962C8B-B14F-4D97-AF65-F5344CB8AC3E}">
        <p14:creationId xmlns:p14="http://schemas.microsoft.com/office/powerpoint/2010/main" val="392306927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BFE3160A-0284-480A-988F-4483B53B5671}"/>
              </a:ext>
            </a:extLst>
          </p:cNvPr>
          <p:cNvSpPr>
            <a:spLocks noGrp="1"/>
          </p:cNvSpPr>
          <p:nvPr>
            <p:ph type="title"/>
          </p:nvPr>
        </p:nvSpPr>
        <p:spPr/>
        <p:txBody>
          <a:bodyPr>
            <a:normAutofit/>
          </a:bodyPr>
          <a:lstStyle/>
          <a:p>
            <a:pPr algn="ctr"/>
            <a:r>
              <a:rPr lang="es-PE" sz="4000" b="1" dirty="0">
                <a:solidFill>
                  <a:schemeClr val="bg1"/>
                </a:solidFill>
                <a:latin typeface="+mn-lt"/>
              </a:rPr>
              <a:t>PROCEDIMIENTOS GENERALES</a:t>
            </a:r>
          </a:p>
        </p:txBody>
      </p:sp>
      <p:sp>
        <p:nvSpPr>
          <p:cNvPr id="3" name="Marcador de contenido 2">
            <a:extLst>
              <a:ext uri="{FF2B5EF4-FFF2-40B4-BE49-F238E27FC236}">
                <a16:creationId xmlns:a16="http://schemas.microsoft.com/office/drawing/2014/main" xmlns="" id="{C83F98E5-E4EE-4B77-AFA7-6009577C03CB}"/>
              </a:ext>
            </a:extLst>
          </p:cNvPr>
          <p:cNvSpPr>
            <a:spLocks noGrp="1"/>
          </p:cNvSpPr>
          <p:nvPr>
            <p:ph idx="1"/>
          </p:nvPr>
        </p:nvSpPr>
        <p:spPr>
          <a:xfrm>
            <a:off x="838200" y="2514599"/>
            <a:ext cx="10515600" cy="3659187"/>
          </a:xfrm>
        </p:spPr>
        <p:txBody>
          <a:bodyPr>
            <a:normAutofit/>
          </a:bodyPr>
          <a:lstStyle/>
          <a:p>
            <a:pPr algn="just"/>
            <a:r>
              <a:rPr lang="es-PE" sz="2400" dirty="0"/>
              <a:t>Son aquellos que se declaran dentro un módulo y se deben llamar a través de la aplicación por medio de un botón, un comando u otros elementos</a:t>
            </a:r>
          </a:p>
        </p:txBody>
      </p:sp>
    </p:spTree>
    <p:extLst>
      <p:ext uri="{BB962C8B-B14F-4D97-AF65-F5344CB8AC3E}">
        <p14:creationId xmlns:p14="http://schemas.microsoft.com/office/powerpoint/2010/main" val="1584800585"/>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C00066B5-B393-483D-AA92-14952CFDE657}"/>
              </a:ext>
            </a:extLst>
          </p:cNvPr>
          <p:cNvSpPr>
            <a:spLocks noGrp="1"/>
          </p:cNvSpPr>
          <p:nvPr>
            <p:ph type="title"/>
          </p:nvPr>
        </p:nvSpPr>
        <p:spPr/>
        <p:txBody>
          <a:bodyPr>
            <a:normAutofit/>
          </a:bodyPr>
          <a:lstStyle/>
          <a:p>
            <a:pPr algn="ctr"/>
            <a:r>
              <a:rPr lang="es-PE" sz="4000" b="1" dirty="0">
                <a:solidFill>
                  <a:schemeClr val="bg1"/>
                </a:solidFill>
                <a:latin typeface="+mn-lt"/>
              </a:rPr>
              <a:t>PROCEDIMIENTOS DE EVENTOS</a:t>
            </a:r>
          </a:p>
        </p:txBody>
      </p:sp>
      <p:sp>
        <p:nvSpPr>
          <p:cNvPr id="3" name="Marcador de contenido 2">
            <a:extLst>
              <a:ext uri="{FF2B5EF4-FFF2-40B4-BE49-F238E27FC236}">
                <a16:creationId xmlns:a16="http://schemas.microsoft.com/office/drawing/2014/main" xmlns="" id="{976F85B1-D4A6-4F1B-9791-EB768665A404}"/>
              </a:ext>
            </a:extLst>
          </p:cNvPr>
          <p:cNvSpPr>
            <a:spLocks noGrp="1"/>
          </p:cNvSpPr>
          <p:nvPr>
            <p:ph idx="1"/>
          </p:nvPr>
        </p:nvSpPr>
        <p:spPr/>
        <p:txBody>
          <a:bodyPr>
            <a:normAutofit/>
          </a:bodyPr>
          <a:lstStyle/>
          <a:p>
            <a:r>
              <a:rPr lang="es-PE" sz="2400" dirty="0"/>
              <a:t>Son los que se ejecutan al identificar un evento provocado por el usuario o el sistema</a:t>
            </a:r>
          </a:p>
          <a:p>
            <a:pPr marL="0" indent="0">
              <a:buNone/>
            </a:pPr>
            <a:endParaRPr lang="es-PE" sz="2400" dirty="0"/>
          </a:p>
          <a:p>
            <a:pPr marL="0" indent="0">
              <a:buNone/>
            </a:pPr>
            <a:r>
              <a:rPr lang="es-PE" sz="2400" dirty="0"/>
              <a:t>-Al abrir</a:t>
            </a:r>
          </a:p>
          <a:p>
            <a:pPr marL="0" indent="0">
              <a:buNone/>
            </a:pPr>
            <a:r>
              <a:rPr lang="es-PE" sz="2400" dirty="0"/>
              <a:t>-Al Cerrar</a:t>
            </a:r>
          </a:p>
          <a:p>
            <a:pPr marL="0" indent="0">
              <a:buNone/>
            </a:pPr>
            <a:r>
              <a:rPr lang="es-PE" sz="2400" dirty="0"/>
              <a:t>-Después de</a:t>
            </a:r>
          </a:p>
          <a:p>
            <a:pPr marL="0" indent="0">
              <a:buNone/>
            </a:pPr>
            <a:r>
              <a:rPr lang="es-PE" sz="2400" dirty="0"/>
              <a:t>-Antes de</a:t>
            </a:r>
          </a:p>
        </p:txBody>
      </p:sp>
    </p:spTree>
    <p:extLst>
      <p:ext uri="{BB962C8B-B14F-4D97-AF65-F5344CB8AC3E}">
        <p14:creationId xmlns:p14="http://schemas.microsoft.com/office/powerpoint/2010/main" val="4210163048"/>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98AB1681-996C-4ECF-97F0-D4F4E1B7A764}"/>
              </a:ext>
            </a:extLst>
          </p:cNvPr>
          <p:cNvSpPr>
            <a:spLocks noGrp="1"/>
          </p:cNvSpPr>
          <p:nvPr>
            <p:ph type="title"/>
          </p:nvPr>
        </p:nvSpPr>
        <p:spPr/>
        <p:txBody>
          <a:bodyPr>
            <a:normAutofit/>
          </a:bodyPr>
          <a:lstStyle/>
          <a:p>
            <a:pPr algn="ctr"/>
            <a:r>
              <a:rPr lang="es-PE" sz="4000" b="1" dirty="0">
                <a:solidFill>
                  <a:schemeClr val="bg1"/>
                </a:solidFill>
                <a:latin typeface="+mn-lt"/>
              </a:rPr>
              <a:t>EXPLORADOR DE PROYECTOS</a:t>
            </a:r>
          </a:p>
        </p:txBody>
      </p:sp>
      <p:sp>
        <p:nvSpPr>
          <p:cNvPr id="3" name="Marcador de contenido 2">
            <a:extLst>
              <a:ext uri="{FF2B5EF4-FFF2-40B4-BE49-F238E27FC236}">
                <a16:creationId xmlns:a16="http://schemas.microsoft.com/office/drawing/2014/main" xmlns="" id="{4A935717-C5EE-44FD-8DCB-03CF7593C67A}"/>
              </a:ext>
            </a:extLst>
          </p:cNvPr>
          <p:cNvSpPr>
            <a:spLocks noGrp="1"/>
          </p:cNvSpPr>
          <p:nvPr>
            <p:ph idx="1"/>
          </p:nvPr>
        </p:nvSpPr>
        <p:spPr>
          <a:xfrm>
            <a:off x="838200" y="1822449"/>
            <a:ext cx="10515600" cy="1325563"/>
          </a:xfrm>
        </p:spPr>
        <p:txBody>
          <a:bodyPr>
            <a:normAutofit/>
          </a:bodyPr>
          <a:lstStyle/>
          <a:p>
            <a:r>
              <a:rPr lang="es-PE" sz="2400" dirty="0"/>
              <a:t>Proyecto: Un proyecto de VBA es un libro de Excel con un conjunto de objetos para navegar entre los elementos que lo componen </a:t>
            </a:r>
          </a:p>
        </p:txBody>
      </p:sp>
      <p:pic>
        <p:nvPicPr>
          <p:cNvPr id="4" name="Imagen 3">
            <a:extLst>
              <a:ext uri="{FF2B5EF4-FFF2-40B4-BE49-F238E27FC236}">
                <a16:creationId xmlns:a16="http://schemas.microsoft.com/office/drawing/2014/main" xmlns="" id="{F9299A63-B16C-4A66-9BC6-D28B7C926E2E}"/>
              </a:ext>
            </a:extLst>
          </p:cNvPr>
          <p:cNvPicPr>
            <a:picLocks noChangeAspect="1"/>
          </p:cNvPicPr>
          <p:nvPr/>
        </p:nvPicPr>
        <p:blipFill>
          <a:blip r:embed="rId2"/>
          <a:stretch>
            <a:fillRect/>
          </a:stretch>
        </p:blipFill>
        <p:spPr>
          <a:xfrm>
            <a:off x="3592757" y="2818056"/>
            <a:ext cx="4481206" cy="3674819"/>
          </a:xfrm>
          <a:prstGeom prst="rect">
            <a:avLst/>
          </a:prstGeom>
        </p:spPr>
      </p:pic>
    </p:spTree>
    <p:extLst>
      <p:ext uri="{BB962C8B-B14F-4D97-AF65-F5344CB8AC3E}">
        <p14:creationId xmlns:p14="http://schemas.microsoft.com/office/powerpoint/2010/main" val="1652886929"/>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9D9CA730-6913-407F-9CAF-FA40D111E61B}"/>
              </a:ext>
            </a:extLst>
          </p:cNvPr>
          <p:cNvSpPr>
            <a:spLocks noGrp="1"/>
          </p:cNvSpPr>
          <p:nvPr>
            <p:ph type="title"/>
          </p:nvPr>
        </p:nvSpPr>
        <p:spPr/>
        <p:txBody>
          <a:bodyPr>
            <a:normAutofit/>
          </a:bodyPr>
          <a:lstStyle/>
          <a:p>
            <a:pPr algn="ctr"/>
            <a:r>
              <a:rPr lang="es-PE" sz="4000" b="1" dirty="0">
                <a:solidFill>
                  <a:schemeClr val="bg1"/>
                </a:solidFill>
                <a:latin typeface="+mn-lt"/>
              </a:rPr>
              <a:t>VARIABLES EN VBA</a:t>
            </a:r>
          </a:p>
        </p:txBody>
      </p:sp>
      <p:sp>
        <p:nvSpPr>
          <p:cNvPr id="3" name="Marcador de contenido 2">
            <a:extLst>
              <a:ext uri="{FF2B5EF4-FFF2-40B4-BE49-F238E27FC236}">
                <a16:creationId xmlns:a16="http://schemas.microsoft.com/office/drawing/2014/main" xmlns="" id="{1E9281A2-0F2C-4D89-8E05-6F014C328C7E}"/>
              </a:ext>
            </a:extLst>
          </p:cNvPr>
          <p:cNvSpPr>
            <a:spLocks noGrp="1"/>
          </p:cNvSpPr>
          <p:nvPr>
            <p:ph idx="1"/>
          </p:nvPr>
        </p:nvSpPr>
        <p:spPr/>
        <p:txBody>
          <a:bodyPr>
            <a:normAutofit/>
          </a:bodyPr>
          <a:lstStyle/>
          <a:p>
            <a:pPr algn="just"/>
            <a:r>
              <a:rPr lang="es-PE" sz="2400" dirty="0"/>
              <a:t>Es un elemento del código que sirve para guardar valores de manera temporal, que luego utilizaremos para la ejecución de una instrucción. El contenido que se guarda dentro de la variable se refiere a la información que deseamos guardar y se le llama valor de una variable</a:t>
            </a:r>
          </a:p>
          <a:p>
            <a:pPr algn="just"/>
            <a:r>
              <a:rPr lang="es-PE" sz="2400" dirty="0"/>
              <a:t>Son las palabras que utilizaremos para hacer referencia a determinada información dentro de una macro. Se utiliza la variable debido a que muchos casos no se tiene la información de inicio sino que se va a generar y solicitar en el momento.</a:t>
            </a:r>
          </a:p>
        </p:txBody>
      </p:sp>
    </p:spTree>
    <p:extLst>
      <p:ext uri="{BB962C8B-B14F-4D97-AF65-F5344CB8AC3E}">
        <p14:creationId xmlns:p14="http://schemas.microsoft.com/office/powerpoint/2010/main" val="2716092334"/>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1AE4D6C3-E5BF-4375-BBBF-78D07CF37B1A}"/>
              </a:ext>
            </a:extLst>
          </p:cNvPr>
          <p:cNvSpPr>
            <a:spLocks noGrp="1"/>
          </p:cNvSpPr>
          <p:nvPr>
            <p:ph type="title"/>
          </p:nvPr>
        </p:nvSpPr>
        <p:spPr/>
        <p:txBody>
          <a:bodyPr>
            <a:normAutofit/>
          </a:bodyPr>
          <a:lstStyle/>
          <a:p>
            <a:pPr algn="ctr"/>
            <a:r>
              <a:rPr lang="es-PE" sz="4000" b="1" dirty="0">
                <a:solidFill>
                  <a:schemeClr val="bg1"/>
                </a:solidFill>
                <a:latin typeface="+mn-lt"/>
              </a:rPr>
              <a:t>DECLARACIÓN DE UNA VARIABLE</a:t>
            </a:r>
          </a:p>
        </p:txBody>
      </p:sp>
      <p:sp>
        <p:nvSpPr>
          <p:cNvPr id="3" name="Marcador de contenido 2">
            <a:extLst>
              <a:ext uri="{FF2B5EF4-FFF2-40B4-BE49-F238E27FC236}">
                <a16:creationId xmlns:a16="http://schemas.microsoft.com/office/drawing/2014/main" xmlns="" id="{30CB10F3-3141-458A-A5FE-A334C8F86D3E}"/>
              </a:ext>
            </a:extLst>
          </p:cNvPr>
          <p:cNvSpPr>
            <a:spLocks noGrp="1"/>
          </p:cNvSpPr>
          <p:nvPr>
            <p:ph idx="1"/>
          </p:nvPr>
        </p:nvSpPr>
        <p:spPr>
          <a:xfrm>
            <a:off x="838200" y="1822449"/>
            <a:ext cx="10515600" cy="2641975"/>
          </a:xfrm>
        </p:spPr>
        <p:txBody>
          <a:bodyPr/>
          <a:lstStyle/>
          <a:p>
            <a:pPr algn="just"/>
            <a:r>
              <a:rPr lang="es-PE" sz="2400" dirty="0"/>
              <a:t>Declaración Implícita</a:t>
            </a:r>
          </a:p>
          <a:p>
            <a:pPr marL="0" indent="0" algn="just">
              <a:buNone/>
            </a:pPr>
            <a:r>
              <a:rPr lang="es-PE" sz="2400" dirty="0"/>
              <a:t>Es aquella en donde no es necesario declarar una variable antes de utilizarla ya que la aplicación se encargara de crearla de forma automática cuando le asignemos un valor a dicha variable</a:t>
            </a:r>
          </a:p>
          <a:p>
            <a:pPr marL="0" indent="0" algn="just">
              <a:buNone/>
            </a:pPr>
            <a:r>
              <a:rPr lang="es-PE" sz="2400" dirty="0"/>
              <a:t>Ejemplo:</a:t>
            </a:r>
          </a:p>
          <a:p>
            <a:pPr marL="0" indent="0">
              <a:buNone/>
            </a:pPr>
            <a:endParaRPr lang="es-PE" dirty="0"/>
          </a:p>
          <a:p>
            <a:pPr marL="0" indent="0">
              <a:buNone/>
            </a:pPr>
            <a:endParaRPr lang="es-PE" dirty="0"/>
          </a:p>
        </p:txBody>
      </p:sp>
      <p:pic>
        <p:nvPicPr>
          <p:cNvPr id="5" name="Imagen 4">
            <a:extLst>
              <a:ext uri="{FF2B5EF4-FFF2-40B4-BE49-F238E27FC236}">
                <a16:creationId xmlns:a16="http://schemas.microsoft.com/office/drawing/2014/main" xmlns="" id="{13B82050-27F1-459E-BE1A-5C1BF270E8F6}"/>
              </a:ext>
            </a:extLst>
          </p:cNvPr>
          <p:cNvPicPr>
            <a:picLocks noChangeAspect="1"/>
          </p:cNvPicPr>
          <p:nvPr/>
        </p:nvPicPr>
        <p:blipFill>
          <a:blip r:embed="rId2"/>
          <a:stretch>
            <a:fillRect/>
          </a:stretch>
        </p:blipFill>
        <p:spPr>
          <a:xfrm>
            <a:off x="3855159" y="4464423"/>
            <a:ext cx="4244537" cy="1549101"/>
          </a:xfrm>
          <a:prstGeom prst="rect">
            <a:avLst/>
          </a:prstGeom>
        </p:spPr>
      </p:pic>
    </p:spTree>
    <p:extLst>
      <p:ext uri="{BB962C8B-B14F-4D97-AF65-F5344CB8AC3E}">
        <p14:creationId xmlns:p14="http://schemas.microsoft.com/office/powerpoint/2010/main" val="2351260285"/>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3EAD84D3-7426-4855-84F9-25CC96F1D35C}"/>
              </a:ext>
            </a:extLst>
          </p:cNvPr>
          <p:cNvSpPr>
            <a:spLocks noGrp="1"/>
          </p:cNvSpPr>
          <p:nvPr>
            <p:ph type="title"/>
          </p:nvPr>
        </p:nvSpPr>
        <p:spPr/>
        <p:txBody>
          <a:bodyPr>
            <a:normAutofit/>
          </a:bodyPr>
          <a:lstStyle/>
          <a:p>
            <a:pPr algn="ctr"/>
            <a:r>
              <a:rPr lang="es-PE" sz="4000" b="1" dirty="0">
                <a:solidFill>
                  <a:schemeClr val="bg1"/>
                </a:solidFill>
                <a:latin typeface="+mn-lt"/>
              </a:rPr>
              <a:t>DECLARACIÓN DE UNA VARIABLE</a:t>
            </a:r>
          </a:p>
        </p:txBody>
      </p:sp>
      <p:sp>
        <p:nvSpPr>
          <p:cNvPr id="3" name="Marcador de contenido 2">
            <a:extLst>
              <a:ext uri="{FF2B5EF4-FFF2-40B4-BE49-F238E27FC236}">
                <a16:creationId xmlns:a16="http://schemas.microsoft.com/office/drawing/2014/main" xmlns="" id="{699DBCE8-E8E7-4085-8B00-E153474F4307}"/>
              </a:ext>
            </a:extLst>
          </p:cNvPr>
          <p:cNvSpPr>
            <a:spLocks noGrp="1"/>
          </p:cNvSpPr>
          <p:nvPr>
            <p:ph idx="1"/>
          </p:nvPr>
        </p:nvSpPr>
        <p:spPr>
          <a:xfrm>
            <a:off x="838200" y="1822449"/>
            <a:ext cx="10515600" cy="2061062"/>
          </a:xfrm>
        </p:spPr>
        <p:txBody>
          <a:bodyPr>
            <a:normAutofit/>
          </a:bodyPr>
          <a:lstStyle/>
          <a:p>
            <a:r>
              <a:rPr lang="es-PE" sz="2400" dirty="0"/>
              <a:t>Declaración Explícita</a:t>
            </a:r>
          </a:p>
          <a:p>
            <a:pPr marL="0" indent="0">
              <a:buNone/>
            </a:pPr>
            <a:endParaRPr lang="es-PE" sz="2400" dirty="0"/>
          </a:p>
          <a:p>
            <a:pPr marL="0" indent="0">
              <a:buNone/>
            </a:pPr>
            <a:r>
              <a:rPr lang="es-PE" sz="2400" dirty="0"/>
              <a:t>Debemos definir los nombres de todas las variables que vamos a utilizar antes de aplicarlas en el código</a:t>
            </a:r>
          </a:p>
        </p:txBody>
      </p:sp>
      <p:pic>
        <p:nvPicPr>
          <p:cNvPr id="4" name="Imagen 3">
            <a:extLst>
              <a:ext uri="{FF2B5EF4-FFF2-40B4-BE49-F238E27FC236}">
                <a16:creationId xmlns:a16="http://schemas.microsoft.com/office/drawing/2014/main" xmlns="" id="{106EC2C0-6C58-4563-9B26-4C4613528573}"/>
              </a:ext>
            </a:extLst>
          </p:cNvPr>
          <p:cNvPicPr>
            <a:picLocks noChangeAspect="1"/>
          </p:cNvPicPr>
          <p:nvPr/>
        </p:nvPicPr>
        <p:blipFill>
          <a:blip r:embed="rId2"/>
          <a:stretch>
            <a:fillRect/>
          </a:stretch>
        </p:blipFill>
        <p:spPr>
          <a:xfrm>
            <a:off x="4701259" y="4231911"/>
            <a:ext cx="2248181" cy="2084080"/>
          </a:xfrm>
          <a:prstGeom prst="rect">
            <a:avLst/>
          </a:prstGeom>
        </p:spPr>
      </p:pic>
    </p:spTree>
    <p:extLst>
      <p:ext uri="{BB962C8B-B14F-4D97-AF65-F5344CB8AC3E}">
        <p14:creationId xmlns:p14="http://schemas.microsoft.com/office/powerpoint/2010/main" val="216949244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0DCADE99-7EF3-4925-A5C8-22311640A72F}"/>
              </a:ext>
            </a:extLst>
          </p:cNvPr>
          <p:cNvSpPr>
            <a:spLocks noGrp="1"/>
          </p:cNvSpPr>
          <p:nvPr>
            <p:ph type="title"/>
          </p:nvPr>
        </p:nvSpPr>
        <p:spPr/>
        <p:txBody>
          <a:bodyPr>
            <a:normAutofit/>
          </a:bodyPr>
          <a:lstStyle/>
          <a:p>
            <a:pPr algn="ctr"/>
            <a:r>
              <a:rPr lang="es-PE" sz="4000" b="1" dirty="0">
                <a:solidFill>
                  <a:schemeClr val="bg1"/>
                </a:solidFill>
                <a:latin typeface="+mn-lt"/>
              </a:rPr>
              <a:t>TIPO DE DATOS DE UNA VARIABLE</a:t>
            </a:r>
          </a:p>
        </p:txBody>
      </p:sp>
      <p:sp>
        <p:nvSpPr>
          <p:cNvPr id="3" name="Marcador de contenido 2">
            <a:extLst>
              <a:ext uri="{FF2B5EF4-FFF2-40B4-BE49-F238E27FC236}">
                <a16:creationId xmlns:a16="http://schemas.microsoft.com/office/drawing/2014/main" xmlns="" id="{23C0B597-34EB-4314-8507-71250C0633D7}"/>
              </a:ext>
            </a:extLst>
          </p:cNvPr>
          <p:cNvSpPr>
            <a:spLocks noGrp="1"/>
          </p:cNvSpPr>
          <p:nvPr>
            <p:ph idx="1"/>
          </p:nvPr>
        </p:nvSpPr>
        <p:spPr>
          <a:xfrm>
            <a:off x="838200" y="1822449"/>
            <a:ext cx="10848278" cy="977901"/>
          </a:xfrm>
        </p:spPr>
        <p:txBody>
          <a:bodyPr>
            <a:normAutofit/>
          </a:bodyPr>
          <a:lstStyle/>
          <a:p>
            <a:r>
              <a:rPr lang="es-PE" sz="2400" dirty="0"/>
              <a:t>Los tipos de datos que pueden trabajar una variable son los siguientes:</a:t>
            </a:r>
          </a:p>
        </p:txBody>
      </p:sp>
      <p:pic>
        <p:nvPicPr>
          <p:cNvPr id="4" name="Imagen 3">
            <a:extLst>
              <a:ext uri="{FF2B5EF4-FFF2-40B4-BE49-F238E27FC236}">
                <a16:creationId xmlns:a16="http://schemas.microsoft.com/office/drawing/2014/main" xmlns="" id="{F6F84F9C-0667-48CC-B9BB-C14A72CAF80A}"/>
              </a:ext>
            </a:extLst>
          </p:cNvPr>
          <p:cNvPicPr>
            <a:picLocks noChangeAspect="1"/>
          </p:cNvPicPr>
          <p:nvPr/>
        </p:nvPicPr>
        <p:blipFill>
          <a:blip r:embed="rId2"/>
          <a:stretch>
            <a:fillRect/>
          </a:stretch>
        </p:blipFill>
        <p:spPr>
          <a:xfrm>
            <a:off x="3902547" y="2946124"/>
            <a:ext cx="4719583" cy="3042889"/>
          </a:xfrm>
          <a:prstGeom prst="rect">
            <a:avLst/>
          </a:prstGeom>
        </p:spPr>
      </p:pic>
    </p:spTree>
    <p:extLst>
      <p:ext uri="{BB962C8B-B14F-4D97-AF65-F5344CB8AC3E}">
        <p14:creationId xmlns:p14="http://schemas.microsoft.com/office/powerpoint/2010/main" val="1516285384"/>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A38A5453-2242-4FD6-8DA3-0070164A848D}"/>
              </a:ext>
            </a:extLst>
          </p:cNvPr>
          <p:cNvSpPr>
            <a:spLocks noGrp="1"/>
          </p:cNvSpPr>
          <p:nvPr>
            <p:ph type="title"/>
          </p:nvPr>
        </p:nvSpPr>
        <p:spPr/>
        <p:txBody>
          <a:bodyPr>
            <a:normAutofit/>
          </a:bodyPr>
          <a:lstStyle/>
          <a:p>
            <a:pPr algn="ctr"/>
            <a:r>
              <a:rPr lang="es-PE" sz="4000" b="1" dirty="0">
                <a:solidFill>
                  <a:schemeClr val="bg1"/>
                </a:solidFill>
                <a:latin typeface="+mn-lt"/>
              </a:rPr>
              <a:t>TIPO DE DATOS DE UNA VARIABLE</a:t>
            </a:r>
            <a:endParaRPr lang="es-PE" sz="4000" dirty="0">
              <a:solidFill>
                <a:schemeClr val="bg1"/>
              </a:solidFill>
              <a:latin typeface="+mn-lt"/>
            </a:endParaRPr>
          </a:p>
        </p:txBody>
      </p:sp>
      <p:pic>
        <p:nvPicPr>
          <p:cNvPr id="4" name="Imagen 3">
            <a:extLst>
              <a:ext uri="{FF2B5EF4-FFF2-40B4-BE49-F238E27FC236}">
                <a16:creationId xmlns:a16="http://schemas.microsoft.com/office/drawing/2014/main" xmlns="" id="{9CDB0726-EB33-4D5F-B41C-FCC7AD19DAFD}"/>
              </a:ext>
            </a:extLst>
          </p:cNvPr>
          <p:cNvPicPr>
            <a:picLocks noChangeAspect="1"/>
          </p:cNvPicPr>
          <p:nvPr/>
        </p:nvPicPr>
        <p:blipFill>
          <a:blip r:embed="rId2"/>
          <a:stretch>
            <a:fillRect/>
          </a:stretch>
        </p:blipFill>
        <p:spPr>
          <a:xfrm>
            <a:off x="3216778" y="2187729"/>
            <a:ext cx="5213544" cy="4056648"/>
          </a:xfrm>
          <a:prstGeom prst="rect">
            <a:avLst/>
          </a:prstGeom>
        </p:spPr>
      </p:pic>
    </p:spTree>
    <p:extLst>
      <p:ext uri="{BB962C8B-B14F-4D97-AF65-F5344CB8AC3E}">
        <p14:creationId xmlns:p14="http://schemas.microsoft.com/office/powerpoint/2010/main" val="218832827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algn="ctr"/>
            <a:r>
              <a:rPr lang="es-PE" sz="4000" b="1" dirty="0">
                <a:solidFill>
                  <a:schemeClr val="bg1"/>
                </a:solidFill>
                <a:latin typeface="+mn-lt"/>
              </a:rPr>
              <a:t>FUNCIÓN INPUTBOX</a:t>
            </a:r>
          </a:p>
        </p:txBody>
      </p:sp>
      <p:sp>
        <p:nvSpPr>
          <p:cNvPr id="3" name="2 Marcador de contenido"/>
          <p:cNvSpPr>
            <a:spLocks noGrp="1"/>
          </p:cNvSpPr>
          <p:nvPr>
            <p:ph idx="1"/>
          </p:nvPr>
        </p:nvSpPr>
        <p:spPr>
          <a:xfrm>
            <a:off x="838200" y="1822449"/>
            <a:ext cx="10515600" cy="1789431"/>
          </a:xfrm>
        </p:spPr>
        <p:txBody>
          <a:bodyPr>
            <a:normAutofit/>
          </a:bodyPr>
          <a:lstStyle/>
          <a:p>
            <a:pPr algn="just"/>
            <a:r>
              <a:rPr lang="es-PE" sz="2400" dirty="0"/>
              <a:t>Nos muestra un elemento flotante, en el cual el usuario podrá introducir la información que le sea requerida. Si el usuario captura la información y presiona el botón Aceptar los caracteres se guardaran en una variable</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1926" y="3749040"/>
            <a:ext cx="4873002" cy="2533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3490734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algn="ctr"/>
            <a:r>
              <a:rPr lang="es-PE" sz="4000" b="1" dirty="0">
                <a:solidFill>
                  <a:schemeClr val="bg1"/>
                </a:solidFill>
                <a:latin typeface="+mn-lt"/>
              </a:rPr>
              <a:t>FUNCION INPUTBOX</a:t>
            </a:r>
          </a:p>
        </p:txBody>
      </p:sp>
      <p:sp>
        <p:nvSpPr>
          <p:cNvPr id="3" name="2 Marcador de contenido"/>
          <p:cNvSpPr>
            <a:spLocks noGrp="1"/>
          </p:cNvSpPr>
          <p:nvPr>
            <p:ph idx="1"/>
          </p:nvPr>
        </p:nvSpPr>
        <p:spPr>
          <a:xfrm>
            <a:off x="838200" y="1822449"/>
            <a:ext cx="10515600" cy="875031"/>
          </a:xfrm>
        </p:spPr>
        <p:txBody>
          <a:bodyPr/>
          <a:lstStyle/>
          <a:p>
            <a:r>
              <a:rPr lang="es-PE" dirty="0"/>
              <a:t>Ejemplo:</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9325" y="2938463"/>
            <a:ext cx="7753350" cy="280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82384349"/>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9B0A4DEF-3354-41AF-B328-90F2A156CA5C}"/>
              </a:ext>
            </a:extLst>
          </p:cNvPr>
          <p:cNvSpPr>
            <a:spLocks noGrp="1"/>
          </p:cNvSpPr>
          <p:nvPr>
            <p:ph type="title"/>
          </p:nvPr>
        </p:nvSpPr>
        <p:spPr/>
        <p:txBody>
          <a:bodyPr/>
          <a:lstStyle/>
          <a:p>
            <a:pPr algn="ctr"/>
            <a:r>
              <a:rPr lang="es-PE" b="1" dirty="0">
                <a:solidFill>
                  <a:schemeClr val="bg1"/>
                </a:solidFill>
                <a:latin typeface="+mn-lt"/>
              </a:rPr>
              <a:t>FUNCIÓN MSGBOX</a:t>
            </a:r>
          </a:p>
        </p:txBody>
      </p:sp>
      <p:sp>
        <p:nvSpPr>
          <p:cNvPr id="3" name="Marcador de contenido 2">
            <a:extLst>
              <a:ext uri="{FF2B5EF4-FFF2-40B4-BE49-F238E27FC236}">
                <a16:creationId xmlns:a16="http://schemas.microsoft.com/office/drawing/2014/main" xmlns="" id="{0BAEBEB9-BF3A-40FC-B29A-5E483D64A45B}"/>
              </a:ext>
            </a:extLst>
          </p:cNvPr>
          <p:cNvSpPr>
            <a:spLocks noGrp="1"/>
          </p:cNvSpPr>
          <p:nvPr>
            <p:ph idx="1"/>
          </p:nvPr>
        </p:nvSpPr>
        <p:spPr>
          <a:xfrm>
            <a:off x="838200" y="1822449"/>
            <a:ext cx="10515600" cy="1325563"/>
          </a:xfrm>
        </p:spPr>
        <p:txBody>
          <a:bodyPr>
            <a:normAutofit/>
          </a:bodyPr>
          <a:lstStyle/>
          <a:p>
            <a:r>
              <a:rPr lang="es-PE" sz="2400" dirty="0"/>
              <a:t>Nos ayudará cuando necesitamos una respuesta del tipo lógica, errores, alertas , advertencias, etc.</a:t>
            </a:r>
          </a:p>
        </p:txBody>
      </p:sp>
      <p:pic>
        <p:nvPicPr>
          <p:cNvPr id="4" name="Imagen 3">
            <a:extLst>
              <a:ext uri="{FF2B5EF4-FFF2-40B4-BE49-F238E27FC236}">
                <a16:creationId xmlns:a16="http://schemas.microsoft.com/office/drawing/2014/main" xmlns="" id="{48F50FFD-221A-498E-8F3D-455DD8B3E61C}"/>
              </a:ext>
            </a:extLst>
          </p:cNvPr>
          <p:cNvPicPr>
            <a:picLocks noChangeAspect="1"/>
          </p:cNvPicPr>
          <p:nvPr/>
        </p:nvPicPr>
        <p:blipFill>
          <a:blip r:embed="rId2"/>
          <a:stretch>
            <a:fillRect/>
          </a:stretch>
        </p:blipFill>
        <p:spPr>
          <a:xfrm>
            <a:off x="3741814" y="3481389"/>
            <a:ext cx="5156859" cy="2939578"/>
          </a:xfrm>
          <a:prstGeom prst="rect">
            <a:avLst/>
          </a:prstGeom>
        </p:spPr>
      </p:pic>
    </p:spTree>
    <p:extLst>
      <p:ext uri="{BB962C8B-B14F-4D97-AF65-F5344CB8AC3E}">
        <p14:creationId xmlns:p14="http://schemas.microsoft.com/office/powerpoint/2010/main" val="2563661902"/>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11171" y="624110"/>
            <a:ext cx="10393442" cy="870861"/>
          </a:xfrm>
        </p:spPr>
        <p:txBody>
          <a:bodyPr/>
          <a:lstStyle/>
          <a:p>
            <a:pPr algn="ctr"/>
            <a:r>
              <a:rPr lang="es-PE" b="1" dirty="0">
                <a:solidFill>
                  <a:schemeClr val="bg1"/>
                </a:solidFill>
                <a:latin typeface="+mn-lt"/>
              </a:rPr>
              <a:t>CONDICIONAL IF THEN ELSE</a:t>
            </a:r>
          </a:p>
        </p:txBody>
      </p:sp>
      <p:sp>
        <p:nvSpPr>
          <p:cNvPr id="3" name="Marcador de contenido 2"/>
          <p:cNvSpPr>
            <a:spLocks noGrp="1"/>
          </p:cNvSpPr>
          <p:nvPr>
            <p:ph idx="1"/>
          </p:nvPr>
        </p:nvSpPr>
        <p:spPr>
          <a:xfrm>
            <a:off x="1030147" y="2069813"/>
            <a:ext cx="5229139" cy="4537816"/>
          </a:xfrm>
        </p:spPr>
        <p:txBody>
          <a:bodyPr>
            <a:normAutofit lnSpcReduction="10000"/>
          </a:bodyPr>
          <a:lstStyle/>
          <a:p>
            <a:pPr marL="0" indent="0" algn="just">
              <a:buNone/>
            </a:pPr>
            <a:r>
              <a:rPr lang="es-PE" sz="2400" dirty="0"/>
              <a:t>Las instrucciones </a:t>
            </a:r>
            <a:r>
              <a:rPr lang="es-PE" sz="2400" b="1" i="1" dirty="0" err="1"/>
              <a:t>If</a:t>
            </a:r>
            <a:r>
              <a:rPr lang="es-PE" sz="2400" b="1" i="1" dirty="0"/>
              <a:t>...</a:t>
            </a:r>
            <a:r>
              <a:rPr lang="es-PE" sz="2400" b="1" i="1" dirty="0" err="1"/>
              <a:t>Then</a:t>
            </a:r>
            <a:r>
              <a:rPr lang="es-PE" sz="2400" b="1" i="1" dirty="0"/>
              <a:t>...</a:t>
            </a:r>
            <a:r>
              <a:rPr lang="es-PE" sz="2400" b="1" i="1" dirty="0" err="1"/>
              <a:t>Else</a:t>
            </a:r>
            <a:r>
              <a:rPr lang="es-PE" sz="2400" b="1" i="1" dirty="0"/>
              <a:t> </a:t>
            </a:r>
            <a:r>
              <a:rPr lang="es-PE" sz="2400" dirty="0"/>
              <a:t>se pueden presentar en varios formatos, con unas características determinadas. Normalmente, se presentan anidadas en tantos niveles como sea necesario. Esto, sin embargo, puede hacer menos legible el código, por lo que es aconsejable utilizar una instrucción </a:t>
            </a:r>
            <a:r>
              <a:rPr lang="es-PE" sz="2400" b="1" i="1" dirty="0" err="1"/>
              <a:t>Select</a:t>
            </a:r>
            <a:r>
              <a:rPr lang="es-PE" sz="2400" b="1" i="1" dirty="0"/>
              <a:t> Case </a:t>
            </a:r>
            <a:r>
              <a:rPr lang="es-PE" sz="2400" dirty="0"/>
              <a:t>en vez de recurrir a múltiples niveles de instrucciones </a:t>
            </a:r>
            <a:r>
              <a:rPr lang="es-PE" sz="2400" b="1" i="1" dirty="0" err="1"/>
              <a:t>If</a:t>
            </a:r>
            <a:r>
              <a:rPr lang="es-PE" sz="2400" b="1" i="1" dirty="0"/>
              <a:t>...</a:t>
            </a:r>
            <a:r>
              <a:rPr lang="es-PE" sz="2400" b="1" i="1" dirty="0" err="1"/>
              <a:t>Then</a:t>
            </a:r>
            <a:r>
              <a:rPr lang="es-PE" sz="2400" b="1" i="1" dirty="0"/>
              <a:t>...</a:t>
            </a:r>
            <a:r>
              <a:rPr lang="es-PE" sz="2400" b="1" i="1" dirty="0" err="1"/>
              <a:t>Else</a:t>
            </a:r>
            <a:r>
              <a:rPr lang="es-PE" sz="2400" b="1" i="1" dirty="0"/>
              <a:t> </a:t>
            </a:r>
            <a:r>
              <a:rPr lang="es-PE" sz="2400" dirty="0"/>
              <a:t>anidadas (únicamente en caso de que el excesivo número de anidamientos pudiera dar problemas en la legibilidad del programa, o errores en la depuración de éste). </a:t>
            </a:r>
          </a:p>
          <a:p>
            <a:pPr marL="0" indent="0" algn="just">
              <a:buNone/>
            </a:pPr>
            <a:endParaRPr lang="es-PE" dirty="0">
              <a:solidFill>
                <a:schemeClr val="tx1"/>
              </a:solidFill>
            </a:endParaRPr>
          </a:p>
        </p:txBody>
      </p:sp>
      <p:pic>
        <p:nvPicPr>
          <p:cNvPr id="4" name="Imagen 3"/>
          <p:cNvPicPr>
            <a:picLocks noChangeAspect="1"/>
          </p:cNvPicPr>
          <p:nvPr/>
        </p:nvPicPr>
        <p:blipFill>
          <a:blip r:embed="rId2"/>
          <a:stretch>
            <a:fillRect/>
          </a:stretch>
        </p:blipFill>
        <p:spPr>
          <a:xfrm>
            <a:off x="7085013" y="2486024"/>
            <a:ext cx="4419600" cy="2800350"/>
          </a:xfrm>
          <a:prstGeom prst="rect">
            <a:avLst/>
          </a:prstGeom>
        </p:spPr>
      </p:pic>
    </p:spTree>
    <p:extLst>
      <p:ext uri="{BB962C8B-B14F-4D97-AF65-F5344CB8AC3E}">
        <p14:creationId xmlns:p14="http://schemas.microsoft.com/office/powerpoint/2010/main" val="2903783711"/>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1376</TotalTime>
  <Words>686</Words>
  <Application>Microsoft Office PowerPoint</Application>
  <PresentationFormat>Panorámica</PresentationFormat>
  <Paragraphs>70</Paragraphs>
  <Slides>21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21</vt:i4>
      </vt:variant>
    </vt:vector>
  </HeadingPairs>
  <TitlesOfParts>
    <vt:vector size="25" baseType="lpstr">
      <vt:lpstr>Arial</vt:lpstr>
      <vt:lpstr>Calibri</vt:lpstr>
      <vt:lpstr>Calibri Light</vt:lpstr>
      <vt:lpstr>Tema de Office</vt:lpstr>
      <vt:lpstr>Presentación de PowerPoint</vt:lpstr>
      <vt:lpstr>MACROS EN VBA</vt:lpstr>
      <vt:lpstr>JERARQUIA DE OBJETOS</vt:lpstr>
      <vt:lpstr>JERARQUÍA DE OBJETO</vt:lpstr>
      <vt:lpstr>JERARQUÍA DE OBJETO</vt:lpstr>
      <vt:lpstr>EJEMPLO DE PROGRAMACIÓN</vt:lpstr>
      <vt:lpstr>MODULOS EN VBA</vt:lpstr>
      <vt:lpstr>TIPOS DE PROCEDIMIENTOS</vt:lpstr>
      <vt:lpstr>PROCEDIMIENTOS SUB</vt:lpstr>
      <vt:lpstr>PROCEDIMIENTOS GENERALES</vt:lpstr>
      <vt:lpstr>PROCEDIMIENTOS DE EVENTOS</vt:lpstr>
      <vt:lpstr>EXPLORADOR DE PROYECTOS</vt:lpstr>
      <vt:lpstr>VARIABLES EN VBA</vt:lpstr>
      <vt:lpstr>DECLARACIÓN DE UNA VARIABLE</vt:lpstr>
      <vt:lpstr>DECLARACIÓN DE UNA VARIABLE</vt:lpstr>
      <vt:lpstr>TIPO DE DATOS DE UNA VARIABLE</vt:lpstr>
      <vt:lpstr>TIPO DE DATOS DE UNA VARIABLE</vt:lpstr>
      <vt:lpstr>FUNCIÓN INPUTBOX</vt:lpstr>
      <vt:lpstr>FUNCION INPUTBOX</vt:lpstr>
      <vt:lpstr>FUNCIÓN MSGBOX</vt:lpstr>
      <vt:lpstr>CONDICIONAL IF THEN ELSE</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MILAGROS-PC</dc:creator>
  <cp:lastModifiedBy>Jenny</cp:lastModifiedBy>
  <cp:revision>98</cp:revision>
  <dcterms:created xsi:type="dcterms:W3CDTF">2019-09-09T03:46:59Z</dcterms:created>
  <dcterms:modified xsi:type="dcterms:W3CDTF">2020-05-20T06:35:55Z</dcterms:modified>
</cp:coreProperties>
</file>