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5" r:id="rId6"/>
    <p:sldId id="371" r:id="rId7"/>
    <p:sldId id="294" r:id="rId8"/>
    <p:sldId id="295" r:id="rId9"/>
    <p:sldId id="297" r:id="rId10"/>
    <p:sldId id="298" r:id="rId11"/>
    <p:sldId id="345" r:id="rId12"/>
    <p:sldId id="296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7F7F7F"/>
    <a:srgbClr val="A6A6A6"/>
    <a:srgbClr val="BFBFBF"/>
    <a:srgbClr val="465359"/>
    <a:srgbClr val="757575"/>
    <a:srgbClr val="8B8B8B"/>
    <a:srgbClr val="B0B0B0"/>
    <a:srgbClr val="D3D3D3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82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F4366289-7251-4248-8185-9FEDE67FEB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911AAB-DA95-4CED-94BD-874BA4394E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DEEF26-1A03-4B1A-AE72-C28CA9B5024D}" type="datetime1">
              <a:rPr lang="es-ES" smtClean="0"/>
              <a:t>30/03/2025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6222C7-E745-4972-ADB2-26864641F2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8F0AA558-CC6A-4543-8082-2ECED10B3D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FEEF11-4551-44CC-8138-2C9C44119E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4764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0D74895-5176-4251-996A-78582FB81F91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4C8E5D6-E240-4AB4-B03F-F45C58F87E64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203065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A4C8E5D6-E240-4AB4-B03F-F45C58F87E6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154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A4C8E5D6-E240-4AB4-B03F-F45C58F87E64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862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A4C8E5D6-E240-4AB4-B03F-F45C58F87E6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767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E76E97-516D-4ABE-88C8-400B36F168FB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0804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/>
          <p:cNvSpPr/>
          <p:nvPr userDrawn="1"/>
        </p:nvSpPr>
        <p:spPr>
          <a:xfrm>
            <a:off x="446534" y="4284627"/>
            <a:ext cx="11292840" cy="201167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5695849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2" name="Rectángulo 11"/>
          <p:cNvSpPr/>
          <p:nvPr userDrawn="1"/>
        </p:nvSpPr>
        <p:spPr>
          <a:xfrm>
            <a:off x="446534" y="4114808"/>
            <a:ext cx="1129284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4220835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8334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DFFEB0-22A6-45B7-A1B1-4E00AC60E9E5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6164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cera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EB589F-AE9C-4159-962B-B23AA5BE2981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439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0A020E-1DB8-4044-A808-ED9931C09B97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0166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1" y="2905648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81194" y="3580809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16039" y="2905649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416037" y="3580809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886D6C-642C-4F3A-80F4-3766661C3280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0825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8AF5F8-67F3-49B2-8A5D-9976371AC6D6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7010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B94070D-8484-4B7B-ADE0-4CCDD6380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626" y="5120639"/>
            <a:ext cx="12200626" cy="17326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25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759402" y="5330449"/>
            <a:ext cx="1938528" cy="557784"/>
          </a:xfrm>
        </p:spPr>
        <p:txBody>
          <a:bodyPr rtlCol="0" anchor="ctr"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rgbClr val="465359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00 %</a:t>
            </a:r>
          </a:p>
        </p:txBody>
      </p:sp>
      <p:sp>
        <p:nvSpPr>
          <p:cNvPr id="26" name="Marcador de contenido 3"/>
          <p:cNvSpPr>
            <a:spLocks noGrp="1"/>
          </p:cNvSpPr>
          <p:nvPr>
            <p:ph sz="half" idx="2"/>
          </p:nvPr>
        </p:nvSpPr>
        <p:spPr>
          <a:xfrm>
            <a:off x="759405" y="5958718"/>
            <a:ext cx="1938528" cy="633065"/>
          </a:xfrm>
        </p:spPr>
        <p:txBody>
          <a:bodyPr rtlCol="0" anchor="t">
            <a:normAutofit/>
          </a:bodyPr>
          <a:lstStyle>
            <a:lvl1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/>
          <p:cNvSpPr>
            <a:spLocks noGrp="1"/>
          </p:cNvSpPr>
          <p:nvPr>
            <p:ph type="body" idx="10" hasCustomPrompt="1"/>
          </p:nvPr>
        </p:nvSpPr>
        <p:spPr>
          <a:xfrm>
            <a:off x="3642897" y="5330449"/>
            <a:ext cx="1938528" cy="557784"/>
          </a:xfrm>
        </p:spPr>
        <p:txBody>
          <a:bodyPr rtlCol="0" anchor="ctr"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00 %</a:t>
            </a:r>
          </a:p>
        </p:txBody>
      </p:sp>
      <p:sp>
        <p:nvSpPr>
          <p:cNvPr id="28" name="Marcador de posición de contenido 3"/>
          <p:cNvSpPr>
            <a:spLocks noGrp="1"/>
          </p:cNvSpPr>
          <p:nvPr>
            <p:ph sz="half" idx="11"/>
          </p:nvPr>
        </p:nvSpPr>
        <p:spPr>
          <a:xfrm>
            <a:off x="3642900" y="5958718"/>
            <a:ext cx="1938528" cy="633065"/>
          </a:xfrm>
        </p:spPr>
        <p:txBody>
          <a:bodyPr rtlCol="0" anchor="t">
            <a:normAutofit/>
          </a:bodyPr>
          <a:lstStyle>
            <a:lvl1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9" name="Marcador de texto 2"/>
          <p:cNvSpPr>
            <a:spLocks noGrp="1"/>
          </p:cNvSpPr>
          <p:nvPr>
            <p:ph type="body" idx="12" hasCustomPrompt="1"/>
          </p:nvPr>
        </p:nvSpPr>
        <p:spPr>
          <a:xfrm>
            <a:off x="6526392" y="5330449"/>
            <a:ext cx="1938528" cy="557784"/>
          </a:xfrm>
        </p:spPr>
        <p:txBody>
          <a:bodyPr rtlCol="0" anchor="ctr"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00 %</a:t>
            </a:r>
          </a:p>
        </p:txBody>
      </p:sp>
      <p:sp>
        <p:nvSpPr>
          <p:cNvPr id="30" name="Marcador de posición de contenido 3"/>
          <p:cNvSpPr>
            <a:spLocks noGrp="1"/>
          </p:cNvSpPr>
          <p:nvPr>
            <p:ph sz="half" idx="13"/>
          </p:nvPr>
        </p:nvSpPr>
        <p:spPr>
          <a:xfrm>
            <a:off x="6526395" y="5958718"/>
            <a:ext cx="1938528" cy="633065"/>
          </a:xfrm>
        </p:spPr>
        <p:txBody>
          <a:bodyPr rtlCol="0" anchor="t">
            <a:normAutofit/>
          </a:bodyPr>
          <a:lstStyle>
            <a:lvl1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1" name="Marcador de texto 2"/>
          <p:cNvSpPr>
            <a:spLocks noGrp="1"/>
          </p:cNvSpPr>
          <p:nvPr>
            <p:ph type="body" idx="14" hasCustomPrompt="1"/>
          </p:nvPr>
        </p:nvSpPr>
        <p:spPr>
          <a:xfrm>
            <a:off x="9409888" y="5330449"/>
            <a:ext cx="1938528" cy="557784"/>
          </a:xfrm>
        </p:spPr>
        <p:txBody>
          <a:bodyPr rtlCol="0" anchor="ctr">
            <a:noAutofit/>
          </a:bodyPr>
          <a:lstStyle>
            <a:lvl1pPr marL="0" indent="0" algn="ctr" defTabSz="914400" rtl="0" eaLnBrk="1" latinLnBrk="0" hangingPunct="1">
              <a:buNone/>
              <a:defRPr lang="en-US" sz="4000" b="1" kern="1200" dirty="0">
                <a:solidFill>
                  <a:schemeClr val="accent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00 %</a:t>
            </a:r>
          </a:p>
        </p:txBody>
      </p:sp>
      <p:sp>
        <p:nvSpPr>
          <p:cNvPr id="32" name="Marcador de posición de contenido 3"/>
          <p:cNvSpPr>
            <a:spLocks noGrp="1"/>
          </p:cNvSpPr>
          <p:nvPr>
            <p:ph sz="half" idx="15"/>
          </p:nvPr>
        </p:nvSpPr>
        <p:spPr>
          <a:xfrm>
            <a:off x="9409891" y="5958718"/>
            <a:ext cx="1938528" cy="633065"/>
          </a:xfrm>
        </p:spPr>
        <p:txBody>
          <a:bodyPr rtlCol="0" anchor="t">
            <a:normAutofit/>
          </a:bodyPr>
          <a:lstStyle>
            <a:lvl1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ctr" defTabSz="914400" rtl="0" eaLnBrk="1" latinLnBrk="0" hangingPunct="1">
              <a:buNone/>
              <a:defRPr lang="en-US" sz="10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2553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>
            <a:spLocks noChangeAspect="1"/>
          </p:cNvSpPr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8129813C-4D03-47AC-BBC2-86147182E16B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Marcador de posición de imagen 5"/>
          <p:cNvSpPr>
            <a:spLocks noGrp="1"/>
          </p:cNvSpPr>
          <p:nvPr>
            <p:ph type="pic" sz="quarter" idx="13"/>
          </p:nvPr>
        </p:nvSpPr>
        <p:spPr>
          <a:xfrm>
            <a:off x="0" y="5245130"/>
            <a:ext cx="12192000" cy="161287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/>
          <p:cNvSpPr/>
          <p:nvPr userDrawn="1"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ángulo 11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9529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>
            <a:spLocks noChangeAspect="1"/>
          </p:cNvSpPr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C1CE38A4-10CF-4429-B577-AF2C7DB0C1E9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Marcador de posición de imagen 5"/>
          <p:cNvSpPr>
            <a:spLocks noGrp="1"/>
          </p:cNvSpPr>
          <p:nvPr>
            <p:ph type="pic" sz="quarter" idx="13"/>
          </p:nvPr>
        </p:nvSpPr>
        <p:spPr>
          <a:xfrm>
            <a:off x="0" y="5245130"/>
            <a:ext cx="12192000" cy="161287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Rectángulo 1"/>
          <p:cNvSpPr/>
          <p:nvPr userDrawn="1"/>
        </p:nvSpPr>
        <p:spPr>
          <a:xfrm>
            <a:off x="575894" y="1972490"/>
            <a:ext cx="2467752" cy="3272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/>
          <p:cNvSpPr/>
          <p:nvPr userDrawn="1"/>
        </p:nvSpPr>
        <p:spPr>
          <a:xfrm>
            <a:off x="3429849" y="1972490"/>
            <a:ext cx="2467752" cy="3272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/>
          <p:cNvSpPr/>
          <p:nvPr userDrawn="1"/>
        </p:nvSpPr>
        <p:spPr>
          <a:xfrm>
            <a:off x="6283804" y="1972490"/>
            <a:ext cx="2467752" cy="3272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/>
          <p:cNvSpPr/>
          <p:nvPr userDrawn="1"/>
        </p:nvSpPr>
        <p:spPr>
          <a:xfrm>
            <a:off x="9137758" y="1972490"/>
            <a:ext cx="2467752" cy="3272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988377"/>
            <a:ext cx="2492830" cy="55778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81194" y="3584516"/>
            <a:ext cx="2492828" cy="165620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24000" indent="0" algn="ctr">
              <a:buNone/>
              <a:defRPr sz="1200"/>
            </a:lvl2pPr>
            <a:lvl3pPr marL="630000" indent="0" algn="ctr">
              <a:buNone/>
              <a:defRPr sz="1200"/>
            </a:lvl3pPr>
            <a:lvl4pPr marL="1008000" indent="0" algn="ctr">
              <a:buNone/>
              <a:defRPr sz="1200"/>
            </a:lvl4pPr>
            <a:lvl5pPr marL="1368000" indent="0" algn="ctr">
              <a:buNone/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98472" y="2988377"/>
            <a:ext cx="249283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298471" y="3584516"/>
            <a:ext cx="2492830" cy="165620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24000" indent="0" algn="ctr">
              <a:buNone/>
              <a:defRPr sz="1200"/>
            </a:lvl2pPr>
            <a:lvl3pPr marL="630000" indent="0" algn="ctr">
              <a:buNone/>
              <a:defRPr sz="1200"/>
            </a:lvl3pPr>
            <a:lvl4pPr marL="1008000" indent="0" algn="ctr">
              <a:buNone/>
              <a:defRPr sz="1200"/>
            </a:lvl4pPr>
            <a:lvl5pPr marL="1368000" indent="0" algn="ctr">
              <a:buNone/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2"/>
          <p:cNvSpPr>
            <a:spLocks noGrp="1"/>
          </p:cNvSpPr>
          <p:nvPr>
            <p:ph type="body" idx="14"/>
          </p:nvPr>
        </p:nvSpPr>
        <p:spPr>
          <a:xfrm>
            <a:off x="3444517" y="2988377"/>
            <a:ext cx="2492830" cy="55778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posición de contenido 3"/>
          <p:cNvSpPr>
            <a:spLocks noGrp="1"/>
          </p:cNvSpPr>
          <p:nvPr>
            <p:ph sz="half" idx="15"/>
          </p:nvPr>
        </p:nvSpPr>
        <p:spPr>
          <a:xfrm>
            <a:off x="3444519" y="3584516"/>
            <a:ext cx="2492828" cy="165620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24000" indent="0" algn="ctr">
              <a:buNone/>
              <a:defRPr sz="1200"/>
            </a:lvl2pPr>
            <a:lvl3pPr marL="630000" indent="0" algn="ctr">
              <a:buNone/>
              <a:defRPr sz="1200"/>
            </a:lvl3pPr>
            <a:lvl4pPr marL="1008000" indent="0" algn="ctr">
              <a:buNone/>
              <a:defRPr sz="1200"/>
            </a:lvl4pPr>
            <a:lvl5pPr marL="1368000" indent="0" algn="ctr">
              <a:buNone/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9" name="Marcador de posición de texto 4"/>
          <p:cNvSpPr>
            <a:spLocks noGrp="1"/>
          </p:cNvSpPr>
          <p:nvPr>
            <p:ph type="body" sz="quarter" idx="16"/>
          </p:nvPr>
        </p:nvSpPr>
        <p:spPr>
          <a:xfrm>
            <a:off x="9138807" y="2988377"/>
            <a:ext cx="2492830" cy="553373"/>
          </a:xfrm>
        </p:spPr>
        <p:txBody>
          <a:bodyPr rtlCol="0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contenido 5"/>
          <p:cNvSpPr>
            <a:spLocks noGrp="1"/>
          </p:cNvSpPr>
          <p:nvPr>
            <p:ph sz="quarter" idx="17"/>
          </p:nvPr>
        </p:nvSpPr>
        <p:spPr>
          <a:xfrm>
            <a:off x="9138806" y="3584516"/>
            <a:ext cx="2492830" cy="165620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24000" indent="0" algn="ctr">
              <a:buNone/>
              <a:defRPr sz="1200"/>
            </a:lvl2pPr>
            <a:lvl3pPr marL="630000" indent="0" algn="ctr">
              <a:buNone/>
              <a:defRPr sz="1200"/>
            </a:lvl3pPr>
            <a:lvl4pPr marL="1008000" indent="0" algn="ctr">
              <a:buNone/>
              <a:defRPr sz="1200"/>
            </a:lvl4pPr>
            <a:lvl5pPr marL="1368000" indent="0" algn="ctr">
              <a:buNone/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Rectángulo 20"/>
          <p:cNvSpPr/>
          <p:nvPr userDrawn="1"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ángulo 21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ángulo 22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581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921B1E-433B-41C9-841C-5F02BAB8C4F2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01450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FD3A0F3E-6225-430C-A5FE-15E61F4B1AF2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89195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232275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00927" y="709565"/>
            <a:ext cx="6650991" cy="699407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00928" y="1632857"/>
            <a:ext cx="6650991" cy="4205188"/>
          </a:xfrm>
        </p:spPr>
        <p:txBody>
          <a:bodyPr rtlCol="0" anchor="t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C3B4FB50-93DD-41FF-91C5-1DDB3ADCCD60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65701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4"/>
          <p:cNvSpPr>
            <a:spLocks noGrp="1"/>
          </p:cNvSpPr>
          <p:nvPr>
            <p:ph type="pic" sz="quarter" idx="14" hasCustomPrompt="1"/>
          </p:nvPr>
        </p:nvSpPr>
        <p:spPr>
          <a:xfrm>
            <a:off x="8622917" y="3322281"/>
            <a:ext cx="3367862" cy="3367862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Marca de agua de icono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Marcador de posición de imagen 4"/>
          <p:cNvSpPr>
            <a:spLocks noGrp="1"/>
          </p:cNvSpPr>
          <p:nvPr>
            <p:ph type="pic" sz="quarter" idx="13" hasCustomPrompt="1"/>
          </p:nvPr>
        </p:nvSpPr>
        <p:spPr>
          <a:xfrm>
            <a:off x="768350" y="2312987"/>
            <a:ext cx="731520" cy="73152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Icono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857" y="2647728"/>
            <a:ext cx="3031852" cy="1722419"/>
          </a:xfrm>
        </p:spPr>
        <p:txBody>
          <a:bodyPr rtlCol="0" anchor="ctr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C7B463E3-5276-45DE-91A0-B6DD8B297E87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24179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7857" y="2647728"/>
            <a:ext cx="3031852" cy="1722419"/>
          </a:xfrm>
        </p:spPr>
        <p:txBody>
          <a:bodyPr rtlCol="0" anchor="ctr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749021CC-0307-446D-AE2B-559CB49EAF79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2" name="Rectángulo 11"/>
          <p:cNvSpPr/>
          <p:nvPr userDrawn="1"/>
        </p:nvSpPr>
        <p:spPr>
          <a:xfrm rot="5400000">
            <a:off x="1415595" y="3435840"/>
            <a:ext cx="57607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5955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3998EE-11B0-4932-9198-DE9C6A1C81DE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96349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ACE3A5-2E47-49A7-8A27-F4DC3346F446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5591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533860-E818-4564-94A8-A4E78B95CB69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8684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275148E-696F-45AE-9256-43F95C097160}" type="datetime1">
              <a:rPr lang="es-ES" noProof="0" smtClean="0"/>
              <a:t>30/03/2025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44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75" r:id="rId3"/>
    <p:sldLayoutId id="2147483676" r:id="rId4"/>
    <p:sldLayoutId id="2147483677" r:id="rId5"/>
    <p:sldLayoutId id="2147483684" r:id="rId6"/>
    <p:sldLayoutId id="2147483678" r:id="rId7"/>
    <p:sldLayoutId id="2147483692" r:id="rId8"/>
    <p:sldLayoutId id="2147483690" r:id="rId9"/>
    <p:sldLayoutId id="2147483691" r:id="rId10"/>
    <p:sldLayoutId id="2147483679" r:id="rId11"/>
    <p:sldLayoutId id="2147483680" r:id="rId12"/>
    <p:sldLayoutId id="2147483688" r:id="rId13"/>
    <p:sldLayoutId id="2147483686" r:id="rId14"/>
    <p:sldLayoutId id="2147483689" r:id="rId15"/>
    <p:sldLayoutId id="2147483683" r:id="rId16"/>
    <p:sldLayoutId id="2147483681" r:id="rId17"/>
    <p:sldLayoutId id="214748368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 useBgFill="1">
        <p:nvSpPr>
          <p:cNvPr id="24" name="Rectángulo 23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11" name="Marcador de posición de imagen 10" descr="grupo de empleados que colaboran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4179E790-E691-4202-B7FA-62924FC8D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65EE0A0-4DA6-4AA2-A475-14DB03C5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76057"/>
            <a:ext cx="11303626" cy="2034709"/>
          </a:xfrm>
          <a:prstGeom prst="rect">
            <a:avLst/>
          </a:prstGeom>
          <a:solidFill>
            <a:schemeClr val="bg1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2805" y="4429451"/>
            <a:ext cx="11141961" cy="11043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rtl="0"/>
            <a:r>
              <a:rPr lang="es-ES" sz="4000" dirty="0">
                <a:solidFill>
                  <a:schemeClr val="tx1"/>
                </a:solidFill>
              </a:rPr>
              <a:t>ANÁLISIS y visualización DE DATOS CON POWER BI – sesión 03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599" y="5587179"/>
            <a:ext cx="10965142" cy="77695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 dirty="0">
                <a:solidFill>
                  <a:schemeClr val="tx1"/>
                </a:solidFill>
              </a:rPr>
              <a:t>Docente: ing. Eric Alberto Heredia mendoza</a:t>
            </a:r>
          </a:p>
          <a:p>
            <a:pPr rtl="0"/>
            <a:r>
              <a:rPr lang="es-ES" dirty="0">
                <a:solidFill>
                  <a:schemeClr val="tx1"/>
                </a:solidFill>
              </a:rPr>
              <a:t>Microsoft certified  trainer</a:t>
            </a:r>
          </a:p>
          <a:p>
            <a:pPr rtl="0"/>
            <a:endParaRPr lang="es-ES" dirty="0"/>
          </a:p>
        </p:txBody>
      </p:sp>
      <p:pic>
        <p:nvPicPr>
          <p:cNvPr id="19" name="Imagen 18" descr="Inicio - Colegio de Ingenieros del Perú">
            <a:extLst>
              <a:ext uri="{FF2B5EF4-FFF2-40B4-BE49-F238E27FC236}">
                <a16:creationId xmlns:a16="http://schemas.microsoft.com/office/drawing/2014/main" id="{4AEC2F7C-C1D4-4FF1-B485-FF109FB3E04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143" y="141660"/>
            <a:ext cx="763656" cy="763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n 16" descr="Imagen que contiene firmar, señal, azul, calle&#10;&#10;Descripción generada automáticamente">
            <a:extLst>
              <a:ext uri="{FF2B5EF4-FFF2-40B4-BE49-F238E27FC236}">
                <a16:creationId xmlns:a16="http://schemas.microsoft.com/office/drawing/2014/main" id="{1E471F84-1667-4465-ACBE-A339F6BD65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76" b="97059" l="5294" r="94412">
                        <a14:foregroundMark x1="38235" y1="11471" x2="55000" y2="85588"/>
                        <a14:foregroundMark x1="33529" y1="46176" x2="75294" y2="47353"/>
                        <a14:foregroundMark x1="45294" y1="7647" x2="50294" y2="5294"/>
                        <a14:foregroundMark x1="50882" y1="93235" x2="50882" y2="93235"/>
                        <a14:foregroundMark x1="46176" y1="83529" x2="46176" y2="83529"/>
                        <a14:foregroundMark x1="50000" y1="97059" x2="50000" y2="97059"/>
                        <a14:foregroundMark x1="40588" y1="83824" x2="40588" y2="83824"/>
                        <a14:foregroundMark x1="34118" y1="35294" x2="44412" y2="81765"/>
                        <a14:foregroundMark x1="27647" y1="50000" x2="78235" y2="48235"/>
                        <a14:foregroundMark x1="20000" y1="45588" x2="20000" y2="45588"/>
                        <a14:foregroundMark x1="83824" y1="51765" x2="83824" y2="51765"/>
                        <a14:foregroundMark x1="20000" y1="42647" x2="77353" y2="50882"/>
                        <a14:foregroundMark x1="77353" y1="50882" x2="20000" y2="46176"/>
                        <a14:foregroundMark x1="20000" y1="46176" x2="14706" y2="47353"/>
                        <a14:foregroundMark x1="83529" y1="58235" x2="82059" y2="42647"/>
                        <a14:foregroundMark x1="49118" y1="18235" x2="52059" y2="19118"/>
                        <a14:foregroundMark x1="6176" y1="45294" x2="5882" y2="41765"/>
                        <a14:foregroundMark x1="31176" y1="71471" x2="73235" y2="70000"/>
                        <a14:foregroundMark x1="94412" y1="44118" x2="94412" y2="44118"/>
                        <a14:foregroundMark x1="51176" y1="1176" x2="51176" y2="11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21596" y="141660"/>
            <a:ext cx="849593" cy="849593"/>
          </a:xfrm>
          <a:prstGeom prst="rect">
            <a:avLst/>
          </a:prstGeom>
        </p:spPr>
      </p:pic>
      <p:pic>
        <p:nvPicPr>
          <p:cNvPr id="1028" name="Picture 4" descr="Microsoft Certified: Power Platform Fundamentals - Credly">
            <a:extLst>
              <a:ext uri="{FF2B5EF4-FFF2-40B4-BE49-F238E27FC236}">
                <a16:creationId xmlns:a16="http://schemas.microsoft.com/office/drawing/2014/main" id="{BBD27B71-1927-E753-8AB1-6300CBB09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919" y="131309"/>
            <a:ext cx="870297" cy="87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E745CB0-D757-474C-90CC-C5B6758BA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0262" y="123843"/>
            <a:ext cx="847550" cy="84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D1B2-32AF-772D-91BE-4C22182B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0C5AA333-CF56-D922-CBD5-23D2D75A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6609"/>
            <a:ext cx="10515600" cy="531075"/>
          </a:xfrm>
        </p:spPr>
        <p:txBody>
          <a:bodyPr/>
          <a:lstStyle/>
          <a:p>
            <a:r>
              <a:rPr lang="es-ES" dirty="0"/>
              <a:t>ÍNDICE</a:t>
            </a:r>
            <a:endParaRPr lang="es-PE" dirty="0"/>
          </a:p>
        </p:txBody>
      </p:sp>
      <p:sp>
        <p:nvSpPr>
          <p:cNvPr id="12" name="Marcador de contenido 4">
            <a:extLst>
              <a:ext uri="{FF2B5EF4-FFF2-40B4-BE49-F238E27FC236}">
                <a16:creationId xmlns:a16="http://schemas.microsoft.com/office/drawing/2014/main" id="{F41569E4-08AC-468B-9180-7413F932B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2323247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sz="2400" dirty="0"/>
              <a:t>Proceso de Limpieza Intermedio 2: Columnas dinámicas (Proceso inicial, Formato de Tabla Apilada y Formato de Tabla Abultada, Uso de archivos de apoyo para consultas)</a:t>
            </a:r>
          </a:p>
        </p:txBody>
      </p:sp>
    </p:spTree>
    <p:extLst>
      <p:ext uri="{BB962C8B-B14F-4D97-AF65-F5344CB8AC3E}">
        <p14:creationId xmlns:p14="http://schemas.microsoft.com/office/powerpoint/2010/main" val="397091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D1B2-32AF-772D-91BE-4C22182B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0C5AA333-CF56-D922-CBD5-23D2D75A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6474"/>
            <a:ext cx="10515600" cy="657148"/>
          </a:xfrm>
        </p:spPr>
        <p:txBody>
          <a:bodyPr>
            <a:normAutofit/>
          </a:bodyPr>
          <a:lstStyle/>
          <a:p>
            <a:r>
              <a:rPr lang="es-ES" dirty="0"/>
              <a:t>Columnas Dinámicas</a:t>
            </a:r>
            <a:endParaRPr lang="es-PE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7ADE41D-DD0D-6D28-0442-946AF380E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0106" y="1225963"/>
            <a:ext cx="10810309" cy="813411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s-ES" sz="2400" dirty="0"/>
              <a:t>Así como lo es la división a la multiplicación o la resta a la suma, la operación de columna dinámica es la inversa de la anulación de dinamización</a:t>
            </a:r>
          </a:p>
        </p:txBody>
      </p:sp>
      <p:sp>
        <p:nvSpPr>
          <p:cNvPr id="17" name="Marcador de contenido 10">
            <a:extLst>
              <a:ext uri="{FF2B5EF4-FFF2-40B4-BE49-F238E27FC236}">
                <a16:creationId xmlns:a16="http://schemas.microsoft.com/office/drawing/2014/main" id="{B8345FF8-3079-FF5D-417F-E7E4F53806B9}"/>
              </a:ext>
            </a:extLst>
          </p:cNvPr>
          <p:cNvSpPr txBox="1">
            <a:spLocks/>
          </p:cNvSpPr>
          <p:nvPr/>
        </p:nvSpPr>
        <p:spPr>
          <a:xfrm>
            <a:off x="680767" y="2237058"/>
            <a:ext cx="6709522" cy="3835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ES" sz="2400" dirty="0"/>
              <a:t>Se selecciona una Columna dinámica y otra Columna de Valor, para la columna </a:t>
            </a:r>
            <a:r>
              <a:rPr lang="es-MX" sz="2400" dirty="0"/>
              <a:t>de valor se define un agregado</a:t>
            </a:r>
            <a:r>
              <a:rPr lang="es-ES" sz="2400" dirty="0"/>
              <a:t>, </a:t>
            </a:r>
            <a:r>
              <a:rPr lang="es-MX" sz="2400" dirty="0"/>
              <a:t>que puede ser</a:t>
            </a:r>
            <a:r>
              <a:rPr lang="es-ES" sz="2400" dirty="0"/>
              <a:t>: </a:t>
            </a:r>
            <a:r>
              <a:rPr lang="es-MX" sz="2400" dirty="0"/>
              <a:t>suma</a:t>
            </a:r>
            <a:r>
              <a:rPr lang="es-ES" sz="2400" dirty="0"/>
              <a:t>,</a:t>
            </a:r>
            <a:r>
              <a:rPr lang="es-MX" sz="2400" dirty="0"/>
              <a:t> recuento</a:t>
            </a:r>
            <a:r>
              <a:rPr lang="es-ES" sz="2400" dirty="0"/>
              <a:t>,</a:t>
            </a:r>
            <a:r>
              <a:rPr lang="es-MX" sz="2400" dirty="0"/>
              <a:t> mínimo</a:t>
            </a:r>
            <a:r>
              <a:rPr lang="es-ES" sz="2400" dirty="0"/>
              <a:t>,</a:t>
            </a:r>
            <a:r>
              <a:rPr lang="es-MX" sz="2400" dirty="0"/>
              <a:t> máximo</a:t>
            </a:r>
            <a:r>
              <a:rPr lang="es-ES" sz="2400" dirty="0"/>
              <a:t>,</a:t>
            </a:r>
            <a:r>
              <a:rPr lang="es-MX" sz="2400" dirty="0"/>
              <a:t> promedio</a:t>
            </a:r>
            <a:r>
              <a:rPr lang="es-ES" sz="2400" dirty="0"/>
              <a:t>,</a:t>
            </a:r>
            <a:r>
              <a:rPr lang="es-MX" sz="2400" dirty="0"/>
              <a:t> mediana</a:t>
            </a:r>
            <a:r>
              <a:rPr lang="es-ES" sz="2400" dirty="0"/>
              <a:t> o </a:t>
            </a:r>
            <a:r>
              <a:rPr lang="es-MX" sz="2400" dirty="0"/>
              <a:t>no agregar</a:t>
            </a:r>
            <a:r>
              <a:rPr lang="es-ES" sz="2400" dirty="0"/>
              <a:t>. </a:t>
            </a:r>
            <a:r>
              <a:rPr lang="es-MX" sz="2400" dirty="0"/>
              <a:t>Supongamos que seleccionamos la suma</a:t>
            </a:r>
            <a:r>
              <a:rPr lang="es-ES" sz="2400" dirty="0"/>
              <a:t>.</a:t>
            </a:r>
          </a:p>
          <a:p>
            <a:pPr marL="342900" indent="-342900" algn="just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dirty="0"/>
              <a:t>Se extrae la lista de elementos únicos de la columna dinámica y cada uno de los elementos que la compone lo convierte en un encabezado de columna para lo que sería el resultado final</a:t>
            </a:r>
            <a:r>
              <a:rPr lang="es-ES" sz="2400" dirty="0"/>
              <a:t>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0F3F9BA-3D5C-CE4A-C3D7-E74AC3A13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254" y="2309076"/>
            <a:ext cx="2085666" cy="3919372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52DADA1-3EAB-C965-E2C8-A6D3D8749B13}"/>
              </a:ext>
            </a:extLst>
          </p:cNvPr>
          <p:cNvSpPr txBox="1"/>
          <p:nvPr/>
        </p:nvSpPr>
        <p:spPr>
          <a:xfrm>
            <a:off x="7817322" y="6308493"/>
            <a:ext cx="3859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/>
              <a:t>Columna dinámica</a:t>
            </a:r>
            <a:endParaRPr lang="es-PE" sz="1600" b="1" dirty="0"/>
          </a:p>
        </p:txBody>
      </p:sp>
    </p:spTree>
    <p:extLst>
      <p:ext uri="{BB962C8B-B14F-4D97-AF65-F5344CB8AC3E}">
        <p14:creationId xmlns:p14="http://schemas.microsoft.com/office/powerpoint/2010/main" val="1773551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D745-D3D4-8D42-69B1-A0F27BFE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9D3FC9AE-5694-AC34-5C45-FD98CDF6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461" y="210953"/>
            <a:ext cx="10515600" cy="1083113"/>
          </a:xfrm>
        </p:spPr>
        <p:txBody>
          <a:bodyPr>
            <a:normAutofit/>
          </a:bodyPr>
          <a:lstStyle/>
          <a:p>
            <a:r>
              <a:rPr lang="es-ES" dirty="0"/>
              <a:t>Columnas Dinámicas</a:t>
            </a:r>
            <a:endParaRPr lang="es-PE" dirty="0"/>
          </a:p>
        </p:txBody>
      </p:sp>
      <p:sp>
        <p:nvSpPr>
          <p:cNvPr id="17" name="Marcador de contenido 10">
            <a:extLst>
              <a:ext uri="{FF2B5EF4-FFF2-40B4-BE49-F238E27FC236}">
                <a16:creationId xmlns:a16="http://schemas.microsoft.com/office/drawing/2014/main" id="{79458AAB-DA91-1CCF-011C-72AD47D5BF85}"/>
              </a:ext>
            </a:extLst>
          </p:cNvPr>
          <p:cNvSpPr txBox="1">
            <a:spLocks/>
          </p:cNvSpPr>
          <p:nvPr/>
        </p:nvSpPr>
        <p:spPr>
          <a:xfrm>
            <a:off x="606800" y="1572833"/>
            <a:ext cx="10978399" cy="5563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00000"/>
              </a:lnSpc>
              <a:spcAft>
                <a:spcPts val="800"/>
              </a:spcAft>
              <a:buFont typeface="+mj-lt"/>
              <a:buAutoNum type="arabicPeriod" startAt="3"/>
            </a:pPr>
            <a:r>
              <a:rPr lang="es-MX" sz="2400" dirty="0"/>
              <a:t>Para todas las demás columnas</a:t>
            </a:r>
            <a:r>
              <a:rPr lang="es-ES" sz="2400" dirty="0"/>
              <a:t>, </a:t>
            </a:r>
            <a:r>
              <a:rPr lang="es-MX" sz="2400" dirty="0"/>
              <a:t>excluyendo la columna dinámica y la columna de valor</a:t>
            </a:r>
            <a:r>
              <a:rPr lang="es-ES" sz="2400" dirty="0"/>
              <a:t>, </a:t>
            </a:r>
            <a:r>
              <a:rPr lang="es-MX" sz="2400" dirty="0"/>
              <a:t>deja la lista de elementos únicos para esa columna o la combinación de elementos únicos si son varias columnas</a:t>
            </a:r>
            <a:r>
              <a:rPr lang="es-ES" sz="2400" dirty="0"/>
              <a:t>.</a:t>
            </a:r>
          </a:p>
          <a:p>
            <a:pPr marL="342900" indent="-342900" algn="just">
              <a:lnSpc>
                <a:spcPct val="100000"/>
              </a:lnSpc>
              <a:spcAft>
                <a:spcPts val="800"/>
              </a:spcAft>
              <a:buFont typeface="+mj-lt"/>
              <a:buAutoNum type="arabicPeriod" startAt="3"/>
            </a:pPr>
            <a:r>
              <a:rPr lang="es-ES" sz="2400" dirty="0"/>
              <a:t>La </a:t>
            </a:r>
            <a:r>
              <a:rPr lang="es-MX" sz="2400" dirty="0"/>
              <a:t>columna de valor realiza el agregado señalado</a:t>
            </a:r>
            <a:r>
              <a:rPr lang="es-ES" sz="2400" dirty="0"/>
              <a:t> (SUMA) </a:t>
            </a:r>
            <a:r>
              <a:rPr lang="es-MX" sz="2400" dirty="0"/>
              <a:t>para cada intersección</a:t>
            </a:r>
            <a:r>
              <a:rPr lang="es-ES" sz="2400" dirty="0"/>
              <a:t> </a:t>
            </a:r>
            <a:r>
              <a:rPr lang="es-MX" sz="2400" dirty="0"/>
              <a:t>fila </a:t>
            </a:r>
            <a:r>
              <a:rPr lang="es-ES" sz="2400" dirty="0"/>
              <a:t>–</a:t>
            </a:r>
            <a:r>
              <a:rPr lang="es-MX" sz="2400" dirty="0"/>
              <a:t>columna</a:t>
            </a:r>
            <a:r>
              <a:rPr lang="es-ES" sz="2400" dirty="0"/>
              <a:t> </a:t>
            </a:r>
            <a:r>
              <a:rPr lang="es-MX" sz="2400" dirty="0"/>
              <a:t>en la tabla final de acuerdo a las coincidencias en la tabla original</a:t>
            </a:r>
            <a:r>
              <a:rPr lang="es-ES" sz="2400" dirty="0"/>
              <a:t>.</a:t>
            </a:r>
            <a:r>
              <a:rPr lang="es-MX" sz="2400" dirty="0"/>
              <a:t> Puede verse como si recorriera casilla a casilla en la tabla final realizando el agregado.</a:t>
            </a:r>
          </a:p>
          <a:p>
            <a:pPr marL="630238" algn="just">
              <a:lnSpc>
                <a:spcPct val="100000"/>
              </a:lnSpc>
              <a:spcAft>
                <a:spcPts val="800"/>
              </a:spcAft>
            </a:pPr>
            <a:r>
              <a:rPr lang="es-MX" sz="2400" dirty="0"/>
              <a:t>Sí para cada intersección fila</a:t>
            </a:r>
            <a:r>
              <a:rPr lang="es-ES" sz="2400" dirty="0"/>
              <a:t>(s)-</a:t>
            </a:r>
            <a:r>
              <a:rPr lang="es-MX" sz="2400" dirty="0"/>
              <a:t>columna</a:t>
            </a:r>
            <a:r>
              <a:rPr lang="es-ES" sz="2400" dirty="0"/>
              <a:t>(s) </a:t>
            </a:r>
            <a:r>
              <a:rPr lang="es-MX" sz="2400" dirty="0"/>
              <a:t>en lo que sería la tabla resultado existe un único elemento en la tabla inicial</a:t>
            </a:r>
            <a:r>
              <a:rPr lang="es-ES" sz="2400" dirty="0"/>
              <a:t>, </a:t>
            </a:r>
            <a:r>
              <a:rPr lang="es-MX" sz="2400" dirty="0"/>
              <a:t>entonces</a:t>
            </a:r>
            <a:r>
              <a:rPr lang="es-ES" sz="2400" dirty="0"/>
              <a:t>, </a:t>
            </a:r>
            <a:r>
              <a:rPr lang="es-MX" sz="2400" dirty="0"/>
              <a:t>se puede indicar</a:t>
            </a:r>
            <a:r>
              <a:rPr lang="es-ES" sz="2400" dirty="0"/>
              <a:t>: No </a:t>
            </a:r>
            <a:r>
              <a:rPr lang="es-MX" sz="2400" dirty="0"/>
              <a:t>agregado</a:t>
            </a:r>
          </a:p>
          <a:p>
            <a:pPr marL="630238" algn="just">
              <a:lnSpc>
                <a:spcPct val="100000"/>
              </a:lnSpc>
              <a:spcAft>
                <a:spcPts val="800"/>
              </a:spcAft>
            </a:pPr>
            <a:r>
              <a:rPr lang="es-ES" sz="2400" dirty="0"/>
              <a:t>Si al b</a:t>
            </a:r>
            <a:r>
              <a:rPr lang="es-MX" sz="2400" dirty="0"/>
              <a:t>uscar en la tabla inicial</a:t>
            </a:r>
            <a:r>
              <a:rPr lang="es-ES" sz="2400" dirty="0"/>
              <a:t> </a:t>
            </a:r>
            <a:r>
              <a:rPr lang="es-MX" sz="2400" dirty="0"/>
              <a:t>según los parámetros de intersección de lo que sería la tabla resultado no encuentra ninguna fila que cumpla</a:t>
            </a:r>
            <a:r>
              <a:rPr lang="es-ES" sz="2400" dirty="0"/>
              <a:t>, </a:t>
            </a:r>
            <a:r>
              <a:rPr lang="es-MX" sz="2400" dirty="0"/>
              <a:t>entonces retorna </a:t>
            </a:r>
            <a:r>
              <a:rPr lang="es-MX" sz="2400" dirty="0" err="1"/>
              <a:t>null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0333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3238-3137-0370-0013-D9163970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A3EF3B02-D5D8-221E-912A-4F23A01C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461" y="210953"/>
            <a:ext cx="10515600" cy="1083113"/>
          </a:xfrm>
        </p:spPr>
        <p:txBody>
          <a:bodyPr>
            <a:normAutofit/>
          </a:bodyPr>
          <a:lstStyle/>
          <a:p>
            <a:r>
              <a:rPr lang="es-ES" dirty="0"/>
              <a:t>Columnas Dinámicas : Código Lenguaje M</a:t>
            </a:r>
            <a:endParaRPr lang="es-PE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E295082-6B19-F4B5-195B-F971DBE4F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45" y="2330273"/>
            <a:ext cx="10285588" cy="14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0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0CE6-BDE2-E3CE-F680-E4289FA6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24CAD17D-4795-62B8-3F57-982F1CCC4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887" y="566525"/>
            <a:ext cx="10515600" cy="686514"/>
          </a:xfrm>
        </p:spPr>
        <p:txBody>
          <a:bodyPr>
            <a:normAutofit/>
          </a:bodyPr>
          <a:lstStyle/>
          <a:p>
            <a:r>
              <a:rPr lang="es-ES" dirty="0"/>
              <a:t>Formato Tabla Apilada</a:t>
            </a:r>
            <a:endParaRPr lang="es-PE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C89C21-B836-C2BE-79BD-54A1267B3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038" y="4039564"/>
            <a:ext cx="3482040" cy="260748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62ECDCE-D971-A3CF-5918-EBE61539674F}"/>
              </a:ext>
            </a:extLst>
          </p:cNvPr>
          <p:cNvSpPr/>
          <p:nvPr/>
        </p:nvSpPr>
        <p:spPr>
          <a:xfrm>
            <a:off x="800887" y="1364191"/>
            <a:ext cx="10590225" cy="2908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ts val="1000"/>
              </a:spcBef>
              <a:spcAft>
                <a:spcPts val="800"/>
              </a:spcAft>
            </a:pPr>
            <a:r>
              <a:rPr lang="es-PE" sz="2400" dirty="0"/>
              <a:t>Es un formato que congrega toda la información de un objeto único de datos en pequeños grupos apilados uno debajo de otro (verticalmente) a modo de estivas guardadas en un almacén, a estos grupos son los que asociamos a un registro en una base de datos.</a:t>
            </a:r>
          </a:p>
          <a:p>
            <a:pPr algn="just">
              <a:spcBef>
                <a:spcPts val="1000"/>
              </a:spcBef>
              <a:spcAft>
                <a:spcPts val="800"/>
              </a:spcAft>
            </a:pPr>
            <a:r>
              <a:rPr lang="es-PE" sz="2400" dirty="0"/>
              <a:t>Un registro es un conjunto de campos que contiene los datos que pertenecen a una misma repetición de entidad, mejor dicho, una fila en una base de datos (formato tabular)</a:t>
            </a:r>
          </a:p>
        </p:txBody>
      </p:sp>
    </p:spTree>
    <p:extLst>
      <p:ext uri="{BB962C8B-B14F-4D97-AF65-F5344CB8AC3E}">
        <p14:creationId xmlns:p14="http://schemas.microsoft.com/office/powerpoint/2010/main" val="383987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C3235-D371-2298-2C4B-323AA0D3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965F3B9B-89E3-44B0-0BBE-3FD4CD66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460" y="407723"/>
            <a:ext cx="10515600" cy="686514"/>
          </a:xfrm>
        </p:spPr>
        <p:txBody>
          <a:bodyPr>
            <a:normAutofit/>
          </a:bodyPr>
          <a:lstStyle/>
          <a:p>
            <a:r>
              <a:rPr lang="es-ES" dirty="0"/>
              <a:t>Formato Tabla Abultada</a:t>
            </a:r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9B3F76-B0B5-D42A-6481-FD0CCED332A5}"/>
              </a:ext>
            </a:extLst>
          </p:cNvPr>
          <p:cNvSpPr/>
          <p:nvPr/>
        </p:nvSpPr>
        <p:spPr>
          <a:xfrm>
            <a:off x="940148" y="1330230"/>
            <a:ext cx="10590225" cy="2908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spcBef>
                <a:spcPts val="1000"/>
              </a:spcBef>
              <a:spcAft>
                <a:spcPts val="800"/>
              </a:spcAft>
            </a:pPr>
            <a:r>
              <a:rPr lang="es-ES" sz="2400" dirty="0"/>
              <a:t>Es un formato que abulta bloques de información de un objeto único de datos en pequeños grupos congregados uno al lado del otro (horizontalmente), “a modo de costales de arroz en almacenamiento”, a estos grupos, son los que asociamos a un registro o tupla en una base de datos.</a:t>
            </a:r>
          </a:p>
          <a:p>
            <a:pPr algn="just">
              <a:spcBef>
                <a:spcPts val="1000"/>
              </a:spcBef>
              <a:spcAft>
                <a:spcPts val="800"/>
              </a:spcAft>
            </a:pPr>
            <a:r>
              <a:rPr lang="es-ES" sz="2400" dirty="0"/>
              <a:t>Una característica de este formato poco usual es que los nombres de los campos se repiten a lo largo de una fila seguido de un valor numérico para identificación única)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1F57D6-4154-C82B-5763-632355EA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12" y="4073525"/>
            <a:ext cx="56673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5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FCB7694-E9F4-48E8-9698-65AAE3FDE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692" y="1899314"/>
            <a:ext cx="6106615" cy="457996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F1FAB6A-4C43-4588-8929-0E53ED011457}"/>
              </a:ext>
            </a:extLst>
          </p:cNvPr>
          <p:cNvSpPr/>
          <p:nvPr/>
        </p:nvSpPr>
        <p:spPr>
          <a:xfrm>
            <a:off x="567543" y="812210"/>
            <a:ext cx="11438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AHORA VAMOS A LA PRÁCTICA</a:t>
            </a:r>
          </a:p>
        </p:txBody>
      </p:sp>
    </p:spTree>
    <p:extLst>
      <p:ext uri="{BB962C8B-B14F-4D97-AF65-F5344CB8AC3E}">
        <p14:creationId xmlns:p14="http://schemas.microsoft.com/office/powerpoint/2010/main" val="131141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893715" y="708498"/>
            <a:ext cx="7574507" cy="3330055"/>
          </a:xfrm>
        </p:spPr>
        <p:txBody>
          <a:bodyPr rtlCol="0" anchor="ctr">
            <a:normAutofit/>
          </a:bodyPr>
          <a:lstStyle/>
          <a:p>
            <a:pPr rtl="0"/>
            <a:r>
              <a:rPr lang="es-ES" sz="13800" dirty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89929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59458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D5C9E3-8C88-48BE-A8D5-BDFA60487B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9DF2D6-FF1F-4B5B-A177-F86A4BC1967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1E27F0F-D896-41E6-B4EB-8C9AAA8B50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resumen del producto</Template>
  <TotalTime>11</TotalTime>
  <Words>509</Words>
  <Application>Microsoft Office PowerPoint</Application>
  <PresentationFormat>Panorámica</PresentationFormat>
  <Paragraphs>27</Paragraphs>
  <Slides>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Wingdings 2</vt:lpstr>
      <vt:lpstr>DividendVTI</vt:lpstr>
      <vt:lpstr>ANÁLISIS y visualización DE DATOS CON POWER BI – sesión 03</vt:lpstr>
      <vt:lpstr>ÍNDICE</vt:lpstr>
      <vt:lpstr>Columnas Dinámicas</vt:lpstr>
      <vt:lpstr>Columnas Dinámicas</vt:lpstr>
      <vt:lpstr>Columnas Dinámicas : Código Lenguaje M</vt:lpstr>
      <vt:lpstr>Formato Tabla Apilada</vt:lpstr>
      <vt:lpstr>Formato Tabla Abultada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</dc:creator>
  <cp:lastModifiedBy>Eric Heredia</cp:lastModifiedBy>
  <cp:revision>10</cp:revision>
  <dcterms:created xsi:type="dcterms:W3CDTF">2021-02-06T17:39:35Z</dcterms:created>
  <dcterms:modified xsi:type="dcterms:W3CDTF">2025-03-30T15:30:07Z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