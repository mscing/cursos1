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5" r:id="rId6"/>
    <p:sldId id="271" r:id="rId7"/>
    <p:sldId id="261" r:id="rId8"/>
    <p:sldId id="345" r:id="rId9"/>
    <p:sldId id="296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7F7F7F"/>
    <a:srgbClr val="A6A6A6"/>
    <a:srgbClr val="BFBFBF"/>
    <a:srgbClr val="465359"/>
    <a:srgbClr val="757575"/>
    <a:srgbClr val="8B8B8B"/>
    <a:srgbClr val="B0B0B0"/>
    <a:srgbClr val="D3D3D3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F4366289-7251-4248-8185-9FEDE67FEB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911AAB-DA95-4CED-94BD-874BA4394E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DEEF26-1A03-4B1A-AE72-C28CA9B5024D}" type="datetime1">
              <a:rPr lang="es-ES" smtClean="0"/>
              <a:t>12/04/2025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6222C7-E745-4972-ADB2-26864641F2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8F0AA558-CC6A-4543-8082-2ECED10B3D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FEEF11-4551-44CC-8138-2C9C44119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4764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0D74895-5176-4251-996A-78582FB81F91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4C8E5D6-E240-4AB4-B03F-F45C58F87E64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03065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4C8E5D6-E240-4AB4-B03F-F45C58F87E6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154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4C8E5D6-E240-4AB4-B03F-F45C58F87E6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862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4C8E5D6-E240-4AB4-B03F-F45C58F87E6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76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E76E97-516D-4ABE-88C8-400B36F168FB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0804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/>
          <p:cNvSpPr/>
          <p:nvPr userDrawn="1"/>
        </p:nvSpPr>
        <p:spPr>
          <a:xfrm>
            <a:off x="446534" y="4284627"/>
            <a:ext cx="11292840" cy="201167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5695849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2" name="Rectángulo 11"/>
          <p:cNvSpPr/>
          <p:nvPr userDrawn="1"/>
        </p:nvSpPr>
        <p:spPr>
          <a:xfrm>
            <a:off x="446534" y="4114808"/>
            <a:ext cx="1129284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4220835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8334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DFFEB0-22A6-45B7-A1B1-4E00AC60E9E5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6164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cera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EB589F-AE9C-4159-962B-B23AA5BE2981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43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0A020E-1DB8-4044-A808-ED9931C09B97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166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1" y="2905648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81194" y="3580809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16039" y="2905649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416037" y="3580809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886D6C-642C-4F3A-80F4-3766661C3280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0825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8AF5F8-67F3-49B2-8A5D-9976371AC6D6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7010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B94070D-8484-4B7B-ADE0-4CCDD6380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626" y="5120639"/>
            <a:ext cx="12200626" cy="17326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25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759402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rgbClr val="465359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26" name="Marcador de contenido 3"/>
          <p:cNvSpPr>
            <a:spLocks noGrp="1"/>
          </p:cNvSpPr>
          <p:nvPr>
            <p:ph sz="half" idx="2"/>
          </p:nvPr>
        </p:nvSpPr>
        <p:spPr>
          <a:xfrm>
            <a:off x="759405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/>
          <p:cNvSpPr>
            <a:spLocks noGrp="1"/>
          </p:cNvSpPr>
          <p:nvPr>
            <p:ph type="body" idx="10" hasCustomPrompt="1"/>
          </p:nvPr>
        </p:nvSpPr>
        <p:spPr>
          <a:xfrm>
            <a:off x="3642897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28" name="Marcador de posición de contenido 3"/>
          <p:cNvSpPr>
            <a:spLocks noGrp="1"/>
          </p:cNvSpPr>
          <p:nvPr>
            <p:ph sz="half" idx="11"/>
          </p:nvPr>
        </p:nvSpPr>
        <p:spPr>
          <a:xfrm>
            <a:off x="3642900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9" name="Marcador de texto 2"/>
          <p:cNvSpPr>
            <a:spLocks noGrp="1"/>
          </p:cNvSpPr>
          <p:nvPr>
            <p:ph type="body" idx="12" hasCustomPrompt="1"/>
          </p:nvPr>
        </p:nvSpPr>
        <p:spPr>
          <a:xfrm>
            <a:off x="6526392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30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526395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1" name="Marcador de texto 2"/>
          <p:cNvSpPr>
            <a:spLocks noGrp="1"/>
          </p:cNvSpPr>
          <p:nvPr>
            <p:ph type="body" idx="14" hasCustomPrompt="1"/>
          </p:nvPr>
        </p:nvSpPr>
        <p:spPr>
          <a:xfrm>
            <a:off x="9409888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32" name="Marcador de posición de contenido 3"/>
          <p:cNvSpPr>
            <a:spLocks noGrp="1"/>
          </p:cNvSpPr>
          <p:nvPr>
            <p:ph sz="half" idx="15"/>
          </p:nvPr>
        </p:nvSpPr>
        <p:spPr>
          <a:xfrm>
            <a:off x="9409891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2553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>
            <a:spLocks noChangeAspect="1"/>
          </p:cNvSpPr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8129813C-4D03-47AC-BBC2-86147182E16B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posición de imagen 5"/>
          <p:cNvSpPr>
            <a:spLocks noGrp="1"/>
          </p:cNvSpPr>
          <p:nvPr>
            <p:ph type="pic" sz="quarter" idx="13"/>
          </p:nvPr>
        </p:nvSpPr>
        <p:spPr>
          <a:xfrm>
            <a:off x="0" y="5245130"/>
            <a:ext cx="12192000" cy="161287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ángulo 11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529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>
            <a:spLocks noChangeAspect="1"/>
          </p:cNvSpPr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C1CE38A4-10CF-4429-B577-AF2C7DB0C1E9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posición de imagen 5"/>
          <p:cNvSpPr>
            <a:spLocks noGrp="1"/>
          </p:cNvSpPr>
          <p:nvPr>
            <p:ph type="pic" sz="quarter" idx="13"/>
          </p:nvPr>
        </p:nvSpPr>
        <p:spPr>
          <a:xfrm>
            <a:off x="0" y="5245130"/>
            <a:ext cx="12192000" cy="161287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Rectángulo 1"/>
          <p:cNvSpPr/>
          <p:nvPr userDrawn="1"/>
        </p:nvSpPr>
        <p:spPr>
          <a:xfrm>
            <a:off x="575894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/>
          <p:cNvSpPr/>
          <p:nvPr userDrawn="1"/>
        </p:nvSpPr>
        <p:spPr>
          <a:xfrm>
            <a:off x="3429849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/>
          <p:cNvSpPr/>
          <p:nvPr userDrawn="1"/>
        </p:nvSpPr>
        <p:spPr>
          <a:xfrm>
            <a:off x="6283804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/>
          <p:cNvSpPr/>
          <p:nvPr userDrawn="1"/>
        </p:nvSpPr>
        <p:spPr>
          <a:xfrm>
            <a:off x="9137758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988377"/>
            <a:ext cx="2492830" cy="55778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81194" y="3584516"/>
            <a:ext cx="2492828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98472" y="2988377"/>
            <a:ext cx="249283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298471" y="3584516"/>
            <a:ext cx="2492830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2"/>
          <p:cNvSpPr>
            <a:spLocks noGrp="1"/>
          </p:cNvSpPr>
          <p:nvPr>
            <p:ph type="body" idx="14"/>
          </p:nvPr>
        </p:nvSpPr>
        <p:spPr>
          <a:xfrm>
            <a:off x="3444517" y="2988377"/>
            <a:ext cx="2492830" cy="55778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posición de contenido 3"/>
          <p:cNvSpPr>
            <a:spLocks noGrp="1"/>
          </p:cNvSpPr>
          <p:nvPr>
            <p:ph sz="half" idx="15"/>
          </p:nvPr>
        </p:nvSpPr>
        <p:spPr>
          <a:xfrm>
            <a:off x="3444519" y="3584516"/>
            <a:ext cx="2492828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9" name="Marcador de posición de texto 4"/>
          <p:cNvSpPr>
            <a:spLocks noGrp="1"/>
          </p:cNvSpPr>
          <p:nvPr>
            <p:ph type="body" sz="quarter" idx="16"/>
          </p:nvPr>
        </p:nvSpPr>
        <p:spPr>
          <a:xfrm>
            <a:off x="9138807" y="2988377"/>
            <a:ext cx="2492830" cy="553373"/>
          </a:xfrm>
        </p:spPr>
        <p:txBody>
          <a:bodyPr rtlCol="0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contenido 5"/>
          <p:cNvSpPr>
            <a:spLocks noGrp="1"/>
          </p:cNvSpPr>
          <p:nvPr>
            <p:ph sz="quarter" idx="17"/>
          </p:nvPr>
        </p:nvSpPr>
        <p:spPr>
          <a:xfrm>
            <a:off x="9138806" y="3584516"/>
            <a:ext cx="2492830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Rectángulo 20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ángulo 21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ángulo 22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581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921B1E-433B-41C9-841C-5F02BAB8C4F2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1450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FD3A0F3E-6225-430C-A5FE-15E61F4B1AF2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89195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32275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00927" y="709565"/>
            <a:ext cx="6650991" cy="699407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632857"/>
            <a:ext cx="6650991" cy="4205188"/>
          </a:xfrm>
        </p:spPr>
        <p:txBody>
          <a:bodyPr rtlCol="0" anchor="t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C3B4FB50-93DD-41FF-91C5-1DDB3ADCCD60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65701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4"/>
          <p:cNvSpPr>
            <a:spLocks noGrp="1"/>
          </p:cNvSpPr>
          <p:nvPr>
            <p:ph type="pic" sz="quarter" idx="14" hasCustomPrompt="1"/>
          </p:nvPr>
        </p:nvSpPr>
        <p:spPr>
          <a:xfrm>
            <a:off x="8622917" y="3322281"/>
            <a:ext cx="3367862" cy="3367862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Marca de agua de icono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Marcador de posición de imagen 4"/>
          <p:cNvSpPr>
            <a:spLocks noGrp="1"/>
          </p:cNvSpPr>
          <p:nvPr>
            <p:ph type="pic" sz="quarter" idx="13" hasCustomPrompt="1"/>
          </p:nvPr>
        </p:nvSpPr>
        <p:spPr>
          <a:xfrm>
            <a:off x="768350" y="2312987"/>
            <a:ext cx="731520" cy="73152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Icono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857" y="2647728"/>
            <a:ext cx="3031852" cy="1722419"/>
          </a:xfrm>
        </p:spPr>
        <p:txBody>
          <a:bodyPr rtlCol="0" anchor="ctr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C7B463E3-5276-45DE-91A0-B6DD8B297E87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4179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857" y="2647728"/>
            <a:ext cx="3031852" cy="1722419"/>
          </a:xfrm>
        </p:spPr>
        <p:txBody>
          <a:bodyPr rtlCol="0" anchor="ctr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749021CC-0307-446D-AE2B-559CB49EAF79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2" name="Rectángulo 11"/>
          <p:cNvSpPr/>
          <p:nvPr userDrawn="1"/>
        </p:nvSpPr>
        <p:spPr>
          <a:xfrm rot="5400000">
            <a:off x="1415595" y="3435840"/>
            <a:ext cx="57607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5955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3998EE-11B0-4932-9198-DE9C6A1C81DE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96349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ACE3A5-2E47-49A7-8A27-F4DC3346F446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5591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533860-E818-4564-94A8-A4E78B95CB69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684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275148E-696F-45AE-9256-43F95C097160}" type="datetime1">
              <a:rPr lang="es-ES" noProof="0" smtClean="0"/>
              <a:t>12/04/2025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44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75" r:id="rId3"/>
    <p:sldLayoutId id="2147483676" r:id="rId4"/>
    <p:sldLayoutId id="2147483677" r:id="rId5"/>
    <p:sldLayoutId id="2147483684" r:id="rId6"/>
    <p:sldLayoutId id="2147483678" r:id="rId7"/>
    <p:sldLayoutId id="2147483692" r:id="rId8"/>
    <p:sldLayoutId id="2147483690" r:id="rId9"/>
    <p:sldLayoutId id="2147483691" r:id="rId10"/>
    <p:sldLayoutId id="2147483679" r:id="rId11"/>
    <p:sldLayoutId id="2147483680" r:id="rId12"/>
    <p:sldLayoutId id="2147483688" r:id="rId13"/>
    <p:sldLayoutId id="2147483686" r:id="rId14"/>
    <p:sldLayoutId id="2147483689" r:id="rId15"/>
    <p:sldLayoutId id="2147483683" r:id="rId16"/>
    <p:sldLayoutId id="2147483681" r:id="rId17"/>
    <p:sldLayoutId id="214748368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 useBgFill="1">
        <p:nvSpPr>
          <p:cNvPr id="24" name="Rectángulo 23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11" name="Marcador de posición de imagen 10" descr="grupo de empleados que colaboran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2805" y="4429451"/>
            <a:ext cx="11141961" cy="11043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/>
            <a:r>
              <a:rPr lang="es-ES" sz="4000" dirty="0">
                <a:solidFill>
                  <a:schemeClr val="tx1"/>
                </a:solidFill>
              </a:rPr>
              <a:t>ANÁLISIS y visualización DE DATOS CON POWER BI – sesión 06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599" y="5587179"/>
            <a:ext cx="10965142" cy="7769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 dirty="0">
                <a:solidFill>
                  <a:schemeClr val="tx1"/>
                </a:solidFill>
              </a:rPr>
              <a:t>Docente: ing. Eric Alberto Heredia mendoza</a:t>
            </a:r>
          </a:p>
          <a:p>
            <a:pPr rtl="0"/>
            <a:r>
              <a:rPr lang="es-ES" dirty="0">
                <a:solidFill>
                  <a:schemeClr val="tx1"/>
                </a:solidFill>
              </a:rPr>
              <a:t>Microsoft certified  trainer</a:t>
            </a:r>
          </a:p>
          <a:p>
            <a:pPr rtl="0"/>
            <a:endParaRPr lang="es-ES" dirty="0"/>
          </a:p>
        </p:txBody>
      </p:sp>
      <p:pic>
        <p:nvPicPr>
          <p:cNvPr id="19" name="Imagen 18" descr="Inicio - Colegio de Ingenieros del Perú">
            <a:extLst>
              <a:ext uri="{FF2B5EF4-FFF2-40B4-BE49-F238E27FC236}">
                <a16:creationId xmlns:a16="http://schemas.microsoft.com/office/drawing/2014/main" id="{4AEC2F7C-C1D4-4FF1-B485-FF109FB3E0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143" y="141660"/>
            <a:ext cx="763656" cy="76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n 16" descr="Imagen que contiene firmar, señal, azul, calle&#10;&#10;Descripción generada automáticamente">
            <a:extLst>
              <a:ext uri="{FF2B5EF4-FFF2-40B4-BE49-F238E27FC236}">
                <a16:creationId xmlns:a16="http://schemas.microsoft.com/office/drawing/2014/main" id="{1E471F84-1667-4465-ACBE-A339F6BD6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76" b="97059" l="5294" r="94412">
                        <a14:foregroundMark x1="38235" y1="11471" x2="55000" y2="85588"/>
                        <a14:foregroundMark x1="33529" y1="46176" x2="75294" y2="47353"/>
                        <a14:foregroundMark x1="45294" y1="7647" x2="50294" y2="5294"/>
                        <a14:foregroundMark x1="50882" y1="93235" x2="50882" y2="93235"/>
                        <a14:foregroundMark x1="46176" y1="83529" x2="46176" y2="83529"/>
                        <a14:foregroundMark x1="50000" y1="97059" x2="50000" y2="97059"/>
                        <a14:foregroundMark x1="40588" y1="83824" x2="40588" y2="83824"/>
                        <a14:foregroundMark x1="34118" y1="35294" x2="44412" y2="81765"/>
                        <a14:foregroundMark x1="27647" y1="50000" x2="78235" y2="48235"/>
                        <a14:foregroundMark x1="20000" y1="45588" x2="20000" y2="45588"/>
                        <a14:foregroundMark x1="83824" y1="51765" x2="83824" y2="51765"/>
                        <a14:foregroundMark x1="20000" y1="42647" x2="77353" y2="50882"/>
                        <a14:foregroundMark x1="77353" y1="50882" x2="20000" y2="46176"/>
                        <a14:foregroundMark x1="20000" y1="46176" x2="14706" y2="47353"/>
                        <a14:foregroundMark x1="83529" y1="58235" x2="82059" y2="42647"/>
                        <a14:foregroundMark x1="49118" y1="18235" x2="52059" y2="19118"/>
                        <a14:foregroundMark x1="6176" y1="45294" x2="5882" y2="41765"/>
                        <a14:foregroundMark x1="31176" y1="71471" x2="73235" y2="70000"/>
                        <a14:foregroundMark x1="94412" y1="44118" x2="94412" y2="44118"/>
                        <a14:foregroundMark x1="51176" y1="1176" x2="51176" y2="11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1596" y="141660"/>
            <a:ext cx="849593" cy="849593"/>
          </a:xfrm>
          <a:prstGeom prst="rect">
            <a:avLst/>
          </a:prstGeom>
        </p:spPr>
      </p:pic>
      <p:pic>
        <p:nvPicPr>
          <p:cNvPr id="1028" name="Picture 4" descr="Microsoft Certified: Power Platform Fundamentals - Credly">
            <a:extLst>
              <a:ext uri="{FF2B5EF4-FFF2-40B4-BE49-F238E27FC236}">
                <a16:creationId xmlns:a16="http://schemas.microsoft.com/office/drawing/2014/main" id="{BBD27B71-1927-E753-8AB1-6300CBB0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919" y="131309"/>
            <a:ext cx="870297" cy="8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E745CB0-D757-474C-90CC-C5B6758BA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0262" y="123843"/>
            <a:ext cx="847550" cy="84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D1B2-32AF-772D-91BE-4C22182B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0C5AA333-CF56-D922-CBD5-23D2D75A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6609"/>
            <a:ext cx="10515600" cy="531075"/>
          </a:xfrm>
        </p:spPr>
        <p:txBody>
          <a:bodyPr/>
          <a:lstStyle/>
          <a:p>
            <a:r>
              <a:rPr lang="es-ES" dirty="0"/>
              <a:t>ÍNDICE</a:t>
            </a:r>
            <a:endParaRPr lang="es-PE" dirty="0"/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F41569E4-08AC-468B-9180-7413F932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335677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sz="2400" dirty="0"/>
              <a:t>Contexto de Fila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dirty="0"/>
              <a:t>Contexto de Filtro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dirty="0"/>
              <a:t>Ejercicios Aplicativos</a:t>
            </a:r>
          </a:p>
        </p:txBody>
      </p:sp>
    </p:spTree>
    <p:extLst>
      <p:ext uri="{BB962C8B-B14F-4D97-AF65-F5344CB8AC3E}">
        <p14:creationId xmlns:p14="http://schemas.microsoft.com/office/powerpoint/2010/main" val="397091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5EF45-BC4E-C41D-838A-67B67057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1A224F-49C5-E55E-572B-EFA1FA85F745}"/>
              </a:ext>
            </a:extLst>
          </p:cNvPr>
          <p:cNvSpPr txBox="1"/>
          <p:nvPr/>
        </p:nvSpPr>
        <p:spPr>
          <a:xfrm>
            <a:off x="1297488" y="635144"/>
            <a:ext cx="8911249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 rtl="0">
              <a:defRPr lang="es-es"/>
            </a:defPPr>
            <a:lvl1pPr marL="228600" indent="-2286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4400">
                <a:latin typeface="+mj-lt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ES" dirty="0"/>
              <a:t>Contexto de Fila</a:t>
            </a:r>
            <a:endParaRPr lang="es-PE" dirty="0"/>
          </a:p>
        </p:txBody>
      </p:sp>
      <p:sp>
        <p:nvSpPr>
          <p:cNvPr id="4" name="Google Shape;110;p3">
            <a:extLst>
              <a:ext uri="{FF2B5EF4-FFF2-40B4-BE49-F238E27FC236}">
                <a16:creationId xmlns:a16="http://schemas.microsoft.com/office/drawing/2014/main" id="{7B52FC4D-93C8-F490-C726-023D27088AE9}"/>
              </a:ext>
            </a:extLst>
          </p:cNvPr>
          <p:cNvSpPr txBox="1">
            <a:spLocks/>
          </p:cNvSpPr>
          <p:nvPr/>
        </p:nvSpPr>
        <p:spPr>
          <a:xfrm>
            <a:off x="452535" y="1417986"/>
            <a:ext cx="11401613" cy="98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r>
              <a:rPr lang="es-MX" sz="1800" dirty="0"/>
              <a:t>El contexto de fila o </a:t>
            </a:r>
            <a:r>
              <a:rPr lang="es-MX" sz="1800" dirty="0" err="1"/>
              <a:t>row</a:t>
            </a:r>
            <a:r>
              <a:rPr lang="es-MX" sz="1800" dirty="0"/>
              <a:t> </a:t>
            </a:r>
            <a:r>
              <a:rPr lang="es-MX" sz="1800" dirty="0" err="1"/>
              <a:t>context</a:t>
            </a:r>
            <a:r>
              <a:rPr lang="es-MX" sz="1800" dirty="0"/>
              <a:t>, representa la fila actual en la que nos encontramos durante el proceso de </a:t>
            </a:r>
            <a:r>
              <a:rPr lang="es-MX" sz="1800" b="1" dirty="0">
                <a:solidFill>
                  <a:srgbClr val="FF0000"/>
                </a:solidFill>
              </a:rPr>
              <a:t>iteración en una tabla.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b="1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b="1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8334AE6-2201-D287-C51B-9ED00B7C4B33}"/>
              </a:ext>
            </a:extLst>
          </p:cNvPr>
          <p:cNvGrpSpPr/>
          <p:nvPr/>
        </p:nvGrpSpPr>
        <p:grpSpPr>
          <a:xfrm>
            <a:off x="284251" y="2167340"/>
            <a:ext cx="11623497" cy="3704650"/>
            <a:chOff x="284251" y="2167340"/>
            <a:chExt cx="11623497" cy="3704650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E12F9BBA-326B-D752-D747-357B4F6151B2}"/>
                </a:ext>
              </a:extLst>
            </p:cNvPr>
            <p:cNvGrpSpPr/>
            <p:nvPr/>
          </p:nvGrpSpPr>
          <p:grpSpPr>
            <a:xfrm>
              <a:off x="284251" y="2167340"/>
              <a:ext cx="11623497" cy="3704650"/>
              <a:chOff x="452535" y="2189374"/>
              <a:chExt cx="11623497" cy="3704650"/>
            </a:xfrm>
          </p:grpSpPr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313BE733-F810-4601-C907-11490A1D2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2535" y="2189374"/>
                <a:ext cx="8592297" cy="3704650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8565AB96-C992-ED4C-EFDE-AEF657BF2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50841" y="2324011"/>
                <a:ext cx="3025191" cy="1346289"/>
              </a:xfrm>
              <a:prstGeom prst="rect">
                <a:avLst/>
              </a:prstGeom>
            </p:spPr>
          </p:pic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2F4BC0F1-088F-3EC4-CAE5-DA6C82F2F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46160" y="3515298"/>
              <a:ext cx="2238375" cy="15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331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7A8AFE-6154-9500-71D6-37D7BB5AAA69}"/>
              </a:ext>
            </a:extLst>
          </p:cNvPr>
          <p:cNvSpPr txBox="1"/>
          <p:nvPr/>
        </p:nvSpPr>
        <p:spPr>
          <a:xfrm>
            <a:off x="1436384" y="511536"/>
            <a:ext cx="8911249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 rtl="0">
              <a:defRPr lang="es-es"/>
            </a:defPPr>
            <a:lvl1pPr marL="228600" indent="-2286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4400">
                <a:latin typeface="+mj-lt"/>
                <a:ea typeface="+mj-ea"/>
                <a:cs typeface="+mj-cs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ES" dirty="0"/>
              <a:t>Contexto de Filtro</a:t>
            </a:r>
            <a:endParaRPr lang="es-PE" dirty="0"/>
          </a:p>
        </p:txBody>
      </p:sp>
      <p:sp>
        <p:nvSpPr>
          <p:cNvPr id="4" name="Google Shape;110;p3">
            <a:extLst>
              <a:ext uri="{FF2B5EF4-FFF2-40B4-BE49-F238E27FC236}">
                <a16:creationId xmlns:a16="http://schemas.microsoft.com/office/drawing/2014/main" id="{D5778195-AAF5-9595-A873-849E4237C8C7}"/>
              </a:ext>
            </a:extLst>
          </p:cNvPr>
          <p:cNvSpPr txBox="1">
            <a:spLocks/>
          </p:cNvSpPr>
          <p:nvPr/>
        </p:nvSpPr>
        <p:spPr>
          <a:xfrm>
            <a:off x="452535" y="1417986"/>
            <a:ext cx="11401613" cy="98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r>
              <a:rPr lang="es-MX" sz="1800" dirty="0"/>
              <a:t>El contexto de filtro o </a:t>
            </a:r>
            <a:r>
              <a:rPr lang="es-MX" sz="1800" dirty="0" err="1"/>
              <a:t>filter</a:t>
            </a:r>
            <a:r>
              <a:rPr lang="es-MX" sz="1800" dirty="0"/>
              <a:t> </a:t>
            </a:r>
            <a:r>
              <a:rPr lang="es-MX" sz="1800" dirty="0" err="1"/>
              <a:t>context</a:t>
            </a:r>
            <a:r>
              <a:rPr lang="es-MX" sz="1800" dirty="0"/>
              <a:t> es el </a:t>
            </a:r>
            <a:r>
              <a:rPr lang="es-MX" sz="1800" b="1" i="1" dirty="0">
                <a:solidFill>
                  <a:srgbClr val="001838"/>
                </a:solidFill>
              </a:rPr>
              <a:t>conjunto de filtros </a:t>
            </a:r>
            <a:r>
              <a:rPr lang="es-MX" sz="1800" dirty="0"/>
              <a:t>que actúan sobre modelos de datos durante la </a:t>
            </a:r>
            <a:r>
              <a:rPr lang="es-MX" sz="1800" b="1" i="1" dirty="0">
                <a:solidFill>
                  <a:srgbClr val="001838"/>
                </a:solidFill>
              </a:rPr>
              <a:t>evaluación de una expresión de DAX.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b="1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r>
              <a:rPr lang="es-MX" sz="1800" dirty="0"/>
              <a:t>El contexto de filtro </a:t>
            </a:r>
            <a:r>
              <a:rPr lang="es-MX" sz="1800" b="1" i="1" dirty="0"/>
              <a:t>siempre existe</a:t>
            </a:r>
            <a:r>
              <a:rPr lang="es-MX" sz="1800" dirty="0"/>
              <a:t>.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b="1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b="1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867"/>
              <a:buNone/>
            </a:pPr>
            <a:endParaRPr lang="es-MX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CB4ED1-2688-D291-1424-76E2E8251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35" y="2811114"/>
            <a:ext cx="8259241" cy="29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8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CB7694-E9F4-48E8-9698-65AAE3FDE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692" y="1899314"/>
            <a:ext cx="6106615" cy="457996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F1FAB6A-4C43-4588-8929-0E53ED011457}"/>
              </a:ext>
            </a:extLst>
          </p:cNvPr>
          <p:cNvSpPr/>
          <p:nvPr/>
        </p:nvSpPr>
        <p:spPr>
          <a:xfrm>
            <a:off x="567543" y="812210"/>
            <a:ext cx="11438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AHORA VAMOS A LA PRÁCTICA</a:t>
            </a:r>
          </a:p>
        </p:txBody>
      </p:sp>
    </p:spTree>
    <p:extLst>
      <p:ext uri="{BB962C8B-B14F-4D97-AF65-F5344CB8AC3E}">
        <p14:creationId xmlns:p14="http://schemas.microsoft.com/office/powerpoint/2010/main" val="131141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893715" y="708498"/>
            <a:ext cx="7574507" cy="3330055"/>
          </a:xfrm>
        </p:spPr>
        <p:txBody>
          <a:bodyPr rtlCol="0" anchor="ctr">
            <a:normAutofit/>
          </a:bodyPr>
          <a:lstStyle/>
          <a:p>
            <a:pPr rtl="0"/>
            <a:r>
              <a:rPr lang="es-ES" sz="13800" dirty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89929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5945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9DF2D6-FF1F-4B5B-A177-F86A4BC1967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1E27F0F-D896-41E6-B4EB-8C9AAA8B50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D5C9E3-8C88-48BE-A8D5-BDFA60487B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resumen del producto</Template>
  <TotalTime>227</TotalTime>
  <Words>106</Words>
  <Application>Microsoft Office PowerPoint</Application>
  <PresentationFormat>Panorámica</PresentationFormat>
  <Paragraphs>20</Paragraphs>
  <Slides>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Wingdings 2</vt:lpstr>
      <vt:lpstr>DividendVTI</vt:lpstr>
      <vt:lpstr>ANÁLISIS y visualización DE DATOS CON POWER BI – sesión 06</vt:lpstr>
      <vt:lpstr>ÍNDICE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</dc:creator>
  <cp:lastModifiedBy>Eric Heredia</cp:lastModifiedBy>
  <cp:revision>31</cp:revision>
  <dcterms:created xsi:type="dcterms:W3CDTF">2021-02-06T17:39:35Z</dcterms:created>
  <dcterms:modified xsi:type="dcterms:W3CDTF">2025-04-13T02:57:28Z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