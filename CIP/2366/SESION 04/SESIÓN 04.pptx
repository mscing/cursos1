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11" r:id="rId2"/>
    <p:sldId id="312" r:id="rId3"/>
    <p:sldId id="313" r:id="rId4"/>
    <p:sldId id="314" r:id="rId5"/>
    <p:sldId id="315" r:id="rId6"/>
    <p:sldId id="316" r:id="rId7"/>
    <p:sldId id="317" r:id="rId8"/>
    <p:sldId id="318" r:id="rId9"/>
    <p:sldId id="319" r:id="rId10"/>
    <p:sldId id="320" r:id="rId11"/>
    <p:sldId id="321" r:id="rId12"/>
    <p:sldId id="322" r:id="rId13"/>
    <p:sldId id="323" r:id="rId14"/>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34" autoAdjust="0"/>
    <p:restoredTop sz="94660"/>
  </p:normalViewPr>
  <p:slideViewPr>
    <p:cSldViewPr snapToGrid="0">
      <p:cViewPr varScale="1">
        <p:scale>
          <a:sx n="83" d="100"/>
          <a:sy n="83" d="100"/>
        </p:scale>
        <p:origin x="630"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CEF1F-FE78-42FF-AFD8-D6E650E5D1AE}" type="datetimeFigureOut">
              <a:rPr lang="es-PE" smtClean="0"/>
              <a:t>3/04/2025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F3D5AA-2868-47D7-9A31-16DC9A147307}" type="slidenum">
              <a:rPr lang="es-PE" smtClean="0"/>
              <a:t>‹Nº›</a:t>
            </a:fld>
            <a:endParaRPr lang="es-PE"/>
          </a:p>
        </p:txBody>
      </p:sp>
    </p:spTree>
    <p:extLst>
      <p:ext uri="{BB962C8B-B14F-4D97-AF65-F5344CB8AC3E}">
        <p14:creationId xmlns:p14="http://schemas.microsoft.com/office/powerpoint/2010/main" val="3647093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860827" y="5265683"/>
            <a:ext cx="6495393" cy="409904"/>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PE" dirty="0"/>
          </a:p>
        </p:txBody>
      </p:sp>
      <p:sp>
        <p:nvSpPr>
          <p:cNvPr id="4" name="Marcador de fecha 3"/>
          <p:cNvSpPr>
            <a:spLocks noGrp="1"/>
          </p:cNvSpPr>
          <p:nvPr>
            <p:ph type="dt" sz="half" idx="10"/>
          </p:nvPr>
        </p:nvSpPr>
        <p:spPr/>
        <p:txBody>
          <a:bodyPr/>
          <a:lstStyle/>
          <a:p>
            <a:fld id="{06D8BD8A-34F6-4620-907D-6D1CD67ED4DA}" type="datetimeFigureOut">
              <a:rPr lang="es-PE" smtClean="0"/>
              <a:t>3/04/2025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a:off x="0" y="0"/>
            <a:ext cx="727364" cy="6858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13" name="Rectángulo redondeado 12"/>
          <p:cNvSpPr/>
          <p:nvPr userDrawn="1"/>
        </p:nvSpPr>
        <p:spPr>
          <a:xfrm>
            <a:off x="3078455" y="2611903"/>
            <a:ext cx="6508531" cy="620111"/>
          </a:xfrm>
          <a:prstGeom prst="roundRect">
            <a:avLst>
              <a:gd name="adj" fmla="val 50000"/>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pic>
        <p:nvPicPr>
          <p:cNvPr id="16" name="Imagen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02304" y="4539723"/>
            <a:ext cx="1559792" cy="783020"/>
          </a:xfrm>
          <a:prstGeom prst="rect">
            <a:avLst/>
          </a:prstGeom>
        </p:spPr>
      </p:pic>
      <p:sp>
        <p:nvSpPr>
          <p:cNvPr id="2" name="AutoShape 2" descr="Resultado de imagen para word.png"/>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9" name="Picture 2" descr="Resultado de imagen para icono excel.png"/>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4759" t="2527" r="24871" b="9594"/>
          <a:stretch/>
        </p:blipFill>
        <p:spPr bwMode="auto">
          <a:xfrm>
            <a:off x="10869966" y="4518551"/>
            <a:ext cx="967667" cy="8253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Resultado de imagen para colegio de ingenieros del peru lambayeque"/>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158372" y="160338"/>
            <a:ext cx="1647680" cy="164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26055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mato de Sesión">
    <p:spTree>
      <p:nvGrpSpPr>
        <p:cNvPr id="1" name=""/>
        <p:cNvGrpSpPr/>
        <p:nvPr/>
      </p:nvGrpSpPr>
      <p:grpSpPr>
        <a:xfrm>
          <a:off x="0" y="0"/>
          <a:ext cx="0" cy="0"/>
          <a:chOff x="0" y="0"/>
          <a:chExt cx="0" cy="0"/>
        </a:xfrm>
      </p:grpSpPr>
      <p:pic>
        <p:nvPicPr>
          <p:cNvPr id="10"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387812"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fecha 3"/>
          <p:cNvSpPr>
            <a:spLocks noGrp="1"/>
          </p:cNvSpPr>
          <p:nvPr>
            <p:ph type="dt" sz="half" idx="10"/>
          </p:nvPr>
        </p:nvSpPr>
        <p:spPr/>
        <p:txBody>
          <a:bodyPr/>
          <a:lstStyle/>
          <a:p>
            <a:fld id="{06D8BD8A-34F6-4620-907D-6D1CD67ED4DA}" type="datetimeFigureOut">
              <a:rPr lang="es-PE" smtClean="0"/>
              <a:t>3/04/2025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rot="5400000">
            <a:off x="5732318" y="-5732318"/>
            <a:ext cx="72736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9" name="Marcador de texto 8"/>
          <p:cNvSpPr>
            <a:spLocks noGrp="1"/>
          </p:cNvSpPr>
          <p:nvPr>
            <p:ph type="body" sz="quarter" idx="13"/>
          </p:nvPr>
        </p:nvSpPr>
        <p:spPr>
          <a:xfrm>
            <a:off x="838200" y="2459181"/>
            <a:ext cx="10515600" cy="3668350"/>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1" name="Título 10"/>
          <p:cNvSpPr>
            <a:spLocks noGrp="1"/>
          </p:cNvSpPr>
          <p:nvPr>
            <p:ph type="title"/>
          </p:nvPr>
        </p:nvSpPr>
        <p:spPr>
          <a:xfrm>
            <a:off x="838200" y="953704"/>
            <a:ext cx="10515600" cy="1325563"/>
          </a:xfrm>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22516504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userDrawn="1"/>
        </p:nvSpPr>
        <p:spPr>
          <a:xfrm rot="5400000">
            <a:off x="5234873" y="-5233430"/>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250753"/>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3/04/2025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0169328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06D8BD8A-34F6-4620-907D-6D1CD67ED4DA}" type="datetimeFigureOut">
              <a:rPr lang="es-PE" smtClean="0"/>
              <a:t>3/04/2025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7044762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userDrawn="1"/>
        </p:nvSpPr>
        <p:spPr>
          <a:xfrm rot="5400000">
            <a:off x="5234873" y="-5234873"/>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330200"/>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06D8BD8A-34F6-4620-907D-6D1CD67ED4DA}" type="datetimeFigureOut">
              <a:rPr lang="es-PE" smtClean="0"/>
              <a:t>3/04/2025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730956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06D8BD8A-34F6-4620-907D-6D1CD67ED4DA}" type="datetimeFigureOut">
              <a:rPr lang="es-PE" smtClean="0"/>
              <a:t>3/04/2025</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9906360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06D8BD8A-34F6-4620-907D-6D1CD67ED4DA}" type="datetimeFigureOut">
              <a:rPr lang="es-PE" smtClean="0"/>
              <a:t>3/04/2025</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339929191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6D8BD8A-34F6-4620-907D-6D1CD67ED4DA}" type="datetimeFigureOut">
              <a:rPr lang="es-PE" smtClean="0"/>
              <a:t>3/04/2025</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0748345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3/04/2025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175309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3/04/2025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2433055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3/04/2025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3487580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3/04/2025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3372347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D8BD8A-34F6-4620-907D-6D1CD67ED4DA}" type="datetimeFigureOut">
              <a:rPr lang="es-PE" smtClean="0"/>
              <a:t>3/04/2025</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0BBE2-C205-44BA-AF9E-D64C0961F059}" type="slidenum">
              <a:rPr lang="es-PE" smtClean="0"/>
              <a:t>‹Nº›</a:t>
            </a:fld>
            <a:endParaRPr lang="es-PE"/>
          </a:p>
        </p:txBody>
      </p:sp>
    </p:spTree>
    <p:extLst>
      <p:ext uri="{BB962C8B-B14F-4D97-AF65-F5344CB8AC3E}">
        <p14:creationId xmlns:p14="http://schemas.microsoft.com/office/powerpoint/2010/main" val="151470313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uadroTexto 3"/>
          <p:cNvSpPr txBox="1">
            <a:spLocks noChangeArrowheads="1"/>
          </p:cNvSpPr>
          <p:nvPr/>
        </p:nvSpPr>
        <p:spPr bwMode="auto">
          <a:xfrm>
            <a:off x="3839577" y="2655888"/>
            <a:ext cx="4561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ES" altLang="es-PE" sz="2800" b="1" dirty="0">
                <a:solidFill>
                  <a:schemeClr val="bg1"/>
                </a:solidFill>
              </a:rPr>
              <a:t>SESIÓN 04: EXCEL AVANZADO</a:t>
            </a:r>
          </a:p>
        </p:txBody>
      </p:sp>
      <p:sp>
        <p:nvSpPr>
          <p:cNvPr id="5" name="Título 1"/>
          <p:cNvSpPr txBox="1">
            <a:spLocks/>
          </p:cNvSpPr>
          <p:nvPr/>
        </p:nvSpPr>
        <p:spPr>
          <a:xfrm>
            <a:off x="2824163" y="376238"/>
            <a:ext cx="6907212" cy="1252537"/>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es-PE" sz="2800" b="1" dirty="0">
                <a:latin typeface="+mn-lt"/>
              </a:rPr>
              <a:t>COLEGIO DE INGENIEROS DEL PERU</a:t>
            </a:r>
            <a:br>
              <a:rPr lang="es-PE" sz="2800" b="1" dirty="0">
                <a:latin typeface="+mn-lt"/>
              </a:rPr>
            </a:br>
            <a:r>
              <a:rPr lang="es-PE" sz="2800" b="1" dirty="0">
                <a:latin typeface="+mn-lt"/>
              </a:rPr>
              <a:t>CONSEJO DEPARTAMENTAL DE LAMBAYEQUE</a:t>
            </a:r>
            <a:br>
              <a:rPr lang="es-PE" sz="2800" b="1" dirty="0">
                <a:latin typeface="+mn-lt"/>
              </a:rPr>
            </a:br>
            <a:r>
              <a:rPr lang="es-PE" sz="2200" b="1" dirty="0">
                <a:latin typeface="+mn-lt"/>
              </a:rPr>
              <a:t>INSTITUTO DE ESTUDIOS PROFESIONALES DE INGENIERÍA IEPI</a:t>
            </a:r>
          </a:p>
          <a:p>
            <a:pPr algn="ctr" fontAlgn="auto">
              <a:spcAft>
                <a:spcPts val="0"/>
              </a:spcAft>
              <a:defRPr/>
            </a:pPr>
            <a:r>
              <a:rPr lang="es-PE" sz="2200" b="1" dirty="0">
                <a:latin typeface="+mn-lt"/>
              </a:rPr>
              <a:t>CENTRO DE CAPACITACIÓN</a:t>
            </a:r>
          </a:p>
        </p:txBody>
      </p:sp>
      <p:sp>
        <p:nvSpPr>
          <p:cNvPr id="6" name="Subtítulo 2"/>
          <p:cNvSpPr>
            <a:spLocks noGrp="1"/>
          </p:cNvSpPr>
          <p:nvPr>
            <p:ph type="subTitle" idx="1"/>
          </p:nvPr>
        </p:nvSpPr>
        <p:spPr>
          <a:xfrm>
            <a:off x="3427413" y="5948363"/>
            <a:ext cx="5702300" cy="411162"/>
          </a:xfrm>
        </p:spPr>
        <p:txBody>
          <a:bodyPr>
            <a:normAutofit lnSpcReduction="10000"/>
          </a:bodyPr>
          <a:lstStyle/>
          <a:p>
            <a:r>
              <a:rPr lang="es-PE" altLang="es-PE" sz="2400" dirty="0"/>
              <a:t>Docente: Ing. Eric Alberto Heredia Mendoza</a:t>
            </a:r>
          </a:p>
        </p:txBody>
      </p:sp>
    </p:spTree>
    <p:extLst>
      <p:ext uri="{BB962C8B-B14F-4D97-AF65-F5344CB8AC3E}">
        <p14:creationId xmlns:p14="http://schemas.microsoft.com/office/powerpoint/2010/main" val="423767460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
        <p:nvSpPr>
          <p:cNvPr id="6" name="Rectángulo 5"/>
          <p:cNvSpPr/>
          <p:nvPr/>
        </p:nvSpPr>
        <p:spPr>
          <a:xfrm>
            <a:off x="1925808" y="1099849"/>
            <a:ext cx="8274106" cy="1938992"/>
          </a:xfrm>
          <a:prstGeom prst="rect">
            <a:avLst/>
          </a:prstGeom>
        </p:spPr>
        <p:txBody>
          <a:bodyPr wrap="square">
            <a:spAutoFit/>
          </a:bodyPr>
          <a:lstStyle/>
          <a:p>
            <a:pPr algn="just"/>
            <a:r>
              <a:rPr lang="es-PE" sz="2400" dirty="0"/>
              <a:t>Una tabla dinámica es una herramienta avanzada para calcular, resumir y analizar datos que le permite ver comparaciones, patrones y tendencias en ellos. En resumen es un cruce de información que permite un análisis mas efectivo de la información.</a:t>
            </a:r>
          </a:p>
        </p:txBody>
      </p:sp>
      <p:sp>
        <p:nvSpPr>
          <p:cNvPr id="10" name="Rectángulo 9"/>
          <p:cNvSpPr/>
          <p:nvPr/>
        </p:nvSpPr>
        <p:spPr>
          <a:xfrm>
            <a:off x="2015018" y="3038841"/>
            <a:ext cx="8274106" cy="2123658"/>
          </a:xfrm>
          <a:prstGeom prst="rect">
            <a:avLst/>
          </a:prstGeom>
        </p:spPr>
        <p:txBody>
          <a:bodyPr wrap="square">
            <a:spAutoFit/>
          </a:bodyPr>
          <a:lstStyle/>
          <a:p>
            <a:pPr algn="just"/>
            <a:r>
              <a:rPr lang="es-PE" sz="2400" b="1" dirty="0"/>
              <a:t>PASOS</a:t>
            </a:r>
            <a:endParaRPr lang="es-PE" sz="2400" dirty="0"/>
          </a:p>
          <a:p>
            <a:pPr marL="457200" indent="-457200" algn="just">
              <a:buFont typeface="+mj-lt"/>
              <a:buAutoNum type="arabicPeriod"/>
            </a:pPr>
            <a:r>
              <a:rPr lang="es-PE" sz="2400" dirty="0"/>
              <a:t>Seleccione las celdas a partir de las que quiera crear una tabla dinámica.</a:t>
            </a:r>
          </a:p>
          <a:p>
            <a:pPr marL="914400" lvl="1" indent="-457200" algn="just">
              <a:buFont typeface="Arial" panose="020B0604020202020204" pitchFamily="34" charset="0"/>
              <a:buChar char="•"/>
            </a:pPr>
            <a:r>
              <a:rPr lang="es-PE" b="1" i="1" dirty="0"/>
              <a:t>Los datos no deben tener filas o columnas vacías. Deben tener un encabezado o titulo en la fila.</a:t>
            </a:r>
          </a:p>
          <a:p>
            <a:pPr marL="457200" indent="-457200" algn="just">
              <a:buFont typeface="+mj-lt"/>
              <a:buAutoNum type="arabicPeriod"/>
            </a:pPr>
            <a:r>
              <a:rPr lang="es-PE" sz="2400" dirty="0"/>
              <a:t>Ingrese a </a:t>
            </a:r>
            <a:r>
              <a:rPr lang="es-PE" sz="2400" b="1" dirty="0"/>
              <a:t>Insertar, </a:t>
            </a:r>
            <a:r>
              <a:rPr lang="es-PE" sz="2400" dirty="0"/>
              <a:t>luego a </a:t>
            </a:r>
            <a:r>
              <a:rPr lang="es-PE" sz="2400" b="1" dirty="0"/>
              <a:t>Tabla dinámica</a:t>
            </a:r>
            <a:r>
              <a:rPr lang="es-PE" sz="2400" dirty="0"/>
              <a:t>.</a:t>
            </a:r>
          </a:p>
        </p:txBody>
      </p:sp>
      <p:pic>
        <p:nvPicPr>
          <p:cNvPr id="1026" name="Picture 2" descr="Tabla dinÃ¡m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2212" y="5318617"/>
            <a:ext cx="1960988" cy="1212983"/>
          </a:xfrm>
          <a:prstGeom prst="rect">
            <a:avLst/>
          </a:prstGeom>
          <a:noFill/>
          <a:ln>
            <a:solidFill>
              <a:schemeClr val="bg1">
                <a:lumMod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ángulo 1"/>
          <p:cNvSpPr/>
          <p:nvPr/>
        </p:nvSpPr>
        <p:spPr>
          <a:xfrm>
            <a:off x="4592212" y="5609063"/>
            <a:ext cx="622842" cy="922536"/>
          </a:xfrm>
          <a:prstGeom prst="rect">
            <a:avLst/>
          </a:prstGeom>
          <a:no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65857718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759082" y="1165437"/>
            <a:ext cx="8274106" cy="5262979"/>
          </a:xfrm>
          <a:prstGeom prst="rect">
            <a:avLst/>
          </a:prstGeom>
        </p:spPr>
        <p:txBody>
          <a:bodyPr wrap="square">
            <a:spAutoFit/>
          </a:bodyPr>
          <a:lstStyle/>
          <a:p>
            <a:pPr marL="457200" indent="-457200" algn="just">
              <a:buFont typeface="+mj-lt"/>
              <a:buAutoNum type="arabicPeriod" startAt="3"/>
            </a:pPr>
            <a:r>
              <a:rPr lang="es-PE" sz="2400" dirty="0"/>
              <a:t>En la opción </a:t>
            </a:r>
            <a:r>
              <a:rPr lang="es-PE" sz="2400" b="1" dirty="0"/>
              <a:t>Seleccione los datos que desea analizar</a:t>
            </a:r>
            <a:r>
              <a:rPr lang="es-PE" sz="2400" dirty="0"/>
              <a:t>, haga clic en </a:t>
            </a:r>
            <a:r>
              <a:rPr lang="es-PE" sz="2400" b="1" dirty="0"/>
              <a:t>Seleccionar una tabla o rango</a:t>
            </a:r>
            <a:r>
              <a:rPr lang="es-PE" sz="2400" dirty="0"/>
              <a:t>.</a:t>
            </a:r>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algn="just"/>
            <a:endParaRPr lang="es-PE" sz="2400" dirty="0"/>
          </a:p>
          <a:p>
            <a:pPr algn="just"/>
            <a:endParaRPr lang="es-PE" sz="2400" dirty="0"/>
          </a:p>
          <a:p>
            <a:pPr marL="457200" indent="-457200" algn="just">
              <a:buFont typeface="+mj-lt"/>
              <a:buAutoNum type="arabicPeriod" startAt="4"/>
            </a:pPr>
            <a:r>
              <a:rPr lang="es-PE" sz="2400" dirty="0"/>
              <a:t>En </a:t>
            </a:r>
            <a:r>
              <a:rPr lang="es-PE" sz="2400" b="1" dirty="0"/>
              <a:t>Tabla o rango</a:t>
            </a:r>
            <a:r>
              <a:rPr lang="es-PE" sz="2400" dirty="0"/>
              <a:t>, compruebe el rango de celdas.</a:t>
            </a:r>
          </a:p>
          <a:p>
            <a:pPr marL="457200" indent="-457200" algn="just">
              <a:buFont typeface="+mj-lt"/>
              <a:buAutoNum type="arabicPeriod" startAt="4"/>
            </a:pPr>
            <a:r>
              <a:rPr lang="es-PE" sz="2400" dirty="0"/>
              <a:t>Seleccione </a:t>
            </a:r>
            <a:r>
              <a:rPr lang="es-PE" sz="2400" b="1" dirty="0"/>
              <a:t>Nueva hoja de cálculo</a:t>
            </a:r>
          </a:p>
          <a:p>
            <a:pPr marL="457200" indent="-457200" algn="just">
              <a:buFont typeface="+mj-lt"/>
              <a:buAutoNum type="arabicPeriod" startAt="4"/>
            </a:pPr>
            <a:r>
              <a:rPr lang="es-PE" sz="2400" dirty="0"/>
              <a:t>Seleccione </a:t>
            </a:r>
            <a:r>
              <a:rPr lang="es-PE" sz="2400" b="1" dirty="0"/>
              <a:t>Aceptar</a:t>
            </a:r>
            <a:r>
              <a:rPr lang="es-PE" sz="2400" dirty="0"/>
              <a:t>.</a:t>
            </a:r>
          </a:p>
        </p:txBody>
      </p:sp>
      <p:pic>
        <p:nvPicPr>
          <p:cNvPr id="2050" name="Picture 2" descr="Tabla dinÃ¡m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4741" y="1986937"/>
            <a:ext cx="3686175" cy="2952751"/>
          </a:xfrm>
          <a:prstGeom prst="rect">
            <a:avLst/>
          </a:prstGeom>
          <a:noFill/>
          <a:ln>
            <a:solidFill>
              <a:schemeClr val="bg1">
                <a:lumMod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CuadroTexto 3"/>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Tree>
    <p:extLst>
      <p:ext uri="{BB962C8B-B14F-4D97-AF65-F5344CB8AC3E}">
        <p14:creationId xmlns:p14="http://schemas.microsoft.com/office/powerpoint/2010/main" val="2034100808"/>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t="19538" r="39995" b="7020"/>
          <a:stretch/>
        </p:blipFill>
        <p:spPr>
          <a:xfrm>
            <a:off x="2160609" y="992459"/>
            <a:ext cx="7191510" cy="4951141"/>
          </a:xfrm>
          <a:prstGeom prst="rect">
            <a:avLst/>
          </a:prstGeom>
        </p:spPr>
      </p:pic>
      <p:sp>
        <p:nvSpPr>
          <p:cNvPr id="3" name="CuadroTexto 2"/>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Tree>
    <p:extLst>
      <p:ext uri="{BB962C8B-B14F-4D97-AF65-F5344CB8AC3E}">
        <p14:creationId xmlns:p14="http://schemas.microsoft.com/office/powerpoint/2010/main" val="420348232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l="82521" t="19597" b="7756"/>
          <a:stretch/>
        </p:blipFill>
        <p:spPr>
          <a:xfrm>
            <a:off x="4102051" y="896291"/>
            <a:ext cx="2194671" cy="5130873"/>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5" name="Llamada con línea 1 4"/>
          <p:cNvSpPr/>
          <p:nvPr/>
        </p:nvSpPr>
        <p:spPr>
          <a:xfrm>
            <a:off x="6844454" y="1783468"/>
            <a:ext cx="3289609" cy="914400"/>
          </a:xfrm>
          <a:prstGeom prst="borderCallout1">
            <a:avLst>
              <a:gd name="adj1" fmla="val 53009"/>
              <a:gd name="adj2" fmla="val 820"/>
              <a:gd name="adj3" fmla="val 52315"/>
              <a:gd name="adj4" fmla="val -3019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ysClr val="windowText" lastClr="000000"/>
                </a:solidFill>
                <a:effectLst>
                  <a:outerShdw blurRad="38100" dist="38100" dir="2700000" algn="tl">
                    <a:srgbClr val="000000">
                      <a:alpha val="43137"/>
                    </a:srgbClr>
                  </a:outerShdw>
                </a:effectLst>
              </a:rPr>
              <a:t>CAMPOS DE LA TABLA DE DATOS DISPONIBLES</a:t>
            </a:r>
          </a:p>
        </p:txBody>
      </p:sp>
      <p:sp>
        <p:nvSpPr>
          <p:cNvPr id="6" name="Llamada con línea 1 5"/>
          <p:cNvSpPr/>
          <p:nvPr/>
        </p:nvSpPr>
        <p:spPr>
          <a:xfrm>
            <a:off x="7011722" y="4037637"/>
            <a:ext cx="3373245" cy="782027"/>
          </a:xfrm>
          <a:prstGeom prst="borderCallout1">
            <a:avLst>
              <a:gd name="adj1" fmla="val 53009"/>
              <a:gd name="adj2" fmla="val 820"/>
              <a:gd name="adj3" fmla="val 109353"/>
              <a:gd name="adj4" fmla="val -64433"/>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LOS CAMPOS NO NUMÉRICOS SE AGREGAN A </a:t>
            </a:r>
            <a:r>
              <a:rPr lang="es-PE" b="1" dirty="0">
                <a:solidFill>
                  <a:srgbClr val="2F2F2F"/>
                </a:solidFill>
              </a:rPr>
              <a:t>FILAS</a:t>
            </a:r>
            <a:endParaRPr lang="es-PE" b="1" dirty="0">
              <a:solidFill>
                <a:sysClr val="windowText" lastClr="000000"/>
              </a:solidFill>
              <a:effectLst>
                <a:outerShdw blurRad="38100" dist="38100" dir="2700000" algn="tl">
                  <a:srgbClr val="000000">
                    <a:alpha val="43137"/>
                  </a:srgbClr>
                </a:outerShdw>
              </a:effectLst>
            </a:endParaRPr>
          </a:p>
        </p:txBody>
      </p:sp>
      <p:sp>
        <p:nvSpPr>
          <p:cNvPr id="7" name="Llamada con línea 1 6"/>
          <p:cNvSpPr/>
          <p:nvPr/>
        </p:nvSpPr>
        <p:spPr>
          <a:xfrm>
            <a:off x="7011722" y="2976284"/>
            <a:ext cx="3373245" cy="885994"/>
          </a:xfrm>
          <a:prstGeom prst="borderCallout1">
            <a:avLst>
              <a:gd name="adj1" fmla="val 53009"/>
              <a:gd name="adj2" fmla="val 820"/>
              <a:gd name="adj3" fmla="val 136206"/>
              <a:gd name="adj4" fmla="val -2888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LAS JERARQUÍAS TALES COMO  FECHA Y HORA SE AGREGAN A </a:t>
            </a:r>
            <a:r>
              <a:rPr lang="es-PE" b="1" dirty="0">
                <a:solidFill>
                  <a:srgbClr val="2F2F2F"/>
                </a:solidFill>
              </a:rPr>
              <a:t>COLUMNAS</a:t>
            </a:r>
            <a:r>
              <a:rPr lang="es-PE" dirty="0">
                <a:solidFill>
                  <a:srgbClr val="2F2F2F"/>
                </a:solidFill>
              </a:rPr>
              <a:t> </a:t>
            </a:r>
            <a:endParaRPr lang="es-PE" b="1" dirty="0">
              <a:solidFill>
                <a:sysClr val="windowText" lastClr="000000"/>
              </a:solidFill>
              <a:effectLst>
                <a:outerShdw blurRad="38100" dist="38100" dir="2700000" algn="tl">
                  <a:srgbClr val="000000">
                    <a:alpha val="43137"/>
                  </a:srgbClr>
                </a:outerShdw>
              </a:effectLst>
            </a:endParaRPr>
          </a:p>
        </p:txBody>
      </p:sp>
      <p:sp>
        <p:nvSpPr>
          <p:cNvPr id="8" name="Llamada con línea 1 7"/>
          <p:cNvSpPr/>
          <p:nvPr/>
        </p:nvSpPr>
        <p:spPr>
          <a:xfrm>
            <a:off x="7011721" y="5121747"/>
            <a:ext cx="3373245" cy="782027"/>
          </a:xfrm>
          <a:prstGeom prst="borderCallout1">
            <a:avLst>
              <a:gd name="adj1" fmla="val 53009"/>
              <a:gd name="adj2" fmla="val 820"/>
              <a:gd name="adj3" fmla="val 52316"/>
              <a:gd name="adj4" fmla="val -37656"/>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Y LOS CAMPOS NUMÉRICOS SE AGREGAN A </a:t>
            </a:r>
            <a:r>
              <a:rPr lang="es-PE" b="1" dirty="0">
                <a:solidFill>
                  <a:srgbClr val="2F2F2F"/>
                </a:solidFill>
              </a:rPr>
              <a:t>VALORES</a:t>
            </a:r>
            <a:r>
              <a:rPr lang="es-PE" dirty="0">
                <a:solidFill>
                  <a:srgbClr val="2F2F2F"/>
                </a:solidFill>
              </a:rPr>
              <a:t>.</a:t>
            </a:r>
            <a:endParaRPr lang="es-PE" dirty="0"/>
          </a:p>
        </p:txBody>
      </p:sp>
      <p:sp>
        <p:nvSpPr>
          <p:cNvPr id="9" name="Llamada con línea 1 8"/>
          <p:cNvSpPr/>
          <p:nvPr/>
        </p:nvSpPr>
        <p:spPr>
          <a:xfrm flipH="1">
            <a:off x="1635512" y="3144447"/>
            <a:ext cx="2206620" cy="1675217"/>
          </a:xfrm>
          <a:prstGeom prst="borderCallout1">
            <a:avLst>
              <a:gd name="adj1" fmla="val 53009"/>
              <a:gd name="adj2" fmla="val 820"/>
              <a:gd name="adj3" fmla="val 136206"/>
              <a:gd name="adj4" fmla="val -2888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ysClr val="windowText" lastClr="000000"/>
                </a:solidFill>
              </a:rPr>
              <a:t>LA JERARQUÍA PRINCIPAL SE COLOCA EN </a:t>
            </a:r>
            <a:r>
              <a:rPr lang="es-PE" b="1" dirty="0">
                <a:solidFill>
                  <a:sysClr val="windowText" lastClr="000000"/>
                </a:solidFill>
                <a:effectLst>
                  <a:outerShdw blurRad="38100" dist="38100" dir="2700000" algn="tl">
                    <a:srgbClr val="000000">
                      <a:alpha val="43137"/>
                    </a:srgbClr>
                  </a:outerShdw>
                </a:effectLst>
              </a:rPr>
              <a:t>FILTROS (</a:t>
            </a:r>
            <a:r>
              <a:rPr lang="es-PE" sz="1600" b="1" i="1" dirty="0">
                <a:solidFill>
                  <a:srgbClr val="FF0000"/>
                </a:solidFill>
                <a:effectLst>
                  <a:outerShdw blurRad="38100" dist="38100" dir="2700000" algn="tl">
                    <a:srgbClr val="000000">
                      <a:alpha val="43137"/>
                    </a:srgbClr>
                  </a:outerShdw>
                </a:effectLst>
              </a:rPr>
              <a:t>OPCIONAL</a:t>
            </a:r>
            <a:r>
              <a:rPr lang="es-PE" b="1" dirty="0">
                <a:solidFill>
                  <a:sysClr val="windowText" lastClr="00000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61529150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l="80369" t="20966" b="10240"/>
          <a:stretch/>
        </p:blipFill>
        <p:spPr>
          <a:xfrm>
            <a:off x="3964259" y="881697"/>
            <a:ext cx="2590800" cy="5674470"/>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4" name="Llamada con línea 1 3"/>
          <p:cNvSpPr/>
          <p:nvPr/>
        </p:nvSpPr>
        <p:spPr>
          <a:xfrm>
            <a:off x="6844454" y="1783468"/>
            <a:ext cx="3289609" cy="914400"/>
          </a:xfrm>
          <a:prstGeom prst="borderCallout1">
            <a:avLst>
              <a:gd name="adj1" fmla="val 53009"/>
              <a:gd name="adj2" fmla="val 820"/>
              <a:gd name="adj3" fmla="val 52315"/>
              <a:gd name="adj4" fmla="val -3019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ysClr val="windowText" lastClr="000000"/>
                </a:solidFill>
                <a:effectLst>
                  <a:outerShdw blurRad="38100" dist="38100" dir="2700000" algn="tl">
                    <a:srgbClr val="000000">
                      <a:alpha val="43137"/>
                    </a:srgbClr>
                  </a:outerShdw>
                </a:effectLst>
              </a:rPr>
              <a:t>CAMPOS DE LA TABLA DE DATOS DISPONIBLES</a:t>
            </a:r>
          </a:p>
        </p:txBody>
      </p:sp>
      <p:sp>
        <p:nvSpPr>
          <p:cNvPr id="5" name="Llamada con línea 1 4"/>
          <p:cNvSpPr/>
          <p:nvPr/>
        </p:nvSpPr>
        <p:spPr>
          <a:xfrm flipH="1">
            <a:off x="1635512" y="4795260"/>
            <a:ext cx="2206620" cy="920601"/>
          </a:xfrm>
          <a:prstGeom prst="borderCallout1">
            <a:avLst>
              <a:gd name="adj1" fmla="val 53009"/>
              <a:gd name="adj2" fmla="val 820"/>
              <a:gd name="adj3" fmla="val 73235"/>
              <a:gd name="adj4" fmla="val -23906"/>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LAS FILAS COLOCAREMOS </a:t>
            </a:r>
            <a:r>
              <a:rPr lang="es-PE" b="1" dirty="0">
                <a:solidFill>
                  <a:srgbClr val="FF0000"/>
                </a:solidFill>
                <a:effectLst>
                  <a:outerShdw blurRad="38100" dist="38100" dir="2700000" algn="tl">
                    <a:srgbClr val="000000">
                      <a:alpha val="43137"/>
                    </a:srgbClr>
                  </a:outerShdw>
                </a:effectLst>
              </a:rPr>
              <a:t>VENDEDOR</a:t>
            </a:r>
          </a:p>
        </p:txBody>
      </p:sp>
      <p:sp>
        <p:nvSpPr>
          <p:cNvPr id="6" name="Llamada con línea 1 5"/>
          <p:cNvSpPr/>
          <p:nvPr/>
        </p:nvSpPr>
        <p:spPr>
          <a:xfrm>
            <a:off x="7134385" y="3082222"/>
            <a:ext cx="3122341" cy="625455"/>
          </a:xfrm>
          <a:prstGeom prst="borderCallout1">
            <a:avLst>
              <a:gd name="adj1" fmla="val 53009"/>
              <a:gd name="adj2" fmla="val 820"/>
              <a:gd name="adj3" fmla="val 218956"/>
              <a:gd name="adj4" fmla="val -3922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LAS COLUMNAS COLOCAREMOS </a:t>
            </a:r>
            <a:r>
              <a:rPr lang="es-PE" b="1" dirty="0">
                <a:solidFill>
                  <a:srgbClr val="FF0000"/>
                </a:solidFill>
                <a:effectLst>
                  <a:outerShdw blurRad="38100" dist="38100" dir="2700000" algn="tl">
                    <a:srgbClr val="000000">
                      <a:alpha val="43137"/>
                    </a:srgbClr>
                  </a:outerShdw>
                </a:effectLst>
              </a:rPr>
              <a:t>REGIÓN</a:t>
            </a:r>
          </a:p>
        </p:txBody>
      </p:sp>
      <p:sp>
        <p:nvSpPr>
          <p:cNvPr id="7" name="Llamada con línea 1 6"/>
          <p:cNvSpPr/>
          <p:nvPr/>
        </p:nvSpPr>
        <p:spPr>
          <a:xfrm>
            <a:off x="7134385" y="5255561"/>
            <a:ext cx="3373245" cy="782027"/>
          </a:xfrm>
          <a:prstGeom prst="borderCallout1">
            <a:avLst>
              <a:gd name="adj1" fmla="val 53009"/>
              <a:gd name="adj2" fmla="val 820"/>
              <a:gd name="adj3" fmla="val 107928"/>
              <a:gd name="adj4" fmla="val -3236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VALORES COLOCAREMOS </a:t>
            </a:r>
            <a:r>
              <a:rPr lang="es-PE" b="1" dirty="0">
                <a:solidFill>
                  <a:srgbClr val="FF0000"/>
                </a:solidFill>
                <a:effectLst>
                  <a:outerShdw blurRad="38100" dist="38100" dir="2700000" algn="tl">
                    <a:srgbClr val="000000">
                      <a:alpha val="43137"/>
                    </a:srgbClr>
                  </a:outerShdw>
                </a:effectLst>
              </a:rPr>
              <a:t>UNIDADES</a:t>
            </a:r>
          </a:p>
        </p:txBody>
      </p:sp>
      <p:sp>
        <p:nvSpPr>
          <p:cNvPr id="8" name="Llamada con línea 1 7"/>
          <p:cNvSpPr/>
          <p:nvPr/>
        </p:nvSpPr>
        <p:spPr>
          <a:xfrm flipH="1">
            <a:off x="1635512" y="3144447"/>
            <a:ext cx="2206620" cy="1237983"/>
          </a:xfrm>
          <a:prstGeom prst="borderCallout1">
            <a:avLst>
              <a:gd name="adj1" fmla="val 53009"/>
              <a:gd name="adj2" fmla="val 820"/>
              <a:gd name="adj3" fmla="val 94813"/>
              <a:gd name="adj4" fmla="val -3090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ysClr val="windowText" lastClr="000000"/>
                </a:solidFill>
              </a:rPr>
              <a:t>COMO JERARQUÍA PRINCIPAL SE COLOCARÁ </a:t>
            </a:r>
            <a:r>
              <a:rPr lang="es-PE" b="1" dirty="0">
                <a:solidFill>
                  <a:srgbClr val="FF0000"/>
                </a:solidFill>
                <a:effectLst>
                  <a:outerShdw blurRad="38100" dist="38100" dir="2700000" algn="tl">
                    <a:srgbClr val="000000">
                      <a:alpha val="43137"/>
                    </a:srgbClr>
                  </a:outerShdw>
                </a:effectLst>
              </a:rPr>
              <a:t>PRODUCTOS</a:t>
            </a:r>
          </a:p>
        </p:txBody>
      </p:sp>
    </p:spTree>
    <p:extLst>
      <p:ext uri="{BB962C8B-B14F-4D97-AF65-F5344CB8AC3E}">
        <p14:creationId xmlns:p14="http://schemas.microsoft.com/office/powerpoint/2010/main" val="2598463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t="19574" r="43047" b="47586"/>
          <a:stretch/>
        </p:blipFill>
        <p:spPr>
          <a:xfrm>
            <a:off x="2206814" y="2226327"/>
            <a:ext cx="7777509" cy="2802872"/>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4" name="Llamada con línea 1 3"/>
          <p:cNvSpPr/>
          <p:nvPr/>
        </p:nvSpPr>
        <p:spPr>
          <a:xfrm>
            <a:off x="6699487" y="1572714"/>
            <a:ext cx="1381431" cy="512174"/>
          </a:xfrm>
          <a:prstGeom prst="borderCallout1">
            <a:avLst>
              <a:gd name="adj1" fmla="val 53009"/>
              <a:gd name="adj2" fmla="val 820"/>
              <a:gd name="adj3" fmla="val 218956"/>
              <a:gd name="adj4" fmla="val -3922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FILTRO</a:t>
            </a:r>
            <a:endParaRPr lang="es-PE" sz="2000" b="1" dirty="0">
              <a:solidFill>
                <a:srgbClr val="FF0000"/>
              </a:solidFill>
              <a:effectLst>
                <a:outerShdw blurRad="38100" dist="38100" dir="2700000" algn="tl">
                  <a:srgbClr val="000000">
                    <a:alpha val="43137"/>
                  </a:srgbClr>
                </a:outerShdw>
              </a:effectLst>
            </a:endParaRPr>
          </a:p>
        </p:txBody>
      </p:sp>
      <p:sp>
        <p:nvSpPr>
          <p:cNvPr id="5" name="Llamada con línea 1 4"/>
          <p:cNvSpPr/>
          <p:nvPr/>
        </p:nvSpPr>
        <p:spPr>
          <a:xfrm>
            <a:off x="3354121" y="5319915"/>
            <a:ext cx="1381431" cy="512174"/>
          </a:xfrm>
          <a:prstGeom prst="borderCallout1">
            <a:avLst>
              <a:gd name="adj1" fmla="val 53009"/>
              <a:gd name="adj2" fmla="val 820"/>
              <a:gd name="adj3" fmla="val -155528"/>
              <a:gd name="adj4" fmla="val -18234"/>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FILA</a:t>
            </a:r>
            <a:endParaRPr lang="es-PE" sz="2000" b="1" dirty="0">
              <a:solidFill>
                <a:srgbClr val="FF0000"/>
              </a:solidFill>
              <a:effectLst>
                <a:outerShdw blurRad="38100" dist="38100" dir="2700000" algn="tl">
                  <a:srgbClr val="000000">
                    <a:alpha val="43137"/>
                  </a:srgbClr>
                </a:outerShdw>
              </a:effectLst>
            </a:endParaRPr>
          </a:p>
        </p:txBody>
      </p:sp>
      <p:sp>
        <p:nvSpPr>
          <p:cNvPr id="6" name="Llamada con línea 1 5"/>
          <p:cNvSpPr/>
          <p:nvPr/>
        </p:nvSpPr>
        <p:spPr>
          <a:xfrm>
            <a:off x="8929730" y="2732832"/>
            <a:ext cx="1381431" cy="512174"/>
          </a:xfrm>
          <a:prstGeom prst="borderCallout1">
            <a:avLst>
              <a:gd name="adj1" fmla="val 53009"/>
              <a:gd name="adj2" fmla="val 820"/>
              <a:gd name="adj3" fmla="val 208070"/>
              <a:gd name="adj4" fmla="val -10380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COLUMNA</a:t>
            </a:r>
            <a:endParaRPr lang="es-PE" sz="2000" b="1" dirty="0">
              <a:solidFill>
                <a:srgbClr val="FF0000"/>
              </a:solidFill>
              <a:effectLst>
                <a:outerShdw blurRad="38100" dist="38100" dir="2700000" algn="tl">
                  <a:srgbClr val="000000">
                    <a:alpha val="43137"/>
                  </a:srgbClr>
                </a:outerShdw>
              </a:effectLst>
            </a:endParaRPr>
          </a:p>
        </p:txBody>
      </p:sp>
      <p:sp>
        <p:nvSpPr>
          <p:cNvPr id="7" name="Llamada con línea 1 6"/>
          <p:cNvSpPr/>
          <p:nvPr/>
        </p:nvSpPr>
        <p:spPr>
          <a:xfrm flipH="1">
            <a:off x="6275740" y="5320698"/>
            <a:ext cx="1381431" cy="512174"/>
          </a:xfrm>
          <a:prstGeom prst="borderCallout1">
            <a:avLst>
              <a:gd name="adj1" fmla="val 53009"/>
              <a:gd name="adj2" fmla="val 820"/>
              <a:gd name="adj3" fmla="val -155528"/>
              <a:gd name="adj4" fmla="val -8927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VALORES</a:t>
            </a:r>
            <a:endParaRPr lang="es-PE" sz="20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0261207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C1B63D0-1557-4497-B0AA-840DE7936144}"/>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pic>
        <p:nvPicPr>
          <p:cNvPr id="3" name="Imagen 2">
            <a:extLst>
              <a:ext uri="{FF2B5EF4-FFF2-40B4-BE49-F238E27FC236}">
                <a16:creationId xmlns:a16="http://schemas.microsoft.com/office/drawing/2014/main" id="{A31767A9-37BA-4594-9C5D-147D6E7C6D87}"/>
              </a:ext>
            </a:extLst>
          </p:cNvPr>
          <p:cNvPicPr>
            <a:picLocks noChangeAspect="1"/>
          </p:cNvPicPr>
          <p:nvPr/>
        </p:nvPicPr>
        <p:blipFill rotWithShape="1">
          <a:blip r:embed="rId2"/>
          <a:srcRect t="19538" r="39995" b="7020"/>
          <a:stretch/>
        </p:blipFill>
        <p:spPr>
          <a:xfrm>
            <a:off x="2160609" y="992459"/>
            <a:ext cx="7191510" cy="4951141"/>
          </a:xfrm>
          <a:prstGeom prst="rect">
            <a:avLst/>
          </a:prstGeom>
        </p:spPr>
      </p:pic>
    </p:spTree>
    <p:extLst>
      <p:ext uri="{BB962C8B-B14F-4D97-AF65-F5344CB8AC3E}">
        <p14:creationId xmlns:p14="http://schemas.microsoft.com/office/powerpoint/2010/main" val="241832685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0000000-0008-0000-1C00-000004000000}"/>
              </a:ext>
            </a:extLst>
          </p:cNvPr>
          <p:cNvPicPr>
            <a:picLocks noChangeAspect="1"/>
          </p:cNvPicPr>
          <p:nvPr/>
        </p:nvPicPr>
        <p:blipFill rotWithShape="1">
          <a:blip r:embed="rId2"/>
          <a:srcRect l="82369" t="21118" b="8027"/>
          <a:stretch/>
        </p:blipFill>
        <p:spPr>
          <a:xfrm>
            <a:off x="5963413" y="1517692"/>
            <a:ext cx="2066925" cy="4672570"/>
          </a:xfrm>
          <a:prstGeom prst="rect">
            <a:avLst/>
          </a:prstGeom>
          <a:ln>
            <a:solidFill>
              <a:schemeClr val="bg1">
                <a:lumMod val="65000"/>
              </a:schemeClr>
            </a:solidFill>
          </a:ln>
          <a:effectLst>
            <a:outerShdw blurRad="50800" dist="38100" dir="2700000" algn="tl" rotWithShape="0">
              <a:prstClr val="black">
                <a:alpha val="40000"/>
              </a:prstClr>
            </a:outerShdw>
          </a:effectLst>
        </p:spPr>
      </p:pic>
      <p:sp>
        <p:nvSpPr>
          <p:cNvPr id="3" name="CuadroTexto 2">
            <a:extLst>
              <a:ext uri="{FF2B5EF4-FFF2-40B4-BE49-F238E27FC236}">
                <a16:creationId xmlns:a16="http://schemas.microsoft.com/office/drawing/2014/main" id="{A94C0212-3705-46E4-A388-08FC6E8C9E1F}"/>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sp>
        <p:nvSpPr>
          <p:cNvPr id="4" name="CuadroTexto 3">
            <a:extLst>
              <a:ext uri="{FF2B5EF4-FFF2-40B4-BE49-F238E27FC236}">
                <a16:creationId xmlns:a16="http://schemas.microsoft.com/office/drawing/2014/main" id="{B244D303-93CE-4457-8E45-EDD39C8AFC3C}"/>
              </a:ext>
            </a:extLst>
          </p:cNvPr>
          <p:cNvSpPr txBox="1"/>
          <p:nvPr/>
        </p:nvSpPr>
        <p:spPr>
          <a:xfrm>
            <a:off x="2968752" y="945404"/>
            <a:ext cx="6464808" cy="369332"/>
          </a:xfrm>
          <a:prstGeom prst="rect">
            <a:avLst/>
          </a:prstGeom>
          <a:solidFill>
            <a:schemeClr val="bg1"/>
          </a:solidFill>
          <a:ln w="19050">
            <a:solidFill>
              <a:srgbClr val="FF0000"/>
            </a:solidFill>
          </a:ln>
          <a:effectLst>
            <a:outerShdw blurRad="50800" dist="38100" dir="2700000" algn="tl" rotWithShape="0">
              <a:prstClr val="black">
                <a:alpha val="40000"/>
              </a:prstClr>
            </a:outerShdw>
          </a:effectLst>
        </p:spPr>
        <p:txBody>
          <a:bodyPr wrap="square" rtlCol="0">
            <a:spAutoFit/>
          </a:bodyPr>
          <a:lstStyle/>
          <a:p>
            <a:r>
              <a:rPr lang="es-PE" b="1" dirty="0">
                <a:effectLst>
                  <a:outerShdw blurRad="38100" dist="38100" dir="2700000" algn="tl">
                    <a:srgbClr val="000000">
                      <a:alpha val="43137"/>
                    </a:srgbClr>
                  </a:outerShdw>
                </a:effectLst>
              </a:rPr>
              <a:t>DISTRIBUYA LOS CAMPOS DE LA TABLA COMO SE MUESTRA</a:t>
            </a:r>
          </a:p>
        </p:txBody>
      </p:sp>
      <p:sp>
        <p:nvSpPr>
          <p:cNvPr id="5" name="Globo: flecha derecha 4">
            <a:extLst>
              <a:ext uri="{FF2B5EF4-FFF2-40B4-BE49-F238E27FC236}">
                <a16:creationId xmlns:a16="http://schemas.microsoft.com/office/drawing/2014/main" id="{D24D7AAC-E1FA-4CDD-8998-734E8E5BC5F5}"/>
              </a:ext>
            </a:extLst>
          </p:cNvPr>
          <p:cNvSpPr/>
          <p:nvPr/>
        </p:nvSpPr>
        <p:spPr>
          <a:xfrm>
            <a:off x="2968752" y="2231136"/>
            <a:ext cx="2843784" cy="2880360"/>
          </a:xfrm>
          <a:prstGeom prst="rightArrowCallout">
            <a:avLst>
              <a:gd name="adj1" fmla="val 15757"/>
              <a:gd name="adj2" fmla="val 15877"/>
              <a:gd name="adj3" fmla="val 21154"/>
              <a:gd name="adj4" fmla="val 62436"/>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effectLst>
                  <a:outerShdw blurRad="50800" dist="38100" dir="2700000" algn="tl" rotWithShape="0">
                    <a:prstClr val="black">
                      <a:alpha val="40000"/>
                    </a:prstClr>
                  </a:outerShdw>
                </a:effectLst>
              </a:rPr>
              <a:t>DISTRIBUCIÓN DE CAMPOS</a:t>
            </a:r>
          </a:p>
        </p:txBody>
      </p:sp>
    </p:spTree>
    <p:extLst>
      <p:ext uri="{BB962C8B-B14F-4D97-AF65-F5344CB8AC3E}">
        <p14:creationId xmlns:p14="http://schemas.microsoft.com/office/powerpoint/2010/main" val="392421499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C305370-1444-4D5D-A916-2EFA739B31FF}"/>
              </a:ext>
            </a:extLst>
          </p:cNvPr>
          <p:cNvPicPr>
            <a:picLocks noChangeAspect="1"/>
          </p:cNvPicPr>
          <p:nvPr/>
        </p:nvPicPr>
        <p:blipFill>
          <a:blip r:embed="rId2"/>
          <a:stretch>
            <a:fillRect/>
          </a:stretch>
        </p:blipFill>
        <p:spPr>
          <a:xfrm>
            <a:off x="5582031" y="1662303"/>
            <a:ext cx="4244721" cy="3727598"/>
          </a:xfrm>
          <a:prstGeom prst="rect">
            <a:avLst/>
          </a:prstGeom>
          <a:effectLst>
            <a:outerShdw blurRad="50800" dist="38100" dir="2700000" algn="tl" rotWithShape="0">
              <a:prstClr val="black">
                <a:alpha val="40000"/>
              </a:prstClr>
            </a:outerShdw>
          </a:effectLst>
        </p:spPr>
      </p:pic>
      <p:sp>
        <p:nvSpPr>
          <p:cNvPr id="6" name="CuadroTexto 5">
            <a:extLst>
              <a:ext uri="{FF2B5EF4-FFF2-40B4-BE49-F238E27FC236}">
                <a16:creationId xmlns:a16="http://schemas.microsoft.com/office/drawing/2014/main" id="{723A82B5-B34A-440F-AE3E-8AC4065EFD42}"/>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sp>
        <p:nvSpPr>
          <p:cNvPr id="8" name="Globo: flecha derecha 7">
            <a:extLst>
              <a:ext uri="{FF2B5EF4-FFF2-40B4-BE49-F238E27FC236}">
                <a16:creationId xmlns:a16="http://schemas.microsoft.com/office/drawing/2014/main" id="{2B5DE97A-7B63-4BEC-BC8D-F81B2CF60E57}"/>
              </a:ext>
            </a:extLst>
          </p:cNvPr>
          <p:cNvSpPr/>
          <p:nvPr/>
        </p:nvSpPr>
        <p:spPr>
          <a:xfrm>
            <a:off x="2639568" y="2085922"/>
            <a:ext cx="2843784" cy="2880360"/>
          </a:xfrm>
          <a:prstGeom prst="rightArrowCallout">
            <a:avLst>
              <a:gd name="adj1" fmla="val 15757"/>
              <a:gd name="adj2" fmla="val 15877"/>
              <a:gd name="adj3" fmla="val 21154"/>
              <a:gd name="adj4" fmla="val 62436"/>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effectLst>
                  <a:outerShdw blurRad="50800" dist="38100" dir="2700000" algn="tl" rotWithShape="0">
                    <a:prstClr val="black">
                      <a:alpha val="40000"/>
                    </a:prstClr>
                  </a:outerShdw>
                </a:effectLst>
              </a:rPr>
              <a:t>CREAR EL GRÁFICO EN OTRA HOJA</a:t>
            </a:r>
          </a:p>
        </p:txBody>
      </p:sp>
    </p:spTree>
    <p:extLst>
      <p:ext uri="{BB962C8B-B14F-4D97-AF65-F5344CB8AC3E}">
        <p14:creationId xmlns:p14="http://schemas.microsoft.com/office/powerpoint/2010/main" val="145840816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723A82B5-B34A-440F-AE3E-8AC4065EFD42}"/>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pic>
        <p:nvPicPr>
          <p:cNvPr id="5" name="Imagen 4">
            <a:extLst>
              <a:ext uri="{FF2B5EF4-FFF2-40B4-BE49-F238E27FC236}">
                <a16:creationId xmlns:a16="http://schemas.microsoft.com/office/drawing/2014/main" id="{00000000-0008-0000-1C00-000003000000}"/>
              </a:ext>
            </a:extLst>
          </p:cNvPr>
          <p:cNvPicPr>
            <a:picLocks noChangeAspect="1"/>
          </p:cNvPicPr>
          <p:nvPr/>
        </p:nvPicPr>
        <p:blipFill rotWithShape="1">
          <a:blip r:embed="rId2"/>
          <a:srcRect l="9898" t="35013" r="37510" b="14031"/>
          <a:stretch/>
        </p:blipFill>
        <p:spPr>
          <a:xfrm>
            <a:off x="2968753" y="1768710"/>
            <a:ext cx="6552905" cy="3571387"/>
          </a:xfrm>
          <a:prstGeom prst="rect">
            <a:avLst/>
          </a:prstGeom>
          <a:ln>
            <a:solidFill>
              <a:schemeClr val="bg1">
                <a:lumMod val="65000"/>
              </a:schemeClr>
            </a:solidFill>
          </a:ln>
          <a:effectLst>
            <a:outerShdw blurRad="50800" dist="38100" dir="2700000" algn="tl" rotWithShape="0">
              <a:prstClr val="black">
                <a:alpha val="40000"/>
              </a:prstClr>
            </a:outerShdw>
          </a:effectLst>
        </p:spPr>
      </p:pic>
      <p:sp>
        <p:nvSpPr>
          <p:cNvPr id="12" name="CuadroTexto 11">
            <a:extLst>
              <a:ext uri="{FF2B5EF4-FFF2-40B4-BE49-F238E27FC236}">
                <a16:creationId xmlns:a16="http://schemas.microsoft.com/office/drawing/2014/main" id="{2A10F71A-EEE6-4351-B465-1D0AFA7650ED}"/>
              </a:ext>
            </a:extLst>
          </p:cNvPr>
          <p:cNvSpPr txBox="1"/>
          <p:nvPr/>
        </p:nvSpPr>
        <p:spPr>
          <a:xfrm>
            <a:off x="2968752" y="945404"/>
            <a:ext cx="6464808" cy="369332"/>
          </a:xfrm>
          <a:prstGeom prst="rect">
            <a:avLst/>
          </a:prstGeom>
          <a:solidFill>
            <a:schemeClr val="bg1"/>
          </a:solidFill>
          <a:ln w="19050">
            <a:solidFill>
              <a:srgbClr val="FF0000"/>
            </a:solidFill>
          </a:ln>
          <a:effectLst>
            <a:outerShdw blurRad="50800" dist="38100" dir="2700000" algn="tl" rotWithShape="0">
              <a:prstClr val="black">
                <a:alpha val="40000"/>
              </a:prstClr>
            </a:outerShdw>
          </a:effectLst>
        </p:spPr>
        <p:txBody>
          <a:bodyPr wrap="square" rtlCol="0">
            <a:spAutoFit/>
          </a:bodyPr>
          <a:lstStyle/>
          <a:p>
            <a:pPr algn="ctr"/>
            <a:r>
              <a:rPr lang="es-PE" b="1" dirty="0">
                <a:effectLst>
                  <a:outerShdw blurRad="38100" dist="38100" dir="2700000" algn="tl">
                    <a:srgbClr val="000000">
                      <a:alpha val="43137"/>
                    </a:srgbClr>
                  </a:outerShdw>
                </a:effectLst>
              </a:rPr>
              <a:t>MODELO SUGERIDO: COLUMNAS 3D AGRUPADAS</a:t>
            </a:r>
          </a:p>
        </p:txBody>
      </p:sp>
      <p:sp>
        <p:nvSpPr>
          <p:cNvPr id="3" name="Globo: línea 2">
            <a:extLst>
              <a:ext uri="{FF2B5EF4-FFF2-40B4-BE49-F238E27FC236}">
                <a16:creationId xmlns:a16="http://schemas.microsoft.com/office/drawing/2014/main" id="{7D972A18-141C-40A0-86C0-C9B936926D5B}"/>
              </a:ext>
            </a:extLst>
          </p:cNvPr>
          <p:cNvSpPr/>
          <p:nvPr/>
        </p:nvSpPr>
        <p:spPr>
          <a:xfrm flipH="1">
            <a:off x="1926336" y="3977640"/>
            <a:ext cx="2862072" cy="523220"/>
          </a:xfrm>
          <a:prstGeom prst="borderCallout1">
            <a:avLst>
              <a:gd name="adj1" fmla="val 48460"/>
              <a:gd name="adj2" fmla="val 519"/>
              <a:gd name="adj3" fmla="val -72167"/>
              <a:gd name="adj4" fmla="val -26743"/>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solidFill>
                  <a:sysClr val="windowText" lastClr="000000"/>
                </a:solidFill>
                <a:effectLst>
                  <a:outerShdw blurRad="38100" dist="38100" dir="2700000" algn="tl">
                    <a:srgbClr val="000000">
                      <a:alpha val="43137"/>
                    </a:srgbClr>
                  </a:outerShdw>
                </a:effectLst>
              </a:rPr>
              <a:t>Note que se coloco imágenes descriptivas</a:t>
            </a:r>
          </a:p>
        </p:txBody>
      </p:sp>
    </p:spTree>
    <p:extLst>
      <p:ext uri="{BB962C8B-B14F-4D97-AF65-F5344CB8AC3E}">
        <p14:creationId xmlns:p14="http://schemas.microsoft.com/office/powerpoint/2010/main" val="93475857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type="body" sz="quarter" idx="13"/>
          </p:nvPr>
        </p:nvSpPr>
        <p:spPr>
          <a:xfrm>
            <a:off x="838200" y="1378527"/>
            <a:ext cx="10515600" cy="3668350"/>
          </a:xfrm>
        </p:spPr>
        <p:txBody>
          <a:bodyPr>
            <a:normAutofit/>
          </a:bodyPr>
          <a:lstStyle/>
          <a:p>
            <a:pPr algn="just"/>
            <a:r>
              <a:rPr lang="es-PE" sz="2600" dirty="0"/>
              <a:t>La segmentación de datos proporciona botones en los que puede hacer clic para filtrar datos de una tabla o una tabla dinámica. Además del filtrado rápido, las segmentaciones de datos también indican el estado de filtrado actual, de este modo es fácil entender qué se muestra exactamente en una tabla dinámica filtrada.</a:t>
            </a:r>
          </a:p>
        </p:txBody>
      </p:sp>
      <p:sp>
        <p:nvSpPr>
          <p:cNvPr id="2" name="Título 1"/>
          <p:cNvSpPr>
            <a:spLocks noGrp="1"/>
          </p:cNvSpPr>
          <p:nvPr>
            <p:ph type="title"/>
          </p:nvPr>
        </p:nvSpPr>
        <p:spPr>
          <a:xfrm>
            <a:off x="838200" y="132822"/>
            <a:ext cx="10515600" cy="584151"/>
          </a:xfrm>
        </p:spPr>
        <p:txBody>
          <a:bodyPr>
            <a:normAutofit fontScale="90000"/>
          </a:bodyPr>
          <a:lstStyle/>
          <a:p>
            <a:pPr algn="ctr"/>
            <a:r>
              <a:rPr lang="es-PE" b="1" dirty="0">
                <a:solidFill>
                  <a:schemeClr val="bg1"/>
                </a:solidFill>
              </a:rPr>
              <a:t>SEGMENTACIÓN DE DATOS</a:t>
            </a:r>
          </a:p>
        </p:txBody>
      </p:sp>
      <p:pic>
        <p:nvPicPr>
          <p:cNvPr id="1026" name="Picture 2" descr="Resultado de imagen para segmentacion de datos"/>
          <p:cNvPicPr>
            <a:picLocks noChangeAspect="1" noChangeArrowheads="1"/>
          </p:cNvPicPr>
          <p:nvPr/>
        </p:nvPicPr>
        <p:blipFill rotWithShape="1">
          <a:blip r:embed="rId2">
            <a:extLst>
              <a:ext uri="{28A0092B-C50C-407E-A947-70E740481C1C}">
                <a14:useLocalDpi xmlns:a14="http://schemas.microsoft.com/office/drawing/2010/main" val="0"/>
              </a:ext>
            </a:extLst>
          </a:blip>
          <a:srcRect l="1566" t="45695"/>
          <a:stretch/>
        </p:blipFill>
        <p:spPr bwMode="auto">
          <a:xfrm>
            <a:off x="3886200" y="3611714"/>
            <a:ext cx="4491037" cy="2472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016339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type="body" sz="quarter" idx="13"/>
          </p:nvPr>
        </p:nvSpPr>
        <p:spPr>
          <a:xfrm>
            <a:off x="838200" y="1613021"/>
            <a:ext cx="10515600" cy="3668350"/>
          </a:xfrm>
        </p:spPr>
        <p:txBody>
          <a:bodyPr>
            <a:normAutofit/>
          </a:bodyPr>
          <a:lstStyle/>
          <a:p>
            <a:pPr algn="just"/>
            <a:r>
              <a:rPr lang="es-PE" dirty="0"/>
              <a:t>En lugar de ajustar los filtros para mostrar las fechas, puede usar una Escala de tiempo de tablas dinámicas, una opción de filtro dinámico que le permite filtrar fácilmente por fecha y hora, y acercar el período que desee con un control deslizante. Haga clic en </a:t>
            </a:r>
            <a:r>
              <a:rPr lang="es-PE" b="1" dirty="0"/>
              <a:t>Analizar</a:t>
            </a:r>
            <a:r>
              <a:rPr lang="es-PE" dirty="0"/>
              <a:t> &gt; </a:t>
            </a:r>
            <a:r>
              <a:rPr lang="es-PE" b="1" dirty="0"/>
              <a:t>Insertar escala de tiempo</a:t>
            </a:r>
            <a:r>
              <a:rPr lang="es-PE" dirty="0"/>
              <a:t> para agregar una a la hoja de cálculo. </a:t>
            </a:r>
            <a:endParaRPr lang="es-PE" sz="2600" dirty="0"/>
          </a:p>
        </p:txBody>
      </p:sp>
      <p:sp>
        <p:nvSpPr>
          <p:cNvPr id="2" name="Título 1"/>
          <p:cNvSpPr>
            <a:spLocks noGrp="1"/>
          </p:cNvSpPr>
          <p:nvPr>
            <p:ph type="title"/>
          </p:nvPr>
        </p:nvSpPr>
        <p:spPr>
          <a:xfrm>
            <a:off x="838200" y="135083"/>
            <a:ext cx="10515600" cy="613064"/>
          </a:xfrm>
        </p:spPr>
        <p:txBody>
          <a:bodyPr>
            <a:normAutofit fontScale="90000"/>
          </a:bodyPr>
          <a:lstStyle/>
          <a:p>
            <a:pPr algn="ctr"/>
            <a:r>
              <a:rPr lang="es-PE" b="1" dirty="0">
                <a:solidFill>
                  <a:schemeClr val="bg1"/>
                </a:solidFill>
              </a:rPr>
              <a:t>ESCALA DE TIEMPO</a:t>
            </a:r>
          </a:p>
        </p:txBody>
      </p:sp>
      <p:pic>
        <p:nvPicPr>
          <p:cNvPr id="2050" name="Picture 2" descr="Escala de tiemp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5908" y="4239885"/>
            <a:ext cx="4026019" cy="1906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8538613"/>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1383</TotalTime>
  <Words>412</Words>
  <Application>Microsoft Office PowerPoint</Application>
  <PresentationFormat>Panorámica</PresentationFormat>
  <Paragraphs>55</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SEGMENTACIÓN DE DATOS</vt:lpstr>
      <vt:lpstr>ESCALA DE TIEMPO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MILAGROS-PC</dc:creator>
  <cp:lastModifiedBy>Burton Zephaniah</cp:lastModifiedBy>
  <cp:revision>101</cp:revision>
  <dcterms:created xsi:type="dcterms:W3CDTF">2019-09-09T03:46:59Z</dcterms:created>
  <dcterms:modified xsi:type="dcterms:W3CDTF">2025-04-03T23:37:30Z</dcterms:modified>
</cp:coreProperties>
</file>