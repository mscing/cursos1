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11" r:id="rId2"/>
    <p:sldId id="312" r:id="rId3"/>
    <p:sldId id="313" r:id="rId4"/>
    <p:sldId id="314" r:id="rId5"/>
    <p:sldId id="315" r:id="rId6"/>
    <p:sldId id="316" r:id="rId7"/>
    <p:sldId id="317" r:id="rId8"/>
    <p:sldId id="318" r:id="rId9"/>
    <p:sldId id="319" r:id="rId10"/>
    <p:sldId id="320" r:id="rId11"/>
    <p:sldId id="321" r:id="rId12"/>
    <p:sldId id="322" r:id="rId13"/>
    <p:sldId id="323" r:id="rId14"/>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83" d="100"/>
          <a:sy n="83" d="100"/>
        </p:scale>
        <p:origin x="63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9/11/2025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9/11/2025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9/11/2025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9/11/2025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9/11/2025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9/11/2025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9/11/2025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9/11/2025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9/11/2025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9/11/2025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9/11/2025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9/11/2025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9/11/2025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9/11/2025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839577" y="2655888"/>
            <a:ext cx="4561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04: EXCEL AVANZADO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
        <p:nvSpPr>
          <p:cNvPr id="6" name="Rectángulo 5"/>
          <p:cNvSpPr/>
          <p:nvPr/>
        </p:nvSpPr>
        <p:spPr>
          <a:xfrm>
            <a:off x="1925808" y="1099849"/>
            <a:ext cx="8274106" cy="1938992"/>
          </a:xfrm>
          <a:prstGeom prst="rect">
            <a:avLst/>
          </a:prstGeom>
        </p:spPr>
        <p:txBody>
          <a:bodyPr wrap="square">
            <a:spAutoFit/>
          </a:bodyPr>
          <a:lstStyle/>
          <a:p>
            <a:pPr algn="just"/>
            <a:r>
              <a:rPr lang="es-PE" sz="2400" dirty="0"/>
              <a:t>Una tabla dinámica es una herramienta avanzada para calcular, resumir y analizar datos que le permite ver comparaciones, patrones y tendencias en ellos. En resumen es un cruce de información que permite un análisis mas efectivo de la información.</a:t>
            </a:r>
          </a:p>
        </p:txBody>
      </p:sp>
      <p:sp>
        <p:nvSpPr>
          <p:cNvPr id="10" name="Rectángulo 9"/>
          <p:cNvSpPr/>
          <p:nvPr/>
        </p:nvSpPr>
        <p:spPr>
          <a:xfrm>
            <a:off x="2015018" y="3038841"/>
            <a:ext cx="8274106" cy="2123658"/>
          </a:xfrm>
          <a:prstGeom prst="rect">
            <a:avLst/>
          </a:prstGeom>
        </p:spPr>
        <p:txBody>
          <a:bodyPr wrap="square">
            <a:spAutoFit/>
          </a:bodyPr>
          <a:lstStyle/>
          <a:p>
            <a:pPr algn="just"/>
            <a:r>
              <a:rPr lang="es-PE" sz="2400" b="1" dirty="0"/>
              <a:t>PASOS</a:t>
            </a:r>
            <a:endParaRPr lang="es-PE" sz="2400" dirty="0"/>
          </a:p>
          <a:p>
            <a:pPr marL="457200" indent="-457200" algn="just">
              <a:buFont typeface="+mj-lt"/>
              <a:buAutoNum type="arabicPeriod"/>
            </a:pPr>
            <a:r>
              <a:rPr lang="es-PE" sz="2400" dirty="0"/>
              <a:t>Seleccione las celdas a partir de las que quiera crear una tabla dinámica.</a:t>
            </a:r>
          </a:p>
          <a:p>
            <a:pPr marL="914400" lvl="1" indent="-457200" algn="just">
              <a:buFont typeface="Arial" panose="020B0604020202020204" pitchFamily="34" charset="0"/>
              <a:buChar char="•"/>
            </a:pPr>
            <a:r>
              <a:rPr lang="es-PE" b="1" i="1" dirty="0"/>
              <a:t>Los datos no deben tener filas o columnas vacías. Deben tener un encabezado o titulo en la fila.</a:t>
            </a:r>
          </a:p>
          <a:p>
            <a:pPr marL="457200" indent="-457200" algn="just">
              <a:buFont typeface="+mj-lt"/>
              <a:buAutoNum type="arabicPeriod"/>
            </a:pPr>
            <a:r>
              <a:rPr lang="es-PE" sz="2400" dirty="0"/>
              <a:t>Ingrese a </a:t>
            </a:r>
            <a:r>
              <a:rPr lang="es-PE" sz="2400" b="1" dirty="0"/>
              <a:t>Insertar, </a:t>
            </a:r>
            <a:r>
              <a:rPr lang="es-PE" sz="2400" dirty="0"/>
              <a:t>luego a </a:t>
            </a:r>
            <a:r>
              <a:rPr lang="es-PE" sz="2400" b="1" dirty="0"/>
              <a:t>Tabla dinámica</a:t>
            </a:r>
            <a:r>
              <a:rPr lang="es-PE" sz="2400" dirty="0"/>
              <a:t>.</a:t>
            </a:r>
          </a:p>
        </p:txBody>
      </p:sp>
      <p:pic>
        <p:nvPicPr>
          <p:cNvPr id="1026"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212" y="5318617"/>
            <a:ext cx="1960988" cy="1212983"/>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ángulo 1"/>
          <p:cNvSpPr/>
          <p:nvPr/>
        </p:nvSpPr>
        <p:spPr>
          <a:xfrm>
            <a:off x="4592212" y="5609063"/>
            <a:ext cx="622842" cy="922536"/>
          </a:xfrm>
          <a:prstGeom prst="rect">
            <a:avLst/>
          </a:prstGeom>
          <a:no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65857718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759082" y="1165437"/>
            <a:ext cx="8274106" cy="5262979"/>
          </a:xfrm>
          <a:prstGeom prst="rect">
            <a:avLst/>
          </a:prstGeom>
        </p:spPr>
        <p:txBody>
          <a:bodyPr wrap="square">
            <a:spAutoFit/>
          </a:bodyPr>
          <a:lstStyle/>
          <a:p>
            <a:pPr marL="457200" indent="-457200" algn="just">
              <a:buFont typeface="+mj-lt"/>
              <a:buAutoNum type="arabicPeriod" startAt="3"/>
            </a:pPr>
            <a:r>
              <a:rPr lang="es-PE" sz="2400" dirty="0"/>
              <a:t>En la opción </a:t>
            </a:r>
            <a:r>
              <a:rPr lang="es-PE" sz="2400" b="1" dirty="0"/>
              <a:t>Seleccione los datos que desea analizar</a:t>
            </a:r>
            <a:r>
              <a:rPr lang="es-PE" sz="2400" dirty="0"/>
              <a:t>, haga clic en </a:t>
            </a:r>
            <a:r>
              <a:rPr lang="es-PE" sz="2400" b="1" dirty="0"/>
              <a:t>Seleccionar una tabla o rango</a:t>
            </a:r>
            <a:r>
              <a:rPr lang="es-PE" sz="2400" dirty="0"/>
              <a:t>.</a:t>
            </a:r>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algn="just"/>
            <a:endParaRPr lang="es-PE" sz="2400" dirty="0"/>
          </a:p>
          <a:p>
            <a:pPr algn="just"/>
            <a:endParaRPr lang="es-PE" sz="2400" dirty="0"/>
          </a:p>
          <a:p>
            <a:pPr marL="457200" indent="-457200" algn="just">
              <a:buFont typeface="+mj-lt"/>
              <a:buAutoNum type="arabicPeriod" startAt="4"/>
            </a:pPr>
            <a:r>
              <a:rPr lang="es-PE" sz="2400" dirty="0"/>
              <a:t>En </a:t>
            </a:r>
            <a:r>
              <a:rPr lang="es-PE" sz="2400" b="1" dirty="0"/>
              <a:t>Tabla o rango</a:t>
            </a:r>
            <a:r>
              <a:rPr lang="es-PE" sz="2400" dirty="0"/>
              <a:t>, compruebe el rango de celdas.</a:t>
            </a:r>
          </a:p>
          <a:p>
            <a:pPr marL="457200" indent="-457200" algn="just">
              <a:buFont typeface="+mj-lt"/>
              <a:buAutoNum type="arabicPeriod" startAt="4"/>
            </a:pPr>
            <a:r>
              <a:rPr lang="es-PE" sz="2400" dirty="0"/>
              <a:t>Seleccione </a:t>
            </a:r>
            <a:r>
              <a:rPr lang="es-PE" sz="2400" b="1" dirty="0"/>
              <a:t>Nueva hoja de cálculo</a:t>
            </a:r>
          </a:p>
          <a:p>
            <a:pPr marL="457200" indent="-457200" algn="just">
              <a:buFont typeface="+mj-lt"/>
              <a:buAutoNum type="arabicPeriod" startAt="4"/>
            </a:pPr>
            <a:r>
              <a:rPr lang="es-PE" sz="2400" dirty="0"/>
              <a:t>Seleccione </a:t>
            </a:r>
            <a:r>
              <a:rPr lang="es-PE" sz="2400" b="1" dirty="0"/>
              <a:t>Aceptar</a:t>
            </a:r>
            <a:r>
              <a:rPr lang="es-PE" sz="2400" dirty="0"/>
              <a:t>.</a:t>
            </a:r>
          </a:p>
        </p:txBody>
      </p:sp>
      <p:pic>
        <p:nvPicPr>
          <p:cNvPr id="2050"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4741" y="1986937"/>
            <a:ext cx="3686175" cy="2952751"/>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203410080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t="19538" r="39995" b="7020"/>
          <a:stretch/>
        </p:blipFill>
        <p:spPr>
          <a:xfrm>
            <a:off x="2160609" y="992459"/>
            <a:ext cx="7191510" cy="4951141"/>
          </a:xfrm>
          <a:prstGeom prst="rect">
            <a:avLst/>
          </a:prstGeom>
        </p:spPr>
      </p:pic>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420348232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2521" t="19597" b="7756"/>
          <a:stretch/>
        </p:blipFill>
        <p:spPr>
          <a:xfrm>
            <a:off x="4102051" y="896291"/>
            <a:ext cx="2194671" cy="51308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5" name="Llamada con línea 1 4"/>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6" name="Llamada con línea 1 5"/>
          <p:cNvSpPr/>
          <p:nvPr/>
        </p:nvSpPr>
        <p:spPr>
          <a:xfrm>
            <a:off x="7011722" y="4037637"/>
            <a:ext cx="3373245" cy="782027"/>
          </a:xfrm>
          <a:prstGeom prst="borderCallout1">
            <a:avLst>
              <a:gd name="adj1" fmla="val 53009"/>
              <a:gd name="adj2" fmla="val 820"/>
              <a:gd name="adj3" fmla="val 109353"/>
              <a:gd name="adj4" fmla="val -6443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LOS CAMPOS NO NUMÉRICOS SE AGREGAN A </a:t>
            </a:r>
            <a:r>
              <a:rPr lang="es-PE" b="1" dirty="0">
                <a:solidFill>
                  <a:srgbClr val="2F2F2F"/>
                </a:solidFill>
              </a:rPr>
              <a:t>FILAS</a:t>
            </a:r>
            <a:endParaRPr lang="es-PE" b="1" dirty="0">
              <a:solidFill>
                <a:sysClr val="windowText" lastClr="000000"/>
              </a:solidFill>
              <a:effectLst>
                <a:outerShdw blurRad="38100" dist="38100" dir="2700000" algn="tl">
                  <a:srgbClr val="000000">
                    <a:alpha val="43137"/>
                  </a:srgbClr>
                </a:outerShdw>
              </a:effectLst>
            </a:endParaRPr>
          </a:p>
        </p:txBody>
      </p:sp>
      <p:sp>
        <p:nvSpPr>
          <p:cNvPr id="7" name="Llamada con línea 1 6"/>
          <p:cNvSpPr/>
          <p:nvPr/>
        </p:nvSpPr>
        <p:spPr>
          <a:xfrm>
            <a:off x="7011722" y="2976284"/>
            <a:ext cx="3373245" cy="885994"/>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LAS JERARQUÍAS TALES COMO  FECHA Y HORA SE AGREGAN A </a:t>
            </a:r>
            <a:r>
              <a:rPr lang="es-PE" b="1" dirty="0">
                <a:solidFill>
                  <a:srgbClr val="2F2F2F"/>
                </a:solidFill>
              </a:rPr>
              <a:t>COLUMNAS</a:t>
            </a:r>
            <a:r>
              <a:rPr lang="es-PE" dirty="0">
                <a:solidFill>
                  <a:srgbClr val="2F2F2F"/>
                </a:solidFill>
              </a:rPr>
              <a:t> </a:t>
            </a:r>
            <a:endParaRPr lang="es-PE" b="1" dirty="0">
              <a:solidFill>
                <a:sysClr val="windowText" lastClr="000000"/>
              </a:solidFill>
              <a:effectLst>
                <a:outerShdw blurRad="38100" dist="38100" dir="2700000" algn="tl">
                  <a:srgbClr val="000000">
                    <a:alpha val="43137"/>
                  </a:srgbClr>
                </a:outerShdw>
              </a:effectLst>
            </a:endParaRPr>
          </a:p>
        </p:txBody>
      </p:sp>
      <p:sp>
        <p:nvSpPr>
          <p:cNvPr id="8" name="Llamada con línea 1 7"/>
          <p:cNvSpPr/>
          <p:nvPr/>
        </p:nvSpPr>
        <p:spPr>
          <a:xfrm>
            <a:off x="7011721" y="5121747"/>
            <a:ext cx="3373245" cy="782027"/>
          </a:xfrm>
          <a:prstGeom prst="borderCallout1">
            <a:avLst>
              <a:gd name="adj1" fmla="val 53009"/>
              <a:gd name="adj2" fmla="val 820"/>
              <a:gd name="adj3" fmla="val 52316"/>
              <a:gd name="adj4" fmla="val -3765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Y LOS CAMPOS NUMÉRICOS SE AGREGAN A </a:t>
            </a:r>
            <a:r>
              <a:rPr lang="es-PE" b="1" dirty="0">
                <a:solidFill>
                  <a:srgbClr val="2F2F2F"/>
                </a:solidFill>
              </a:rPr>
              <a:t>VALORES</a:t>
            </a:r>
            <a:r>
              <a:rPr lang="es-PE" dirty="0">
                <a:solidFill>
                  <a:srgbClr val="2F2F2F"/>
                </a:solidFill>
              </a:rPr>
              <a:t>.</a:t>
            </a:r>
            <a:endParaRPr lang="es-PE" dirty="0"/>
          </a:p>
        </p:txBody>
      </p:sp>
      <p:sp>
        <p:nvSpPr>
          <p:cNvPr id="9" name="Llamada con línea 1 8"/>
          <p:cNvSpPr/>
          <p:nvPr/>
        </p:nvSpPr>
        <p:spPr>
          <a:xfrm flipH="1">
            <a:off x="1635512" y="3144447"/>
            <a:ext cx="2206620" cy="1675217"/>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LA JERARQUÍA PRINCIPAL SE COLOCA EN </a:t>
            </a:r>
            <a:r>
              <a:rPr lang="es-PE" b="1" dirty="0">
                <a:solidFill>
                  <a:sysClr val="windowText" lastClr="000000"/>
                </a:solidFill>
                <a:effectLst>
                  <a:outerShdw blurRad="38100" dist="38100" dir="2700000" algn="tl">
                    <a:srgbClr val="000000">
                      <a:alpha val="43137"/>
                    </a:srgbClr>
                  </a:outerShdw>
                </a:effectLst>
              </a:rPr>
              <a:t>FILTROS (</a:t>
            </a:r>
            <a:r>
              <a:rPr lang="es-PE" sz="1600" b="1" i="1" dirty="0">
                <a:solidFill>
                  <a:srgbClr val="FF0000"/>
                </a:solidFill>
                <a:effectLst>
                  <a:outerShdw blurRad="38100" dist="38100" dir="2700000" algn="tl">
                    <a:srgbClr val="000000">
                      <a:alpha val="43137"/>
                    </a:srgbClr>
                  </a:outerShdw>
                </a:effectLst>
              </a:rPr>
              <a:t>OPCIONAL</a:t>
            </a:r>
            <a:r>
              <a:rPr lang="es-PE" b="1" dirty="0">
                <a:solidFill>
                  <a:sysClr val="windowText" lastClr="00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61529150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0369" t="20966" b="10240"/>
          <a:stretch/>
        </p:blipFill>
        <p:spPr>
          <a:xfrm>
            <a:off x="3964259" y="881697"/>
            <a:ext cx="2590800" cy="5674470"/>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5" name="Llamada con línea 1 4"/>
          <p:cNvSpPr/>
          <p:nvPr/>
        </p:nvSpPr>
        <p:spPr>
          <a:xfrm flipH="1">
            <a:off x="1635512" y="4795260"/>
            <a:ext cx="2206620" cy="920601"/>
          </a:xfrm>
          <a:prstGeom prst="borderCallout1">
            <a:avLst>
              <a:gd name="adj1" fmla="val 53009"/>
              <a:gd name="adj2" fmla="val 820"/>
              <a:gd name="adj3" fmla="val 73235"/>
              <a:gd name="adj4" fmla="val -2390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FILAS COLOCAREMOS </a:t>
            </a:r>
            <a:r>
              <a:rPr lang="es-PE" b="1" dirty="0">
                <a:solidFill>
                  <a:srgbClr val="FF0000"/>
                </a:solidFill>
                <a:effectLst>
                  <a:outerShdw blurRad="38100" dist="38100" dir="2700000" algn="tl">
                    <a:srgbClr val="000000">
                      <a:alpha val="43137"/>
                    </a:srgbClr>
                  </a:outerShdw>
                </a:effectLst>
              </a:rPr>
              <a:t>VENDEDOR</a:t>
            </a:r>
          </a:p>
        </p:txBody>
      </p:sp>
      <p:sp>
        <p:nvSpPr>
          <p:cNvPr id="6" name="Llamada con línea 1 5"/>
          <p:cNvSpPr/>
          <p:nvPr/>
        </p:nvSpPr>
        <p:spPr>
          <a:xfrm>
            <a:off x="7134385" y="3082222"/>
            <a:ext cx="3122341" cy="625455"/>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COLUMNAS COLOCAREMOS </a:t>
            </a:r>
            <a:r>
              <a:rPr lang="es-PE" b="1" dirty="0">
                <a:solidFill>
                  <a:srgbClr val="FF0000"/>
                </a:solidFill>
                <a:effectLst>
                  <a:outerShdw blurRad="38100" dist="38100" dir="2700000" algn="tl">
                    <a:srgbClr val="000000">
                      <a:alpha val="43137"/>
                    </a:srgbClr>
                  </a:outerShdw>
                </a:effectLst>
              </a:rPr>
              <a:t>REGIÓN</a:t>
            </a:r>
          </a:p>
        </p:txBody>
      </p:sp>
      <p:sp>
        <p:nvSpPr>
          <p:cNvPr id="7" name="Llamada con línea 1 6"/>
          <p:cNvSpPr/>
          <p:nvPr/>
        </p:nvSpPr>
        <p:spPr>
          <a:xfrm>
            <a:off x="7134385" y="5255561"/>
            <a:ext cx="3373245" cy="782027"/>
          </a:xfrm>
          <a:prstGeom prst="borderCallout1">
            <a:avLst>
              <a:gd name="adj1" fmla="val 53009"/>
              <a:gd name="adj2" fmla="val 820"/>
              <a:gd name="adj3" fmla="val 107928"/>
              <a:gd name="adj4" fmla="val -3236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VALORES COLOCAREMOS </a:t>
            </a:r>
            <a:r>
              <a:rPr lang="es-PE" b="1" dirty="0">
                <a:solidFill>
                  <a:srgbClr val="FF0000"/>
                </a:solidFill>
                <a:effectLst>
                  <a:outerShdw blurRad="38100" dist="38100" dir="2700000" algn="tl">
                    <a:srgbClr val="000000">
                      <a:alpha val="43137"/>
                    </a:srgbClr>
                  </a:outerShdw>
                </a:effectLst>
              </a:rPr>
              <a:t>UNIDADES</a:t>
            </a:r>
          </a:p>
        </p:txBody>
      </p:sp>
      <p:sp>
        <p:nvSpPr>
          <p:cNvPr id="8" name="Llamada con línea 1 7"/>
          <p:cNvSpPr/>
          <p:nvPr/>
        </p:nvSpPr>
        <p:spPr>
          <a:xfrm flipH="1">
            <a:off x="1635512" y="3144447"/>
            <a:ext cx="2206620" cy="1237983"/>
          </a:xfrm>
          <a:prstGeom prst="borderCallout1">
            <a:avLst>
              <a:gd name="adj1" fmla="val 53009"/>
              <a:gd name="adj2" fmla="val 820"/>
              <a:gd name="adj3" fmla="val 94813"/>
              <a:gd name="adj4" fmla="val -3090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COMO JERARQUÍA PRINCIPAL SE COLOCARÁ </a:t>
            </a:r>
            <a:r>
              <a:rPr lang="es-PE" b="1" dirty="0">
                <a:solidFill>
                  <a:srgbClr val="FF0000"/>
                </a:solidFill>
                <a:effectLst>
                  <a:outerShdw blurRad="38100" dist="38100" dir="2700000" algn="tl">
                    <a:srgbClr val="000000">
                      <a:alpha val="43137"/>
                    </a:srgbClr>
                  </a:outerShdw>
                </a:effectLst>
              </a:rPr>
              <a:t>PRODUCTOS</a:t>
            </a:r>
          </a:p>
        </p:txBody>
      </p:sp>
    </p:spTree>
    <p:extLst>
      <p:ext uri="{BB962C8B-B14F-4D97-AF65-F5344CB8AC3E}">
        <p14:creationId xmlns:p14="http://schemas.microsoft.com/office/powerpoint/2010/main" val="2598463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t="19574" r="43047" b="47586"/>
          <a:stretch/>
        </p:blipFill>
        <p:spPr>
          <a:xfrm>
            <a:off x="2206814" y="2226327"/>
            <a:ext cx="7777509" cy="280287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699487" y="1572714"/>
            <a:ext cx="1381431" cy="512174"/>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FILTRO</a:t>
            </a:r>
            <a:endParaRPr lang="es-PE" sz="2000" b="1" dirty="0">
              <a:solidFill>
                <a:srgbClr val="FF0000"/>
              </a:solidFill>
              <a:effectLst>
                <a:outerShdw blurRad="38100" dist="38100" dir="2700000" algn="tl">
                  <a:srgbClr val="000000">
                    <a:alpha val="43137"/>
                  </a:srgbClr>
                </a:outerShdw>
              </a:effectLst>
            </a:endParaRPr>
          </a:p>
        </p:txBody>
      </p:sp>
      <p:sp>
        <p:nvSpPr>
          <p:cNvPr id="5" name="Llamada con línea 1 4"/>
          <p:cNvSpPr/>
          <p:nvPr/>
        </p:nvSpPr>
        <p:spPr>
          <a:xfrm>
            <a:off x="3354121" y="5319915"/>
            <a:ext cx="1381431" cy="512174"/>
          </a:xfrm>
          <a:prstGeom prst="borderCallout1">
            <a:avLst>
              <a:gd name="adj1" fmla="val 53009"/>
              <a:gd name="adj2" fmla="val 820"/>
              <a:gd name="adj3" fmla="val -155528"/>
              <a:gd name="adj4" fmla="val -18234"/>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FILA</a:t>
            </a:r>
            <a:endParaRPr lang="es-PE" sz="2000" b="1" dirty="0">
              <a:solidFill>
                <a:srgbClr val="FF0000"/>
              </a:solidFill>
              <a:effectLst>
                <a:outerShdw blurRad="38100" dist="38100" dir="2700000" algn="tl">
                  <a:srgbClr val="000000">
                    <a:alpha val="43137"/>
                  </a:srgbClr>
                </a:outerShdw>
              </a:effectLst>
            </a:endParaRPr>
          </a:p>
        </p:txBody>
      </p:sp>
      <p:sp>
        <p:nvSpPr>
          <p:cNvPr id="6" name="Llamada con línea 1 5"/>
          <p:cNvSpPr/>
          <p:nvPr/>
        </p:nvSpPr>
        <p:spPr>
          <a:xfrm>
            <a:off x="8929730" y="2732832"/>
            <a:ext cx="1381431" cy="512174"/>
          </a:xfrm>
          <a:prstGeom prst="borderCallout1">
            <a:avLst>
              <a:gd name="adj1" fmla="val 53009"/>
              <a:gd name="adj2" fmla="val 820"/>
              <a:gd name="adj3" fmla="val 208070"/>
              <a:gd name="adj4" fmla="val -10380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COLUMNA</a:t>
            </a:r>
            <a:endParaRPr lang="es-PE" sz="2000" b="1" dirty="0">
              <a:solidFill>
                <a:srgbClr val="FF0000"/>
              </a:solidFill>
              <a:effectLst>
                <a:outerShdw blurRad="38100" dist="38100" dir="2700000" algn="tl">
                  <a:srgbClr val="000000">
                    <a:alpha val="43137"/>
                  </a:srgbClr>
                </a:outerShdw>
              </a:effectLst>
            </a:endParaRPr>
          </a:p>
        </p:txBody>
      </p:sp>
      <p:sp>
        <p:nvSpPr>
          <p:cNvPr id="7" name="Llamada con línea 1 6"/>
          <p:cNvSpPr/>
          <p:nvPr/>
        </p:nvSpPr>
        <p:spPr>
          <a:xfrm flipH="1">
            <a:off x="6275740" y="5320698"/>
            <a:ext cx="1381431" cy="512174"/>
          </a:xfrm>
          <a:prstGeom prst="borderCallout1">
            <a:avLst>
              <a:gd name="adj1" fmla="val 53009"/>
              <a:gd name="adj2" fmla="val 820"/>
              <a:gd name="adj3" fmla="val -155528"/>
              <a:gd name="adj4" fmla="val -8927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VALORES</a:t>
            </a:r>
            <a:endParaRPr lang="es-PE" sz="2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0261207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1B63D0-1557-4497-B0AA-840DE7936144}"/>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3" name="Imagen 2">
            <a:extLst>
              <a:ext uri="{FF2B5EF4-FFF2-40B4-BE49-F238E27FC236}">
                <a16:creationId xmlns:a16="http://schemas.microsoft.com/office/drawing/2014/main" id="{A31767A9-37BA-4594-9C5D-147D6E7C6D87}"/>
              </a:ext>
            </a:extLst>
          </p:cNvPr>
          <p:cNvPicPr>
            <a:picLocks noChangeAspect="1"/>
          </p:cNvPicPr>
          <p:nvPr/>
        </p:nvPicPr>
        <p:blipFill rotWithShape="1">
          <a:blip r:embed="rId2"/>
          <a:srcRect t="19538" r="39995" b="7020"/>
          <a:stretch/>
        </p:blipFill>
        <p:spPr>
          <a:xfrm>
            <a:off x="2160609" y="992459"/>
            <a:ext cx="7191510" cy="4951141"/>
          </a:xfrm>
          <a:prstGeom prst="rect">
            <a:avLst/>
          </a:prstGeom>
        </p:spPr>
      </p:pic>
    </p:spTree>
    <p:extLst>
      <p:ext uri="{BB962C8B-B14F-4D97-AF65-F5344CB8AC3E}">
        <p14:creationId xmlns:p14="http://schemas.microsoft.com/office/powerpoint/2010/main" val="241832685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0000000-0008-0000-1C00-000004000000}"/>
              </a:ext>
            </a:extLst>
          </p:cNvPr>
          <p:cNvPicPr>
            <a:picLocks noChangeAspect="1"/>
          </p:cNvPicPr>
          <p:nvPr/>
        </p:nvPicPr>
        <p:blipFill rotWithShape="1">
          <a:blip r:embed="rId2"/>
          <a:srcRect l="82369" t="21118" b="8027"/>
          <a:stretch/>
        </p:blipFill>
        <p:spPr>
          <a:xfrm>
            <a:off x="5963413" y="1517692"/>
            <a:ext cx="2066925" cy="4672570"/>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A94C0212-3705-46E4-A388-08FC6E8C9E1F}"/>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4" name="CuadroTexto 3">
            <a:extLst>
              <a:ext uri="{FF2B5EF4-FFF2-40B4-BE49-F238E27FC236}">
                <a16:creationId xmlns:a16="http://schemas.microsoft.com/office/drawing/2014/main" id="{B244D303-93CE-4457-8E45-EDD39C8AFC3C}"/>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r>
              <a:rPr lang="es-PE" b="1" dirty="0">
                <a:effectLst>
                  <a:outerShdw blurRad="38100" dist="38100" dir="2700000" algn="tl">
                    <a:srgbClr val="000000">
                      <a:alpha val="43137"/>
                    </a:srgbClr>
                  </a:outerShdw>
                </a:effectLst>
              </a:rPr>
              <a:t>DISTRIBUYA LOS CAMPOS DE LA TABLA COMO SE MUESTRA</a:t>
            </a:r>
          </a:p>
        </p:txBody>
      </p:sp>
      <p:sp>
        <p:nvSpPr>
          <p:cNvPr id="5" name="Globo: flecha derecha 4">
            <a:extLst>
              <a:ext uri="{FF2B5EF4-FFF2-40B4-BE49-F238E27FC236}">
                <a16:creationId xmlns:a16="http://schemas.microsoft.com/office/drawing/2014/main" id="{D24D7AAC-E1FA-4CDD-8998-734E8E5BC5F5}"/>
              </a:ext>
            </a:extLst>
          </p:cNvPr>
          <p:cNvSpPr/>
          <p:nvPr/>
        </p:nvSpPr>
        <p:spPr>
          <a:xfrm>
            <a:off x="2968752" y="2231136"/>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DISTRIBUCIÓN DE CAMPOS</a:t>
            </a:r>
          </a:p>
        </p:txBody>
      </p:sp>
    </p:spTree>
    <p:extLst>
      <p:ext uri="{BB962C8B-B14F-4D97-AF65-F5344CB8AC3E}">
        <p14:creationId xmlns:p14="http://schemas.microsoft.com/office/powerpoint/2010/main" val="392421499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305370-1444-4D5D-A916-2EFA739B31FF}"/>
              </a:ext>
            </a:extLst>
          </p:cNvPr>
          <p:cNvPicPr>
            <a:picLocks noChangeAspect="1"/>
          </p:cNvPicPr>
          <p:nvPr/>
        </p:nvPicPr>
        <p:blipFill>
          <a:blip r:embed="rId2"/>
          <a:stretch>
            <a:fillRect/>
          </a:stretch>
        </p:blipFill>
        <p:spPr>
          <a:xfrm>
            <a:off x="5582031" y="1662303"/>
            <a:ext cx="4244721" cy="3727598"/>
          </a:xfrm>
          <a:prstGeom prst="rect">
            <a:avLst/>
          </a:prstGeom>
          <a:effectLst>
            <a:outerShdw blurRad="50800" dist="38100" dir="2700000" algn="tl" rotWithShape="0">
              <a:prstClr val="black">
                <a:alpha val="40000"/>
              </a:prstClr>
            </a:outerShdw>
          </a:effectLst>
        </p:spPr>
      </p:pic>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8" name="Globo: flecha derecha 7">
            <a:extLst>
              <a:ext uri="{FF2B5EF4-FFF2-40B4-BE49-F238E27FC236}">
                <a16:creationId xmlns:a16="http://schemas.microsoft.com/office/drawing/2014/main" id="{2B5DE97A-7B63-4BEC-BC8D-F81B2CF60E57}"/>
              </a:ext>
            </a:extLst>
          </p:cNvPr>
          <p:cNvSpPr/>
          <p:nvPr/>
        </p:nvSpPr>
        <p:spPr>
          <a:xfrm>
            <a:off x="2639568" y="2085922"/>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CREAR EL GRÁFICO EN OTRA HOJA</a:t>
            </a:r>
          </a:p>
        </p:txBody>
      </p:sp>
    </p:spTree>
    <p:extLst>
      <p:ext uri="{BB962C8B-B14F-4D97-AF65-F5344CB8AC3E}">
        <p14:creationId xmlns:p14="http://schemas.microsoft.com/office/powerpoint/2010/main" val="145840816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5" name="Imagen 4">
            <a:extLst>
              <a:ext uri="{FF2B5EF4-FFF2-40B4-BE49-F238E27FC236}">
                <a16:creationId xmlns:a16="http://schemas.microsoft.com/office/drawing/2014/main" id="{00000000-0008-0000-1C00-000003000000}"/>
              </a:ext>
            </a:extLst>
          </p:cNvPr>
          <p:cNvPicPr>
            <a:picLocks noChangeAspect="1"/>
          </p:cNvPicPr>
          <p:nvPr/>
        </p:nvPicPr>
        <p:blipFill rotWithShape="1">
          <a:blip r:embed="rId2"/>
          <a:srcRect l="9898" t="35013" r="37510" b="14031"/>
          <a:stretch/>
        </p:blipFill>
        <p:spPr>
          <a:xfrm>
            <a:off x="2968753" y="1768710"/>
            <a:ext cx="6552905" cy="3571387"/>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12" name="CuadroTexto 11">
            <a:extLst>
              <a:ext uri="{FF2B5EF4-FFF2-40B4-BE49-F238E27FC236}">
                <a16:creationId xmlns:a16="http://schemas.microsoft.com/office/drawing/2014/main" id="{2A10F71A-EEE6-4351-B465-1D0AFA7650ED}"/>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es-PE" b="1" dirty="0">
                <a:effectLst>
                  <a:outerShdw blurRad="38100" dist="38100" dir="2700000" algn="tl">
                    <a:srgbClr val="000000">
                      <a:alpha val="43137"/>
                    </a:srgbClr>
                  </a:outerShdw>
                </a:effectLst>
              </a:rPr>
              <a:t>MODELO SUGERIDO: COLUMNAS 3D AGRUPADAS</a:t>
            </a:r>
          </a:p>
        </p:txBody>
      </p:sp>
      <p:sp>
        <p:nvSpPr>
          <p:cNvPr id="3" name="Globo: línea 2">
            <a:extLst>
              <a:ext uri="{FF2B5EF4-FFF2-40B4-BE49-F238E27FC236}">
                <a16:creationId xmlns:a16="http://schemas.microsoft.com/office/drawing/2014/main" id="{7D972A18-141C-40A0-86C0-C9B936926D5B}"/>
              </a:ext>
            </a:extLst>
          </p:cNvPr>
          <p:cNvSpPr/>
          <p:nvPr/>
        </p:nvSpPr>
        <p:spPr>
          <a:xfrm flipH="1">
            <a:off x="1926336" y="3977640"/>
            <a:ext cx="2862072" cy="523220"/>
          </a:xfrm>
          <a:prstGeom prst="borderCallout1">
            <a:avLst>
              <a:gd name="adj1" fmla="val 48460"/>
              <a:gd name="adj2" fmla="val 519"/>
              <a:gd name="adj3" fmla="val -72167"/>
              <a:gd name="adj4" fmla="val -2674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ysClr val="windowText" lastClr="000000"/>
                </a:solidFill>
                <a:effectLst>
                  <a:outerShdw blurRad="38100" dist="38100" dir="2700000" algn="tl">
                    <a:srgbClr val="000000">
                      <a:alpha val="43137"/>
                    </a:srgbClr>
                  </a:outerShdw>
                </a:effectLst>
              </a:rPr>
              <a:t>Note que se coloco imágenes descriptivas</a:t>
            </a:r>
          </a:p>
        </p:txBody>
      </p:sp>
    </p:spTree>
    <p:extLst>
      <p:ext uri="{BB962C8B-B14F-4D97-AF65-F5344CB8AC3E}">
        <p14:creationId xmlns:p14="http://schemas.microsoft.com/office/powerpoint/2010/main" val="93475857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378527"/>
            <a:ext cx="10515600" cy="3668350"/>
          </a:xfrm>
        </p:spPr>
        <p:txBody>
          <a:bodyPr>
            <a:normAutofit/>
          </a:bodyPr>
          <a:lstStyle/>
          <a:p>
            <a:pPr algn="just"/>
            <a:r>
              <a:rPr lang="es-PE" sz="2600" dirty="0"/>
              <a:t>La segmentación de datos proporciona botones en los que puede hacer clic para filtrar datos de una tabla o una tabla dinámica. Además del filtrado rápido, las segmentaciones de datos también indican el estado de filtrado actual, de este modo es fácil entender qué se muestra exactamente en una tabla dinámica filtrada.</a:t>
            </a:r>
          </a:p>
        </p:txBody>
      </p:sp>
      <p:sp>
        <p:nvSpPr>
          <p:cNvPr id="2" name="Título 1"/>
          <p:cNvSpPr>
            <a:spLocks noGrp="1"/>
          </p:cNvSpPr>
          <p:nvPr>
            <p:ph type="title"/>
          </p:nvPr>
        </p:nvSpPr>
        <p:spPr>
          <a:xfrm>
            <a:off x="838200" y="132822"/>
            <a:ext cx="10515600" cy="584151"/>
          </a:xfrm>
        </p:spPr>
        <p:txBody>
          <a:bodyPr>
            <a:normAutofit fontScale="90000"/>
          </a:bodyPr>
          <a:lstStyle/>
          <a:p>
            <a:pPr algn="ctr"/>
            <a:r>
              <a:rPr lang="es-PE" b="1" dirty="0">
                <a:solidFill>
                  <a:schemeClr val="bg1"/>
                </a:solidFill>
              </a:rPr>
              <a:t>SEGMENTACIÓN DE DATOS</a:t>
            </a:r>
          </a:p>
        </p:txBody>
      </p:sp>
      <p:pic>
        <p:nvPicPr>
          <p:cNvPr id="1026" name="Picture 2" descr="Resultado de imagen para segmentacion de datos"/>
          <p:cNvPicPr>
            <a:picLocks noChangeAspect="1" noChangeArrowheads="1"/>
          </p:cNvPicPr>
          <p:nvPr/>
        </p:nvPicPr>
        <p:blipFill rotWithShape="1">
          <a:blip r:embed="rId2">
            <a:extLst>
              <a:ext uri="{28A0092B-C50C-407E-A947-70E740481C1C}">
                <a14:useLocalDpi xmlns:a14="http://schemas.microsoft.com/office/drawing/2010/main" val="0"/>
              </a:ext>
            </a:extLst>
          </a:blip>
          <a:srcRect l="1566" t="45695"/>
          <a:stretch/>
        </p:blipFill>
        <p:spPr bwMode="auto">
          <a:xfrm>
            <a:off x="3886200" y="3611714"/>
            <a:ext cx="4491037" cy="247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16339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613021"/>
            <a:ext cx="10515600" cy="3668350"/>
          </a:xfrm>
        </p:spPr>
        <p:txBody>
          <a:bodyPr>
            <a:normAutofit/>
          </a:bodyPr>
          <a:lstStyle/>
          <a:p>
            <a:pPr algn="just"/>
            <a:r>
              <a:rPr lang="es-PE" dirty="0"/>
              <a:t>En lugar de ajustar los filtros para mostrar las fechas, puede usar una Escala de tiempo de tablas dinámicas, una opción de filtro dinámico que le permite filtrar fácilmente por fecha y hora, y acercar el período que desee con un control deslizante. Haga clic en </a:t>
            </a:r>
            <a:r>
              <a:rPr lang="es-PE" b="1" dirty="0"/>
              <a:t>Analizar</a:t>
            </a:r>
            <a:r>
              <a:rPr lang="es-PE" dirty="0"/>
              <a:t> &gt; </a:t>
            </a:r>
            <a:r>
              <a:rPr lang="es-PE" b="1" dirty="0"/>
              <a:t>Insertar escala de tiempo</a:t>
            </a:r>
            <a:r>
              <a:rPr lang="es-PE" dirty="0"/>
              <a:t> para agregar una a la hoja de cálculo. </a:t>
            </a:r>
            <a:endParaRPr lang="es-PE" sz="2600" dirty="0"/>
          </a:p>
        </p:txBody>
      </p:sp>
      <p:sp>
        <p:nvSpPr>
          <p:cNvPr id="2" name="Título 1"/>
          <p:cNvSpPr>
            <a:spLocks noGrp="1"/>
          </p:cNvSpPr>
          <p:nvPr>
            <p:ph type="title"/>
          </p:nvPr>
        </p:nvSpPr>
        <p:spPr>
          <a:xfrm>
            <a:off x="838200" y="135083"/>
            <a:ext cx="10515600" cy="613064"/>
          </a:xfrm>
        </p:spPr>
        <p:txBody>
          <a:bodyPr>
            <a:normAutofit fontScale="90000"/>
          </a:bodyPr>
          <a:lstStyle/>
          <a:p>
            <a:pPr algn="ctr"/>
            <a:r>
              <a:rPr lang="es-PE" b="1" dirty="0">
                <a:solidFill>
                  <a:schemeClr val="bg1"/>
                </a:solidFill>
              </a:rPr>
              <a:t>ESCALA DE TIEMPO</a:t>
            </a:r>
          </a:p>
        </p:txBody>
      </p:sp>
      <p:pic>
        <p:nvPicPr>
          <p:cNvPr id="2050" name="Picture 2" descr="Escala de tiem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908" y="4239885"/>
            <a:ext cx="4026019" cy="1906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53861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1383</TotalTime>
  <Words>412</Words>
  <Application>Microsoft Office PowerPoint</Application>
  <PresentationFormat>Panorámica</PresentationFormat>
  <Paragraphs>55</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SEGMENTACIÓN DE DATOS</vt:lpstr>
      <vt:lpstr>ESCALA DE TIEMPO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Eric Alberto Heredia Mendoza</cp:lastModifiedBy>
  <cp:revision>101</cp:revision>
  <dcterms:created xsi:type="dcterms:W3CDTF">2019-09-09T03:46:59Z</dcterms:created>
  <dcterms:modified xsi:type="dcterms:W3CDTF">2025-11-09T13:54:23Z</dcterms:modified>
</cp:coreProperties>
</file>