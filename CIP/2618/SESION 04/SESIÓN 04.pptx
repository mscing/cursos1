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23"/>
  </p:notesMasterIdLst>
  <p:handoutMasterIdLst>
    <p:handoutMasterId r:id="rId24"/>
  </p:handoutMasterIdLst>
  <p:sldIdLst>
    <p:sldId id="256" r:id="rId5"/>
    <p:sldId id="275" r:id="rId6"/>
    <p:sldId id="308" r:id="rId7"/>
    <p:sldId id="309" r:id="rId8"/>
    <p:sldId id="310" r:id="rId9"/>
    <p:sldId id="311" r:id="rId10"/>
    <p:sldId id="346" r:id="rId11"/>
    <p:sldId id="314" r:id="rId12"/>
    <p:sldId id="312" r:id="rId13"/>
    <p:sldId id="347" r:id="rId14"/>
    <p:sldId id="348" r:id="rId15"/>
    <p:sldId id="315" r:id="rId16"/>
    <p:sldId id="349" r:id="rId17"/>
    <p:sldId id="313" r:id="rId18"/>
    <p:sldId id="350" r:id="rId19"/>
    <p:sldId id="351" r:id="rId20"/>
    <p:sldId id="345" r:id="rId21"/>
    <p:sldId id="296" r:id="rId22"/>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7F7F7F"/>
    <a:srgbClr val="A6A6A6"/>
    <a:srgbClr val="BFBFBF"/>
    <a:srgbClr val="465359"/>
    <a:srgbClr val="757575"/>
    <a:srgbClr val="8B8B8B"/>
    <a:srgbClr val="B0B0B0"/>
    <a:srgbClr val="D3D3D3"/>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774" y="78"/>
      </p:cViewPr>
      <p:guideLst/>
    </p:cSldViewPr>
  </p:slideViewPr>
  <p:notesTextViewPr>
    <p:cViewPr>
      <p:scale>
        <a:sx n="1" d="1"/>
        <a:sy n="1" d="1"/>
      </p:scale>
      <p:origin x="0" y="0"/>
    </p:cViewPr>
  </p:notesTextViewPr>
  <p:notesViewPr>
    <p:cSldViewPr snapToGrid="0">
      <p:cViewPr varScale="1">
        <p:scale>
          <a:sx n="99" d="100"/>
          <a:sy n="99" d="100"/>
        </p:scale>
        <p:origin x="282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F4366289-7251-4248-8185-9FEDE67FE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FA911AAB-DA95-4CED-94BD-874BA4394E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DEEF26-1A03-4B1A-AE72-C28CA9B5024D}" type="datetime1">
              <a:rPr lang="es-ES" smtClean="0"/>
              <a:t>23/11/2025</a:t>
            </a:fld>
            <a:endParaRPr lang="es-ES"/>
          </a:p>
        </p:txBody>
      </p:sp>
      <p:sp>
        <p:nvSpPr>
          <p:cNvPr id="4" name="Marcador de pie de página 3">
            <a:extLst>
              <a:ext uri="{FF2B5EF4-FFF2-40B4-BE49-F238E27FC236}">
                <a16:creationId xmlns:a16="http://schemas.microsoft.com/office/drawing/2014/main" id="{796222C7-E745-4972-ADB2-26864641F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8F0AA558-CC6A-4543-8082-2ECED10B3D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EEF11-4551-44CC-8138-2C9C44119EA2}" type="slidenum">
              <a:rPr lang="es-ES" smtClean="0"/>
              <a:t>‹Nº›</a:t>
            </a:fld>
            <a:endParaRPr lang="es-ES"/>
          </a:p>
        </p:txBody>
      </p:sp>
    </p:spTree>
    <p:extLst>
      <p:ext uri="{BB962C8B-B14F-4D97-AF65-F5344CB8AC3E}">
        <p14:creationId xmlns:p14="http://schemas.microsoft.com/office/powerpoint/2010/main" val="25847647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0D74895-5176-4251-996A-78582FB81F91}" type="datetime1">
              <a:rPr lang="es-ES" noProof="0" smtClean="0"/>
              <a:t>23/11/2025</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4C8E5D6-E240-4AB4-B03F-F45C58F87E64}" type="slidenum">
              <a:rPr lang="es-ES" noProof="0" smtClean="0"/>
              <a:t>‹Nº›</a:t>
            </a:fld>
            <a:endParaRPr lang="es-ES" noProof="0"/>
          </a:p>
        </p:txBody>
      </p:sp>
    </p:spTree>
    <p:extLst>
      <p:ext uri="{BB962C8B-B14F-4D97-AF65-F5344CB8AC3E}">
        <p14:creationId xmlns:p14="http://schemas.microsoft.com/office/powerpoint/2010/main" val="41203065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a:t>
            </a:fld>
            <a:endParaRPr lang="es-ES"/>
          </a:p>
        </p:txBody>
      </p:sp>
    </p:spTree>
    <p:extLst>
      <p:ext uri="{BB962C8B-B14F-4D97-AF65-F5344CB8AC3E}">
        <p14:creationId xmlns:p14="http://schemas.microsoft.com/office/powerpoint/2010/main" val="3591548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C0E6BB1-1722-6789-20A5-76C32E4AD9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A7392725-E573-1D4A-652D-8E6F6B2608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1B55CAC3-E10A-8B4B-50C7-6D7564DAD9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906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01B30803-FB11-E534-3B02-22CCF350503B}"/>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2368B08F-E115-EC43-A563-F03D8AD42B5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97F3CD70-EBF5-2ACB-8927-47F17036D7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0263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D68BCF7B-46B6-8ADF-2BC1-F4E971926C84}"/>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8A227583-F0B3-9B2A-6F49-2339F4AC53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AB916D4D-A9E8-8A34-A87C-4663C5A6EC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220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ABBC317-909A-148A-6B9A-DAD4DFF115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662CF9F3-C646-9CB3-CC5B-6635CEE194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97D351E-A191-BC10-0BBB-43DC99357D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05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ABBC317-909A-148A-6B9A-DAD4DFF115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662CF9F3-C646-9CB3-CC5B-6635CEE194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97D351E-A191-BC10-0BBB-43DC99357D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0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31EAA00-6673-3318-565D-B7EB306B8421}"/>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154153B4-99BF-AAA9-258E-B15E88059B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E74D63AE-D8B5-54A1-154C-7F8A8E22CB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800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3C96E31A-5903-A393-3BE2-03C7B3AF79DB}"/>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8F3732DD-AB01-8728-8966-81535B3A12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099464CA-5683-C416-AE21-5008FA3B71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3834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ABBC317-909A-148A-6B9A-DAD4DFF115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662CF9F3-C646-9CB3-CC5B-6635CEE194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97D351E-A191-BC10-0BBB-43DC99357D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05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31EAA00-6673-3318-565D-B7EB306B8421}"/>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154153B4-99BF-AAA9-258E-B15E88059B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E74D63AE-D8B5-54A1-154C-7F8A8E22CB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800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7BADDD82-C72B-D680-5291-89A3D91360E4}"/>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AE5CD29D-CDDA-FC7A-E58D-2DB2EF3877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59052D32-761E-F273-6297-72F1367E85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3719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ABBC317-909A-148A-6B9A-DAD4DFF115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662CF9F3-C646-9CB3-CC5B-6635CEE194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97D351E-A191-BC10-0BBB-43DC99357D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05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833D7DA0-95F4-F6CC-2B7C-2DDC9EF561A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7D5DC9CD-C71A-C357-1B2A-2C583DADC47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4253FE23-AF44-B1FA-D7BD-FA916296B8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761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ABBC317-909A-148A-6B9A-DAD4DFF1154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662CF9F3-C646-9CB3-CC5B-6635CEE194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97D351E-A191-BC10-0BBB-43DC99357D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05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833D7DA0-95F4-F6CC-2B7C-2DDC9EF561A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7D5DC9CD-C71A-C357-1B2A-2C583DADC47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4253FE23-AF44-B1FA-D7BD-FA916296B8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7610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17</a:t>
            </a:fld>
            <a:endParaRPr lang="es-ES"/>
          </a:p>
        </p:txBody>
      </p:sp>
    </p:spTree>
    <p:extLst>
      <p:ext uri="{BB962C8B-B14F-4D97-AF65-F5344CB8AC3E}">
        <p14:creationId xmlns:p14="http://schemas.microsoft.com/office/powerpoint/2010/main" val="423862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18</a:t>
            </a:fld>
            <a:endParaRPr lang="es-ES"/>
          </a:p>
        </p:txBody>
      </p:sp>
    </p:spTree>
    <p:extLst>
      <p:ext uri="{BB962C8B-B14F-4D97-AF65-F5344CB8AC3E}">
        <p14:creationId xmlns:p14="http://schemas.microsoft.com/office/powerpoint/2010/main" val="789767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8" name="Marcador de fech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FE76E97-516D-4ABE-88C8-400B36F168FB}"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a de título">
    <p:spTree>
      <p:nvGrpSpPr>
        <p:cNvPr id="1" name=""/>
        <p:cNvGrpSpPr/>
        <p:nvPr/>
      </p:nvGrpSpPr>
      <p:grpSpPr>
        <a:xfrm>
          <a:off x="0" y="0"/>
          <a:ext cx="0" cy="0"/>
          <a:chOff x="0" y="0"/>
          <a:chExt cx="0" cy="0"/>
        </a:xfrm>
      </p:grpSpPr>
      <p:sp>
        <p:nvSpPr>
          <p:cNvPr id="5" name="Marcador de posición de imagen 4"/>
          <p:cNvSpPr>
            <a:spLocks noGrp="1"/>
          </p:cNvSpPr>
          <p:nvPr>
            <p:ph type="pic" sz="quarter" idx="13"/>
          </p:nvPr>
        </p:nvSpPr>
        <p:spPr>
          <a:xfrm>
            <a:off x="0" y="0"/>
            <a:ext cx="12192000" cy="6858000"/>
          </a:xfrm>
        </p:spPr>
        <p:txBody>
          <a:bodyPr rtlCol="0"/>
          <a:lstStyle>
            <a:lvl1pPr algn="ctr">
              <a:defRPr/>
            </a:lvl1pPr>
          </a:lstStyle>
          <a:p>
            <a:pPr rtl="0"/>
            <a:r>
              <a:rPr lang="es-ES" noProof="0"/>
              <a:t>Haga clic en el icono para agregar una imagen</a:t>
            </a:r>
          </a:p>
        </p:txBody>
      </p:sp>
      <p:sp>
        <p:nvSpPr>
          <p:cNvPr id="11" name="Rectángulo 10"/>
          <p:cNvSpPr/>
          <p:nvPr userDrawn="1"/>
        </p:nvSpPr>
        <p:spPr>
          <a:xfrm>
            <a:off x="446534" y="4284627"/>
            <a:ext cx="11292840" cy="201167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3" name="Subtítulo 2"/>
          <p:cNvSpPr>
            <a:spLocks noGrp="1"/>
          </p:cNvSpPr>
          <p:nvPr>
            <p:ph type="subTitle" idx="1" hasCustomPrompt="1"/>
          </p:nvPr>
        </p:nvSpPr>
        <p:spPr>
          <a:xfrm>
            <a:off x="581194" y="5695849"/>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12" name="Rectángulo 11"/>
          <p:cNvSpPr/>
          <p:nvPr userDrawn="1"/>
        </p:nvSpPr>
        <p:spPr>
          <a:xfrm>
            <a:off x="446534" y="4114808"/>
            <a:ext cx="1129284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 name="Título 1"/>
          <p:cNvSpPr>
            <a:spLocks noGrp="1"/>
          </p:cNvSpPr>
          <p:nvPr>
            <p:ph type="ctrTitle"/>
          </p:nvPr>
        </p:nvSpPr>
        <p:spPr>
          <a:xfrm>
            <a:off x="581191" y="4220835"/>
            <a:ext cx="10993549" cy="1475013"/>
          </a:xfrm>
          <a:effectLst/>
        </p:spPr>
        <p:txBody>
          <a:bodyPr rtlCol="0" anchor="b">
            <a:normAutofit/>
          </a:bodyPr>
          <a:lstStyle>
            <a:lvl1pPr>
              <a:defRPr sz="3600">
                <a:solidFill>
                  <a:schemeClr val="bg1"/>
                </a:solidFill>
              </a:defRPr>
            </a:lvl1pPr>
          </a:lstStyle>
          <a:p>
            <a:pPr rtl="0"/>
            <a:r>
              <a:rPr lang="es-ES" noProof="0"/>
              <a:t>Haga clic para modificar el estilo de título del patrón</a:t>
            </a:r>
          </a:p>
        </p:txBody>
      </p:sp>
    </p:spTree>
    <p:extLst>
      <p:ext uri="{BB962C8B-B14F-4D97-AF65-F5344CB8AC3E}">
        <p14:creationId xmlns:p14="http://schemas.microsoft.com/office/powerpoint/2010/main" val="428334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es-ES" noProof="0"/>
              <a:t>Haga clic para modificar el estilo de título del patrón</a:t>
            </a:r>
          </a:p>
        </p:txBody>
      </p:sp>
      <p:sp>
        <p:nvSpPr>
          <p:cNvPr id="3" name="Marcador de posición de contenido 2"/>
          <p:cNvSpPr>
            <a:spLocks noGrp="1"/>
          </p:cNvSpPr>
          <p:nvPr>
            <p:ph idx="1"/>
          </p:nvPr>
        </p:nvSpPr>
        <p:spPr>
          <a:xfrm>
            <a:off x="581192" y="2340864"/>
            <a:ext cx="11029615" cy="3634486"/>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1DFFEB0-22A6-45B7-A1B1-4E00AC60E9E5}"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9616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cera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4EB589F-AE9C-4159-962B-B23AA5BE2981}"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581193" y="2228003"/>
            <a:ext cx="5194767"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416039" y="2228003"/>
            <a:ext cx="5194769"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E20A020E-1DB8-4044-A808-ED9931C09B97}" type="datetime1">
              <a:rPr lang="es-ES" noProof="0" smtClean="0"/>
              <a:t>23/11/2025</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1" y="2905648"/>
            <a:ext cx="5194769" cy="557784"/>
          </a:xfrm>
        </p:spPr>
        <p:txBody>
          <a:bodyPr rtlCol="0" anchor="ctr">
            <a:noAutofit/>
          </a:bodyPr>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581194" y="3580809"/>
            <a:ext cx="5194766"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p:nvPr>
        </p:nvSpPr>
        <p:spPr>
          <a:xfrm>
            <a:off x="6416039" y="2905649"/>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6" name="Marcador de posición de contenido 5"/>
          <p:cNvSpPr>
            <a:spLocks noGrp="1"/>
          </p:cNvSpPr>
          <p:nvPr>
            <p:ph sz="quarter" idx="4"/>
          </p:nvPr>
        </p:nvSpPr>
        <p:spPr>
          <a:xfrm>
            <a:off x="6416037" y="3580809"/>
            <a:ext cx="5194771"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A886D6C-642C-4F3A-80F4-3766661C3280}" type="datetime1">
              <a:rPr lang="es-ES" noProof="0" smtClean="0"/>
              <a:t>23/11/2025</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5C8AF5F8-67F3-49B2-8A5D-9976371AC6D6}"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ólo el títul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AB94070D-8484-4B7B-ADE0-4CCDD6380285}"/>
              </a:ext>
              <a:ext uri="{C183D7F6-B498-43B3-948B-1728B52AA6E4}">
                <adec:decorative xmlns:adec="http://schemas.microsoft.com/office/drawing/2017/decorative" val="1"/>
              </a:ext>
            </a:extLst>
          </p:cNvPr>
          <p:cNvSpPr/>
          <p:nvPr userDrawn="1"/>
        </p:nvSpPr>
        <p:spPr>
          <a:xfrm>
            <a:off x="-8626" y="5120639"/>
            <a:ext cx="12200626" cy="17326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latin typeface="Arial" panose="020B0604020202020204" pitchFamily="34" charset="0"/>
              <a:cs typeface="Arial" panose="020B0604020202020204" pitchFamily="34" charset="0"/>
            </a:endParaRPr>
          </a:p>
        </p:txBody>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25" name="Marcador de texto 2"/>
          <p:cNvSpPr>
            <a:spLocks noGrp="1"/>
          </p:cNvSpPr>
          <p:nvPr>
            <p:ph type="body" idx="1" hasCustomPrompt="1"/>
          </p:nvPr>
        </p:nvSpPr>
        <p:spPr>
          <a:xfrm>
            <a:off x="759402" y="5330449"/>
            <a:ext cx="1938528" cy="557784"/>
          </a:xfrm>
        </p:spPr>
        <p:txBody>
          <a:bodyPr rtlCol="0" anchor="ctr">
            <a:noAutofit/>
          </a:bodyPr>
          <a:lstStyle>
            <a:lvl1pPr marL="0" indent="0" algn="ctr" defTabSz="914400" rtl="0" eaLnBrk="1" latinLnBrk="0" hangingPunct="1">
              <a:buNone/>
              <a:defRPr lang="en-US" sz="4000" b="1" kern="1200" dirty="0">
                <a:solidFill>
                  <a:srgbClr val="465359"/>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6" name="Marcador de contenido 3"/>
          <p:cNvSpPr>
            <a:spLocks noGrp="1"/>
          </p:cNvSpPr>
          <p:nvPr>
            <p:ph sz="half" idx="2"/>
          </p:nvPr>
        </p:nvSpPr>
        <p:spPr>
          <a:xfrm>
            <a:off x="75940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7" name="Marcador de texto 2"/>
          <p:cNvSpPr>
            <a:spLocks noGrp="1"/>
          </p:cNvSpPr>
          <p:nvPr>
            <p:ph type="body" idx="10" hasCustomPrompt="1"/>
          </p:nvPr>
        </p:nvSpPr>
        <p:spPr>
          <a:xfrm>
            <a:off x="3642897" y="5330449"/>
            <a:ext cx="1938528" cy="557784"/>
          </a:xfrm>
        </p:spPr>
        <p:txBody>
          <a:bodyPr rtlCol="0" anchor="ctr">
            <a:noAutofit/>
          </a:bodyPr>
          <a:lstStyle>
            <a:lvl1pPr marL="0" indent="0" algn="ctr" defTabSz="914400" rtl="0" eaLnBrk="1" latinLnBrk="0" hangingPunct="1">
              <a:buNone/>
              <a:defRPr lang="en-US" sz="4000" b="1" kern="1200" dirty="0">
                <a:solidFill>
                  <a:schemeClr val="accent1"/>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8" name="Marcador de posición de contenido 3"/>
          <p:cNvSpPr>
            <a:spLocks noGrp="1"/>
          </p:cNvSpPr>
          <p:nvPr>
            <p:ph sz="half" idx="11"/>
          </p:nvPr>
        </p:nvSpPr>
        <p:spPr>
          <a:xfrm>
            <a:off x="3642900"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9" name="Marcador de texto 2"/>
          <p:cNvSpPr>
            <a:spLocks noGrp="1"/>
          </p:cNvSpPr>
          <p:nvPr>
            <p:ph type="body" idx="12" hasCustomPrompt="1"/>
          </p:nvPr>
        </p:nvSpPr>
        <p:spPr>
          <a:xfrm>
            <a:off x="6526392"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0" name="Marcador de posición de contenido 3"/>
          <p:cNvSpPr>
            <a:spLocks noGrp="1"/>
          </p:cNvSpPr>
          <p:nvPr>
            <p:ph sz="half" idx="13"/>
          </p:nvPr>
        </p:nvSpPr>
        <p:spPr>
          <a:xfrm>
            <a:off x="652639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31" name="Marcador de texto 2"/>
          <p:cNvSpPr>
            <a:spLocks noGrp="1"/>
          </p:cNvSpPr>
          <p:nvPr>
            <p:ph type="body" idx="14" hasCustomPrompt="1"/>
          </p:nvPr>
        </p:nvSpPr>
        <p:spPr>
          <a:xfrm>
            <a:off x="9409888"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2" name="Marcador de posición de contenido 3"/>
          <p:cNvSpPr>
            <a:spLocks noGrp="1"/>
          </p:cNvSpPr>
          <p:nvPr>
            <p:ph sz="half" idx="15"/>
          </p:nvPr>
        </p:nvSpPr>
        <p:spPr>
          <a:xfrm>
            <a:off x="9409891"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Tree>
    <p:extLst>
      <p:ext uri="{BB962C8B-B14F-4D97-AF65-F5344CB8AC3E}">
        <p14:creationId xmlns:p14="http://schemas.microsoft.com/office/powerpoint/2010/main" val="242553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 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lvl1pPr>
              <a:defRPr>
                <a:solidFill>
                  <a:schemeClr val="bg1"/>
                </a:solidFill>
              </a:defRPr>
            </a:lvl1pPr>
          </a:lstStyle>
          <a:p>
            <a:pPr rtl="0"/>
            <a:r>
              <a:rPr lang="es-ES" noProof="0"/>
              <a:t>Haga clic para editar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8129813C-4D03-47AC-BBC2-86147182E16B}"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10" name="Rectángulo 9"/>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ángulo 11"/>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9529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C1CE38A4-10CF-4429-B577-AF2C7DB0C1E9}"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2" name="Rectángulo 1"/>
          <p:cNvSpPr/>
          <p:nvPr userDrawn="1"/>
        </p:nvSpPr>
        <p:spPr>
          <a:xfrm>
            <a:off x="57589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p:cNvSpPr/>
          <p:nvPr userDrawn="1"/>
        </p:nvSpPr>
        <p:spPr>
          <a:xfrm>
            <a:off x="3429849"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p:cNvSpPr/>
          <p:nvPr userDrawn="1"/>
        </p:nvSpPr>
        <p:spPr>
          <a:xfrm>
            <a:off x="628380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p:cNvSpPr/>
          <p:nvPr userDrawn="1"/>
        </p:nvSpPr>
        <p:spPr>
          <a:xfrm>
            <a:off x="9137758"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texto 2"/>
          <p:cNvSpPr>
            <a:spLocks noGrp="1"/>
          </p:cNvSpPr>
          <p:nvPr>
            <p:ph type="body" idx="1"/>
          </p:nvPr>
        </p:nvSpPr>
        <p:spPr>
          <a:xfrm>
            <a:off x="581192"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4" name="Marcador de posición de contenido 3"/>
          <p:cNvSpPr>
            <a:spLocks noGrp="1"/>
          </p:cNvSpPr>
          <p:nvPr>
            <p:ph sz="half" idx="2"/>
          </p:nvPr>
        </p:nvSpPr>
        <p:spPr>
          <a:xfrm>
            <a:off x="581194"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posición de texto 4"/>
          <p:cNvSpPr>
            <a:spLocks noGrp="1"/>
          </p:cNvSpPr>
          <p:nvPr>
            <p:ph type="body" sz="quarter" idx="3"/>
          </p:nvPr>
        </p:nvSpPr>
        <p:spPr>
          <a:xfrm>
            <a:off x="6298472" y="2988377"/>
            <a:ext cx="249283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16" name="Marcador de posición de contenido 5"/>
          <p:cNvSpPr>
            <a:spLocks noGrp="1"/>
          </p:cNvSpPr>
          <p:nvPr>
            <p:ph sz="quarter" idx="4"/>
          </p:nvPr>
        </p:nvSpPr>
        <p:spPr>
          <a:xfrm>
            <a:off x="6298471"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texto 2"/>
          <p:cNvSpPr>
            <a:spLocks noGrp="1"/>
          </p:cNvSpPr>
          <p:nvPr>
            <p:ph type="body" idx="14"/>
          </p:nvPr>
        </p:nvSpPr>
        <p:spPr>
          <a:xfrm>
            <a:off x="3444517"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8" name="Marcador de posición de contenido 3"/>
          <p:cNvSpPr>
            <a:spLocks noGrp="1"/>
          </p:cNvSpPr>
          <p:nvPr>
            <p:ph sz="half" idx="15"/>
          </p:nvPr>
        </p:nvSpPr>
        <p:spPr>
          <a:xfrm>
            <a:off x="3444519"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4"/>
          <p:cNvSpPr>
            <a:spLocks noGrp="1"/>
          </p:cNvSpPr>
          <p:nvPr>
            <p:ph type="body" sz="quarter" idx="16"/>
          </p:nvPr>
        </p:nvSpPr>
        <p:spPr>
          <a:xfrm>
            <a:off x="9138807" y="2988377"/>
            <a:ext cx="2492830" cy="553373"/>
          </a:xfrm>
        </p:spPr>
        <p:txBody>
          <a:bodyPr rtlCol="0"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20" name="Marcador de posición de contenido 5"/>
          <p:cNvSpPr>
            <a:spLocks noGrp="1"/>
          </p:cNvSpPr>
          <p:nvPr>
            <p:ph sz="quarter" idx="17"/>
          </p:nvPr>
        </p:nvSpPr>
        <p:spPr>
          <a:xfrm>
            <a:off x="9138806"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Rectángulo 20"/>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ángulo 21"/>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ángulo 22"/>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2581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22921B1E-433B-41C9-841C-5F02BAB8C4F2}" type="datetime1">
              <a:rPr lang="es-ES" noProof="0" smtClean="0"/>
              <a:t>23/11/2025</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450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FD3A0F3E-6225-430C-A5FE-15E61F4B1AF2}"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2789195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ido con título">
    <p:spTree>
      <p:nvGrpSpPr>
        <p:cNvPr id="1" name=""/>
        <p:cNvGrpSpPr/>
        <p:nvPr/>
      </p:nvGrpSpPr>
      <p:grpSpPr>
        <a:xfrm>
          <a:off x="0" y="0"/>
          <a:ext cx="0" cy="0"/>
          <a:chOff x="0" y="0"/>
          <a:chExt cx="0" cy="0"/>
        </a:xfrm>
      </p:grpSpPr>
      <p:sp>
        <p:nvSpPr>
          <p:cNvPr id="6" name="Marcador de posición de imagen 5"/>
          <p:cNvSpPr>
            <a:spLocks noGrp="1"/>
          </p:cNvSpPr>
          <p:nvPr>
            <p:ph type="pic" sz="quarter" idx="13"/>
          </p:nvPr>
        </p:nvSpPr>
        <p:spPr>
          <a:xfrm>
            <a:off x="0" y="0"/>
            <a:ext cx="4232275" cy="6858000"/>
          </a:xfrm>
        </p:spPr>
        <p:txBody>
          <a:bodyPr rtlCol="0"/>
          <a:lstStyle/>
          <a:p>
            <a:pPr rtl="0"/>
            <a:r>
              <a:rPr lang="es-ES" noProof="0"/>
              <a:t>Haga clic en el icono para agregar una imagen</a:t>
            </a:r>
          </a:p>
        </p:txBody>
      </p:sp>
      <p:sp>
        <p:nvSpPr>
          <p:cNvPr id="2" name="Título 1"/>
          <p:cNvSpPr>
            <a:spLocks noGrp="1"/>
          </p:cNvSpPr>
          <p:nvPr>
            <p:ph type="title"/>
          </p:nvPr>
        </p:nvSpPr>
        <p:spPr>
          <a:xfrm>
            <a:off x="4900927" y="709565"/>
            <a:ext cx="6650991" cy="699407"/>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632857"/>
            <a:ext cx="6650991" cy="4205188"/>
          </a:xfrm>
        </p:spPr>
        <p:txBody>
          <a:bodyPr rtlCol="0" anchor="t">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3B4FB50-93DD-41FF-91C5-1DDB3ADCCD60}"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3365701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ido con título">
    <p:bg>
      <p:bgPr>
        <a:solidFill>
          <a:schemeClr val="bg2"/>
        </a:solidFill>
        <a:effectLst/>
      </p:bgPr>
    </p:bg>
    <p:spTree>
      <p:nvGrpSpPr>
        <p:cNvPr id="1" name=""/>
        <p:cNvGrpSpPr/>
        <p:nvPr/>
      </p:nvGrpSpPr>
      <p:grpSpPr>
        <a:xfrm>
          <a:off x="0" y="0"/>
          <a:ext cx="0" cy="0"/>
          <a:chOff x="0" y="0"/>
          <a:chExt cx="0" cy="0"/>
        </a:xfrm>
      </p:grpSpPr>
      <p:sp>
        <p:nvSpPr>
          <p:cNvPr id="14" name="Marcador de posición de imagen 4"/>
          <p:cNvSpPr>
            <a:spLocks noGrp="1"/>
          </p:cNvSpPr>
          <p:nvPr>
            <p:ph type="pic" sz="quarter" idx="14" hasCustomPrompt="1"/>
          </p:nvPr>
        </p:nvSpPr>
        <p:spPr>
          <a:xfrm>
            <a:off x="8622917" y="3322281"/>
            <a:ext cx="3367862" cy="3367862"/>
          </a:xfrm>
        </p:spPr>
        <p:txBody>
          <a:bodyPr rtlCol="0"/>
          <a:lstStyle>
            <a:lvl1pPr marL="0" indent="0" algn="ctr">
              <a:buNone/>
              <a:defRPr>
                <a:solidFill>
                  <a:schemeClr val="tx1"/>
                </a:solidFill>
              </a:defRPr>
            </a:lvl1pPr>
          </a:lstStyle>
          <a:p>
            <a:pPr rtl="0"/>
            <a:r>
              <a:rPr lang="es-ES" noProof="0"/>
              <a:t>Marca de agua de icono</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Marcador de posición de imagen 4"/>
          <p:cNvSpPr>
            <a:spLocks noGrp="1"/>
          </p:cNvSpPr>
          <p:nvPr>
            <p:ph type="pic" sz="quarter" idx="13" hasCustomPrompt="1"/>
          </p:nvPr>
        </p:nvSpPr>
        <p:spPr>
          <a:xfrm>
            <a:off x="768350" y="2312987"/>
            <a:ext cx="731520" cy="731520"/>
          </a:xfrm>
        </p:spPr>
        <p:txBody>
          <a:bodyPr rtlCol="0"/>
          <a:lstStyle>
            <a:lvl1pPr marL="0" indent="0">
              <a:buNone/>
              <a:defRPr>
                <a:solidFill>
                  <a:schemeClr val="bg1"/>
                </a:solidFill>
              </a:defRPr>
            </a:lvl1pPr>
          </a:lstStyle>
          <a:p>
            <a:pPr rtl="0"/>
            <a:r>
              <a:rPr lang="es-ES" noProof="0"/>
              <a:t>Icono</a:t>
            </a:r>
          </a:p>
        </p:txBody>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7B463E3-5276-45DE-91A0-B6DD8B297E87}"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4124179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1"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lvl1pPr>
              <a:defRPr>
                <a:solidFill>
                  <a:schemeClr val="bg2"/>
                </a:solidFill>
              </a:defRPr>
            </a:lvl1pPr>
          </a:lstStyle>
          <a:p>
            <a:pPr rtl="0"/>
            <a:fld id="{749021CC-0307-446D-AE2B-559CB49EAF79}"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lvl1pPr>
              <a:defRPr>
                <a:solidFill>
                  <a:schemeClr val="bg2"/>
                </a:solidFill>
              </a:defRPr>
            </a:lvl1pPr>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12" name="Rectángulo 11"/>
          <p:cNvSpPr/>
          <p:nvPr userDrawn="1"/>
        </p:nvSpPr>
        <p:spPr>
          <a:xfrm rot="5400000">
            <a:off x="1415595" y="3435840"/>
            <a:ext cx="57607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5955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7D3998EE-11B0-4932-9198-DE9C6A1C81DE}" type="datetime1">
              <a:rPr lang="es-ES" noProof="0" smtClean="0"/>
              <a:t>23/11/2025</a:t>
            </a:fld>
            <a:endParaRPr lang="es-ES" noProof="0"/>
          </a:p>
        </p:txBody>
      </p:sp>
      <p:sp>
        <p:nvSpPr>
          <p:cNvPr id="6" name="Marcador de pie de página 5"/>
          <p:cNvSpPr>
            <a:spLocks noGrp="1"/>
          </p:cNvSpPr>
          <p:nvPr>
            <p:ph type="ftr" sz="quarter" idx="11"/>
          </p:nvPr>
        </p:nvSpPr>
        <p:spPr/>
        <p:txBody>
          <a:bodyPr rtlCol="0"/>
          <a:lstStyle/>
          <a:p>
            <a:pPr algn="l"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29634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4ACE3A5-2E47-49A7-8A27-F4DC3346F446}" type="datetime1">
              <a:rPr lang="es-ES" noProof="0" smtClean="0"/>
              <a:t>23/11/2025</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115591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774923" y="863600"/>
            <a:ext cx="7161625" cy="4807326"/>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Rectá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á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Marcador de fech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25533860-E818-4564-94A8-A4E78B95CB69}" type="datetime1">
              <a:rPr lang="es-ES" noProof="0" smtClean="0"/>
              <a:t>23/11/2025</a:t>
            </a:fld>
            <a:endParaRPr lang="es-ES" noProof="0"/>
          </a:p>
        </p:txBody>
      </p:sp>
      <p:sp>
        <p:nvSpPr>
          <p:cNvPr id="12" name="Marcador de pie de página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s-ES" noProof="0"/>
          </a:p>
        </p:txBody>
      </p:sp>
      <p:sp>
        <p:nvSpPr>
          <p:cNvPr id="13" name="Marcador de número de diapositiva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18684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2275148E-696F-45AE-9256-43F95C097160}" type="datetime1">
              <a:rPr lang="es-ES" noProof="0" smtClean="0"/>
              <a:t>23/11/2025</a:t>
            </a:fld>
            <a:endParaRPr lang="es-ES" noProof="0"/>
          </a:p>
        </p:txBody>
      </p:sp>
      <p:sp>
        <p:nvSpPr>
          <p:cNvPr id="5" name="Marcador de posición de pie de página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s-ES" noProof="0"/>
          </a:p>
        </p:txBody>
      </p:sp>
      <p:sp>
        <p:nvSpPr>
          <p:cNvPr id="6" name="Marcador de número de diapositiva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s-ES" noProof="0" smtClean="0"/>
              <a:t>‹Nº›</a:t>
            </a:fld>
            <a:endParaRPr lang="es-ES" noProof="0"/>
          </a:p>
        </p:txBody>
      </p:sp>
      <p:sp>
        <p:nvSpPr>
          <p:cNvPr id="9" name="Rectá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0" name="Rectá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1" name="Rectá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87" r:id="rId2"/>
    <p:sldLayoutId id="2147483675" r:id="rId3"/>
    <p:sldLayoutId id="2147483676" r:id="rId4"/>
    <p:sldLayoutId id="2147483677" r:id="rId5"/>
    <p:sldLayoutId id="2147483684" r:id="rId6"/>
    <p:sldLayoutId id="2147483678" r:id="rId7"/>
    <p:sldLayoutId id="2147483692" r:id="rId8"/>
    <p:sldLayoutId id="2147483690" r:id="rId9"/>
    <p:sldLayoutId id="2147483691" r:id="rId10"/>
    <p:sldLayoutId id="2147483679" r:id="rId11"/>
    <p:sldLayoutId id="2147483680" r:id="rId12"/>
    <p:sldLayoutId id="2147483688" r:id="rId13"/>
    <p:sldLayoutId id="2147483686" r:id="rId14"/>
    <p:sldLayoutId id="2147483689" r:id="rId15"/>
    <p:sldLayoutId id="2147483683" r:id="rId16"/>
    <p:sldLayoutId id="2147483681" r:id="rId17"/>
    <p:sldLayoutId id="2147483682" r:id="rId18"/>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0" name="Rectángulo 19">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2" name="Rectángulo 21">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useBgFill="1">
        <p:nvSpPr>
          <p:cNvPr id="24" name="Rectángulo 23">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11" name="Marcador de posición de imagen 10" descr="grupo de empleados que colaboran"/>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a:stretch/>
        </p:blipFill>
        <p:spPr>
          <a:xfrm>
            <a:off x="0" y="0"/>
            <a:ext cx="12192000" cy="6858000"/>
          </a:xfrm>
          <a:prstGeom prst="rect">
            <a:avLst/>
          </a:prstGeom>
          <a:solidFill>
            <a:schemeClr val="tx1"/>
          </a:solidFill>
        </p:spPr>
      </p:pic>
      <p:sp>
        <p:nvSpPr>
          <p:cNvPr id="26" name="Rectángulo 25">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8" name="Rectángulo 27">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bg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602805" y="4429451"/>
            <a:ext cx="11141961" cy="1104334"/>
          </a:xfrm>
        </p:spPr>
        <p:txBody>
          <a:bodyPr vert="horz" lIns="91440" tIns="45720" rIns="91440" bIns="45720" rtlCol="0" anchor="b">
            <a:normAutofit fontScale="90000"/>
          </a:bodyPr>
          <a:lstStyle/>
          <a:p>
            <a:pPr rtl="0"/>
            <a:r>
              <a:rPr lang="es-ES" sz="4000" dirty="0">
                <a:solidFill>
                  <a:schemeClr val="tx1"/>
                </a:solidFill>
              </a:rPr>
              <a:t>ANÁLISIS y visualización DE DATOS CON POWER BI – </a:t>
            </a:r>
            <a:r>
              <a:rPr lang="es-ES" sz="4000">
                <a:solidFill>
                  <a:schemeClr val="tx1"/>
                </a:solidFill>
              </a:rPr>
              <a:t>sesión 04</a:t>
            </a:r>
            <a:endParaRPr lang="es-ES" sz="4000" dirty="0">
              <a:solidFill>
                <a:schemeClr val="tx1"/>
              </a:solidFill>
            </a:endParaRPr>
          </a:p>
        </p:txBody>
      </p:sp>
      <p:sp>
        <p:nvSpPr>
          <p:cNvPr id="9" name="Subtítulo 8"/>
          <p:cNvSpPr>
            <a:spLocks noGrp="1"/>
          </p:cNvSpPr>
          <p:nvPr>
            <p:ph type="subTitle" idx="1"/>
          </p:nvPr>
        </p:nvSpPr>
        <p:spPr>
          <a:xfrm>
            <a:off x="609599" y="5587179"/>
            <a:ext cx="10965142" cy="776954"/>
          </a:xfrm>
        </p:spPr>
        <p:txBody>
          <a:bodyPr vert="horz" lIns="91440" tIns="45720" rIns="91440" bIns="45720" rtlCol="0" anchor="t">
            <a:normAutofit lnSpcReduction="10000"/>
          </a:bodyPr>
          <a:lstStyle/>
          <a:p>
            <a:pPr rtl="0"/>
            <a:r>
              <a:rPr lang="es-ES" dirty="0">
                <a:solidFill>
                  <a:schemeClr val="tx1"/>
                </a:solidFill>
              </a:rPr>
              <a:t>Docente: ing. Eric Alberto Heredia mendoza</a:t>
            </a:r>
          </a:p>
          <a:p>
            <a:pPr rtl="0"/>
            <a:r>
              <a:rPr lang="es-ES" dirty="0">
                <a:solidFill>
                  <a:schemeClr val="tx1"/>
                </a:solidFill>
              </a:rPr>
              <a:t>Microsoft certified  trainer</a:t>
            </a:r>
          </a:p>
          <a:p>
            <a:pPr rtl="0"/>
            <a:endParaRPr lang="es-ES" dirty="0"/>
          </a:p>
        </p:txBody>
      </p:sp>
      <p:pic>
        <p:nvPicPr>
          <p:cNvPr id="19" name="Imagen 18" descr="Inicio - Colegio de Ingenieros del Perú">
            <a:extLst>
              <a:ext uri="{FF2B5EF4-FFF2-40B4-BE49-F238E27FC236}">
                <a16:creationId xmlns:a16="http://schemas.microsoft.com/office/drawing/2014/main" id="{4AEC2F7C-C1D4-4FF1-B485-FF109FB3E04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77143" y="141660"/>
            <a:ext cx="763656" cy="763656"/>
          </a:xfrm>
          <a:prstGeom prst="rect">
            <a:avLst/>
          </a:prstGeom>
          <a:noFill/>
          <a:ln>
            <a:noFill/>
          </a:ln>
        </p:spPr>
      </p:pic>
      <p:pic>
        <p:nvPicPr>
          <p:cNvPr id="17" name="Imagen 16" descr="Imagen que contiene firmar, señal, azul, calle&#10;&#10;Descripción generada automáticamente">
            <a:extLst>
              <a:ext uri="{FF2B5EF4-FFF2-40B4-BE49-F238E27FC236}">
                <a16:creationId xmlns:a16="http://schemas.microsoft.com/office/drawing/2014/main" id="{1E471F84-1667-4465-ACBE-A339F6BD65E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176" b="97059" l="5294" r="94412">
                        <a14:foregroundMark x1="38235" y1="11471" x2="55000" y2="85588"/>
                        <a14:foregroundMark x1="33529" y1="46176" x2="75294" y2="47353"/>
                        <a14:foregroundMark x1="45294" y1="7647" x2="50294" y2="5294"/>
                        <a14:foregroundMark x1="50882" y1="93235" x2="50882" y2="93235"/>
                        <a14:foregroundMark x1="46176" y1="83529" x2="46176" y2="83529"/>
                        <a14:foregroundMark x1="50000" y1="97059" x2="50000" y2="97059"/>
                        <a14:foregroundMark x1="40588" y1="83824" x2="40588" y2="83824"/>
                        <a14:foregroundMark x1="34118" y1="35294" x2="44412" y2="81765"/>
                        <a14:foregroundMark x1="27647" y1="50000" x2="78235" y2="48235"/>
                        <a14:foregroundMark x1="20000" y1="45588" x2="20000" y2="45588"/>
                        <a14:foregroundMark x1="83824" y1="51765" x2="83824" y2="51765"/>
                        <a14:foregroundMark x1="20000" y1="42647" x2="77353" y2="50882"/>
                        <a14:foregroundMark x1="77353" y1="50882" x2="20000" y2="46176"/>
                        <a14:foregroundMark x1="20000" y1="46176" x2="14706" y2="47353"/>
                        <a14:foregroundMark x1="83529" y1="58235" x2="82059" y2="42647"/>
                        <a14:foregroundMark x1="49118" y1="18235" x2="52059" y2="19118"/>
                        <a14:foregroundMark x1="6176" y1="45294" x2="5882" y2="41765"/>
                        <a14:foregroundMark x1="31176" y1="71471" x2="73235" y2="70000"/>
                        <a14:foregroundMark x1="94412" y1="44118" x2="94412" y2="44118"/>
                        <a14:foregroundMark x1="51176" y1="1176" x2="51176" y2="1176"/>
                      </a14:backgroundRemoval>
                    </a14:imgEffect>
                  </a14:imgLayer>
                </a14:imgProps>
              </a:ext>
            </a:extLst>
          </a:blip>
          <a:stretch>
            <a:fillRect/>
          </a:stretch>
        </p:blipFill>
        <p:spPr>
          <a:xfrm>
            <a:off x="10421596" y="141660"/>
            <a:ext cx="849593" cy="849593"/>
          </a:xfrm>
          <a:prstGeom prst="rect">
            <a:avLst/>
          </a:prstGeom>
        </p:spPr>
      </p:pic>
      <p:pic>
        <p:nvPicPr>
          <p:cNvPr id="1028" name="Picture 4" descr="Microsoft Certified: Power Platform Fundamentals - Credly">
            <a:extLst>
              <a:ext uri="{FF2B5EF4-FFF2-40B4-BE49-F238E27FC236}">
                <a16:creationId xmlns:a16="http://schemas.microsoft.com/office/drawing/2014/main" id="{BBD27B71-1927-E753-8AB1-6300CBB09A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77919" y="131309"/>
            <a:ext cx="870297" cy="8702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E745CB0-D757-474C-90CC-C5B6758BA3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30262" y="123843"/>
            <a:ext cx="847550" cy="849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D1B2-32AF-772D-91BE-4C22182B0BF5}"/>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0C5AA333-CF56-D922-CBD5-23D2D75A40AD}"/>
              </a:ext>
            </a:extLst>
          </p:cNvPr>
          <p:cNvSpPr>
            <a:spLocks noGrp="1"/>
          </p:cNvSpPr>
          <p:nvPr>
            <p:ph type="title"/>
          </p:nvPr>
        </p:nvSpPr>
        <p:spPr>
          <a:xfrm>
            <a:off x="914400" y="606609"/>
            <a:ext cx="10515600" cy="531075"/>
          </a:xfrm>
        </p:spPr>
        <p:txBody>
          <a:bodyPr/>
          <a:lstStyle/>
          <a:p>
            <a:r>
              <a:rPr lang="es-ES" dirty="0"/>
              <a:t>ÍNDICE</a:t>
            </a:r>
            <a:endParaRPr lang="es-PE" dirty="0"/>
          </a:p>
        </p:txBody>
      </p:sp>
      <p:sp>
        <p:nvSpPr>
          <p:cNvPr id="12" name="Marcador de contenido 4">
            <a:extLst>
              <a:ext uri="{FF2B5EF4-FFF2-40B4-BE49-F238E27FC236}">
                <a16:creationId xmlns:a16="http://schemas.microsoft.com/office/drawing/2014/main" id="{F41569E4-08AC-468B-9180-7413F932B171}"/>
              </a:ext>
            </a:extLst>
          </p:cNvPr>
          <p:cNvSpPr>
            <a:spLocks noGrp="1"/>
          </p:cNvSpPr>
          <p:nvPr>
            <p:ph idx="1"/>
          </p:nvPr>
        </p:nvSpPr>
        <p:spPr>
          <a:xfrm>
            <a:off x="838200" y="1253330"/>
            <a:ext cx="10515600" cy="3356770"/>
          </a:xfrm>
        </p:spPr>
        <p:txBody>
          <a:bodyPr>
            <a:normAutofit/>
          </a:bodyPr>
          <a:lstStyle/>
          <a:p>
            <a:pPr algn="just">
              <a:buFont typeface="Arial" panose="020B0604020202020204" pitchFamily="34" charset="0"/>
              <a:buChar char="•"/>
            </a:pPr>
            <a:r>
              <a:rPr lang="es-ES" sz="2400" dirty="0"/>
              <a:t>Introducción a DAX</a:t>
            </a:r>
          </a:p>
          <a:p>
            <a:pPr algn="just">
              <a:buFont typeface="Arial" panose="020B0604020202020204" pitchFamily="34" charset="0"/>
              <a:buChar char="•"/>
            </a:pPr>
            <a:r>
              <a:rPr lang="es-ES" sz="2400" dirty="0"/>
              <a:t>Definición de tablas, columnas y medidas</a:t>
            </a:r>
          </a:p>
          <a:p>
            <a:pPr algn="just">
              <a:buFont typeface="Arial" panose="020B0604020202020204" pitchFamily="34" charset="0"/>
              <a:buChar char="•"/>
            </a:pPr>
            <a:r>
              <a:rPr lang="es-ES" sz="2400" dirty="0"/>
              <a:t>Tipos de Funciones</a:t>
            </a:r>
          </a:p>
        </p:txBody>
      </p:sp>
    </p:spTree>
    <p:extLst>
      <p:ext uri="{BB962C8B-B14F-4D97-AF65-F5344CB8AC3E}">
        <p14:creationId xmlns:p14="http://schemas.microsoft.com/office/powerpoint/2010/main" val="3970915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FC4B6DC-D31E-773B-D67B-640BB15E42F7}"/>
            </a:ext>
          </a:extLst>
        </p:cNvPr>
        <p:cNvGrpSpPr/>
        <p:nvPr/>
      </p:nvGrpSpPr>
      <p:grpSpPr>
        <a:xfrm>
          <a:off x="0" y="0"/>
          <a:ext cx="0" cy="0"/>
          <a:chOff x="0" y="0"/>
          <a:chExt cx="0" cy="0"/>
        </a:xfrm>
      </p:grpSpPr>
      <p:sp>
        <p:nvSpPr>
          <p:cNvPr id="2" name="Google Shape;135;g260e3df6672_0_17">
            <a:extLst>
              <a:ext uri="{FF2B5EF4-FFF2-40B4-BE49-F238E27FC236}">
                <a16:creationId xmlns:a16="http://schemas.microsoft.com/office/drawing/2014/main" id="{8E1F93BD-C8E2-C9E9-EB85-DA8692562819}"/>
              </a:ext>
            </a:extLst>
          </p:cNvPr>
          <p:cNvSpPr txBox="1"/>
          <p:nvPr/>
        </p:nvSpPr>
        <p:spPr>
          <a:xfrm>
            <a:off x="3257637" y="583169"/>
            <a:ext cx="5427346" cy="701690"/>
          </a:xfrm>
          <a:prstGeom prst="rect">
            <a:avLst/>
          </a:prstGeom>
        </p:spPr>
        <p:txBody>
          <a:bodyPr vert="horz" lIns="91440" tIns="45720" rIns="91440" bIns="45720" rtlCol="0" anchor="ctr">
            <a:normAutofit/>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¿Qué es DAX?</a:t>
            </a:r>
            <a:endParaRPr dirty="0">
              <a:sym typeface="Arial"/>
            </a:endParaRPr>
          </a:p>
        </p:txBody>
      </p:sp>
      <p:sp>
        <p:nvSpPr>
          <p:cNvPr id="3" name="Google Shape;136;g260e3df6672_0_17">
            <a:extLst>
              <a:ext uri="{FF2B5EF4-FFF2-40B4-BE49-F238E27FC236}">
                <a16:creationId xmlns:a16="http://schemas.microsoft.com/office/drawing/2014/main" id="{95150C2D-9EB6-7466-01E7-8B3BABF0D6FB}"/>
              </a:ext>
            </a:extLst>
          </p:cNvPr>
          <p:cNvSpPr txBox="1"/>
          <p:nvPr/>
        </p:nvSpPr>
        <p:spPr>
          <a:xfrm>
            <a:off x="543964" y="2046032"/>
            <a:ext cx="5427346" cy="3877954"/>
          </a:xfrm>
          <a:prstGeom prst="rect">
            <a:avLst/>
          </a:prstGeom>
        </p:spPr>
        <p:txBody>
          <a:bodyPr wrap="square">
            <a:spAutoFit/>
          </a:bodyPr>
          <a:lstStyle>
            <a:defPPr>
              <a:defRPr lang="es-PE"/>
            </a:defPPr>
            <a:lvl1pPr algn="just">
              <a:lnSpc>
                <a:spcPct val="110000"/>
              </a:lnSpc>
              <a:spcBef>
                <a:spcPts val="1600"/>
              </a:spcBef>
              <a:defRPr sz="2400"/>
            </a:lvl1pPr>
          </a:lstStyle>
          <a:p>
            <a:r>
              <a:rPr lang="es-PE" dirty="0">
                <a:sym typeface="Calibri"/>
              </a:rPr>
              <a:t>E</a:t>
            </a:r>
            <a:r>
              <a:rPr lang="es-PE" dirty="0"/>
              <a:t>xpresiones de análisis de datos (DAX) es un lenguaje de programación que se utiliza en Microsoft Power BI para crear columnas calculadas, medidas y tablas personalizadas. </a:t>
            </a:r>
          </a:p>
          <a:p>
            <a:r>
              <a:rPr lang="es-PE" dirty="0"/>
              <a:t>Es una colección de funciones, operadores y constantes que se pueden usar en una fórmula, o expresión, para calcular y devolver uno o más valores.</a:t>
            </a:r>
            <a:endParaRPr dirty="0">
              <a:sym typeface="Calibri"/>
            </a:endParaRPr>
          </a:p>
        </p:txBody>
      </p:sp>
      <p:pic>
        <p:nvPicPr>
          <p:cNvPr id="5" name="Imagen 4">
            <a:extLst>
              <a:ext uri="{FF2B5EF4-FFF2-40B4-BE49-F238E27FC236}">
                <a16:creationId xmlns:a16="http://schemas.microsoft.com/office/drawing/2014/main" id="{DCA26218-91D4-4400-A162-0D14928CBEBB}"/>
              </a:ext>
            </a:extLst>
          </p:cNvPr>
          <p:cNvPicPr>
            <a:picLocks noChangeAspect="1"/>
          </p:cNvPicPr>
          <p:nvPr/>
        </p:nvPicPr>
        <p:blipFill>
          <a:blip r:embed="rId3"/>
          <a:stretch>
            <a:fillRect/>
          </a:stretch>
        </p:blipFill>
        <p:spPr>
          <a:xfrm>
            <a:off x="6564284" y="2289399"/>
            <a:ext cx="5083752" cy="3391220"/>
          </a:xfrm>
          <a:prstGeom prst="rect">
            <a:avLst/>
          </a:prstGeom>
        </p:spPr>
      </p:pic>
      <p:sp>
        <p:nvSpPr>
          <p:cNvPr id="4" name="CuadroTexto 3">
            <a:extLst>
              <a:ext uri="{FF2B5EF4-FFF2-40B4-BE49-F238E27FC236}">
                <a16:creationId xmlns:a16="http://schemas.microsoft.com/office/drawing/2014/main" id="{515BD93F-FC3D-4460-2C46-B39EAD6BEE47}"/>
              </a:ext>
            </a:extLst>
          </p:cNvPr>
          <p:cNvSpPr txBox="1"/>
          <p:nvPr/>
        </p:nvSpPr>
        <p:spPr>
          <a:xfrm>
            <a:off x="7646276" y="5606230"/>
            <a:ext cx="3200400" cy="338554"/>
          </a:xfrm>
          <a:prstGeom prst="rect">
            <a:avLst/>
          </a:prstGeom>
          <a:noFill/>
        </p:spPr>
        <p:txBody>
          <a:bodyPr wrap="square" rtlCol="0">
            <a:spAutoFit/>
          </a:bodyPr>
          <a:lstStyle/>
          <a:p>
            <a:pPr algn="ctr"/>
            <a:r>
              <a:rPr lang="es-ES" sz="1600" b="1" dirty="0"/>
              <a:t>Que es DAX</a:t>
            </a:r>
            <a:endParaRPr lang="es-PE" sz="1600" b="1" dirty="0"/>
          </a:p>
        </p:txBody>
      </p:sp>
    </p:spTree>
    <p:extLst>
      <p:ext uri="{BB962C8B-B14F-4D97-AF65-F5344CB8AC3E}">
        <p14:creationId xmlns:p14="http://schemas.microsoft.com/office/powerpoint/2010/main" val="531039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7CDDD0C2-1305-C304-4226-1067BBF72853}"/>
            </a:ext>
          </a:extLst>
        </p:cNvPr>
        <p:cNvGrpSpPr/>
        <p:nvPr/>
      </p:nvGrpSpPr>
      <p:grpSpPr>
        <a:xfrm>
          <a:off x="0" y="0"/>
          <a:ext cx="0" cy="0"/>
          <a:chOff x="0" y="0"/>
          <a:chExt cx="0" cy="0"/>
        </a:xfrm>
      </p:grpSpPr>
      <p:sp>
        <p:nvSpPr>
          <p:cNvPr id="6" name="Google Shape;135;g260e3df6672_0_17">
            <a:extLst>
              <a:ext uri="{FF2B5EF4-FFF2-40B4-BE49-F238E27FC236}">
                <a16:creationId xmlns:a16="http://schemas.microsoft.com/office/drawing/2014/main" id="{B92D27A1-9DC0-7575-C9E5-A060C2DF7CCB}"/>
              </a:ext>
            </a:extLst>
          </p:cNvPr>
          <p:cNvSpPr txBox="1"/>
          <p:nvPr/>
        </p:nvSpPr>
        <p:spPr>
          <a:xfrm>
            <a:off x="369033" y="413416"/>
            <a:ext cx="11245031" cy="1311088"/>
          </a:xfrm>
          <a:prstGeom prst="rect">
            <a:avLst/>
          </a:prstGeom>
        </p:spPr>
        <p:txBody>
          <a:bodyPr vert="horz" lIns="91440" tIns="45720" rIns="91440" bIns="45720" rtlCol="0" anchor="ctr">
            <a:normAutofit/>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DAX : Columnas calculadas, Tablas y medidas</a:t>
            </a:r>
          </a:p>
        </p:txBody>
      </p:sp>
      <p:pic>
        <p:nvPicPr>
          <p:cNvPr id="7" name="Imagen 6">
            <a:extLst>
              <a:ext uri="{FF2B5EF4-FFF2-40B4-BE49-F238E27FC236}">
                <a16:creationId xmlns:a16="http://schemas.microsoft.com/office/drawing/2014/main" id="{46ACC135-7364-E10A-8FB7-1BA9B77E9CFA}"/>
              </a:ext>
            </a:extLst>
          </p:cNvPr>
          <p:cNvPicPr>
            <a:picLocks noChangeAspect="1"/>
          </p:cNvPicPr>
          <p:nvPr/>
        </p:nvPicPr>
        <p:blipFill rotWithShape="1">
          <a:blip r:embed="rId3"/>
          <a:srcRect r="24348"/>
          <a:stretch/>
        </p:blipFill>
        <p:spPr>
          <a:xfrm>
            <a:off x="646285" y="1793161"/>
            <a:ext cx="10690531" cy="4077206"/>
          </a:xfrm>
          <a:prstGeom prst="rect">
            <a:avLst/>
          </a:prstGeom>
        </p:spPr>
      </p:pic>
      <p:sp>
        <p:nvSpPr>
          <p:cNvPr id="8" name="Rectángulo 7">
            <a:extLst>
              <a:ext uri="{FF2B5EF4-FFF2-40B4-BE49-F238E27FC236}">
                <a16:creationId xmlns:a16="http://schemas.microsoft.com/office/drawing/2014/main" id="{666C6EA2-4461-09B4-981F-90FAC937A0DA}"/>
              </a:ext>
            </a:extLst>
          </p:cNvPr>
          <p:cNvSpPr/>
          <p:nvPr/>
        </p:nvSpPr>
        <p:spPr>
          <a:xfrm>
            <a:off x="646284" y="4161142"/>
            <a:ext cx="3371533" cy="197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2000" dirty="0">
                <a:solidFill>
                  <a:schemeClr val="tx1"/>
                </a:solidFill>
                <a:latin typeface="Calibri" panose="020F0502020204030204" pitchFamily="34" charset="0"/>
                <a:cs typeface="Calibri" panose="020F0502020204030204" pitchFamily="34" charset="0"/>
              </a:rPr>
              <a:t>Son </a:t>
            </a:r>
            <a:r>
              <a:rPr lang="es-MX" sz="2000" b="1" dirty="0">
                <a:solidFill>
                  <a:schemeClr val="tx1"/>
                </a:solidFill>
                <a:latin typeface="Calibri" panose="020F0502020204030204" pitchFamily="34" charset="0"/>
                <a:cs typeface="Calibri" panose="020F0502020204030204" pitchFamily="34" charset="0"/>
              </a:rPr>
              <a:t>columnas adicionales </a:t>
            </a:r>
            <a:r>
              <a:rPr lang="es-MX" sz="2000" dirty="0">
                <a:solidFill>
                  <a:schemeClr val="tx1"/>
                </a:solidFill>
                <a:latin typeface="Calibri" panose="020F0502020204030204" pitchFamily="34" charset="0"/>
                <a:cs typeface="Calibri" panose="020F0502020204030204" pitchFamily="34" charset="0"/>
              </a:rPr>
              <a:t>en el modelo de datos creadas a partir </a:t>
            </a:r>
            <a:r>
              <a:rPr lang="es-MX" sz="2000" b="1" dirty="0">
                <a:solidFill>
                  <a:schemeClr val="tx1"/>
                </a:solidFill>
                <a:latin typeface="Calibri" panose="020F0502020204030204" pitchFamily="34" charset="0"/>
                <a:cs typeface="Calibri" panose="020F0502020204030204" pitchFamily="34" charset="0"/>
              </a:rPr>
              <a:t>(aunque no es obligatorio</a:t>
            </a:r>
            <a:r>
              <a:rPr lang="es-MX" sz="2000" dirty="0">
                <a:solidFill>
                  <a:schemeClr val="tx1"/>
                </a:solidFill>
                <a:latin typeface="Calibri" panose="020F0502020204030204" pitchFamily="34" charset="0"/>
                <a:cs typeface="Calibri" panose="020F0502020204030204" pitchFamily="34" charset="0"/>
              </a:rPr>
              <a:t>), de columnas nativas </a:t>
            </a:r>
            <a:r>
              <a:rPr lang="es-MX" sz="2000" b="1" dirty="0">
                <a:solidFill>
                  <a:schemeClr val="tx1"/>
                </a:solidFill>
                <a:latin typeface="Calibri" panose="020F0502020204030204" pitchFamily="34" charset="0"/>
                <a:cs typeface="Calibri" panose="020F0502020204030204" pitchFamily="34" charset="0"/>
              </a:rPr>
              <a:t>(cargadas de orígenes)</a:t>
            </a:r>
            <a:r>
              <a:rPr lang="es-MX" sz="2000" dirty="0">
                <a:solidFill>
                  <a:schemeClr val="tx1"/>
                </a:solidFill>
                <a:latin typeface="Calibri" panose="020F0502020204030204" pitchFamily="34" charset="0"/>
                <a:cs typeface="Calibri" panose="020F0502020204030204" pitchFamily="34" charset="0"/>
              </a:rPr>
              <a:t>. </a:t>
            </a:r>
            <a:endParaRPr lang="en-US" sz="2000" dirty="0">
              <a:solidFill>
                <a:schemeClr val="tx1"/>
              </a:solidFill>
              <a:latin typeface="Calibri" panose="020F0502020204030204" pitchFamily="34" charset="0"/>
              <a:cs typeface="Calibri" panose="020F0502020204030204" pitchFamily="34" charset="0"/>
            </a:endParaRPr>
          </a:p>
        </p:txBody>
      </p:sp>
      <p:sp>
        <p:nvSpPr>
          <p:cNvPr id="9" name="Rectángulo 8">
            <a:extLst>
              <a:ext uri="{FF2B5EF4-FFF2-40B4-BE49-F238E27FC236}">
                <a16:creationId xmlns:a16="http://schemas.microsoft.com/office/drawing/2014/main" id="{F4FF7F89-757C-B587-66A3-4B406851FD45}"/>
              </a:ext>
            </a:extLst>
          </p:cNvPr>
          <p:cNvSpPr/>
          <p:nvPr/>
        </p:nvSpPr>
        <p:spPr>
          <a:xfrm>
            <a:off x="4305783" y="4161142"/>
            <a:ext cx="3371533" cy="197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2000" dirty="0">
                <a:solidFill>
                  <a:schemeClr val="tx1"/>
                </a:solidFill>
                <a:latin typeface="Calibri" panose="020F0502020204030204" pitchFamily="34" charset="0"/>
                <a:cs typeface="Calibri" panose="020F0502020204030204" pitchFamily="34" charset="0"/>
              </a:rPr>
              <a:t>Son </a:t>
            </a:r>
            <a:r>
              <a:rPr lang="es-MX" sz="2000" b="1" dirty="0">
                <a:solidFill>
                  <a:schemeClr val="tx1"/>
                </a:solidFill>
                <a:latin typeface="Calibri" panose="020F0502020204030204" pitchFamily="34" charset="0"/>
                <a:cs typeface="Calibri" panose="020F0502020204030204" pitchFamily="34" charset="0"/>
              </a:rPr>
              <a:t>tablas adicionales </a:t>
            </a:r>
            <a:r>
              <a:rPr lang="es-MX" sz="2000" dirty="0">
                <a:solidFill>
                  <a:schemeClr val="tx1"/>
                </a:solidFill>
                <a:latin typeface="Calibri" panose="020F0502020204030204" pitchFamily="34" charset="0"/>
                <a:cs typeface="Calibri" panose="020F0502020204030204" pitchFamily="34" charset="0"/>
              </a:rPr>
              <a:t>en el modelo de datos creadas a partir </a:t>
            </a:r>
            <a:r>
              <a:rPr lang="es-MX" sz="2000" b="1" dirty="0">
                <a:solidFill>
                  <a:schemeClr val="tx1"/>
                </a:solidFill>
                <a:latin typeface="Calibri" panose="020F0502020204030204" pitchFamily="34" charset="0"/>
                <a:cs typeface="Calibri" panose="020F0502020204030204" pitchFamily="34" charset="0"/>
              </a:rPr>
              <a:t>(aunque no es obligatorio</a:t>
            </a:r>
            <a:r>
              <a:rPr lang="es-MX" sz="2000" dirty="0">
                <a:solidFill>
                  <a:schemeClr val="tx1"/>
                </a:solidFill>
                <a:latin typeface="Calibri" panose="020F0502020204030204" pitchFamily="34" charset="0"/>
                <a:cs typeface="Calibri" panose="020F0502020204030204" pitchFamily="34" charset="0"/>
              </a:rPr>
              <a:t>), de columnas nativas </a:t>
            </a:r>
            <a:r>
              <a:rPr lang="es-MX" sz="2000" b="1" dirty="0">
                <a:solidFill>
                  <a:schemeClr val="tx1"/>
                </a:solidFill>
                <a:latin typeface="Calibri" panose="020F0502020204030204" pitchFamily="34" charset="0"/>
                <a:cs typeface="Calibri" panose="020F0502020204030204" pitchFamily="34" charset="0"/>
              </a:rPr>
              <a:t>(cargadas de orígenes)</a:t>
            </a:r>
            <a:r>
              <a:rPr lang="es-MX" sz="2000" dirty="0">
                <a:solidFill>
                  <a:schemeClr val="tx1"/>
                </a:solidFill>
                <a:latin typeface="Calibri" panose="020F0502020204030204" pitchFamily="34" charset="0"/>
                <a:cs typeface="Calibri" panose="020F0502020204030204" pitchFamily="34" charset="0"/>
              </a:rPr>
              <a:t>. </a:t>
            </a:r>
            <a:endParaRPr lang="en-US" sz="2000" dirty="0">
              <a:solidFill>
                <a:schemeClr val="tx1"/>
              </a:solidFill>
              <a:latin typeface="Calibri" panose="020F0502020204030204" pitchFamily="34" charset="0"/>
              <a:cs typeface="Calibri" panose="020F0502020204030204" pitchFamily="34" charset="0"/>
            </a:endParaRPr>
          </a:p>
        </p:txBody>
      </p:sp>
      <p:sp>
        <p:nvSpPr>
          <p:cNvPr id="10" name="Rectángulo 9">
            <a:extLst>
              <a:ext uri="{FF2B5EF4-FFF2-40B4-BE49-F238E27FC236}">
                <a16:creationId xmlns:a16="http://schemas.microsoft.com/office/drawing/2014/main" id="{FD815453-D2E5-D615-7D21-11AEF01865E5}"/>
              </a:ext>
            </a:extLst>
          </p:cNvPr>
          <p:cNvSpPr/>
          <p:nvPr/>
        </p:nvSpPr>
        <p:spPr>
          <a:xfrm>
            <a:off x="7821299" y="4161142"/>
            <a:ext cx="3371533" cy="197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2000" dirty="0">
                <a:solidFill>
                  <a:schemeClr val="tx1"/>
                </a:solidFill>
                <a:latin typeface="Calibri" panose="020F0502020204030204" pitchFamily="34" charset="0"/>
                <a:cs typeface="Calibri" panose="020F0502020204030204" pitchFamily="34" charset="0"/>
              </a:rPr>
              <a:t>Las </a:t>
            </a:r>
            <a:r>
              <a:rPr lang="es-MX" sz="2000" b="1" dirty="0">
                <a:solidFill>
                  <a:schemeClr val="tx1"/>
                </a:solidFill>
                <a:latin typeface="Calibri" panose="020F0502020204030204" pitchFamily="34" charset="0"/>
                <a:cs typeface="Calibri" panose="020F0502020204030204" pitchFamily="34" charset="0"/>
              </a:rPr>
              <a:t>medidas </a:t>
            </a:r>
            <a:r>
              <a:rPr lang="es-MX" sz="2000" dirty="0">
                <a:solidFill>
                  <a:schemeClr val="tx1"/>
                </a:solidFill>
                <a:latin typeface="Calibri" panose="020F0502020204030204" pitchFamily="34" charset="0"/>
                <a:cs typeface="Calibri" panose="020F0502020204030204" pitchFamily="34" charset="0"/>
              </a:rPr>
              <a:t>son un tipo de cálculo </a:t>
            </a:r>
            <a:r>
              <a:rPr lang="es-MX" sz="2000" b="1" dirty="0">
                <a:solidFill>
                  <a:schemeClr val="tx1"/>
                </a:solidFill>
                <a:latin typeface="Calibri" panose="020F0502020204030204" pitchFamily="34" charset="0"/>
                <a:cs typeface="Calibri" panose="020F0502020204030204" pitchFamily="34" charset="0"/>
              </a:rPr>
              <a:t>destinadas a determinarse en un subconjunto de filas </a:t>
            </a:r>
            <a:r>
              <a:rPr lang="es-MX" sz="2000" dirty="0">
                <a:solidFill>
                  <a:schemeClr val="tx1"/>
                </a:solidFill>
                <a:latin typeface="Calibri" panose="020F0502020204030204" pitchFamily="34" charset="0"/>
                <a:cs typeface="Calibri" panose="020F0502020204030204" pitchFamily="34" charset="0"/>
              </a:rPr>
              <a:t>de una o más tablas de en el modelo de datos de forma directa. </a:t>
            </a:r>
            <a:endParaRPr lang="en-US" sz="20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152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151D994-7B7E-A490-E8F9-952D0C6B5E53}"/>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A2CC3FEA-E749-C6CD-6962-2F1C00E48CE8}"/>
              </a:ext>
            </a:extLst>
          </p:cNvPr>
          <p:cNvSpPr txBox="1"/>
          <p:nvPr/>
        </p:nvSpPr>
        <p:spPr>
          <a:xfrm>
            <a:off x="3101703" y="530392"/>
            <a:ext cx="4771724"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a:t>
            </a:r>
          </a:p>
        </p:txBody>
      </p:sp>
      <p:sp>
        <p:nvSpPr>
          <p:cNvPr id="3" name="Rectángulo 2">
            <a:extLst>
              <a:ext uri="{FF2B5EF4-FFF2-40B4-BE49-F238E27FC236}">
                <a16:creationId xmlns:a16="http://schemas.microsoft.com/office/drawing/2014/main" id="{B1D1552B-B740-68AD-F22F-E8527270231C}"/>
              </a:ext>
            </a:extLst>
          </p:cNvPr>
          <p:cNvSpPr/>
          <p:nvPr/>
        </p:nvSpPr>
        <p:spPr>
          <a:xfrm>
            <a:off x="372007" y="1313210"/>
            <a:ext cx="10916103" cy="1298882"/>
          </a:xfrm>
          <a:prstGeom prst="rect">
            <a:avLst/>
          </a:prstGeom>
        </p:spPr>
        <p:txBody>
          <a:bodyPr wrap="square">
            <a:spAutoFit/>
          </a:bodyPr>
          <a:lstStyle/>
          <a:p>
            <a:pPr algn="just">
              <a:lnSpc>
                <a:spcPct val="110000"/>
              </a:lnSpc>
              <a:spcBef>
                <a:spcPts val="1200"/>
              </a:spcBef>
            </a:pPr>
            <a:r>
              <a:rPr lang="es-PE" dirty="0"/>
              <a:t>Las funciones son fórmulas predefinidas que realizan cálculos por medio de valores específicos, denominados argumentos, en un orden o estructura determinados. Los argumentos pueden ser otras funciones, otra fórmula, una expresión, referencias de columna, números, texto, valores lógicos como TRUE o FALSE, o constantes.</a:t>
            </a:r>
          </a:p>
        </p:txBody>
      </p:sp>
      <p:pic>
        <p:nvPicPr>
          <p:cNvPr id="5" name="Imagen 4">
            <a:extLst>
              <a:ext uri="{FF2B5EF4-FFF2-40B4-BE49-F238E27FC236}">
                <a16:creationId xmlns:a16="http://schemas.microsoft.com/office/drawing/2014/main" id="{7BBDA830-EFB0-481F-4458-37749DE6A192}"/>
              </a:ext>
            </a:extLst>
          </p:cNvPr>
          <p:cNvPicPr>
            <a:picLocks noChangeAspect="1"/>
          </p:cNvPicPr>
          <p:nvPr/>
        </p:nvPicPr>
        <p:blipFill>
          <a:blip r:embed="rId3"/>
          <a:stretch>
            <a:fillRect/>
          </a:stretch>
        </p:blipFill>
        <p:spPr>
          <a:xfrm>
            <a:off x="980361" y="2785512"/>
            <a:ext cx="10231278" cy="3648584"/>
          </a:xfrm>
          <a:prstGeom prst="rect">
            <a:avLst/>
          </a:prstGeom>
        </p:spPr>
      </p:pic>
    </p:spTree>
    <p:extLst>
      <p:ext uri="{BB962C8B-B14F-4D97-AF65-F5344CB8AC3E}">
        <p14:creationId xmlns:p14="http://schemas.microsoft.com/office/powerpoint/2010/main" val="148185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219650-F949-F9AC-F757-DE60BF1A08BD}"/>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9872A2A4-F25F-9F1A-280C-4C1AFDAC24E9}"/>
              </a:ext>
            </a:extLst>
          </p:cNvPr>
          <p:cNvSpPr txBox="1"/>
          <p:nvPr/>
        </p:nvSpPr>
        <p:spPr>
          <a:xfrm>
            <a:off x="1109262" y="597844"/>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Agregación</a:t>
            </a:r>
          </a:p>
        </p:txBody>
      </p:sp>
      <p:graphicFrame>
        <p:nvGraphicFramePr>
          <p:cNvPr id="4" name="Tabla 3">
            <a:extLst>
              <a:ext uri="{FF2B5EF4-FFF2-40B4-BE49-F238E27FC236}">
                <a16:creationId xmlns:a16="http://schemas.microsoft.com/office/drawing/2014/main" id="{EB655219-ED86-A994-E98B-750C2AD23B38}"/>
              </a:ext>
            </a:extLst>
          </p:cNvPr>
          <p:cNvGraphicFramePr>
            <a:graphicFrameLocks noGrp="1"/>
          </p:cNvGraphicFramePr>
          <p:nvPr>
            <p:extLst>
              <p:ext uri="{D42A27DB-BD31-4B8C-83A1-F6EECF244321}">
                <p14:modId xmlns:p14="http://schemas.microsoft.com/office/powerpoint/2010/main" val="1247778604"/>
              </p:ext>
            </p:extLst>
          </p:nvPr>
        </p:nvGraphicFramePr>
        <p:xfrm>
          <a:off x="904099" y="1508594"/>
          <a:ext cx="10383801" cy="5096070"/>
        </p:xfrm>
        <a:graphic>
          <a:graphicData uri="http://schemas.openxmlformats.org/drawingml/2006/table">
            <a:tbl>
              <a:tblPr firstRow="1" bandRow="1">
                <a:tableStyleId>{5C22544A-7EE6-4342-B048-85BDC9FD1C3A}</a:tableStyleId>
              </a:tblPr>
              <a:tblGrid>
                <a:gridCol w="3638269">
                  <a:extLst>
                    <a:ext uri="{9D8B030D-6E8A-4147-A177-3AD203B41FA5}">
                      <a16:colId xmlns:a16="http://schemas.microsoft.com/office/drawing/2014/main" val="2442275383"/>
                    </a:ext>
                  </a:extLst>
                </a:gridCol>
                <a:gridCol w="6745532">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dirty="0"/>
                        <a:t>SUM(&lt;</a:t>
                      </a:r>
                      <a:r>
                        <a:rPr lang="es-PE" dirty="0" err="1"/>
                        <a:t>column</a:t>
                      </a:r>
                      <a:r>
                        <a:rPr lang="es-PE" dirty="0"/>
                        <a:t> &gt;)</a:t>
                      </a:r>
                    </a:p>
                  </a:txBody>
                  <a:tcPr/>
                </a:tc>
                <a:tc>
                  <a:txBody>
                    <a:bodyPr/>
                    <a:lstStyle/>
                    <a:p>
                      <a:r>
                        <a:rPr lang="es-ES" dirty="0"/>
                        <a:t>Suma todos los números de una columna.</a:t>
                      </a:r>
                      <a:endParaRPr lang="es-PE" dirty="0"/>
                    </a:p>
                  </a:txBody>
                  <a:tcPr/>
                </a:tc>
                <a:extLst>
                  <a:ext uri="{0D108BD9-81ED-4DB2-BD59-A6C34878D82A}">
                    <a16:rowId xmlns:a16="http://schemas.microsoft.com/office/drawing/2014/main" val="3026698350"/>
                  </a:ext>
                </a:extLst>
              </a:tr>
              <a:tr h="529305">
                <a:tc>
                  <a:txBody>
                    <a:bodyPr/>
                    <a:lstStyle/>
                    <a:p>
                      <a:r>
                        <a:rPr lang="es-PE" dirty="0"/>
                        <a:t>AVERAGE(&lt;</a:t>
                      </a:r>
                      <a:r>
                        <a:rPr lang="es-PE" dirty="0" err="1"/>
                        <a:t>column</a:t>
                      </a:r>
                      <a:r>
                        <a:rPr lang="es-PE" dirty="0"/>
                        <a:t> &gt;)</a:t>
                      </a:r>
                    </a:p>
                  </a:txBody>
                  <a:tcPr/>
                </a:tc>
                <a:tc>
                  <a:txBody>
                    <a:bodyPr/>
                    <a:lstStyle/>
                    <a:p>
                      <a:r>
                        <a:rPr lang="es-ES" dirty="0"/>
                        <a:t>Calcula el promedio de todos los números de una columna.</a:t>
                      </a:r>
                      <a:endParaRPr lang="es-PE" dirty="0"/>
                    </a:p>
                  </a:txBody>
                  <a:tcPr/>
                </a:tc>
                <a:extLst>
                  <a:ext uri="{0D108BD9-81ED-4DB2-BD59-A6C34878D82A}">
                    <a16:rowId xmlns:a16="http://schemas.microsoft.com/office/drawing/2014/main" val="2242401773"/>
                  </a:ext>
                </a:extLst>
              </a:tr>
              <a:tr h="529305">
                <a:tc>
                  <a:txBody>
                    <a:bodyPr/>
                    <a:lstStyle/>
                    <a:p>
                      <a:r>
                        <a:rPr lang="es-PE" dirty="0"/>
                        <a:t>MIN(&lt;</a:t>
                      </a:r>
                      <a:r>
                        <a:rPr lang="es-PE" dirty="0" err="1"/>
                        <a:t>column</a:t>
                      </a:r>
                      <a:r>
                        <a:rPr lang="es-PE" dirty="0"/>
                        <a:t> &gt;)</a:t>
                      </a:r>
                    </a:p>
                  </a:txBody>
                  <a:tcPr/>
                </a:tc>
                <a:tc>
                  <a:txBody>
                    <a:bodyPr/>
                    <a:lstStyle/>
                    <a:p>
                      <a:r>
                        <a:rPr lang="es-ES" dirty="0"/>
                        <a:t>Devuelve el menor valor de una columna.</a:t>
                      </a:r>
                      <a:endParaRPr lang="es-PE" dirty="0"/>
                    </a:p>
                  </a:txBody>
                  <a:tcPr/>
                </a:tc>
                <a:extLst>
                  <a:ext uri="{0D108BD9-81ED-4DB2-BD59-A6C34878D82A}">
                    <a16:rowId xmlns:a16="http://schemas.microsoft.com/office/drawing/2014/main" val="4017454482"/>
                  </a:ext>
                </a:extLst>
              </a:tr>
              <a:tr h="529305">
                <a:tc>
                  <a:txBody>
                    <a:bodyPr/>
                    <a:lstStyle/>
                    <a:p>
                      <a:r>
                        <a:rPr lang="es-PE" dirty="0"/>
                        <a:t>MAX(&lt;</a:t>
                      </a:r>
                      <a:r>
                        <a:rPr lang="es-PE" dirty="0" err="1"/>
                        <a:t>column</a:t>
                      </a:r>
                      <a:r>
                        <a:rPr lang="es-PE" dirty="0"/>
                        <a:t> &gt;)</a:t>
                      </a:r>
                    </a:p>
                  </a:txBody>
                  <a:tcPr/>
                </a:tc>
                <a:tc>
                  <a:txBody>
                    <a:bodyPr/>
                    <a:lstStyle/>
                    <a:p>
                      <a:r>
                        <a:rPr lang="es-ES" dirty="0"/>
                        <a:t>Devuelve el mayor valor de una columna.</a:t>
                      </a:r>
                      <a:endParaRPr lang="es-PE" dirty="0"/>
                    </a:p>
                  </a:txBody>
                  <a:tcPr/>
                </a:tc>
                <a:extLst>
                  <a:ext uri="{0D108BD9-81ED-4DB2-BD59-A6C34878D82A}">
                    <a16:rowId xmlns:a16="http://schemas.microsoft.com/office/drawing/2014/main" val="3622809047"/>
                  </a:ext>
                </a:extLst>
              </a:tr>
              <a:tr h="529305">
                <a:tc>
                  <a:txBody>
                    <a:bodyPr/>
                    <a:lstStyle/>
                    <a:p>
                      <a:r>
                        <a:rPr lang="es-PE" dirty="0"/>
                        <a:t>SUMX(&lt;table&gt;,&lt;</a:t>
                      </a:r>
                      <a:r>
                        <a:rPr lang="es-PE" dirty="0" err="1"/>
                        <a:t>expression</a:t>
                      </a:r>
                      <a:r>
                        <a:rPr lang="es-PE" dirty="0"/>
                        <a:t>&gt;)</a:t>
                      </a:r>
                    </a:p>
                  </a:txBody>
                  <a:tcPr/>
                </a:tc>
                <a:tc>
                  <a:txBody>
                    <a:bodyPr/>
                    <a:lstStyle/>
                    <a:p>
                      <a:r>
                        <a:rPr lang="es-ES" dirty="0"/>
                        <a:t>Calcula la suma de una expresión evaluada para cada fila de una tabla.</a:t>
                      </a:r>
                      <a:endParaRPr lang="es-PE" dirty="0"/>
                    </a:p>
                  </a:txBody>
                  <a:tcPr/>
                </a:tc>
                <a:extLst>
                  <a:ext uri="{0D108BD9-81ED-4DB2-BD59-A6C34878D82A}">
                    <a16:rowId xmlns:a16="http://schemas.microsoft.com/office/drawing/2014/main" val="489241982"/>
                  </a:ext>
                </a:extLst>
              </a:tr>
              <a:tr h="529305">
                <a:tc>
                  <a:txBody>
                    <a:bodyPr/>
                    <a:lstStyle/>
                    <a:p>
                      <a:r>
                        <a:rPr lang="es-PE" dirty="0"/>
                        <a:t>AVERAGEX(&lt;table&gt;,&lt;</a:t>
                      </a:r>
                      <a:r>
                        <a:rPr lang="es-PE" dirty="0" err="1"/>
                        <a:t>expression</a:t>
                      </a:r>
                      <a:r>
                        <a:rPr lang="es-PE" dirty="0"/>
                        <a:t>&gt;)</a:t>
                      </a:r>
                    </a:p>
                  </a:txBody>
                  <a:tcPr/>
                </a:tc>
                <a:tc>
                  <a:txBody>
                    <a:bodyPr/>
                    <a:lstStyle/>
                    <a:p>
                      <a:r>
                        <a:rPr lang="es-ES" dirty="0"/>
                        <a:t>Calcula el promedio de un conjunto de expresiones evaluadas sobre una tabla.</a:t>
                      </a:r>
                      <a:endParaRPr lang="es-PE" dirty="0"/>
                    </a:p>
                  </a:txBody>
                  <a:tcPr/>
                </a:tc>
                <a:extLst>
                  <a:ext uri="{0D108BD9-81ED-4DB2-BD59-A6C34878D82A}">
                    <a16:rowId xmlns:a16="http://schemas.microsoft.com/office/drawing/2014/main" val="1169774591"/>
                  </a:ext>
                </a:extLst>
              </a:tr>
              <a:tr h="529305">
                <a:tc>
                  <a:txBody>
                    <a:bodyPr/>
                    <a:lstStyle/>
                    <a:p>
                      <a:r>
                        <a:rPr lang="es-PE" dirty="0"/>
                        <a:t>MINX(&lt;table&gt;,&lt;</a:t>
                      </a:r>
                      <a:r>
                        <a:rPr lang="es-PE" dirty="0" err="1"/>
                        <a:t>expression</a:t>
                      </a:r>
                      <a:r>
                        <a:rPr lang="es-PE" sz="1800" b="0" i="0" u="none" strike="noStrike" kern="1200" baseline="0" dirty="0">
                          <a:solidFill>
                            <a:schemeClr val="dk1"/>
                          </a:solidFill>
                          <a:latin typeface="+mn-lt"/>
                          <a:ea typeface="+mn-ea"/>
                          <a:cs typeface="+mn-cs"/>
                        </a:rPr>
                        <a:t>&gt;)</a:t>
                      </a:r>
                    </a:p>
                  </a:txBody>
                  <a:tcPr/>
                </a:tc>
                <a:tc>
                  <a:txBody>
                    <a:bodyPr/>
                    <a:lstStyle/>
                    <a:p>
                      <a:r>
                        <a:rPr lang="es-ES" dirty="0"/>
                        <a:t>Evalúa una expresión para cada fila de una tabla y devuelve el menor valor.</a:t>
                      </a:r>
                      <a:endParaRPr lang="es-PE" dirty="0"/>
                    </a:p>
                  </a:txBody>
                  <a:tcPr/>
                </a:tc>
                <a:extLst>
                  <a:ext uri="{0D108BD9-81ED-4DB2-BD59-A6C34878D82A}">
                    <a16:rowId xmlns:a16="http://schemas.microsoft.com/office/drawing/2014/main" val="333787306"/>
                  </a:ext>
                </a:extLst>
              </a:tr>
              <a:tr h="529305">
                <a:tc>
                  <a:txBody>
                    <a:bodyPr/>
                    <a:lstStyle/>
                    <a:p>
                      <a:r>
                        <a:rPr lang="es-PE" dirty="0"/>
                        <a:t>MAXX(&lt;table&gt;,&lt;</a:t>
                      </a:r>
                      <a:r>
                        <a:rPr lang="es-PE" dirty="0" err="1"/>
                        <a:t>expression</a:t>
                      </a:r>
                      <a:r>
                        <a:rPr lang="es-PE" sz="1800" b="0" i="0" u="none" strike="noStrike" kern="1200" baseline="0" dirty="0">
                          <a:solidFill>
                            <a:schemeClr val="dk1"/>
                          </a:solidFill>
                          <a:latin typeface="+mn-lt"/>
                          <a:ea typeface="+mn-ea"/>
                          <a:cs typeface="+mn-cs"/>
                        </a:rPr>
                        <a:t>&gt;)</a:t>
                      </a:r>
                      <a:endParaRPr lang="es-PE" dirty="0"/>
                    </a:p>
                  </a:txBody>
                  <a:tcPr/>
                </a:tc>
                <a:tc>
                  <a:txBody>
                    <a:bodyPr/>
                    <a:lstStyle/>
                    <a:p>
                      <a:r>
                        <a:rPr lang="es-ES" dirty="0"/>
                        <a:t>Evalúa una expresión para cada fila de una tabla y devuelve el mayor  valor.</a:t>
                      </a:r>
                      <a:endParaRPr lang="es-PE" dirty="0"/>
                    </a:p>
                  </a:txBody>
                  <a:tcPr/>
                </a:tc>
                <a:extLst>
                  <a:ext uri="{0D108BD9-81ED-4DB2-BD59-A6C34878D82A}">
                    <a16:rowId xmlns:a16="http://schemas.microsoft.com/office/drawing/2014/main" val="1292654138"/>
                  </a:ext>
                </a:extLst>
              </a:tr>
            </a:tbl>
          </a:graphicData>
        </a:graphic>
      </p:graphicFrame>
    </p:spTree>
    <p:extLst>
      <p:ext uri="{BB962C8B-B14F-4D97-AF65-F5344CB8AC3E}">
        <p14:creationId xmlns:p14="http://schemas.microsoft.com/office/powerpoint/2010/main" val="1884987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219650-F949-F9AC-F757-DE60BF1A08BD}"/>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9872A2A4-F25F-9F1A-280C-4C1AFDAC24E9}"/>
              </a:ext>
            </a:extLst>
          </p:cNvPr>
          <p:cNvSpPr txBox="1"/>
          <p:nvPr/>
        </p:nvSpPr>
        <p:spPr>
          <a:xfrm>
            <a:off x="1109262" y="841521"/>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Matemáticas</a:t>
            </a:r>
          </a:p>
        </p:txBody>
      </p:sp>
      <p:graphicFrame>
        <p:nvGraphicFramePr>
          <p:cNvPr id="4" name="Tabla 3">
            <a:extLst>
              <a:ext uri="{FF2B5EF4-FFF2-40B4-BE49-F238E27FC236}">
                <a16:creationId xmlns:a16="http://schemas.microsoft.com/office/drawing/2014/main" id="{EB655219-ED86-A994-E98B-750C2AD23B38}"/>
              </a:ext>
            </a:extLst>
          </p:cNvPr>
          <p:cNvGraphicFramePr>
            <a:graphicFrameLocks noGrp="1"/>
          </p:cNvGraphicFramePr>
          <p:nvPr>
            <p:extLst>
              <p:ext uri="{D42A27DB-BD31-4B8C-83A1-F6EECF244321}">
                <p14:modId xmlns:p14="http://schemas.microsoft.com/office/powerpoint/2010/main" val="2737716838"/>
              </p:ext>
            </p:extLst>
          </p:nvPr>
        </p:nvGraphicFramePr>
        <p:xfrm>
          <a:off x="664903" y="1682980"/>
          <a:ext cx="10862194" cy="4422555"/>
        </p:xfrm>
        <a:graphic>
          <a:graphicData uri="http://schemas.openxmlformats.org/drawingml/2006/table">
            <a:tbl>
              <a:tblPr firstRow="1" bandRow="1">
                <a:tableStyleId>{5C22544A-7EE6-4342-B048-85BDC9FD1C3A}</a:tableStyleId>
              </a:tblPr>
              <a:tblGrid>
                <a:gridCol w="4124510">
                  <a:extLst>
                    <a:ext uri="{9D8B030D-6E8A-4147-A177-3AD203B41FA5}">
                      <a16:colId xmlns:a16="http://schemas.microsoft.com/office/drawing/2014/main" val="2442275383"/>
                    </a:ext>
                  </a:extLst>
                </a:gridCol>
                <a:gridCol w="6737684">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dirty="0"/>
                        <a:t>ABS(&lt;</a:t>
                      </a:r>
                      <a:r>
                        <a:rPr lang="es-PE" dirty="0" err="1"/>
                        <a:t>number</a:t>
                      </a:r>
                      <a:r>
                        <a:rPr lang="es-PE" dirty="0"/>
                        <a:t>&gt;) </a:t>
                      </a:r>
                    </a:p>
                  </a:txBody>
                  <a:tcPr/>
                </a:tc>
                <a:tc>
                  <a:txBody>
                    <a:bodyPr/>
                    <a:lstStyle/>
                    <a:p>
                      <a:r>
                        <a:rPr lang="es-ES" dirty="0"/>
                        <a:t>Devuelve el valor absoluto de un número.</a:t>
                      </a:r>
                      <a:endParaRPr lang="es-PE" dirty="0"/>
                    </a:p>
                  </a:txBody>
                  <a:tcPr/>
                </a:tc>
                <a:extLst>
                  <a:ext uri="{0D108BD9-81ED-4DB2-BD59-A6C34878D82A}">
                    <a16:rowId xmlns:a16="http://schemas.microsoft.com/office/drawing/2014/main" val="3026698350"/>
                  </a:ext>
                </a:extLst>
              </a:tr>
              <a:tr h="529305">
                <a:tc>
                  <a:txBody>
                    <a:bodyPr/>
                    <a:lstStyle/>
                    <a:p>
                      <a:r>
                        <a:rPr lang="es-PE" dirty="0"/>
                        <a:t>LN(&lt;</a:t>
                      </a:r>
                      <a:r>
                        <a:rPr lang="es-PE" dirty="0" err="1"/>
                        <a:t>number</a:t>
                      </a:r>
                      <a:r>
                        <a:rPr lang="es-PE" dirty="0"/>
                        <a:t>&gt;)</a:t>
                      </a:r>
                    </a:p>
                  </a:txBody>
                  <a:tcPr/>
                </a:tc>
                <a:tc>
                  <a:txBody>
                    <a:bodyPr/>
                    <a:lstStyle/>
                    <a:p>
                      <a:r>
                        <a:rPr lang="es-ES" dirty="0"/>
                        <a:t>Devuelve el logaritmo natural de un número. Los logaritmos naturales se basan en la constante e (2,71828182845904).</a:t>
                      </a:r>
                      <a:endParaRPr lang="es-PE" dirty="0"/>
                    </a:p>
                  </a:txBody>
                  <a:tcPr/>
                </a:tc>
                <a:extLst>
                  <a:ext uri="{0D108BD9-81ED-4DB2-BD59-A6C34878D82A}">
                    <a16:rowId xmlns:a16="http://schemas.microsoft.com/office/drawing/2014/main" val="2242401773"/>
                  </a:ext>
                </a:extLst>
              </a:tr>
              <a:tr h="529305">
                <a:tc>
                  <a:txBody>
                    <a:bodyPr/>
                    <a:lstStyle/>
                    <a:p>
                      <a:r>
                        <a:rPr lang="es-PE" dirty="0"/>
                        <a:t>DIVIDE(&lt;</a:t>
                      </a:r>
                      <a:r>
                        <a:rPr lang="es-PE" dirty="0" err="1"/>
                        <a:t>numerator</a:t>
                      </a:r>
                      <a:r>
                        <a:rPr lang="es-PE" dirty="0"/>
                        <a:t>&gt;, &lt;</a:t>
                      </a:r>
                      <a:r>
                        <a:rPr lang="es-PE" dirty="0" err="1"/>
                        <a:t>denominator</a:t>
                      </a:r>
                      <a:r>
                        <a:rPr lang="es-PE" dirty="0"/>
                        <a:t>&gt; [,&lt;</a:t>
                      </a:r>
                      <a:r>
                        <a:rPr lang="es-PE" dirty="0" err="1"/>
                        <a:t>alternateresult</a:t>
                      </a:r>
                      <a:r>
                        <a:rPr lang="es-PE" dirty="0"/>
                        <a:t>&gt;]) </a:t>
                      </a:r>
                    </a:p>
                  </a:txBody>
                  <a:tcPr/>
                </a:tc>
                <a:tc>
                  <a:txBody>
                    <a:bodyPr/>
                    <a:lstStyle/>
                    <a:p>
                      <a:r>
                        <a:rPr lang="es-ES" dirty="0"/>
                        <a:t>Realiza la división y devuelve el resultado alternativo o BLANK() si se divide entre 0.</a:t>
                      </a:r>
                      <a:endParaRPr lang="es-PE" dirty="0"/>
                    </a:p>
                  </a:txBody>
                  <a:tcPr/>
                </a:tc>
                <a:extLst>
                  <a:ext uri="{0D108BD9-81ED-4DB2-BD59-A6C34878D82A}">
                    <a16:rowId xmlns:a16="http://schemas.microsoft.com/office/drawing/2014/main" val="4017454482"/>
                  </a:ext>
                </a:extLst>
              </a:tr>
              <a:tr h="529305">
                <a:tc>
                  <a:txBody>
                    <a:bodyPr/>
                    <a:lstStyle/>
                    <a:p>
                      <a:r>
                        <a:rPr lang="es-PE" dirty="0"/>
                        <a:t>INT(&lt;</a:t>
                      </a:r>
                      <a:r>
                        <a:rPr lang="es-PE" dirty="0" err="1"/>
                        <a:t>number</a:t>
                      </a:r>
                      <a:r>
                        <a:rPr lang="es-PE" dirty="0"/>
                        <a:t>&gt;)</a:t>
                      </a:r>
                    </a:p>
                  </a:txBody>
                  <a:tcPr/>
                </a:tc>
                <a:tc>
                  <a:txBody>
                    <a:bodyPr/>
                    <a:lstStyle/>
                    <a:p>
                      <a:r>
                        <a:rPr lang="es-ES" dirty="0"/>
                        <a:t>Redondea un número a la baja hasta el entero más próximo.</a:t>
                      </a:r>
                      <a:endParaRPr lang="es-PE" dirty="0"/>
                    </a:p>
                  </a:txBody>
                  <a:tcPr/>
                </a:tc>
                <a:extLst>
                  <a:ext uri="{0D108BD9-81ED-4DB2-BD59-A6C34878D82A}">
                    <a16:rowId xmlns:a16="http://schemas.microsoft.com/office/drawing/2014/main" val="3622809047"/>
                  </a:ext>
                </a:extLst>
              </a:tr>
              <a:tr h="529305">
                <a:tc>
                  <a:txBody>
                    <a:bodyPr/>
                    <a:lstStyle/>
                    <a:p>
                      <a:r>
                        <a:rPr lang="es-PE" dirty="0"/>
                        <a:t>RAND()</a:t>
                      </a:r>
                    </a:p>
                  </a:txBody>
                  <a:tcPr/>
                </a:tc>
                <a:tc>
                  <a:txBody>
                    <a:bodyPr/>
                    <a:lstStyle/>
                    <a:p>
                      <a:r>
                        <a:rPr lang="es-ES" dirty="0"/>
                        <a:t>Devuelve un número aleatorio mayor o igual que 0 y menor que 1 distribuido uniformemente. El número que se devuelve cambia cada vez que se vuelve a calcular la celda que contiene esta función.</a:t>
                      </a:r>
                      <a:endParaRPr lang="es-PE" dirty="0"/>
                    </a:p>
                  </a:txBody>
                  <a:tcPr/>
                </a:tc>
                <a:extLst>
                  <a:ext uri="{0D108BD9-81ED-4DB2-BD59-A6C34878D82A}">
                    <a16:rowId xmlns:a16="http://schemas.microsoft.com/office/drawing/2014/main" val="489241982"/>
                  </a:ext>
                </a:extLst>
              </a:tr>
              <a:tr h="529305">
                <a:tc>
                  <a:txBody>
                    <a:bodyPr/>
                    <a:lstStyle/>
                    <a:p>
                      <a:r>
                        <a:rPr lang="es-PE" dirty="0"/>
                        <a:t>RANDBETWEEN(&lt;bottom&gt;,&lt;top&gt;) </a:t>
                      </a:r>
                    </a:p>
                  </a:txBody>
                  <a:tcPr/>
                </a:tc>
                <a:tc>
                  <a:txBody>
                    <a:bodyPr/>
                    <a:lstStyle/>
                    <a:p>
                      <a:r>
                        <a:rPr lang="es-ES" dirty="0"/>
                        <a:t>Devuelve un número aleatorio en el intervalo que se encuentra entre dos números que especifique.</a:t>
                      </a:r>
                      <a:endParaRPr lang="es-PE" dirty="0"/>
                    </a:p>
                  </a:txBody>
                  <a:tcPr/>
                </a:tc>
                <a:extLst>
                  <a:ext uri="{0D108BD9-81ED-4DB2-BD59-A6C34878D82A}">
                    <a16:rowId xmlns:a16="http://schemas.microsoft.com/office/drawing/2014/main" val="1169774591"/>
                  </a:ext>
                </a:extLst>
              </a:tr>
            </a:tbl>
          </a:graphicData>
        </a:graphic>
      </p:graphicFrame>
    </p:spTree>
    <p:extLst>
      <p:ext uri="{BB962C8B-B14F-4D97-AF65-F5344CB8AC3E}">
        <p14:creationId xmlns:p14="http://schemas.microsoft.com/office/powerpoint/2010/main" val="3217540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28C959B-F465-1278-9365-D909EABA3B42}"/>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C75194BC-68A0-A30C-EA11-40D3AA1F183A}"/>
              </a:ext>
            </a:extLst>
          </p:cNvPr>
          <p:cNvSpPr txBox="1"/>
          <p:nvPr/>
        </p:nvSpPr>
        <p:spPr>
          <a:xfrm>
            <a:off x="1201860" y="991992"/>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Matemáticas</a:t>
            </a:r>
          </a:p>
        </p:txBody>
      </p:sp>
      <p:graphicFrame>
        <p:nvGraphicFramePr>
          <p:cNvPr id="4" name="Tabla 3">
            <a:extLst>
              <a:ext uri="{FF2B5EF4-FFF2-40B4-BE49-F238E27FC236}">
                <a16:creationId xmlns:a16="http://schemas.microsoft.com/office/drawing/2014/main" id="{366795D7-7664-1E5A-1E36-910882440133}"/>
              </a:ext>
            </a:extLst>
          </p:cNvPr>
          <p:cNvGraphicFramePr>
            <a:graphicFrameLocks noGrp="1"/>
          </p:cNvGraphicFramePr>
          <p:nvPr>
            <p:extLst>
              <p:ext uri="{D42A27DB-BD31-4B8C-83A1-F6EECF244321}">
                <p14:modId xmlns:p14="http://schemas.microsoft.com/office/powerpoint/2010/main" val="2719376069"/>
              </p:ext>
            </p:extLst>
          </p:nvPr>
        </p:nvGraphicFramePr>
        <p:xfrm>
          <a:off x="757501" y="1833451"/>
          <a:ext cx="10862194" cy="2757300"/>
        </p:xfrm>
        <a:graphic>
          <a:graphicData uri="http://schemas.openxmlformats.org/drawingml/2006/table">
            <a:tbl>
              <a:tblPr firstRow="1" bandRow="1">
                <a:tableStyleId>{5C22544A-7EE6-4342-B048-85BDC9FD1C3A}</a:tableStyleId>
              </a:tblPr>
              <a:tblGrid>
                <a:gridCol w="4124510">
                  <a:extLst>
                    <a:ext uri="{9D8B030D-6E8A-4147-A177-3AD203B41FA5}">
                      <a16:colId xmlns:a16="http://schemas.microsoft.com/office/drawing/2014/main" val="2442275383"/>
                    </a:ext>
                  </a:extLst>
                </a:gridCol>
                <a:gridCol w="6737684">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dirty="0"/>
                        <a:t>ROUND(&lt;</a:t>
                      </a:r>
                      <a:r>
                        <a:rPr lang="es-PE" dirty="0" err="1"/>
                        <a:t>number</a:t>
                      </a:r>
                      <a:r>
                        <a:rPr lang="es-PE" dirty="0"/>
                        <a:t>&gt;, &lt;</a:t>
                      </a:r>
                      <a:r>
                        <a:rPr lang="es-PE" dirty="0" err="1"/>
                        <a:t>num_digits</a:t>
                      </a:r>
                      <a:r>
                        <a:rPr lang="es-PE" dirty="0"/>
                        <a:t>&gt;) </a:t>
                      </a:r>
                    </a:p>
                  </a:txBody>
                  <a:tcPr/>
                </a:tc>
                <a:tc>
                  <a:txBody>
                    <a:bodyPr/>
                    <a:lstStyle/>
                    <a:p>
                      <a:r>
                        <a:rPr lang="es-ES" dirty="0"/>
                        <a:t>Redondea un número al número especificado de dígitos.</a:t>
                      </a:r>
                      <a:endParaRPr lang="es-PE" dirty="0"/>
                    </a:p>
                  </a:txBody>
                  <a:tcPr/>
                </a:tc>
                <a:extLst>
                  <a:ext uri="{0D108BD9-81ED-4DB2-BD59-A6C34878D82A}">
                    <a16:rowId xmlns:a16="http://schemas.microsoft.com/office/drawing/2014/main" val="3026698350"/>
                  </a:ext>
                </a:extLst>
              </a:tr>
              <a:tr h="529305">
                <a:tc>
                  <a:txBody>
                    <a:bodyPr/>
                    <a:lstStyle/>
                    <a:p>
                      <a:r>
                        <a:rPr lang="es-PE" dirty="0"/>
                        <a:t>ROUNDDOWN(&lt;</a:t>
                      </a:r>
                      <a:r>
                        <a:rPr lang="es-PE" dirty="0" err="1"/>
                        <a:t>number</a:t>
                      </a:r>
                      <a:r>
                        <a:rPr lang="es-PE" dirty="0"/>
                        <a:t>&gt;, &lt;</a:t>
                      </a:r>
                      <a:r>
                        <a:rPr lang="es-PE" dirty="0" err="1"/>
                        <a:t>num_digits</a:t>
                      </a:r>
                      <a:r>
                        <a:rPr lang="es-PE" dirty="0"/>
                        <a:t>&gt;) </a:t>
                      </a:r>
                    </a:p>
                  </a:txBody>
                  <a:tcPr/>
                </a:tc>
                <a:tc>
                  <a:txBody>
                    <a:bodyPr/>
                    <a:lstStyle/>
                    <a:p>
                      <a:r>
                        <a:rPr lang="es-ES" dirty="0"/>
                        <a:t>Redondea un número a la baja, hacia el cero.</a:t>
                      </a:r>
                      <a:endParaRPr lang="es-PE" dirty="0"/>
                    </a:p>
                  </a:txBody>
                  <a:tcPr/>
                </a:tc>
                <a:extLst>
                  <a:ext uri="{0D108BD9-81ED-4DB2-BD59-A6C34878D82A}">
                    <a16:rowId xmlns:a16="http://schemas.microsoft.com/office/drawing/2014/main" val="2242401773"/>
                  </a:ext>
                </a:extLst>
              </a:tr>
              <a:tr h="529305">
                <a:tc>
                  <a:txBody>
                    <a:bodyPr/>
                    <a:lstStyle/>
                    <a:p>
                      <a:r>
                        <a:rPr lang="es-PE" dirty="0"/>
                        <a:t>ROUNDUP(&lt;</a:t>
                      </a:r>
                      <a:r>
                        <a:rPr lang="es-PE" dirty="0" err="1"/>
                        <a:t>number</a:t>
                      </a:r>
                      <a:r>
                        <a:rPr lang="es-PE" dirty="0"/>
                        <a:t>&gt;, &lt;</a:t>
                      </a:r>
                      <a:r>
                        <a:rPr lang="es-PE" dirty="0" err="1"/>
                        <a:t>num_digits</a:t>
                      </a:r>
                      <a:r>
                        <a:rPr lang="es-PE" dirty="0"/>
                        <a:t>&gt;) </a:t>
                      </a:r>
                    </a:p>
                  </a:txBody>
                  <a:tcPr/>
                </a:tc>
                <a:tc>
                  <a:txBody>
                    <a:bodyPr/>
                    <a:lstStyle/>
                    <a:p>
                      <a:r>
                        <a:rPr lang="es-ES" dirty="0"/>
                        <a:t>Redondea un número al alza, alejándose de 0 (cero).</a:t>
                      </a:r>
                      <a:endParaRPr lang="es-PE" dirty="0"/>
                    </a:p>
                  </a:txBody>
                  <a:tcPr/>
                </a:tc>
                <a:extLst>
                  <a:ext uri="{0D108BD9-81ED-4DB2-BD59-A6C34878D82A}">
                    <a16:rowId xmlns:a16="http://schemas.microsoft.com/office/drawing/2014/main" val="4017454482"/>
                  </a:ext>
                </a:extLst>
              </a:tr>
              <a:tr h="529305">
                <a:tc>
                  <a:txBody>
                    <a:bodyPr/>
                    <a:lstStyle/>
                    <a:p>
                      <a:r>
                        <a:rPr lang="es-PE" dirty="0"/>
                        <a:t>SQRT(&lt;</a:t>
                      </a:r>
                      <a:r>
                        <a:rPr lang="es-PE" dirty="0" err="1"/>
                        <a:t>number</a:t>
                      </a:r>
                      <a:r>
                        <a:rPr lang="es-PE" dirty="0"/>
                        <a:t>&gt;) </a:t>
                      </a:r>
                    </a:p>
                  </a:txBody>
                  <a:tcPr/>
                </a:tc>
                <a:tc>
                  <a:txBody>
                    <a:bodyPr/>
                    <a:lstStyle/>
                    <a:p>
                      <a:r>
                        <a:rPr lang="es-ES" dirty="0"/>
                        <a:t>Devuelve la raíz cuadrada de un número.</a:t>
                      </a:r>
                      <a:endParaRPr lang="es-PE" dirty="0"/>
                    </a:p>
                  </a:txBody>
                  <a:tcPr/>
                </a:tc>
                <a:extLst>
                  <a:ext uri="{0D108BD9-81ED-4DB2-BD59-A6C34878D82A}">
                    <a16:rowId xmlns:a16="http://schemas.microsoft.com/office/drawing/2014/main" val="3622809047"/>
                  </a:ext>
                </a:extLst>
              </a:tr>
            </a:tbl>
          </a:graphicData>
        </a:graphic>
      </p:graphicFrame>
    </p:spTree>
    <p:extLst>
      <p:ext uri="{BB962C8B-B14F-4D97-AF65-F5344CB8AC3E}">
        <p14:creationId xmlns:p14="http://schemas.microsoft.com/office/powerpoint/2010/main" val="1746806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00F1240-8DAC-78D0-56D7-5432BDB99BFE}"/>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164C0DA0-6F7C-EA5B-92A2-60A06112413B}"/>
              </a:ext>
            </a:extLst>
          </p:cNvPr>
          <p:cNvSpPr txBox="1"/>
          <p:nvPr/>
        </p:nvSpPr>
        <p:spPr>
          <a:xfrm>
            <a:off x="1109262" y="759889"/>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Estadísticas</a:t>
            </a:r>
          </a:p>
        </p:txBody>
      </p:sp>
      <p:graphicFrame>
        <p:nvGraphicFramePr>
          <p:cNvPr id="4" name="Tabla 3">
            <a:extLst>
              <a:ext uri="{FF2B5EF4-FFF2-40B4-BE49-F238E27FC236}">
                <a16:creationId xmlns:a16="http://schemas.microsoft.com/office/drawing/2014/main" id="{67E5730B-BF3B-941C-CF9D-3908155D8D49}"/>
              </a:ext>
            </a:extLst>
          </p:cNvPr>
          <p:cNvGraphicFramePr>
            <a:graphicFrameLocks noGrp="1"/>
          </p:cNvGraphicFramePr>
          <p:nvPr>
            <p:extLst>
              <p:ext uri="{D42A27DB-BD31-4B8C-83A1-F6EECF244321}">
                <p14:modId xmlns:p14="http://schemas.microsoft.com/office/powerpoint/2010/main" val="2865506029"/>
              </p:ext>
            </p:extLst>
          </p:nvPr>
        </p:nvGraphicFramePr>
        <p:xfrm>
          <a:off x="904099" y="1670639"/>
          <a:ext cx="10383801" cy="2338770"/>
        </p:xfrm>
        <a:graphic>
          <a:graphicData uri="http://schemas.openxmlformats.org/drawingml/2006/table">
            <a:tbl>
              <a:tblPr firstRow="1" bandRow="1">
                <a:tableStyleId>{5C22544A-7EE6-4342-B048-85BDC9FD1C3A}</a:tableStyleId>
              </a:tblPr>
              <a:tblGrid>
                <a:gridCol w="3638269">
                  <a:extLst>
                    <a:ext uri="{9D8B030D-6E8A-4147-A177-3AD203B41FA5}">
                      <a16:colId xmlns:a16="http://schemas.microsoft.com/office/drawing/2014/main" val="2442275383"/>
                    </a:ext>
                  </a:extLst>
                </a:gridCol>
                <a:gridCol w="6745532">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dirty="0"/>
                        <a:t>MEDIAN(&lt;</a:t>
                      </a:r>
                      <a:r>
                        <a:rPr lang="es-PE" dirty="0" err="1"/>
                        <a:t>column</a:t>
                      </a:r>
                      <a:r>
                        <a:rPr lang="es-PE" dirty="0"/>
                        <a:t>&gt;) </a:t>
                      </a:r>
                    </a:p>
                  </a:txBody>
                  <a:tcPr/>
                </a:tc>
                <a:tc>
                  <a:txBody>
                    <a:bodyPr/>
                    <a:lstStyle/>
                    <a:p>
                      <a:r>
                        <a:rPr lang="es-ES" dirty="0"/>
                        <a:t>Devuelve la mediana de números de una columna.</a:t>
                      </a:r>
                      <a:endParaRPr lang="es-PE" dirty="0"/>
                    </a:p>
                  </a:txBody>
                  <a:tcPr/>
                </a:tc>
                <a:extLst>
                  <a:ext uri="{0D108BD9-81ED-4DB2-BD59-A6C34878D82A}">
                    <a16:rowId xmlns:a16="http://schemas.microsoft.com/office/drawing/2014/main" val="3026698350"/>
                  </a:ext>
                </a:extLst>
              </a:tr>
              <a:tr h="529305">
                <a:tc>
                  <a:txBody>
                    <a:bodyPr/>
                    <a:lstStyle/>
                    <a:p>
                      <a:r>
                        <a:rPr lang="es-PE" dirty="0"/>
                        <a:t>MEDIANX(&lt;table&gt;, &lt;</a:t>
                      </a:r>
                      <a:r>
                        <a:rPr lang="es-PE" dirty="0" err="1"/>
                        <a:t>expression</a:t>
                      </a:r>
                      <a:r>
                        <a:rPr lang="es-PE" dirty="0"/>
                        <a:t>&gt;) </a:t>
                      </a:r>
                    </a:p>
                  </a:txBody>
                  <a:tcPr/>
                </a:tc>
                <a:tc>
                  <a:txBody>
                    <a:bodyPr/>
                    <a:lstStyle/>
                    <a:p>
                      <a:r>
                        <a:rPr lang="es-ES" dirty="0"/>
                        <a:t>Devuelve la mediana de una expresión evaluada para cada fila de una tabla.</a:t>
                      </a:r>
                      <a:endParaRPr lang="es-PE" dirty="0"/>
                    </a:p>
                  </a:txBody>
                  <a:tcPr/>
                </a:tc>
                <a:extLst>
                  <a:ext uri="{0D108BD9-81ED-4DB2-BD59-A6C34878D82A}">
                    <a16:rowId xmlns:a16="http://schemas.microsoft.com/office/drawing/2014/main" val="2242401773"/>
                  </a:ext>
                </a:extLst>
              </a:tr>
              <a:tr h="529305">
                <a:tc>
                  <a:txBody>
                    <a:bodyPr/>
                    <a:lstStyle/>
                    <a:p>
                      <a:r>
                        <a:rPr lang="en-US" dirty="0"/>
                        <a:t>RANKX(&lt;table&gt;, &lt;expression&gt;[, &lt;value&gt;[, &lt;order&gt;[, &lt;ties&gt;]]]) </a:t>
                      </a:r>
                      <a:endParaRPr lang="es-PE" dirty="0"/>
                    </a:p>
                  </a:txBody>
                  <a:tcPr/>
                </a:tc>
                <a:tc>
                  <a:txBody>
                    <a:bodyPr/>
                    <a:lstStyle/>
                    <a:p>
                      <a:r>
                        <a:rPr lang="es-ES" dirty="0"/>
                        <a:t>Devuelve la clasificación de un número en una lista de números de cada fila del argumento table.</a:t>
                      </a:r>
                      <a:endParaRPr lang="es-PE" dirty="0"/>
                    </a:p>
                  </a:txBody>
                  <a:tcPr/>
                </a:tc>
                <a:extLst>
                  <a:ext uri="{0D108BD9-81ED-4DB2-BD59-A6C34878D82A}">
                    <a16:rowId xmlns:a16="http://schemas.microsoft.com/office/drawing/2014/main" val="4017454482"/>
                  </a:ext>
                </a:extLst>
              </a:tr>
            </a:tbl>
          </a:graphicData>
        </a:graphic>
      </p:graphicFrame>
    </p:spTree>
    <p:extLst>
      <p:ext uri="{BB962C8B-B14F-4D97-AF65-F5344CB8AC3E}">
        <p14:creationId xmlns:p14="http://schemas.microsoft.com/office/powerpoint/2010/main" val="3001533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219650-F949-F9AC-F757-DE60BF1A08BD}"/>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9872A2A4-F25F-9F1A-280C-4C1AFDAC24E9}"/>
              </a:ext>
            </a:extLst>
          </p:cNvPr>
          <p:cNvSpPr txBox="1"/>
          <p:nvPr/>
        </p:nvSpPr>
        <p:spPr>
          <a:xfrm>
            <a:off x="1097687" y="795223"/>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Lógicas</a:t>
            </a:r>
          </a:p>
        </p:txBody>
      </p:sp>
      <p:graphicFrame>
        <p:nvGraphicFramePr>
          <p:cNvPr id="4" name="Tabla 3">
            <a:extLst>
              <a:ext uri="{FF2B5EF4-FFF2-40B4-BE49-F238E27FC236}">
                <a16:creationId xmlns:a16="http://schemas.microsoft.com/office/drawing/2014/main" id="{EB655219-ED86-A994-E98B-750C2AD23B38}"/>
              </a:ext>
            </a:extLst>
          </p:cNvPr>
          <p:cNvGraphicFramePr>
            <a:graphicFrameLocks noGrp="1"/>
          </p:cNvGraphicFramePr>
          <p:nvPr>
            <p:extLst>
              <p:ext uri="{D42A27DB-BD31-4B8C-83A1-F6EECF244321}">
                <p14:modId xmlns:p14="http://schemas.microsoft.com/office/powerpoint/2010/main" val="1382232054"/>
              </p:ext>
            </p:extLst>
          </p:nvPr>
        </p:nvGraphicFramePr>
        <p:xfrm>
          <a:off x="664903" y="1891324"/>
          <a:ext cx="10862194" cy="4004025"/>
        </p:xfrm>
        <a:graphic>
          <a:graphicData uri="http://schemas.openxmlformats.org/drawingml/2006/table">
            <a:tbl>
              <a:tblPr firstRow="1" bandRow="1">
                <a:tableStyleId>{5C22544A-7EE6-4342-B048-85BDC9FD1C3A}</a:tableStyleId>
              </a:tblPr>
              <a:tblGrid>
                <a:gridCol w="4124510">
                  <a:extLst>
                    <a:ext uri="{9D8B030D-6E8A-4147-A177-3AD203B41FA5}">
                      <a16:colId xmlns:a16="http://schemas.microsoft.com/office/drawing/2014/main" val="2442275383"/>
                    </a:ext>
                  </a:extLst>
                </a:gridCol>
                <a:gridCol w="6737684">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n-US" dirty="0"/>
                        <a:t> IF(&lt;</a:t>
                      </a:r>
                      <a:r>
                        <a:rPr lang="en-US" dirty="0" err="1"/>
                        <a:t>logical_test</a:t>
                      </a:r>
                      <a:r>
                        <a:rPr lang="en-US" dirty="0"/>
                        <a:t>&gt;, &lt;</a:t>
                      </a:r>
                      <a:r>
                        <a:rPr lang="en-US" dirty="0" err="1"/>
                        <a:t>value_if_true</a:t>
                      </a:r>
                      <a:r>
                        <a:rPr lang="en-US" dirty="0"/>
                        <a:t>&gt;[, </a:t>
                      </a:r>
                    </a:p>
                    <a:p>
                      <a:r>
                        <a:rPr lang="en-US" dirty="0"/>
                        <a:t>&lt;</a:t>
                      </a:r>
                      <a:r>
                        <a:rPr lang="en-US" dirty="0" err="1"/>
                        <a:t>value_if_false</a:t>
                      </a:r>
                      <a:r>
                        <a:rPr lang="en-US" dirty="0"/>
                        <a:t>&gt;])</a:t>
                      </a:r>
                      <a:endParaRPr lang="es-PE" dirty="0"/>
                    </a:p>
                  </a:txBody>
                  <a:tcPr/>
                </a:tc>
                <a:tc>
                  <a:txBody>
                    <a:bodyPr/>
                    <a:lstStyle/>
                    <a:p>
                      <a:r>
                        <a:rPr lang="es-ES" dirty="0"/>
                        <a:t>Comprueba una condición y devuelve un valor cuando es VERDADERO; de lo contrario, devuelve un segundo valor.</a:t>
                      </a:r>
                      <a:endParaRPr lang="es-PE" dirty="0"/>
                    </a:p>
                  </a:txBody>
                  <a:tcPr/>
                </a:tc>
                <a:extLst>
                  <a:ext uri="{0D108BD9-81ED-4DB2-BD59-A6C34878D82A}">
                    <a16:rowId xmlns:a16="http://schemas.microsoft.com/office/drawing/2014/main" val="3026698350"/>
                  </a:ext>
                </a:extLst>
              </a:tr>
              <a:tr h="529305">
                <a:tc>
                  <a:txBody>
                    <a:bodyPr/>
                    <a:lstStyle/>
                    <a:p>
                      <a:r>
                        <a:rPr lang="es-PE" dirty="0"/>
                        <a:t>AND(&lt;logical1&gt;,&lt;logical2&gt;)</a:t>
                      </a:r>
                    </a:p>
                  </a:txBody>
                  <a:tcPr/>
                </a:tc>
                <a:tc>
                  <a:txBody>
                    <a:bodyPr/>
                    <a:lstStyle/>
                    <a:p>
                      <a:r>
                        <a:rPr lang="es-ES" dirty="0"/>
                        <a:t> Evalúa dos argumentos y devuelve VERDADERO si ambos argumentos son VERDADERO. De lo contrario, devuelve FALSO.</a:t>
                      </a:r>
                      <a:endParaRPr lang="es-PE" dirty="0"/>
                    </a:p>
                  </a:txBody>
                  <a:tcPr/>
                </a:tc>
                <a:extLst>
                  <a:ext uri="{0D108BD9-81ED-4DB2-BD59-A6C34878D82A}">
                    <a16:rowId xmlns:a16="http://schemas.microsoft.com/office/drawing/2014/main" val="2242401773"/>
                  </a:ext>
                </a:extLst>
              </a:tr>
              <a:tr h="529305">
                <a:tc>
                  <a:txBody>
                    <a:bodyPr/>
                    <a:lstStyle/>
                    <a:p>
                      <a:r>
                        <a:rPr lang="es-PE" dirty="0"/>
                        <a:t> OR(&lt;logical1&gt;,&lt;logical2&gt;)</a:t>
                      </a:r>
                    </a:p>
                  </a:txBody>
                  <a:tcPr/>
                </a:tc>
                <a:tc>
                  <a:txBody>
                    <a:bodyPr/>
                    <a:lstStyle/>
                    <a:p>
                      <a:r>
                        <a:rPr lang="es-ES" dirty="0"/>
                        <a:t>Evalúa dos argumentos y devuelve VERDADERO si alguno de ellos es VERDADERO. De lo contrario, devuelve FALSO.</a:t>
                      </a:r>
                      <a:endParaRPr lang="es-PE" dirty="0"/>
                    </a:p>
                  </a:txBody>
                  <a:tcPr/>
                </a:tc>
                <a:extLst>
                  <a:ext uri="{0D108BD9-81ED-4DB2-BD59-A6C34878D82A}">
                    <a16:rowId xmlns:a16="http://schemas.microsoft.com/office/drawing/2014/main" val="4017454482"/>
                  </a:ext>
                </a:extLst>
              </a:tr>
              <a:tr h="529305">
                <a:tc>
                  <a:txBody>
                    <a:bodyPr/>
                    <a:lstStyle/>
                    <a:p>
                      <a:r>
                        <a:rPr lang="es-PE" dirty="0"/>
                        <a:t>NOT(&lt;</a:t>
                      </a:r>
                      <a:r>
                        <a:rPr lang="es-PE" dirty="0" err="1"/>
                        <a:t>logical</a:t>
                      </a:r>
                      <a:r>
                        <a:rPr lang="es-PE" dirty="0"/>
                        <a:t>&gt;) </a:t>
                      </a:r>
                    </a:p>
                  </a:txBody>
                  <a:tcPr/>
                </a:tc>
                <a:tc>
                  <a:txBody>
                    <a:bodyPr/>
                    <a:lstStyle/>
                    <a:p>
                      <a:r>
                        <a:rPr lang="es-ES" dirty="0"/>
                        <a:t>Cambia el valor de una expresión de VERDADERO a FALSO y viceversa</a:t>
                      </a:r>
                      <a:endParaRPr lang="es-PE" dirty="0"/>
                    </a:p>
                  </a:txBody>
                  <a:tcPr/>
                </a:tc>
                <a:extLst>
                  <a:ext uri="{0D108BD9-81ED-4DB2-BD59-A6C34878D82A}">
                    <a16:rowId xmlns:a16="http://schemas.microsoft.com/office/drawing/2014/main" val="3622809047"/>
                  </a:ext>
                </a:extLst>
              </a:tr>
              <a:tr h="529305">
                <a:tc>
                  <a:txBody>
                    <a:bodyPr/>
                    <a:lstStyle/>
                    <a:p>
                      <a:r>
                        <a:rPr lang="en-US" dirty="0"/>
                        <a:t>SWITCH(&lt;expression&gt;, &lt;value&gt;, &lt;result&gt;[, &lt;value&gt;, &lt;result&gt;]…[, &lt;else&gt;]) </a:t>
                      </a:r>
                      <a:endParaRPr lang="es-PE" dirty="0"/>
                    </a:p>
                  </a:txBody>
                  <a:tcPr/>
                </a:tc>
                <a:tc>
                  <a:txBody>
                    <a:bodyPr/>
                    <a:lstStyle/>
                    <a:p>
                      <a:r>
                        <a:rPr lang="es-ES" dirty="0"/>
                        <a:t>Evalúa una expresión en una lista de valores y devuelve una de varias expresiones de resultado posibles. Esta función se puede usar para evitar tener varias instrucciones IF anidadas.</a:t>
                      </a:r>
                      <a:endParaRPr lang="es-PE" dirty="0"/>
                    </a:p>
                  </a:txBody>
                  <a:tcPr/>
                </a:tc>
                <a:extLst>
                  <a:ext uri="{0D108BD9-81ED-4DB2-BD59-A6C34878D82A}">
                    <a16:rowId xmlns:a16="http://schemas.microsoft.com/office/drawing/2014/main" val="2506698014"/>
                  </a:ext>
                </a:extLst>
              </a:tr>
            </a:tbl>
          </a:graphicData>
        </a:graphic>
      </p:graphicFrame>
    </p:spTree>
    <p:extLst>
      <p:ext uri="{BB962C8B-B14F-4D97-AF65-F5344CB8AC3E}">
        <p14:creationId xmlns:p14="http://schemas.microsoft.com/office/powerpoint/2010/main" val="16557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28C959B-F465-1278-9365-D909EABA3B42}"/>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C75194BC-68A0-A30C-EA11-40D3AA1F183A}"/>
              </a:ext>
            </a:extLst>
          </p:cNvPr>
          <p:cNvSpPr txBox="1"/>
          <p:nvPr/>
        </p:nvSpPr>
        <p:spPr>
          <a:xfrm>
            <a:off x="1143986" y="760500"/>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Fecha</a:t>
            </a:r>
          </a:p>
        </p:txBody>
      </p:sp>
      <p:graphicFrame>
        <p:nvGraphicFramePr>
          <p:cNvPr id="4" name="Tabla 3">
            <a:extLst>
              <a:ext uri="{FF2B5EF4-FFF2-40B4-BE49-F238E27FC236}">
                <a16:creationId xmlns:a16="http://schemas.microsoft.com/office/drawing/2014/main" id="{366795D7-7664-1E5A-1E36-910882440133}"/>
              </a:ext>
            </a:extLst>
          </p:cNvPr>
          <p:cNvGraphicFramePr>
            <a:graphicFrameLocks noGrp="1"/>
          </p:cNvGraphicFramePr>
          <p:nvPr>
            <p:extLst>
              <p:ext uri="{D42A27DB-BD31-4B8C-83A1-F6EECF244321}">
                <p14:modId xmlns:p14="http://schemas.microsoft.com/office/powerpoint/2010/main" val="446854102"/>
              </p:ext>
            </p:extLst>
          </p:nvPr>
        </p:nvGraphicFramePr>
        <p:xfrm>
          <a:off x="375535" y="1659265"/>
          <a:ext cx="11638986" cy="3757806"/>
        </p:xfrm>
        <a:graphic>
          <a:graphicData uri="http://schemas.openxmlformats.org/drawingml/2006/table">
            <a:tbl>
              <a:tblPr firstRow="1" bandRow="1">
                <a:tableStyleId>{5C22544A-7EE6-4342-B048-85BDC9FD1C3A}</a:tableStyleId>
              </a:tblPr>
              <a:tblGrid>
                <a:gridCol w="2992698">
                  <a:extLst>
                    <a:ext uri="{9D8B030D-6E8A-4147-A177-3AD203B41FA5}">
                      <a16:colId xmlns:a16="http://schemas.microsoft.com/office/drawing/2014/main" val="2442275383"/>
                    </a:ext>
                  </a:extLst>
                </a:gridCol>
                <a:gridCol w="8646288">
                  <a:extLst>
                    <a:ext uri="{9D8B030D-6E8A-4147-A177-3AD203B41FA5}">
                      <a16:colId xmlns:a16="http://schemas.microsoft.com/office/drawing/2014/main" val="2872923204"/>
                    </a:ext>
                  </a:extLst>
                </a:gridCol>
              </a:tblGrid>
              <a:tr h="504636">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n-US" dirty="0"/>
                        <a:t> CALENDAR(&lt;</a:t>
                      </a:r>
                      <a:r>
                        <a:rPr lang="en-US" dirty="0" err="1"/>
                        <a:t>start_date</a:t>
                      </a:r>
                      <a:r>
                        <a:rPr lang="en-US" dirty="0"/>
                        <a:t>&gt;, </a:t>
                      </a:r>
                    </a:p>
                    <a:p>
                      <a:r>
                        <a:rPr lang="en-US" dirty="0"/>
                        <a:t>&lt;</a:t>
                      </a:r>
                      <a:r>
                        <a:rPr lang="en-US" dirty="0" err="1"/>
                        <a:t>end_date</a:t>
                      </a:r>
                      <a:r>
                        <a:rPr lang="en-US" dirty="0"/>
                        <a:t>&gt;) </a:t>
                      </a:r>
                      <a:endParaRPr lang="es-PE" dirty="0"/>
                    </a:p>
                  </a:txBody>
                  <a:tcPr/>
                </a:tc>
                <a:tc>
                  <a:txBody>
                    <a:bodyPr/>
                    <a:lstStyle/>
                    <a:p>
                      <a:r>
                        <a:rPr lang="es-ES" dirty="0"/>
                        <a:t>Devuelve una tabla con una sola columna denominada "Fecha" que contiene un conjunto contiguo de fechas desde la fecha de inicio hasta la fecha de finalización especificada, incluidas esas dos fechas.</a:t>
                      </a:r>
                      <a:endParaRPr lang="es-PE" dirty="0"/>
                    </a:p>
                  </a:txBody>
                  <a:tcPr/>
                </a:tc>
                <a:extLst>
                  <a:ext uri="{0D108BD9-81ED-4DB2-BD59-A6C34878D82A}">
                    <a16:rowId xmlns:a16="http://schemas.microsoft.com/office/drawing/2014/main" val="3026698350"/>
                  </a:ext>
                </a:extLst>
              </a:tr>
              <a:tr h="529305">
                <a:tc>
                  <a:txBody>
                    <a:bodyPr/>
                    <a:lstStyle/>
                    <a:p>
                      <a:r>
                        <a:rPr lang="en-US" dirty="0"/>
                        <a:t> DATEDIFF(&lt;</a:t>
                      </a:r>
                      <a:r>
                        <a:rPr lang="en-US" dirty="0" err="1"/>
                        <a:t>start_date</a:t>
                      </a:r>
                      <a:r>
                        <a:rPr lang="en-US" dirty="0"/>
                        <a:t>&gt;, </a:t>
                      </a:r>
                    </a:p>
                    <a:p>
                      <a:r>
                        <a:rPr lang="en-US" dirty="0"/>
                        <a:t>&lt;</a:t>
                      </a:r>
                      <a:r>
                        <a:rPr lang="en-US" dirty="0" err="1"/>
                        <a:t>end_date</a:t>
                      </a:r>
                      <a:r>
                        <a:rPr lang="en-US" dirty="0"/>
                        <a:t>&gt;, &lt;interval&gt;)</a:t>
                      </a:r>
                      <a:endParaRPr lang="es-PE" dirty="0"/>
                    </a:p>
                  </a:txBody>
                  <a:tcPr/>
                </a:tc>
                <a:tc>
                  <a:txBody>
                    <a:bodyPr/>
                    <a:lstStyle/>
                    <a:p>
                      <a:r>
                        <a:rPr lang="es-ES" dirty="0"/>
                        <a:t> Devuelve el recuento de límites de intervalo cruzados entre dos fechas.</a:t>
                      </a:r>
                      <a:endParaRPr lang="es-PE" dirty="0"/>
                    </a:p>
                  </a:txBody>
                  <a:tcPr/>
                </a:tc>
                <a:extLst>
                  <a:ext uri="{0D108BD9-81ED-4DB2-BD59-A6C34878D82A}">
                    <a16:rowId xmlns:a16="http://schemas.microsoft.com/office/drawing/2014/main" val="2242401773"/>
                  </a:ext>
                </a:extLst>
              </a:tr>
              <a:tr h="529305">
                <a:tc>
                  <a:txBody>
                    <a:bodyPr/>
                    <a:lstStyle/>
                    <a:p>
                      <a:r>
                        <a:rPr lang="es-PE" dirty="0"/>
                        <a:t> DAY(&lt;date&gt;)</a:t>
                      </a:r>
                    </a:p>
                  </a:txBody>
                  <a:tcPr/>
                </a:tc>
                <a:tc>
                  <a:txBody>
                    <a:bodyPr/>
                    <a:lstStyle/>
                    <a:p>
                      <a:r>
                        <a:rPr lang="es-ES" dirty="0"/>
                        <a:t>Devuelve el día del mes, un número del 1 al 31.</a:t>
                      </a:r>
                      <a:endParaRPr lang="es-PE" dirty="0"/>
                    </a:p>
                  </a:txBody>
                  <a:tcPr/>
                </a:tc>
                <a:extLst>
                  <a:ext uri="{0D108BD9-81ED-4DB2-BD59-A6C34878D82A}">
                    <a16:rowId xmlns:a16="http://schemas.microsoft.com/office/drawing/2014/main" val="4017454482"/>
                  </a:ext>
                </a:extLst>
              </a:tr>
              <a:tr h="529305">
                <a:tc>
                  <a:txBody>
                    <a:bodyPr/>
                    <a:lstStyle/>
                    <a:p>
                      <a:r>
                        <a:rPr lang="es-PE" dirty="0"/>
                        <a:t> MONTH(&lt;date&gt;)</a:t>
                      </a:r>
                    </a:p>
                  </a:txBody>
                  <a:tcPr/>
                </a:tc>
                <a:tc>
                  <a:txBody>
                    <a:bodyPr/>
                    <a:lstStyle/>
                    <a:p>
                      <a:r>
                        <a:rPr lang="es-ES" dirty="0"/>
                        <a:t> Devuelve el mes como un número del 1 (enero) al 12 (diciembre).</a:t>
                      </a:r>
                      <a:endParaRPr lang="es-PE" dirty="0"/>
                    </a:p>
                  </a:txBody>
                  <a:tcPr/>
                </a:tc>
                <a:extLst>
                  <a:ext uri="{0D108BD9-81ED-4DB2-BD59-A6C34878D82A}">
                    <a16:rowId xmlns:a16="http://schemas.microsoft.com/office/drawing/2014/main" val="3622809047"/>
                  </a:ext>
                </a:extLst>
              </a:tr>
              <a:tr h="529305">
                <a:tc>
                  <a:txBody>
                    <a:bodyPr/>
                    <a:lstStyle/>
                    <a:p>
                      <a:r>
                        <a:rPr lang="es-PE" dirty="0"/>
                        <a:t> YEAR(&lt;date&gt;) </a:t>
                      </a:r>
                    </a:p>
                  </a:txBody>
                  <a:tcPr/>
                </a:tc>
                <a:tc>
                  <a:txBody>
                    <a:bodyPr/>
                    <a:lstStyle/>
                    <a:p>
                      <a:r>
                        <a:rPr lang="es-ES" dirty="0"/>
                        <a:t>Devuelve el año de una fecha como un número entero de cuatro dígitos en el rango 1900 - 9999</a:t>
                      </a:r>
                      <a:endParaRPr lang="es-PE" dirty="0"/>
                    </a:p>
                  </a:txBody>
                  <a:tcPr/>
                </a:tc>
                <a:extLst>
                  <a:ext uri="{0D108BD9-81ED-4DB2-BD59-A6C34878D82A}">
                    <a16:rowId xmlns:a16="http://schemas.microsoft.com/office/drawing/2014/main" val="3468483849"/>
                  </a:ext>
                </a:extLst>
              </a:tr>
            </a:tbl>
          </a:graphicData>
        </a:graphic>
      </p:graphicFrame>
    </p:spTree>
    <p:extLst>
      <p:ext uri="{BB962C8B-B14F-4D97-AF65-F5344CB8AC3E}">
        <p14:creationId xmlns:p14="http://schemas.microsoft.com/office/powerpoint/2010/main" val="3822294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853D252-D8BE-BF8E-E0D6-D28CE45417A9}"/>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2D622F76-1CDC-664E-2F7F-FC7DE561CDB3}"/>
              </a:ext>
            </a:extLst>
          </p:cNvPr>
          <p:cNvSpPr txBox="1"/>
          <p:nvPr/>
        </p:nvSpPr>
        <p:spPr>
          <a:xfrm>
            <a:off x="1155561" y="818373"/>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Fecha</a:t>
            </a:r>
          </a:p>
        </p:txBody>
      </p:sp>
      <p:graphicFrame>
        <p:nvGraphicFramePr>
          <p:cNvPr id="4" name="Tabla 3">
            <a:extLst>
              <a:ext uri="{FF2B5EF4-FFF2-40B4-BE49-F238E27FC236}">
                <a16:creationId xmlns:a16="http://schemas.microsoft.com/office/drawing/2014/main" id="{D40A7BB0-8E55-D316-8854-842754CE23BC}"/>
              </a:ext>
            </a:extLst>
          </p:cNvPr>
          <p:cNvGraphicFramePr>
            <a:graphicFrameLocks noGrp="1"/>
          </p:cNvGraphicFramePr>
          <p:nvPr>
            <p:extLst>
              <p:ext uri="{D42A27DB-BD31-4B8C-83A1-F6EECF244321}">
                <p14:modId xmlns:p14="http://schemas.microsoft.com/office/powerpoint/2010/main" val="3593348168"/>
              </p:ext>
            </p:extLst>
          </p:nvPr>
        </p:nvGraphicFramePr>
        <p:xfrm>
          <a:off x="276507" y="1670839"/>
          <a:ext cx="11638986" cy="3921351"/>
        </p:xfrm>
        <a:graphic>
          <a:graphicData uri="http://schemas.openxmlformats.org/drawingml/2006/table">
            <a:tbl>
              <a:tblPr firstRow="1" bandRow="1">
                <a:tableStyleId>{5C22544A-7EE6-4342-B048-85BDC9FD1C3A}</a:tableStyleId>
              </a:tblPr>
              <a:tblGrid>
                <a:gridCol w="2992698">
                  <a:extLst>
                    <a:ext uri="{9D8B030D-6E8A-4147-A177-3AD203B41FA5}">
                      <a16:colId xmlns:a16="http://schemas.microsoft.com/office/drawing/2014/main" val="2442275383"/>
                    </a:ext>
                  </a:extLst>
                </a:gridCol>
                <a:gridCol w="8646288">
                  <a:extLst>
                    <a:ext uri="{9D8B030D-6E8A-4147-A177-3AD203B41FA5}">
                      <a16:colId xmlns:a16="http://schemas.microsoft.com/office/drawing/2014/main" val="2872923204"/>
                    </a:ext>
                  </a:extLst>
                </a:gridCol>
              </a:tblGrid>
              <a:tr h="504636">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sz="1800" b="0" i="0" kern="1200" dirty="0">
                          <a:solidFill>
                            <a:schemeClr val="dk1"/>
                          </a:solidFill>
                          <a:effectLst/>
                          <a:latin typeface="+mn-lt"/>
                          <a:ea typeface="+mn-ea"/>
                          <a:cs typeface="+mn-cs"/>
                        </a:rPr>
                        <a:t>QUARTER(&lt;date&gt;)</a:t>
                      </a:r>
                      <a:endParaRPr lang="es-PE" dirty="0"/>
                    </a:p>
                  </a:txBody>
                  <a:tcPr/>
                </a:tc>
                <a:tc>
                  <a:txBody>
                    <a:bodyPr/>
                    <a:lstStyle/>
                    <a:p>
                      <a:r>
                        <a:rPr lang="es-ES" dirty="0"/>
                        <a:t>Devuelve el trimestre como un número del 1 (enero-marzo) al 4 (octubre-diciembre).</a:t>
                      </a:r>
                      <a:endParaRPr lang="es-PE" dirty="0"/>
                    </a:p>
                  </a:txBody>
                  <a:tcPr/>
                </a:tc>
                <a:extLst>
                  <a:ext uri="{0D108BD9-81ED-4DB2-BD59-A6C34878D82A}">
                    <a16:rowId xmlns:a16="http://schemas.microsoft.com/office/drawing/2014/main" val="3691681983"/>
                  </a:ext>
                </a:extLst>
              </a:tr>
              <a:tr h="529305">
                <a:tc>
                  <a:txBody>
                    <a:bodyPr/>
                    <a:lstStyle/>
                    <a:p>
                      <a:r>
                        <a:rPr lang="es-PE" sz="1800" b="0" i="0" kern="1200" dirty="0">
                          <a:solidFill>
                            <a:schemeClr val="dk1"/>
                          </a:solidFill>
                          <a:effectLst/>
                          <a:latin typeface="+mn-lt"/>
                          <a:ea typeface="+mn-ea"/>
                          <a:cs typeface="+mn-cs"/>
                        </a:rPr>
                        <a:t>TODAY() </a:t>
                      </a:r>
                      <a:endParaRPr lang="es-PE" dirty="0"/>
                    </a:p>
                  </a:txBody>
                  <a:tcPr/>
                </a:tc>
                <a:tc>
                  <a:txBody>
                    <a:bodyPr/>
                    <a:lstStyle/>
                    <a:p>
                      <a:r>
                        <a:rPr lang="es-PE" dirty="0"/>
                        <a:t>Devuelve la fecha actual.</a:t>
                      </a:r>
                    </a:p>
                  </a:txBody>
                  <a:tcPr/>
                </a:tc>
                <a:extLst>
                  <a:ext uri="{0D108BD9-81ED-4DB2-BD59-A6C34878D82A}">
                    <a16:rowId xmlns:a16="http://schemas.microsoft.com/office/drawing/2014/main" val="3088793368"/>
                  </a:ext>
                </a:extLst>
              </a:tr>
              <a:tr h="529305">
                <a:tc>
                  <a:txBody>
                    <a:bodyPr/>
                    <a:lstStyle/>
                    <a:p>
                      <a:r>
                        <a:rPr lang="es-PE" dirty="0"/>
                        <a:t>NOW() </a:t>
                      </a:r>
                    </a:p>
                  </a:txBody>
                  <a:tcPr/>
                </a:tc>
                <a:tc>
                  <a:txBody>
                    <a:bodyPr/>
                    <a:lstStyle/>
                    <a:p>
                      <a:r>
                        <a:rPr lang="es-ES" dirty="0"/>
                        <a:t>Devuelve la fecha y la hora actuales en formato </a:t>
                      </a:r>
                      <a:r>
                        <a:rPr lang="es-ES" dirty="0" err="1"/>
                        <a:t>datetime</a:t>
                      </a:r>
                      <a:r>
                        <a:rPr lang="es-ES" dirty="0"/>
                        <a:t>.</a:t>
                      </a:r>
                      <a:endParaRPr lang="es-PE" dirty="0"/>
                    </a:p>
                  </a:txBody>
                  <a:tcPr/>
                </a:tc>
                <a:extLst>
                  <a:ext uri="{0D108BD9-81ED-4DB2-BD59-A6C34878D82A}">
                    <a16:rowId xmlns:a16="http://schemas.microsoft.com/office/drawing/2014/main" val="135157928"/>
                  </a:ext>
                </a:extLst>
              </a:tr>
              <a:tr h="529305">
                <a:tc>
                  <a:txBody>
                    <a:bodyPr/>
                    <a:lstStyle/>
                    <a:p>
                      <a:r>
                        <a:rPr lang="es-ES" dirty="0"/>
                        <a:t>CALENDARAUTO()</a:t>
                      </a:r>
                      <a:endParaRPr lang="es-PE" dirty="0"/>
                    </a:p>
                  </a:txBody>
                  <a:tcPr/>
                </a:tc>
                <a:tc>
                  <a:txBody>
                    <a:bodyPr/>
                    <a:lstStyle/>
                    <a:p>
                      <a:r>
                        <a:rPr lang="es-ES" dirty="0"/>
                        <a:t>Devuelve una tabla con una sola columna denominada "Date" que contiene un conjunto contiguo de fechas. El rango de fechas se calcula automáticamente según los datos del modelo.</a:t>
                      </a:r>
                      <a:endParaRPr lang="es-PE" dirty="0"/>
                    </a:p>
                  </a:txBody>
                  <a:tcPr/>
                </a:tc>
                <a:extLst>
                  <a:ext uri="{0D108BD9-81ED-4DB2-BD59-A6C34878D82A}">
                    <a16:rowId xmlns:a16="http://schemas.microsoft.com/office/drawing/2014/main" val="600342365"/>
                  </a:ext>
                </a:extLst>
              </a:tr>
              <a:tr h="529305">
                <a:tc>
                  <a:txBody>
                    <a:bodyPr/>
                    <a:lstStyle/>
                    <a:p>
                      <a:r>
                        <a:rPr lang="es-PE" dirty="0"/>
                        <a:t>WEEKNUM(&lt;date&gt;[, &lt;</a:t>
                      </a:r>
                      <a:r>
                        <a:rPr lang="es-PE" dirty="0" err="1"/>
                        <a:t>return_type</a:t>
                      </a:r>
                      <a:r>
                        <a:rPr lang="es-PE" dirty="0"/>
                        <a:t>&gt;]) </a:t>
                      </a:r>
                    </a:p>
                  </a:txBody>
                  <a:tcPr/>
                </a:tc>
                <a:tc>
                  <a:txBody>
                    <a:bodyPr/>
                    <a:lstStyle/>
                    <a:p>
                      <a:r>
                        <a:rPr lang="es-ES" dirty="0"/>
                        <a:t>Devuelve el número de semana de la fecha especificada según el valor de </a:t>
                      </a:r>
                      <a:r>
                        <a:rPr lang="es-ES" dirty="0" err="1"/>
                        <a:t>return_type</a:t>
                      </a:r>
                      <a:r>
                        <a:rPr lang="es-ES" dirty="0"/>
                        <a:t> (el tipo de valor devuelto). El número de semana indica la posición numérica de la semana dentro de un año.</a:t>
                      </a:r>
                      <a:endParaRPr lang="es-PE" dirty="0"/>
                    </a:p>
                  </a:txBody>
                  <a:tcPr/>
                </a:tc>
                <a:extLst>
                  <a:ext uri="{0D108BD9-81ED-4DB2-BD59-A6C34878D82A}">
                    <a16:rowId xmlns:a16="http://schemas.microsoft.com/office/drawing/2014/main" val="2849324917"/>
                  </a:ext>
                </a:extLst>
              </a:tr>
            </a:tbl>
          </a:graphicData>
        </a:graphic>
      </p:graphicFrame>
    </p:spTree>
    <p:extLst>
      <p:ext uri="{BB962C8B-B14F-4D97-AF65-F5344CB8AC3E}">
        <p14:creationId xmlns:p14="http://schemas.microsoft.com/office/powerpoint/2010/main" val="843246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219650-F949-F9AC-F757-DE60BF1A08BD}"/>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9872A2A4-F25F-9F1A-280C-4C1AFDAC24E9}"/>
              </a:ext>
            </a:extLst>
          </p:cNvPr>
          <p:cNvSpPr txBox="1"/>
          <p:nvPr/>
        </p:nvSpPr>
        <p:spPr>
          <a:xfrm>
            <a:off x="1277111" y="776584"/>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Inteligencia de Tiempo</a:t>
            </a:r>
          </a:p>
        </p:txBody>
      </p:sp>
      <p:graphicFrame>
        <p:nvGraphicFramePr>
          <p:cNvPr id="4" name="Tabla 3">
            <a:extLst>
              <a:ext uri="{FF2B5EF4-FFF2-40B4-BE49-F238E27FC236}">
                <a16:creationId xmlns:a16="http://schemas.microsoft.com/office/drawing/2014/main" id="{EB655219-ED86-A994-E98B-750C2AD23B38}"/>
              </a:ext>
            </a:extLst>
          </p:cNvPr>
          <p:cNvGraphicFramePr>
            <a:graphicFrameLocks noGrp="1"/>
          </p:cNvGraphicFramePr>
          <p:nvPr>
            <p:extLst>
              <p:ext uri="{D42A27DB-BD31-4B8C-83A1-F6EECF244321}">
                <p14:modId xmlns:p14="http://schemas.microsoft.com/office/powerpoint/2010/main" val="945998826"/>
              </p:ext>
            </p:extLst>
          </p:nvPr>
        </p:nvGraphicFramePr>
        <p:xfrm>
          <a:off x="222030" y="1594325"/>
          <a:ext cx="11747938" cy="4895086"/>
        </p:xfrm>
        <a:graphic>
          <a:graphicData uri="http://schemas.openxmlformats.org/drawingml/2006/table">
            <a:tbl>
              <a:tblPr firstRow="1" bandRow="1">
                <a:tableStyleId>{5C22544A-7EE6-4342-B048-85BDC9FD1C3A}</a:tableStyleId>
              </a:tblPr>
              <a:tblGrid>
                <a:gridCol w="4346712">
                  <a:extLst>
                    <a:ext uri="{9D8B030D-6E8A-4147-A177-3AD203B41FA5}">
                      <a16:colId xmlns:a16="http://schemas.microsoft.com/office/drawing/2014/main" val="2442275383"/>
                    </a:ext>
                  </a:extLst>
                </a:gridCol>
                <a:gridCol w="7401226">
                  <a:extLst>
                    <a:ext uri="{9D8B030D-6E8A-4147-A177-3AD203B41FA5}">
                      <a16:colId xmlns:a16="http://schemas.microsoft.com/office/drawing/2014/main" val="2872923204"/>
                    </a:ext>
                  </a:extLst>
                </a:gridCol>
              </a:tblGrid>
              <a:tr h="453196">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n-US" sz="1600" dirty="0"/>
                        <a:t>DATEADD(&lt;dates&gt;,&lt;</a:t>
                      </a:r>
                      <a:r>
                        <a:rPr lang="en-US" sz="1600" dirty="0" err="1"/>
                        <a:t>number_of_intervals</a:t>
                      </a:r>
                      <a:r>
                        <a:rPr lang="en-US" sz="1600" dirty="0"/>
                        <a:t>&gt;,&lt;interval&gt;) </a:t>
                      </a:r>
                      <a:endParaRPr lang="es-PE" sz="1600" dirty="0"/>
                    </a:p>
                  </a:txBody>
                  <a:tcPr/>
                </a:tc>
                <a:tc>
                  <a:txBody>
                    <a:bodyPr/>
                    <a:lstStyle/>
                    <a:p>
                      <a:pPr algn="just"/>
                      <a:r>
                        <a:rPr lang="es-ES" sz="1600" dirty="0"/>
                        <a:t>Devuelve una tabla que contiene una columna de fechas que se han desplazado hacia delante o hacia atrás en el tiempo según el número especificado de intervalos desde las fechas del contexto actual.</a:t>
                      </a:r>
                      <a:endParaRPr lang="es-PE" sz="1600" dirty="0"/>
                    </a:p>
                  </a:txBody>
                  <a:tcPr/>
                </a:tc>
                <a:extLst>
                  <a:ext uri="{0D108BD9-81ED-4DB2-BD59-A6C34878D82A}">
                    <a16:rowId xmlns:a16="http://schemas.microsoft.com/office/drawing/2014/main" val="3026698350"/>
                  </a:ext>
                </a:extLst>
              </a:tr>
              <a:tr h="529305">
                <a:tc>
                  <a:txBody>
                    <a:bodyPr/>
                    <a:lstStyle/>
                    <a:p>
                      <a:r>
                        <a:rPr lang="es-PE" sz="1600" dirty="0"/>
                        <a:t>SAMEPERIODLASTYEAR(&lt;dates&gt;) </a:t>
                      </a:r>
                    </a:p>
                  </a:txBody>
                  <a:tcPr/>
                </a:tc>
                <a:tc>
                  <a:txBody>
                    <a:bodyPr/>
                    <a:lstStyle/>
                    <a:p>
                      <a:pPr algn="just"/>
                      <a:r>
                        <a:rPr lang="es-ES" sz="1600" dirty="0"/>
                        <a:t>Devuelve una tabla que contiene una columna de fechas desplazadas un año atrás en el tiempo desde las fechas de la columna dates especificada, en el contexto actual.</a:t>
                      </a:r>
                      <a:endParaRPr lang="es-PE" sz="1600" dirty="0"/>
                    </a:p>
                  </a:txBody>
                  <a:tcPr/>
                </a:tc>
                <a:extLst>
                  <a:ext uri="{0D108BD9-81ED-4DB2-BD59-A6C34878D82A}">
                    <a16:rowId xmlns:a16="http://schemas.microsoft.com/office/drawing/2014/main" val="2242401773"/>
                  </a:ext>
                </a:extLst>
              </a:tr>
              <a:tr h="529305">
                <a:tc>
                  <a:txBody>
                    <a:bodyPr/>
                    <a:lstStyle/>
                    <a:p>
                      <a:r>
                        <a:rPr lang="en-US" sz="1600" dirty="0"/>
                        <a:t>PARALLELPERIOD(&lt;dates&gt;,&lt;</a:t>
                      </a:r>
                      <a:r>
                        <a:rPr lang="en-US" sz="1600" dirty="0" err="1"/>
                        <a:t>number_of_intervals</a:t>
                      </a:r>
                      <a:r>
                        <a:rPr lang="en-US" sz="1600" dirty="0"/>
                        <a:t>&gt;,&lt;interval&gt;) </a:t>
                      </a:r>
                      <a:endParaRPr lang="es-PE" sz="1600" dirty="0"/>
                    </a:p>
                  </a:txBody>
                  <a:tcPr/>
                </a:tc>
                <a:tc>
                  <a:txBody>
                    <a:bodyPr/>
                    <a:lstStyle/>
                    <a:p>
                      <a:pPr algn="just"/>
                      <a:r>
                        <a:rPr lang="es-ES" sz="1600" dirty="0"/>
                        <a:t>Devuelve una tabla que contiene una columna de fechas que representa un período paralelo a las fechas de la columna dates especificada, en el contexto actual, con las fechas desplazadas un número de intervalos hacia delante o hacia atrás en el tiempo.</a:t>
                      </a:r>
                      <a:endParaRPr lang="es-PE" sz="1600" dirty="0"/>
                    </a:p>
                  </a:txBody>
                  <a:tcPr/>
                </a:tc>
                <a:extLst>
                  <a:ext uri="{0D108BD9-81ED-4DB2-BD59-A6C34878D82A}">
                    <a16:rowId xmlns:a16="http://schemas.microsoft.com/office/drawing/2014/main" val="4017454482"/>
                  </a:ext>
                </a:extLst>
              </a:tr>
              <a:tr h="529305">
                <a:tc>
                  <a:txBody>
                    <a:bodyPr/>
                    <a:lstStyle/>
                    <a:p>
                      <a:r>
                        <a:rPr lang="es-PE" sz="1600" dirty="0"/>
                        <a:t>STARTOFMONTH(&lt;dates&gt;) </a:t>
                      </a:r>
                    </a:p>
                  </a:txBody>
                  <a:tcPr/>
                </a:tc>
                <a:tc>
                  <a:txBody>
                    <a:bodyPr/>
                    <a:lstStyle/>
                    <a:p>
                      <a:r>
                        <a:rPr lang="es-ES" sz="1600" dirty="0"/>
                        <a:t>Devuelve la primera fecha del mes del contexto actual para la columna de fechas especificada.</a:t>
                      </a:r>
                      <a:endParaRPr lang="es-PE" sz="1600" dirty="0"/>
                    </a:p>
                  </a:txBody>
                  <a:tcPr/>
                </a:tc>
                <a:extLst>
                  <a:ext uri="{0D108BD9-81ED-4DB2-BD59-A6C34878D82A}">
                    <a16:rowId xmlns:a16="http://schemas.microsoft.com/office/drawing/2014/main" val="3622809047"/>
                  </a:ext>
                </a:extLst>
              </a:tr>
              <a:tr h="529305">
                <a:tc>
                  <a:txBody>
                    <a:bodyPr/>
                    <a:lstStyle/>
                    <a:p>
                      <a:r>
                        <a:rPr lang="es-PE" sz="1600" dirty="0"/>
                        <a:t>ENDOFMONTH(&lt;dates&gt;) </a:t>
                      </a:r>
                    </a:p>
                  </a:txBody>
                  <a:tcPr/>
                </a:tc>
                <a:tc>
                  <a:txBody>
                    <a:bodyPr/>
                    <a:lstStyle/>
                    <a:p>
                      <a:r>
                        <a:rPr lang="es-ES" sz="1600" dirty="0"/>
                        <a:t>Devuelve la última fecha del mes del contexto actual para la columna de fechas especificada.</a:t>
                      </a:r>
                      <a:endParaRPr lang="es-PE" sz="1600" dirty="0"/>
                    </a:p>
                  </a:txBody>
                  <a:tcPr/>
                </a:tc>
                <a:extLst>
                  <a:ext uri="{0D108BD9-81ED-4DB2-BD59-A6C34878D82A}">
                    <a16:rowId xmlns:a16="http://schemas.microsoft.com/office/drawing/2014/main" val="489241982"/>
                  </a:ext>
                </a:extLst>
              </a:tr>
              <a:tr h="529305">
                <a:tc>
                  <a:txBody>
                    <a:bodyPr/>
                    <a:lstStyle/>
                    <a:p>
                      <a:r>
                        <a:rPr lang="es-PE" sz="1600" b="0" i="0" kern="1200" dirty="0">
                          <a:solidFill>
                            <a:schemeClr val="dk1"/>
                          </a:solidFill>
                          <a:effectLst/>
                          <a:latin typeface="+mn-lt"/>
                          <a:ea typeface="+mn-ea"/>
                          <a:cs typeface="+mn-cs"/>
                        </a:rPr>
                        <a:t>FIRSTDATE(&lt;dates&gt;) </a:t>
                      </a:r>
                      <a:endParaRPr lang="es-PE" sz="1600" dirty="0"/>
                    </a:p>
                  </a:txBody>
                  <a:tcPr/>
                </a:tc>
                <a:tc>
                  <a:txBody>
                    <a:bodyPr/>
                    <a:lstStyle/>
                    <a:p>
                      <a:r>
                        <a:rPr lang="es-ES" sz="1600" dirty="0"/>
                        <a:t>Devuelve la primera fecha del contexto actual para la columna de fechas especificada.</a:t>
                      </a:r>
                      <a:endParaRPr lang="es-PE" sz="1600" dirty="0"/>
                    </a:p>
                  </a:txBody>
                  <a:tcPr/>
                </a:tc>
                <a:extLst>
                  <a:ext uri="{0D108BD9-81ED-4DB2-BD59-A6C34878D82A}">
                    <a16:rowId xmlns:a16="http://schemas.microsoft.com/office/drawing/2014/main" val="1169774591"/>
                  </a:ext>
                </a:extLst>
              </a:tr>
              <a:tr h="529305">
                <a:tc>
                  <a:txBody>
                    <a:bodyPr/>
                    <a:lstStyle/>
                    <a:p>
                      <a:r>
                        <a:rPr lang="es-PE" sz="1600" dirty="0"/>
                        <a:t>LASTDATE(&lt;dates&gt;) </a:t>
                      </a:r>
                    </a:p>
                  </a:txBody>
                  <a:tcPr/>
                </a:tc>
                <a:tc>
                  <a:txBody>
                    <a:bodyPr/>
                    <a:lstStyle/>
                    <a:p>
                      <a:r>
                        <a:rPr lang="es-ES" sz="1600" dirty="0"/>
                        <a:t>Devuelve la última fecha del contexto actual para la columna de fechas especificada.</a:t>
                      </a:r>
                      <a:endParaRPr lang="es-PE" sz="1600" dirty="0"/>
                    </a:p>
                  </a:txBody>
                  <a:tcPr/>
                </a:tc>
                <a:extLst>
                  <a:ext uri="{0D108BD9-81ED-4DB2-BD59-A6C34878D82A}">
                    <a16:rowId xmlns:a16="http://schemas.microsoft.com/office/drawing/2014/main" val="529784522"/>
                  </a:ext>
                </a:extLst>
              </a:tr>
            </a:tbl>
          </a:graphicData>
        </a:graphic>
      </p:graphicFrame>
    </p:spTree>
    <p:extLst>
      <p:ext uri="{BB962C8B-B14F-4D97-AF65-F5344CB8AC3E}">
        <p14:creationId xmlns:p14="http://schemas.microsoft.com/office/powerpoint/2010/main" val="2401866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360EE55-D0D7-4CAF-9122-01175A08D5BA}"/>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E03FB60E-94D2-C8A5-FE41-FC66565EB074}"/>
              </a:ext>
            </a:extLst>
          </p:cNvPr>
          <p:cNvSpPr txBox="1"/>
          <p:nvPr/>
        </p:nvSpPr>
        <p:spPr>
          <a:xfrm>
            <a:off x="1277111" y="618879"/>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Texto</a:t>
            </a:r>
          </a:p>
        </p:txBody>
      </p:sp>
      <p:graphicFrame>
        <p:nvGraphicFramePr>
          <p:cNvPr id="4" name="Tabla 3">
            <a:extLst>
              <a:ext uri="{FF2B5EF4-FFF2-40B4-BE49-F238E27FC236}">
                <a16:creationId xmlns:a16="http://schemas.microsoft.com/office/drawing/2014/main" id="{5DE74B25-F38C-30B3-C49E-5D48A50EE8E7}"/>
              </a:ext>
            </a:extLst>
          </p:cNvPr>
          <p:cNvGraphicFramePr>
            <a:graphicFrameLocks noGrp="1"/>
          </p:cNvGraphicFramePr>
          <p:nvPr>
            <p:extLst>
              <p:ext uri="{D42A27DB-BD31-4B8C-83A1-F6EECF244321}">
                <p14:modId xmlns:p14="http://schemas.microsoft.com/office/powerpoint/2010/main" val="4294922411"/>
              </p:ext>
            </p:extLst>
          </p:nvPr>
        </p:nvGraphicFramePr>
        <p:xfrm>
          <a:off x="628512" y="1415585"/>
          <a:ext cx="10934975" cy="5206845"/>
        </p:xfrm>
        <a:graphic>
          <a:graphicData uri="http://schemas.openxmlformats.org/drawingml/2006/table">
            <a:tbl>
              <a:tblPr firstRow="1" bandRow="1">
                <a:tableStyleId>{5C22544A-7EE6-4342-B048-85BDC9FD1C3A}</a:tableStyleId>
              </a:tblPr>
              <a:tblGrid>
                <a:gridCol w="3638269">
                  <a:extLst>
                    <a:ext uri="{9D8B030D-6E8A-4147-A177-3AD203B41FA5}">
                      <a16:colId xmlns:a16="http://schemas.microsoft.com/office/drawing/2014/main" val="2442275383"/>
                    </a:ext>
                  </a:extLst>
                </a:gridCol>
                <a:gridCol w="7296706">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dirty="0"/>
                        <a:t>CONCATENATE(&lt;text1&gt;, &lt;text2&gt;) </a:t>
                      </a:r>
                    </a:p>
                  </a:txBody>
                  <a:tcPr/>
                </a:tc>
                <a:tc>
                  <a:txBody>
                    <a:bodyPr/>
                    <a:lstStyle/>
                    <a:p>
                      <a:r>
                        <a:rPr lang="es-ES" dirty="0"/>
                        <a:t>Unifica dos cadenas de textos en una sola cadena.</a:t>
                      </a:r>
                      <a:endParaRPr lang="es-PE" dirty="0"/>
                    </a:p>
                  </a:txBody>
                  <a:tcPr/>
                </a:tc>
                <a:extLst>
                  <a:ext uri="{0D108BD9-81ED-4DB2-BD59-A6C34878D82A}">
                    <a16:rowId xmlns:a16="http://schemas.microsoft.com/office/drawing/2014/main" val="3026698350"/>
                  </a:ext>
                </a:extLst>
              </a:tr>
              <a:tr h="529305">
                <a:tc>
                  <a:txBody>
                    <a:bodyPr/>
                    <a:lstStyle/>
                    <a:p>
                      <a:r>
                        <a:rPr lang="en-US" dirty="0"/>
                        <a:t>REPLACE(&lt;</a:t>
                      </a:r>
                      <a:r>
                        <a:rPr lang="en-US" dirty="0" err="1"/>
                        <a:t>old_text</a:t>
                      </a:r>
                      <a:r>
                        <a:rPr lang="en-US" dirty="0"/>
                        <a:t>&gt;, &lt;</a:t>
                      </a:r>
                      <a:r>
                        <a:rPr lang="en-US" dirty="0" err="1"/>
                        <a:t>start_num</a:t>
                      </a:r>
                      <a:r>
                        <a:rPr lang="en-US" dirty="0"/>
                        <a:t>&gt;, </a:t>
                      </a:r>
                    </a:p>
                    <a:p>
                      <a:r>
                        <a:rPr lang="en-US" dirty="0"/>
                        <a:t>&lt;</a:t>
                      </a:r>
                      <a:r>
                        <a:rPr lang="en-US" dirty="0" err="1"/>
                        <a:t>num_chars</a:t>
                      </a:r>
                      <a:r>
                        <a:rPr lang="en-US" dirty="0"/>
                        <a:t>&gt;, &lt;</a:t>
                      </a:r>
                      <a:r>
                        <a:rPr lang="en-US" dirty="0" err="1"/>
                        <a:t>new_text</a:t>
                      </a:r>
                      <a:r>
                        <a:rPr lang="en-US" dirty="0"/>
                        <a:t>&gt;)</a:t>
                      </a:r>
                      <a:endParaRPr lang="es-PE" dirty="0"/>
                    </a:p>
                  </a:txBody>
                  <a:tcPr/>
                </a:tc>
                <a:tc>
                  <a:txBody>
                    <a:bodyPr/>
                    <a:lstStyle/>
                    <a:p>
                      <a:r>
                        <a:rPr lang="es-ES" dirty="0"/>
                        <a:t>Reemplaza parte de una cadena de texto, según el número de caracteres </a:t>
                      </a:r>
                    </a:p>
                    <a:p>
                      <a:r>
                        <a:rPr lang="es-ES" dirty="0"/>
                        <a:t>que especifique, con una cadena de texto diferente.</a:t>
                      </a:r>
                      <a:endParaRPr lang="es-PE" dirty="0"/>
                    </a:p>
                  </a:txBody>
                  <a:tcPr/>
                </a:tc>
                <a:extLst>
                  <a:ext uri="{0D108BD9-81ED-4DB2-BD59-A6C34878D82A}">
                    <a16:rowId xmlns:a16="http://schemas.microsoft.com/office/drawing/2014/main" val="2242401773"/>
                  </a:ext>
                </a:extLst>
              </a:tr>
              <a:tr h="529305">
                <a:tc>
                  <a:txBody>
                    <a:bodyPr/>
                    <a:lstStyle/>
                    <a:p>
                      <a:r>
                        <a:rPr lang="es-PE" dirty="0"/>
                        <a:t>UPPER(&lt;</a:t>
                      </a:r>
                      <a:r>
                        <a:rPr lang="es-PE" dirty="0" err="1"/>
                        <a:t>text</a:t>
                      </a:r>
                      <a:r>
                        <a:rPr lang="es-PE" dirty="0"/>
                        <a:t>&gt;)</a:t>
                      </a:r>
                    </a:p>
                  </a:txBody>
                  <a:tcPr/>
                </a:tc>
                <a:tc>
                  <a:txBody>
                    <a:bodyPr/>
                    <a:lstStyle/>
                    <a:p>
                      <a:r>
                        <a:rPr lang="es-ES" dirty="0"/>
                        <a:t> Convierte todas las letras de una cadena de texto a mayúsculas.</a:t>
                      </a:r>
                      <a:endParaRPr lang="es-PE" dirty="0"/>
                    </a:p>
                  </a:txBody>
                  <a:tcPr/>
                </a:tc>
                <a:extLst>
                  <a:ext uri="{0D108BD9-81ED-4DB2-BD59-A6C34878D82A}">
                    <a16:rowId xmlns:a16="http://schemas.microsoft.com/office/drawing/2014/main" val="4017454482"/>
                  </a:ext>
                </a:extLst>
              </a:tr>
              <a:tr h="529305">
                <a:tc>
                  <a:txBody>
                    <a:bodyPr/>
                    <a:lstStyle/>
                    <a:p>
                      <a:r>
                        <a:rPr lang="es-PE" dirty="0"/>
                        <a:t> LOWER(&lt;</a:t>
                      </a:r>
                      <a:r>
                        <a:rPr lang="es-PE" dirty="0" err="1"/>
                        <a:t>text</a:t>
                      </a:r>
                      <a:r>
                        <a:rPr lang="es-PE" dirty="0"/>
                        <a:t>&gt;)</a:t>
                      </a:r>
                    </a:p>
                  </a:txBody>
                  <a:tcPr/>
                </a:tc>
                <a:tc>
                  <a:txBody>
                    <a:bodyPr/>
                    <a:lstStyle/>
                    <a:p>
                      <a:r>
                        <a:rPr lang="es-ES" dirty="0"/>
                        <a:t> Convierte todas las letras de una cadena de texto a minúsculas.</a:t>
                      </a:r>
                      <a:endParaRPr lang="es-PE" dirty="0"/>
                    </a:p>
                  </a:txBody>
                  <a:tcPr/>
                </a:tc>
                <a:extLst>
                  <a:ext uri="{0D108BD9-81ED-4DB2-BD59-A6C34878D82A}">
                    <a16:rowId xmlns:a16="http://schemas.microsoft.com/office/drawing/2014/main" val="3622809047"/>
                  </a:ext>
                </a:extLst>
              </a:tr>
              <a:tr h="529305">
                <a:tc>
                  <a:txBody>
                    <a:bodyPr/>
                    <a:lstStyle/>
                    <a:p>
                      <a:r>
                        <a:rPr lang="es-PE" dirty="0"/>
                        <a:t>TRIM(&lt;</a:t>
                      </a:r>
                      <a:r>
                        <a:rPr lang="es-PE" dirty="0" err="1"/>
                        <a:t>text</a:t>
                      </a:r>
                      <a:r>
                        <a:rPr lang="es-PE" dirty="0"/>
                        <a:t>&gt;)</a:t>
                      </a:r>
                    </a:p>
                  </a:txBody>
                  <a:tcPr/>
                </a:tc>
                <a:tc>
                  <a:txBody>
                    <a:bodyPr/>
                    <a:lstStyle/>
                    <a:p>
                      <a:r>
                        <a:rPr lang="es-ES" dirty="0"/>
                        <a:t> Elimina todos los espacios del texto excepto los espacios entre palabras.</a:t>
                      </a:r>
                      <a:endParaRPr lang="es-PE" dirty="0"/>
                    </a:p>
                  </a:txBody>
                  <a:tcPr/>
                </a:tc>
                <a:extLst>
                  <a:ext uri="{0D108BD9-81ED-4DB2-BD59-A6C34878D82A}">
                    <a16:rowId xmlns:a16="http://schemas.microsoft.com/office/drawing/2014/main" val="489241982"/>
                  </a:ext>
                </a:extLst>
              </a:tr>
              <a:tr h="529305">
                <a:tc>
                  <a:txBody>
                    <a:bodyPr/>
                    <a:lstStyle/>
                    <a:p>
                      <a:r>
                        <a:rPr lang="es-PE" dirty="0"/>
                        <a:t>MID(&lt;</a:t>
                      </a:r>
                      <a:r>
                        <a:rPr lang="es-PE" dirty="0" err="1"/>
                        <a:t>text</a:t>
                      </a:r>
                      <a:r>
                        <a:rPr lang="es-PE" dirty="0"/>
                        <a:t>&gt;, &lt;</a:t>
                      </a:r>
                      <a:r>
                        <a:rPr lang="es-PE" dirty="0" err="1"/>
                        <a:t>start_num</a:t>
                      </a:r>
                      <a:r>
                        <a:rPr lang="es-PE" dirty="0"/>
                        <a:t>&gt;, &lt;</a:t>
                      </a:r>
                      <a:r>
                        <a:rPr lang="es-PE" dirty="0" err="1"/>
                        <a:t>num_chars</a:t>
                      </a:r>
                      <a:r>
                        <a:rPr lang="es-PE" dirty="0"/>
                        <a:t>&gt;)</a:t>
                      </a:r>
                    </a:p>
                  </a:txBody>
                  <a:tcPr/>
                </a:tc>
                <a:tc>
                  <a:txBody>
                    <a:bodyPr/>
                    <a:lstStyle/>
                    <a:p>
                      <a:r>
                        <a:rPr lang="es-ES" dirty="0"/>
                        <a:t>Devuelve una cadena de caracteres de una cadena inicial, dada una </a:t>
                      </a:r>
                    </a:p>
                    <a:p>
                      <a:r>
                        <a:rPr lang="es-ES" dirty="0"/>
                        <a:t>posición inicial y una longitud.</a:t>
                      </a:r>
                      <a:endParaRPr lang="es-PE" dirty="0"/>
                    </a:p>
                  </a:txBody>
                  <a:tcPr/>
                </a:tc>
                <a:extLst>
                  <a:ext uri="{0D108BD9-81ED-4DB2-BD59-A6C34878D82A}">
                    <a16:rowId xmlns:a16="http://schemas.microsoft.com/office/drawing/2014/main" val="1169774591"/>
                  </a:ext>
                </a:extLst>
              </a:tr>
              <a:tr h="529305">
                <a:tc>
                  <a:txBody>
                    <a:bodyPr/>
                    <a:lstStyle/>
                    <a:p>
                      <a:r>
                        <a:rPr lang="es-PE" sz="1800" b="0" i="0" u="none" strike="noStrike" kern="1200" baseline="0" dirty="0">
                          <a:solidFill>
                            <a:schemeClr val="dk1"/>
                          </a:solidFill>
                          <a:latin typeface="+mn-lt"/>
                          <a:ea typeface="+mn-ea"/>
                          <a:cs typeface="+mn-cs"/>
                        </a:rPr>
                        <a:t>LEFT(&lt;</a:t>
                      </a:r>
                      <a:r>
                        <a:rPr lang="es-PE" sz="1800" b="0" i="0" u="none" strike="noStrike" kern="1200" baseline="0" dirty="0" err="1">
                          <a:solidFill>
                            <a:schemeClr val="dk1"/>
                          </a:solidFill>
                          <a:latin typeface="+mn-lt"/>
                          <a:ea typeface="+mn-ea"/>
                          <a:cs typeface="+mn-cs"/>
                        </a:rPr>
                        <a:t>text</a:t>
                      </a:r>
                      <a:r>
                        <a:rPr lang="es-PE" sz="1800" b="0" i="0" u="none" strike="noStrike" kern="1200" baseline="0" dirty="0">
                          <a:solidFill>
                            <a:schemeClr val="dk1"/>
                          </a:solidFill>
                          <a:latin typeface="+mn-lt"/>
                          <a:ea typeface="+mn-ea"/>
                          <a:cs typeface="+mn-cs"/>
                        </a:rPr>
                        <a:t>&gt;, &lt;</a:t>
                      </a:r>
                      <a:r>
                        <a:rPr lang="es-PE" sz="1800" b="0" i="0" u="none" strike="noStrike" kern="1200" baseline="0" dirty="0" err="1">
                          <a:solidFill>
                            <a:schemeClr val="dk1"/>
                          </a:solidFill>
                          <a:latin typeface="+mn-lt"/>
                          <a:ea typeface="+mn-ea"/>
                          <a:cs typeface="+mn-cs"/>
                        </a:rPr>
                        <a:t>num_chars</a:t>
                      </a:r>
                      <a:r>
                        <a:rPr lang="es-PE" sz="1800" b="0" i="0" u="none" strike="noStrike" kern="1200" baseline="0" dirty="0">
                          <a:solidFill>
                            <a:schemeClr val="dk1"/>
                          </a:solidFill>
                          <a:latin typeface="+mn-lt"/>
                          <a:ea typeface="+mn-ea"/>
                          <a:cs typeface="+mn-cs"/>
                        </a:rPr>
                        <a:t>&gt;)</a:t>
                      </a:r>
                    </a:p>
                  </a:txBody>
                  <a:tcPr/>
                </a:tc>
                <a:tc>
                  <a:txBody>
                    <a:bodyPr/>
                    <a:lstStyle/>
                    <a:p>
                      <a:r>
                        <a:rPr lang="es-ES" dirty="0"/>
                        <a:t> Devuelve el número especificado de caracteres desde el principio de una cadena de texto.</a:t>
                      </a:r>
                      <a:endParaRPr lang="es-PE" dirty="0"/>
                    </a:p>
                  </a:txBody>
                  <a:tcPr/>
                </a:tc>
                <a:extLst>
                  <a:ext uri="{0D108BD9-81ED-4DB2-BD59-A6C34878D82A}">
                    <a16:rowId xmlns:a16="http://schemas.microsoft.com/office/drawing/2014/main" val="333787306"/>
                  </a:ext>
                </a:extLst>
              </a:tr>
              <a:tr h="529305">
                <a:tc>
                  <a:txBody>
                    <a:bodyPr/>
                    <a:lstStyle/>
                    <a:p>
                      <a:r>
                        <a:rPr lang="es-PE" dirty="0"/>
                        <a:t> RIGHT(&lt;</a:t>
                      </a:r>
                      <a:r>
                        <a:rPr lang="es-PE" dirty="0" err="1"/>
                        <a:t>text</a:t>
                      </a:r>
                      <a:r>
                        <a:rPr lang="es-PE" dirty="0"/>
                        <a:t>&gt;, &lt;</a:t>
                      </a:r>
                      <a:r>
                        <a:rPr lang="es-PE" dirty="0" err="1"/>
                        <a:t>num_chars</a:t>
                      </a:r>
                      <a:r>
                        <a:rPr lang="es-PE" dirty="0"/>
                        <a:t>&gt;)</a:t>
                      </a:r>
                    </a:p>
                  </a:txBody>
                  <a:tcPr/>
                </a:tc>
                <a:tc>
                  <a:txBody>
                    <a:bodyPr/>
                    <a:lstStyle/>
                    <a:p>
                      <a:r>
                        <a:rPr lang="es-ES" dirty="0"/>
                        <a:t> Devuelve el número especificado de caracteres desde el final de una </a:t>
                      </a:r>
                    </a:p>
                    <a:p>
                      <a:r>
                        <a:rPr lang="es-ES" dirty="0"/>
                        <a:t>cadena de texto.</a:t>
                      </a:r>
                      <a:endParaRPr lang="es-PE" dirty="0"/>
                    </a:p>
                  </a:txBody>
                  <a:tcPr/>
                </a:tc>
                <a:extLst>
                  <a:ext uri="{0D108BD9-81ED-4DB2-BD59-A6C34878D82A}">
                    <a16:rowId xmlns:a16="http://schemas.microsoft.com/office/drawing/2014/main" val="1292654138"/>
                  </a:ext>
                </a:extLst>
              </a:tr>
            </a:tbl>
          </a:graphicData>
        </a:graphic>
      </p:graphicFrame>
    </p:spTree>
    <p:extLst>
      <p:ext uri="{BB962C8B-B14F-4D97-AF65-F5344CB8AC3E}">
        <p14:creationId xmlns:p14="http://schemas.microsoft.com/office/powerpoint/2010/main" val="3505118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219650-F949-F9AC-F757-DE60BF1A08BD}"/>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9872A2A4-F25F-9F1A-280C-4C1AFDAC24E9}"/>
              </a:ext>
            </a:extLst>
          </p:cNvPr>
          <p:cNvSpPr txBox="1"/>
          <p:nvPr/>
        </p:nvSpPr>
        <p:spPr>
          <a:xfrm>
            <a:off x="1253963" y="649062"/>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Información</a:t>
            </a:r>
          </a:p>
        </p:txBody>
      </p:sp>
      <p:graphicFrame>
        <p:nvGraphicFramePr>
          <p:cNvPr id="4" name="Tabla 3">
            <a:extLst>
              <a:ext uri="{FF2B5EF4-FFF2-40B4-BE49-F238E27FC236}">
                <a16:creationId xmlns:a16="http://schemas.microsoft.com/office/drawing/2014/main" id="{EB655219-ED86-A994-E98B-750C2AD23B38}"/>
              </a:ext>
            </a:extLst>
          </p:cNvPr>
          <p:cNvGraphicFramePr>
            <a:graphicFrameLocks noGrp="1"/>
          </p:cNvGraphicFramePr>
          <p:nvPr>
            <p:extLst>
              <p:ext uri="{D42A27DB-BD31-4B8C-83A1-F6EECF244321}">
                <p14:modId xmlns:p14="http://schemas.microsoft.com/office/powerpoint/2010/main" val="69904868"/>
              </p:ext>
            </p:extLst>
          </p:nvPr>
        </p:nvGraphicFramePr>
        <p:xfrm>
          <a:off x="402520" y="1458223"/>
          <a:ext cx="11210344" cy="4490656"/>
        </p:xfrm>
        <a:graphic>
          <a:graphicData uri="http://schemas.openxmlformats.org/drawingml/2006/table">
            <a:tbl>
              <a:tblPr firstRow="1" bandRow="1">
                <a:tableStyleId>{5C22544A-7EE6-4342-B048-85BDC9FD1C3A}</a:tableStyleId>
              </a:tblPr>
              <a:tblGrid>
                <a:gridCol w="4141328">
                  <a:extLst>
                    <a:ext uri="{9D8B030D-6E8A-4147-A177-3AD203B41FA5}">
                      <a16:colId xmlns:a16="http://schemas.microsoft.com/office/drawing/2014/main" val="2442275383"/>
                    </a:ext>
                  </a:extLst>
                </a:gridCol>
                <a:gridCol w="7069016">
                  <a:extLst>
                    <a:ext uri="{9D8B030D-6E8A-4147-A177-3AD203B41FA5}">
                      <a16:colId xmlns:a16="http://schemas.microsoft.com/office/drawing/2014/main" val="2872923204"/>
                    </a:ext>
                  </a:extLst>
                </a:gridCol>
              </a:tblGrid>
              <a:tr h="453196">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n-US" dirty="0"/>
                        <a:t>HASONEVALUE(&lt;</a:t>
                      </a:r>
                      <a:r>
                        <a:rPr lang="en-US" dirty="0" err="1"/>
                        <a:t>columnName</a:t>
                      </a:r>
                      <a:r>
                        <a:rPr lang="en-US" dirty="0"/>
                        <a:t>&gt;)</a:t>
                      </a:r>
                      <a:endParaRPr lang="es-PE" dirty="0"/>
                    </a:p>
                  </a:txBody>
                  <a:tcPr/>
                </a:tc>
                <a:tc>
                  <a:txBody>
                    <a:bodyPr/>
                    <a:lstStyle/>
                    <a:p>
                      <a:pPr algn="just"/>
                      <a:r>
                        <a:rPr lang="es-ES" dirty="0"/>
                        <a:t>Devuelve TRUE cuando el contexto de </a:t>
                      </a:r>
                      <a:r>
                        <a:rPr lang="es-ES" dirty="0" err="1"/>
                        <a:t>columnName</a:t>
                      </a:r>
                      <a:r>
                        <a:rPr lang="es-ES" dirty="0"/>
                        <a:t> se ha filtrado solo a una </a:t>
                      </a:r>
                      <a:r>
                        <a:rPr lang="es-ES" dirty="0" err="1"/>
                        <a:t>value</a:t>
                      </a:r>
                      <a:r>
                        <a:rPr lang="es-ES" dirty="0"/>
                        <a:t> distinta. De lo contrario, es FALSE.</a:t>
                      </a:r>
                      <a:endParaRPr lang="es-PE" dirty="0"/>
                    </a:p>
                  </a:txBody>
                  <a:tcPr/>
                </a:tc>
                <a:extLst>
                  <a:ext uri="{0D108BD9-81ED-4DB2-BD59-A6C34878D82A}">
                    <a16:rowId xmlns:a16="http://schemas.microsoft.com/office/drawing/2014/main" val="3026698350"/>
                  </a:ext>
                </a:extLst>
              </a:tr>
              <a:tr h="529305">
                <a:tc>
                  <a:txBody>
                    <a:bodyPr/>
                    <a:lstStyle/>
                    <a:p>
                      <a:r>
                        <a:rPr lang="es-PE" sz="1800" b="0" i="0" kern="1200" dirty="0">
                          <a:solidFill>
                            <a:schemeClr val="dk1"/>
                          </a:solidFill>
                          <a:effectLst/>
                          <a:latin typeface="+mn-lt"/>
                          <a:ea typeface="+mn-ea"/>
                          <a:cs typeface="+mn-cs"/>
                        </a:rPr>
                        <a:t>ISBLANK(&lt;</a:t>
                      </a:r>
                      <a:r>
                        <a:rPr lang="es-PE" sz="1800" b="0" i="0" kern="1200" dirty="0" err="1">
                          <a:solidFill>
                            <a:schemeClr val="dk1"/>
                          </a:solidFill>
                          <a:effectLst/>
                          <a:latin typeface="+mn-lt"/>
                          <a:ea typeface="+mn-ea"/>
                          <a:cs typeface="+mn-cs"/>
                        </a:rPr>
                        <a:t>value</a:t>
                      </a:r>
                      <a:r>
                        <a:rPr lang="es-PE" sz="1800" b="0" i="0" kern="1200" dirty="0">
                          <a:solidFill>
                            <a:schemeClr val="dk1"/>
                          </a:solidFill>
                          <a:effectLst/>
                          <a:latin typeface="+mn-lt"/>
                          <a:ea typeface="+mn-ea"/>
                          <a:cs typeface="+mn-cs"/>
                        </a:rPr>
                        <a:t>&gt;)</a:t>
                      </a:r>
                      <a:endParaRPr lang="es-PE" dirty="0"/>
                    </a:p>
                  </a:txBody>
                  <a:tcPr/>
                </a:tc>
                <a:tc>
                  <a:txBody>
                    <a:bodyPr/>
                    <a:lstStyle/>
                    <a:p>
                      <a:pPr algn="just"/>
                      <a:r>
                        <a:rPr lang="es-ES" dirty="0"/>
                        <a:t>Comprueba si un valor es </a:t>
                      </a:r>
                      <a:r>
                        <a:rPr lang="es-ES" dirty="0" err="1"/>
                        <a:t>blank</a:t>
                      </a:r>
                      <a:r>
                        <a:rPr lang="es-ES" dirty="0"/>
                        <a:t>, y devuelve TRUE o FALSE.</a:t>
                      </a:r>
                      <a:endParaRPr lang="es-PE" dirty="0"/>
                    </a:p>
                  </a:txBody>
                  <a:tcPr/>
                </a:tc>
                <a:extLst>
                  <a:ext uri="{0D108BD9-81ED-4DB2-BD59-A6C34878D82A}">
                    <a16:rowId xmlns:a16="http://schemas.microsoft.com/office/drawing/2014/main" val="2242401773"/>
                  </a:ext>
                </a:extLst>
              </a:tr>
              <a:tr h="571590">
                <a:tc>
                  <a:txBody>
                    <a:bodyPr/>
                    <a:lstStyle/>
                    <a:p>
                      <a:r>
                        <a:rPr lang="es-PE" dirty="0"/>
                        <a:t>ISFILTERED(&lt;</a:t>
                      </a:r>
                      <a:r>
                        <a:rPr lang="es-PE" dirty="0" err="1"/>
                        <a:t>TableNameOrColumnName</a:t>
                      </a:r>
                      <a:r>
                        <a:rPr lang="es-PE" dirty="0"/>
                        <a:t>&gt;) </a:t>
                      </a:r>
                    </a:p>
                  </a:txBody>
                  <a:tcPr/>
                </a:tc>
                <a:tc>
                  <a:txBody>
                    <a:bodyPr/>
                    <a:lstStyle/>
                    <a:p>
                      <a:pPr algn="just"/>
                      <a:r>
                        <a:rPr lang="es-ES" dirty="0"/>
                        <a:t>Devuelve TRUE cuando la tabla especificada o columna se filtra directamente.</a:t>
                      </a:r>
                      <a:endParaRPr lang="es-PE" dirty="0"/>
                    </a:p>
                  </a:txBody>
                  <a:tcPr/>
                </a:tc>
                <a:extLst>
                  <a:ext uri="{0D108BD9-81ED-4DB2-BD59-A6C34878D82A}">
                    <a16:rowId xmlns:a16="http://schemas.microsoft.com/office/drawing/2014/main" val="4017454482"/>
                  </a:ext>
                </a:extLst>
              </a:tr>
              <a:tr h="529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ISNUMBER(&lt;</a:t>
                      </a:r>
                      <a:r>
                        <a:rPr lang="es-PE" dirty="0" err="1"/>
                        <a:t>value</a:t>
                      </a:r>
                      <a:r>
                        <a:rPr lang="es-PE" dirty="0"/>
                        <a:t>&gt;)</a:t>
                      </a:r>
                    </a:p>
                  </a:txBody>
                  <a:tcPr/>
                </a:tc>
                <a:tc>
                  <a:txBody>
                    <a:bodyPr/>
                    <a:lstStyle/>
                    <a:p>
                      <a:pPr algn="just"/>
                      <a:r>
                        <a:rPr lang="es-ES" dirty="0"/>
                        <a:t>Comprueba si un valor es un número, y devuelve TRUE o FALSE.</a:t>
                      </a:r>
                      <a:endParaRPr lang="es-PE" dirty="0"/>
                    </a:p>
                  </a:txBody>
                  <a:tcPr/>
                </a:tc>
                <a:extLst>
                  <a:ext uri="{0D108BD9-81ED-4DB2-BD59-A6C34878D82A}">
                    <a16:rowId xmlns:a16="http://schemas.microsoft.com/office/drawing/2014/main" val="2894096688"/>
                  </a:ext>
                </a:extLst>
              </a:tr>
              <a:tr h="529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ISTEXT(&lt;</a:t>
                      </a:r>
                      <a:r>
                        <a:rPr lang="es-PE" dirty="0" err="1"/>
                        <a:t>value</a:t>
                      </a:r>
                      <a:r>
                        <a:rPr lang="es-PE" dirty="0"/>
                        <a:t>&gt;)</a:t>
                      </a:r>
                    </a:p>
                  </a:txBody>
                  <a:tcPr/>
                </a:tc>
                <a:tc>
                  <a:txBody>
                    <a:bodyPr/>
                    <a:lstStyle/>
                    <a:p>
                      <a:pPr algn="just"/>
                      <a:r>
                        <a:rPr lang="es-ES" dirty="0"/>
                        <a:t>Comprueba si un valor es texto, y devuelve TRUE o FALSE.</a:t>
                      </a:r>
                      <a:endParaRPr lang="es-PE" dirty="0"/>
                    </a:p>
                  </a:txBody>
                  <a:tcPr/>
                </a:tc>
                <a:extLst>
                  <a:ext uri="{0D108BD9-81ED-4DB2-BD59-A6C34878D82A}">
                    <a16:rowId xmlns:a16="http://schemas.microsoft.com/office/drawing/2014/main" val="2258064410"/>
                  </a:ext>
                </a:extLst>
              </a:tr>
              <a:tr h="529305">
                <a:tc>
                  <a:txBody>
                    <a:bodyPr/>
                    <a:lstStyle/>
                    <a:p>
                      <a:r>
                        <a:rPr lang="es-PE" dirty="0"/>
                        <a:t>USERNAME()</a:t>
                      </a:r>
                    </a:p>
                  </a:txBody>
                  <a:tcPr/>
                </a:tc>
                <a:tc>
                  <a:txBody>
                    <a:bodyPr/>
                    <a:lstStyle/>
                    <a:p>
                      <a:pPr algn="just"/>
                      <a:r>
                        <a:rPr lang="es-ES" dirty="0"/>
                        <a:t>Devuelve el nombre de dominio y nombre de usuario de las credenciales que se proporcionan al sistema en la conexión time.</a:t>
                      </a:r>
                      <a:endParaRPr lang="es-PE" dirty="0"/>
                    </a:p>
                  </a:txBody>
                  <a:tcPr/>
                </a:tc>
                <a:extLst>
                  <a:ext uri="{0D108BD9-81ED-4DB2-BD59-A6C34878D82A}">
                    <a16:rowId xmlns:a16="http://schemas.microsoft.com/office/drawing/2014/main" val="309377732"/>
                  </a:ext>
                </a:extLst>
              </a:tr>
              <a:tr h="529305">
                <a:tc>
                  <a:txBody>
                    <a:bodyPr/>
                    <a:lstStyle/>
                    <a:p>
                      <a:r>
                        <a:rPr lang="es-PE" dirty="0"/>
                        <a:t>USERPRINCIPALNAME()</a:t>
                      </a:r>
                    </a:p>
                  </a:txBody>
                  <a:tcPr/>
                </a:tc>
                <a:tc>
                  <a:txBody>
                    <a:bodyPr/>
                    <a:lstStyle/>
                    <a:p>
                      <a:pPr algn="just"/>
                      <a:r>
                        <a:rPr lang="es-ES" dirty="0"/>
                        <a:t>Devuelve el nombre principal de usuario.</a:t>
                      </a:r>
                      <a:endParaRPr lang="es-PE" dirty="0"/>
                    </a:p>
                  </a:txBody>
                  <a:tcPr/>
                </a:tc>
                <a:extLst>
                  <a:ext uri="{0D108BD9-81ED-4DB2-BD59-A6C34878D82A}">
                    <a16:rowId xmlns:a16="http://schemas.microsoft.com/office/drawing/2014/main" val="941816547"/>
                  </a:ext>
                </a:extLst>
              </a:tr>
            </a:tbl>
          </a:graphicData>
        </a:graphic>
      </p:graphicFrame>
    </p:spTree>
    <p:extLst>
      <p:ext uri="{BB962C8B-B14F-4D97-AF65-F5344CB8AC3E}">
        <p14:creationId xmlns:p14="http://schemas.microsoft.com/office/powerpoint/2010/main" val="2896941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360EE55-D0D7-4CAF-9122-01175A08D5BA}"/>
            </a:ext>
          </a:extLst>
        </p:cNvPr>
        <p:cNvGrpSpPr/>
        <p:nvPr/>
      </p:nvGrpSpPr>
      <p:grpSpPr>
        <a:xfrm>
          <a:off x="0" y="0"/>
          <a:ext cx="0" cy="0"/>
          <a:chOff x="0" y="0"/>
          <a:chExt cx="0" cy="0"/>
        </a:xfrm>
      </p:grpSpPr>
      <p:sp>
        <p:nvSpPr>
          <p:cNvPr id="2" name="Google Shape;251;p14">
            <a:extLst>
              <a:ext uri="{FF2B5EF4-FFF2-40B4-BE49-F238E27FC236}">
                <a16:creationId xmlns:a16="http://schemas.microsoft.com/office/drawing/2014/main" id="{E03FB60E-94D2-C8A5-FE41-FC66565EB074}"/>
              </a:ext>
            </a:extLst>
          </p:cNvPr>
          <p:cNvSpPr txBox="1"/>
          <p:nvPr/>
        </p:nvSpPr>
        <p:spPr>
          <a:xfrm>
            <a:off x="1459085" y="815649"/>
            <a:ext cx="9637775" cy="609398"/>
          </a:xfrm>
          <a:prstGeom prst="rect">
            <a:avLst/>
          </a:prstGeom>
        </p:spPr>
        <p:txBody>
          <a:bodyPr vert="horz" lIns="91440" tIns="45720" rIns="91440" bIns="45720" rtlCol="0" anchor="ctr">
            <a:normAutofit fontScale="92500" lnSpcReduction="10000"/>
          </a:bodyPr>
          <a:lstStyle>
            <a:defPPr>
              <a:defRPr lang="es-PE"/>
            </a:defPPr>
            <a:lvl1pPr marL="228600" indent="-228600" algn="ctr">
              <a:lnSpc>
                <a:spcPct val="90000"/>
              </a:lnSpc>
              <a:spcBef>
                <a:spcPct val="0"/>
              </a:spcBef>
              <a:buFont typeface="Arial" panose="020B0604020202020204" pitchFamily="34" charset="0"/>
              <a:buNone/>
              <a:defRPr sz="4400">
                <a:latin typeface="+mj-lt"/>
                <a:ea typeface="+mj-ea"/>
                <a:cs typeface="+mj-cs"/>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PE" dirty="0"/>
              <a:t>Funciones de Relación</a:t>
            </a:r>
          </a:p>
        </p:txBody>
      </p:sp>
      <p:graphicFrame>
        <p:nvGraphicFramePr>
          <p:cNvPr id="4" name="Tabla 3">
            <a:extLst>
              <a:ext uri="{FF2B5EF4-FFF2-40B4-BE49-F238E27FC236}">
                <a16:creationId xmlns:a16="http://schemas.microsoft.com/office/drawing/2014/main" id="{5DE74B25-F38C-30B3-C49E-5D48A50EE8E7}"/>
              </a:ext>
            </a:extLst>
          </p:cNvPr>
          <p:cNvGraphicFramePr>
            <a:graphicFrameLocks noGrp="1"/>
          </p:cNvGraphicFramePr>
          <p:nvPr>
            <p:extLst>
              <p:ext uri="{D42A27DB-BD31-4B8C-83A1-F6EECF244321}">
                <p14:modId xmlns:p14="http://schemas.microsoft.com/office/powerpoint/2010/main" val="3378354900"/>
              </p:ext>
            </p:extLst>
          </p:nvPr>
        </p:nvGraphicFramePr>
        <p:xfrm>
          <a:off x="810486" y="1612355"/>
          <a:ext cx="10934975" cy="2978850"/>
        </p:xfrm>
        <a:graphic>
          <a:graphicData uri="http://schemas.openxmlformats.org/drawingml/2006/table">
            <a:tbl>
              <a:tblPr firstRow="1" bandRow="1">
                <a:tableStyleId>{5C22544A-7EE6-4342-B048-85BDC9FD1C3A}</a:tableStyleId>
              </a:tblPr>
              <a:tblGrid>
                <a:gridCol w="3638269">
                  <a:extLst>
                    <a:ext uri="{9D8B030D-6E8A-4147-A177-3AD203B41FA5}">
                      <a16:colId xmlns:a16="http://schemas.microsoft.com/office/drawing/2014/main" val="2442275383"/>
                    </a:ext>
                  </a:extLst>
                </a:gridCol>
                <a:gridCol w="7296706">
                  <a:extLst>
                    <a:ext uri="{9D8B030D-6E8A-4147-A177-3AD203B41FA5}">
                      <a16:colId xmlns:a16="http://schemas.microsoft.com/office/drawing/2014/main" val="2872923204"/>
                    </a:ext>
                  </a:extLst>
                </a:gridCol>
              </a:tblGrid>
              <a:tr h="529305">
                <a:tc>
                  <a:txBody>
                    <a:bodyPr/>
                    <a:lstStyle/>
                    <a:p>
                      <a:r>
                        <a:rPr lang="es-ES" dirty="0"/>
                        <a:t>Nombre de Función</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2685006359"/>
                  </a:ext>
                </a:extLst>
              </a:tr>
              <a:tr h="529305">
                <a:tc>
                  <a:txBody>
                    <a:bodyPr/>
                    <a:lstStyle/>
                    <a:p>
                      <a:r>
                        <a:rPr lang="es-PE" sz="1800" b="0" i="0" kern="1200" dirty="0">
                          <a:solidFill>
                            <a:schemeClr val="dk1"/>
                          </a:solidFill>
                          <a:effectLst/>
                          <a:latin typeface="+mn-lt"/>
                          <a:ea typeface="+mn-ea"/>
                          <a:cs typeface="+mn-cs"/>
                        </a:rPr>
                        <a:t>RELATED(&lt;</a:t>
                      </a:r>
                      <a:r>
                        <a:rPr lang="es-PE" sz="1800" b="0" i="0" kern="1200" dirty="0" err="1">
                          <a:solidFill>
                            <a:schemeClr val="dk1"/>
                          </a:solidFill>
                          <a:effectLst/>
                          <a:latin typeface="+mn-lt"/>
                          <a:ea typeface="+mn-ea"/>
                          <a:cs typeface="+mn-cs"/>
                        </a:rPr>
                        <a:t>column</a:t>
                      </a:r>
                      <a:r>
                        <a:rPr lang="es-PE" sz="1800" b="0" i="0" kern="1200" dirty="0">
                          <a:solidFill>
                            <a:schemeClr val="dk1"/>
                          </a:solidFill>
                          <a:effectLst/>
                          <a:latin typeface="+mn-lt"/>
                          <a:ea typeface="+mn-ea"/>
                          <a:cs typeface="+mn-cs"/>
                        </a:rPr>
                        <a:t>&gt;) </a:t>
                      </a:r>
                      <a:endParaRPr lang="es-PE" dirty="0"/>
                    </a:p>
                  </a:txBody>
                  <a:tcPr/>
                </a:tc>
                <a:tc>
                  <a:txBody>
                    <a:bodyPr/>
                    <a:lstStyle/>
                    <a:p>
                      <a:r>
                        <a:rPr lang="es-ES" sz="1800" b="0" i="0" kern="1200" dirty="0">
                          <a:solidFill>
                            <a:schemeClr val="dk1"/>
                          </a:solidFill>
                          <a:effectLst/>
                          <a:latin typeface="+mn-lt"/>
                          <a:ea typeface="+mn-ea"/>
                          <a:cs typeface="+mn-cs"/>
                        </a:rPr>
                        <a:t>Devuelve un valor relacionado de otra tabla.</a:t>
                      </a:r>
                      <a:endParaRPr lang="es-PE" dirty="0"/>
                    </a:p>
                  </a:txBody>
                  <a:tcPr/>
                </a:tc>
                <a:extLst>
                  <a:ext uri="{0D108BD9-81ED-4DB2-BD59-A6C34878D82A}">
                    <a16:rowId xmlns:a16="http://schemas.microsoft.com/office/drawing/2014/main" val="3026698350"/>
                  </a:ext>
                </a:extLst>
              </a:tr>
              <a:tr h="529305">
                <a:tc>
                  <a:txBody>
                    <a:bodyPr/>
                    <a:lstStyle/>
                    <a:p>
                      <a:r>
                        <a:rPr lang="es-PE" dirty="0"/>
                        <a:t>RELATEDTABLE(&lt;</a:t>
                      </a:r>
                      <a:r>
                        <a:rPr lang="es-PE" dirty="0" err="1"/>
                        <a:t>tableName</a:t>
                      </a:r>
                      <a:r>
                        <a:rPr lang="es-PE" dirty="0"/>
                        <a:t>&gt;) </a:t>
                      </a:r>
                    </a:p>
                  </a:txBody>
                  <a:tcPr/>
                </a:tc>
                <a:tc>
                  <a:txBody>
                    <a:bodyPr/>
                    <a:lstStyle/>
                    <a:p>
                      <a:r>
                        <a:rPr lang="es-ES" dirty="0"/>
                        <a:t>Evalúa una expresión de tabla en un contexto modificado por el filtro especificado.</a:t>
                      </a:r>
                      <a:endParaRPr lang="es-PE" dirty="0"/>
                    </a:p>
                  </a:txBody>
                  <a:tcPr/>
                </a:tc>
                <a:extLst>
                  <a:ext uri="{0D108BD9-81ED-4DB2-BD59-A6C34878D82A}">
                    <a16:rowId xmlns:a16="http://schemas.microsoft.com/office/drawing/2014/main" val="2242401773"/>
                  </a:ext>
                </a:extLst>
              </a:tr>
              <a:tr h="529305">
                <a:tc>
                  <a:txBody>
                    <a:bodyPr/>
                    <a:lstStyle/>
                    <a:p>
                      <a:r>
                        <a:rPr lang="es-PE" dirty="0"/>
                        <a:t>USERELATIONSHIP(&lt;columnName1&gt;,&lt;columnName2&gt;)</a:t>
                      </a:r>
                    </a:p>
                  </a:txBody>
                  <a:tcPr/>
                </a:tc>
                <a:tc>
                  <a:txBody>
                    <a:bodyPr/>
                    <a:lstStyle/>
                    <a:p>
                      <a:r>
                        <a:rPr lang="es-ES" dirty="0"/>
                        <a:t>Especifica la relación que se va a usar en un cálculo específico como la que existe entre Nombre de Columna 1 and Nombre de Columna 2 .</a:t>
                      </a:r>
                      <a:endParaRPr lang="es-PE" dirty="0"/>
                    </a:p>
                  </a:txBody>
                  <a:tcPr/>
                </a:tc>
                <a:extLst>
                  <a:ext uri="{0D108BD9-81ED-4DB2-BD59-A6C34878D82A}">
                    <a16:rowId xmlns:a16="http://schemas.microsoft.com/office/drawing/2014/main" val="4017454482"/>
                  </a:ext>
                </a:extLst>
              </a:tr>
              <a:tr h="529305">
                <a:tc>
                  <a:txBody>
                    <a:bodyPr/>
                    <a:lstStyle/>
                    <a:p>
                      <a:r>
                        <a:rPr lang="es-PE" dirty="0"/>
                        <a:t>CROSSFILTER(&lt;columnName1&gt;, &lt;columnName2&gt;, &lt;</a:t>
                      </a:r>
                      <a:r>
                        <a:rPr lang="es-PE" dirty="0" err="1"/>
                        <a:t>direction</a:t>
                      </a:r>
                      <a:r>
                        <a:rPr lang="es-PE" dirty="0"/>
                        <a:t>&gt;)</a:t>
                      </a:r>
                    </a:p>
                  </a:txBody>
                  <a:tcPr/>
                </a:tc>
                <a:tc>
                  <a:txBody>
                    <a:bodyPr/>
                    <a:lstStyle/>
                    <a:p>
                      <a:r>
                        <a:rPr lang="es-ES" dirty="0"/>
                        <a:t>Especifica la dirección de filtrado cruzado que se va a usar en un cálculo de una relación que existe entre dos columnas.</a:t>
                      </a:r>
                      <a:endParaRPr lang="es-PE" dirty="0"/>
                    </a:p>
                  </a:txBody>
                  <a:tcPr/>
                </a:tc>
                <a:extLst>
                  <a:ext uri="{0D108BD9-81ED-4DB2-BD59-A6C34878D82A}">
                    <a16:rowId xmlns:a16="http://schemas.microsoft.com/office/drawing/2014/main" val="3622809047"/>
                  </a:ext>
                </a:extLst>
              </a:tr>
            </a:tbl>
          </a:graphicData>
        </a:graphic>
      </p:graphicFrame>
    </p:spTree>
    <p:extLst>
      <p:ext uri="{BB962C8B-B14F-4D97-AF65-F5344CB8AC3E}">
        <p14:creationId xmlns:p14="http://schemas.microsoft.com/office/powerpoint/2010/main" val="2129743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FCB7694-E9F4-48E8-9698-65AAE3FDE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2692" y="1899314"/>
            <a:ext cx="6106615" cy="4579961"/>
          </a:xfrm>
          <a:prstGeom prst="rect">
            <a:avLst/>
          </a:prstGeom>
        </p:spPr>
      </p:pic>
      <p:sp>
        <p:nvSpPr>
          <p:cNvPr id="8" name="Rectángulo 7">
            <a:extLst>
              <a:ext uri="{FF2B5EF4-FFF2-40B4-BE49-F238E27FC236}">
                <a16:creationId xmlns:a16="http://schemas.microsoft.com/office/drawing/2014/main" id="{5F1FAB6A-4C43-4588-8929-0E53ED011457}"/>
              </a:ext>
            </a:extLst>
          </p:cNvPr>
          <p:cNvSpPr/>
          <p:nvPr/>
        </p:nvSpPr>
        <p:spPr>
          <a:xfrm>
            <a:off x="567543" y="812210"/>
            <a:ext cx="11438388" cy="923330"/>
          </a:xfrm>
          <a:prstGeom prst="rect">
            <a:avLst/>
          </a:prstGeom>
          <a:noFill/>
        </p:spPr>
        <p:txBody>
          <a:bodyPr wrap="none" lIns="91440" tIns="45720" rIns="91440" bIns="45720">
            <a:spAutoFit/>
          </a:bodyPr>
          <a:lstStyle/>
          <a:p>
            <a:pPr algn="ctr"/>
            <a:r>
              <a:rPr lang="es-E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AHORA VAMOS A LA PRÁCTICA</a:t>
            </a:r>
          </a:p>
        </p:txBody>
      </p:sp>
    </p:spTree>
    <p:extLst>
      <p:ext uri="{BB962C8B-B14F-4D97-AF65-F5344CB8AC3E}">
        <p14:creationId xmlns:p14="http://schemas.microsoft.com/office/powerpoint/2010/main" val="131141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ángulo 1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sp>
        <p:nvSpPr>
          <p:cNvPr id="16" name="Rectángulo 1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1893715" y="708498"/>
            <a:ext cx="7574507" cy="3330055"/>
          </a:xfrm>
        </p:spPr>
        <p:txBody>
          <a:bodyPr rtlCol="0" anchor="ctr">
            <a:normAutofit/>
          </a:bodyPr>
          <a:lstStyle/>
          <a:p>
            <a:pPr rtl="0"/>
            <a:r>
              <a:rPr lang="es-ES" sz="13800" dirty="0">
                <a:solidFill>
                  <a:srgbClr val="FFFFFF"/>
                </a:solidFill>
              </a:rPr>
              <a:t>Gracias</a:t>
            </a:r>
          </a:p>
        </p:txBody>
      </p:sp>
      <p:sp>
        <p:nvSpPr>
          <p:cNvPr id="20" name="Rectángulo 1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89929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92594583"/>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9DF2D6-FF1F-4B5B-A177-F86A4BC1967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6D5C9E3-8C88-48BE-A8D5-BDFA60487B23}">
  <ds:schemaRefs>
    <ds:schemaRef ds:uri="http://schemas.microsoft.com/sharepoint/v3/contenttype/forms"/>
  </ds:schemaRefs>
</ds:datastoreItem>
</file>

<file path=customXml/itemProps3.xml><?xml version="1.0" encoding="utf-8"?>
<ds:datastoreItem xmlns:ds="http://schemas.openxmlformats.org/officeDocument/2006/customXml" ds:itemID="{11E27F0F-D896-41E6-B4EB-8C9AAA8B50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Presentación de resumen del producto</Template>
  <TotalTime>221</TotalTime>
  <Words>1794</Words>
  <Application>Microsoft Office PowerPoint</Application>
  <PresentationFormat>Panorámica</PresentationFormat>
  <Paragraphs>186</Paragraphs>
  <Slides>18</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Gill Sans MT</vt:lpstr>
      <vt:lpstr>Wingdings 2</vt:lpstr>
      <vt:lpstr>DividendVTI</vt:lpstr>
      <vt:lpstr>ANÁLISIS y visualización DE DATOS CON POWER BI – sesión 04</vt:lpstr>
      <vt:lpstr>ÍNDICE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dc:creator>
  <cp:lastModifiedBy>Eric Alberto Heredia Mendoza</cp:lastModifiedBy>
  <cp:revision>31</cp:revision>
  <dcterms:created xsi:type="dcterms:W3CDTF">2021-02-06T17:39:35Z</dcterms:created>
  <dcterms:modified xsi:type="dcterms:W3CDTF">2025-11-23T21:16:47Z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