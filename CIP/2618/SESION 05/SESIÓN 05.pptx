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Lst>
  <p:notesMasterIdLst>
    <p:notesMasterId r:id="rId36"/>
  </p:notesMasterIdLst>
  <p:handoutMasterIdLst>
    <p:handoutMasterId r:id="rId37"/>
  </p:handoutMasterIdLst>
  <p:sldIdLst>
    <p:sldId id="256" r:id="rId5"/>
    <p:sldId id="275" r:id="rId6"/>
    <p:sldId id="313" r:id="rId7"/>
    <p:sldId id="314" r:id="rId8"/>
    <p:sldId id="312" r:id="rId9"/>
    <p:sldId id="315" r:id="rId10"/>
    <p:sldId id="316" r:id="rId11"/>
    <p:sldId id="317" r:id="rId12"/>
    <p:sldId id="318" r:id="rId13"/>
    <p:sldId id="319" r:id="rId14"/>
    <p:sldId id="320" r:id="rId15"/>
    <p:sldId id="321" r:id="rId16"/>
    <p:sldId id="346" r:id="rId17"/>
    <p:sldId id="323" r:id="rId18"/>
    <p:sldId id="324" r:id="rId19"/>
    <p:sldId id="325" r:id="rId20"/>
    <p:sldId id="326" r:id="rId21"/>
    <p:sldId id="327" r:id="rId22"/>
    <p:sldId id="328" r:id="rId23"/>
    <p:sldId id="347" r:id="rId24"/>
    <p:sldId id="348" r:id="rId25"/>
    <p:sldId id="349" r:id="rId26"/>
    <p:sldId id="350" r:id="rId27"/>
    <p:sldId id="351" r:id="rId28"/>
    <p:sldId id="352" r:id="rId29"/>
    <p:sldId id="353" r:id="rId30"/>
    <p:sldId id="354" r:id="rId31"/>
    <p:sldId id="355" r:id="rId32"/>
    <p:sldId id="356" r:id="rId33"/>
    <p:sldId id="345" r:id="rId34"/>
    <p:sldId id="296" r:id="rId35"/>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7F7F7F"/>
    <a:srgbClr val="A6A6A6"/>
    <a:srgbClr val="BFBFBF"/>
    <a:srgbClr val="465359"/>
    <a:srgbClr val="757575"/>
    <a:srgbClr val="8B8B8B"/>
    <a:srgbClr val="B0B0B0"/>
    <a:srgbClr val="D3D3D3"/>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774" y="78"/>
      </p:cViewPr>
      <p:guideLst/>
    </p:cSldViewPr>
  </p:slideViewPr>
  <p:notesTextViewPr>
    <p:cViewPr>
      <p:scale>
        <a:sx n="1" d="1"/>
        <a:sy n="1" d="1"/>
      </p:scale>
      <p:origin x="0" y="0"/>
    </p:cViewPr>
  </p:notesTextViewPr>
  <p:notesViewPr>
    <p:cSldViewPr snapToGrid="0">
      <p:cViewPr varScale="1">
        <p:scale>
          <a:sx n="99" d="100"/>
          <a:sy n="99" d="100"/>
        </p:scale>
        <p:origin x="282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F4366289-7251-4248-8185-9FEDE67FEB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FA911AAB-DA95-4CED-94BD-874BA4394ED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DEEF26-1A03-4B1A-AE72-C28CA9B5024D}" type="datetime1">
              <a:rPr lang="es-ES" smtClean="0"/>
              <a:t>23/11/2025</a:t>
            </a:fld>
            <a:endParaRPr lang="es-ES"/>
          </a:p>
        </p:txBody>
      </p:sp>
      <p:sp>
        <p:nvSpPr>
          <p:cNvPr id="4" name="Marcador de pie de página 3">
            <a:extLst>
              <a:ext uri="{FF2B5EF4-FFF2-40B4-BE49-F238E27FC236}">
                <a16:creationId xmlns:a16="http://schemas.microsoft.com/office/drawing/2014/main" id="{796222C7-E745-4972-ADB2-26864641F2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8F0AA558-CC6A-4543-8082-2ECED10B3D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FEEF11-4551-44CC-8138-2C9C44119EA2}" type="slidenum">
              <a:rPr lang="es-ES" smtClean="0"/>
              <a:t>‹Nº›</a:t>
            </a:fld>
            <a:endParaRPr lang="es-ES"/>
          </a:p>
        </p:txBody>
      </p:sp>
    </p:spTree>
    <p:extLst>
      <p:ext uri="{BB962C8B-B14F-4D97-AF65-F5344CB8AC3E}">
        <p14:creationId xmlns:p14="http://schemas.microsoft.com/office/powerpoint/2010/main" val="25847647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0D74895-5176-4251-996A-78582FB81F91}" type="datetime1">
              <a:rPr lang="es-ES" noProof="0" smtClean="0"/>
              <a:t>23/11/2025</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4C8E5D6-E240-4AB4-B03F-F45C58F87E64}" type="slidenum">
              <a:rPr lang="es-ES" noProof="0" smtClean="0"/>
              <a:t>‹Nº›</a:t>
            </a:fld>
            <a:endParaRPr lang="es-ES" noProof="0"/>
          </a:p>
        </p:txBody>
      </p:sp>
    </p:spTree>
    <p:extLst>
      <p:ext uri="{BB962C8B-B14F-4D97-AF65-F5344CB8AC3E}">
        <p14:creationId xmlns:p14="http://schemas.microsoft.com/office/powerpoint/2010/main" val="41203065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a:t>
            </a:fld>
            <a:endParaRPr lang="es-ES"/>
          </a:p>
        </p:txBody>
      </p:sp>
    </p:spTree>
    <p:extLst>
      <p:ext uri="{BB962C8B-B14F-4D97-AF65-F5344CB8AC3E}">
        <p14:creationId xmlns:p14="http://schemas.microsoft.com/office/powerpoint/2010/main" val="3591548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6DADBCAB-495E-6449-B40A-B91A7B7339CB}"/>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BF41CF6C-DEA8-26A3-1413-D9D39929AD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87CE3AE2-C953-1489-143D-DFB4A80F30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5805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28DAAE2C-88D3-DC80-E815-4381B9426579}"/>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B864F71B-5706-2210-EB31-8CE7493543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BBFC68FE-88DB-B969-3E4F-E41887604D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6512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75AC87FC-E016-CDAF-6300-82EE2C7A88EB}"/>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B02EAF45-95CB-BA6F-4CE8-AF0464013D1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F9C5138F-CF83-654F-F786-90681A954C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7634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BCACF426-E1DC-F1D9-98CD-8B1F7C80D2D2}"/>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31C4D3B2-6970-D55D-8155-D2322B55A5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5DD2190A-9D87-6BE8-288D-57DB66487E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478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FE0EE3F5-002F-3881-BC82-1D11016C8C07}"/>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E6A2EDCF-A63C-90DB-9667-F44F6B2E257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18BBCC89-EFBD-01B5-7B68-0AACBF9B0E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9454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37823636-C2B5-BE68-DB8A-27A36D42DD53}"/>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1AD9DC69-BC12-BC69-B7AA-5E867BF4432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6A5AA772-4CAB-098F-0BC9-F6C8898029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182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3EC9D7AD-1C7D-45D7-72CD-88F999F51748}"/>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328E0EF5-9A9E-1C28-9A4C-CA066E677F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21615AC0-7375-0C46-C2D5-502ED10AA3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6735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1EE4EBC-9AB3-3797-771B-FB6E234B7108}"/>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B35D9362-C601-5F8D-1F72-D5A900CF407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52D21170-98DA-E50A-C13B-9C5A96CCDF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241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D53FACFD-E5B3-B773-B2F5-39B4682B6975}"/>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D7CA5821-BD49-A508-69E8-A3237E2D56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B7268132-81CF-8D12-8B4F-24852A421A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3656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2C202722-5F89-0F02-C34C-1EA87470B6C1}"/>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DE5E6EE1-4AC2-362A-635E-CB3187BAD4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E1E8E3CE-0C7B-71CD-C6B1-5561493AF9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061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28DAAE2C-88D3-DC80-E815-4381B9426579}"/>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B864F71B-5706-2210-EB31-8CE7493543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BBFC68FE-88DB-B969-3E4F-E41887604D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6512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EC1F389D-B935-E721-6F0B-07A84821BC84}"/>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55166BE6-C0F8-E0A3-3D59-C271F43E28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63333D84-496A-93AB-4299-60B48ED0AB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752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0BE7DDC1-1761-6742-483C-15C2484E98DC}"/>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55D0AD1A-B5DB-E513-3052-02CB06A144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C525CF6C-B645-B26B-6AF5-11E012E15F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3494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1E57267B-4952-B347-4237-8A7674CA9DF0}"/>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98222538-2B17-D627-7C54-80B1E0B5A4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8DB81530-963F-DAA7-369F-6A48065059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1926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2AE6A408-27B2-3DBC-0324-7F5560664679}"/>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5DA98B85-953A-31E5-2624-3F7C342058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CB9DE40F-CA2C-A528-5D76-B743DD7E2A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79171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9206849F-40EC-74E6-C24C-36D99091AC21}"/>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5C866A53-E17F-FFE7-ECA8-DC34C2D08AA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7C5F63E1-FB63-94EC-5819-967A6CF6A6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8559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E0BC0F6-60A8-E7DE-29C2-C231FDEF5ECF}"/>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20DEC5CB-21D1-D91B-B4A2-410381EE76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681D93F3-CCB4-2B55-12F8-20B6C59620F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8269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28DAAE2C-88D3-DC80-E815-4381B9426579}"/>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B864F71B-5706-2210-EB31-8CE7493543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BBFC68FE-88DB-B969-3E4F-E41887604D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6512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88D2986F-9976-9BB3-634F-FC0630CA547A}"/>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5DCEB7B0-9D71-013C-C7A0-89E471418D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37A58C59-97CC-7059-C3E0-6C06EC866C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3866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9D09728C-F6FA-7894-64F8-8A84FC930D14}"/>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F8D23C7F-444A-E801-9BEA-326AA84826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2953049C-BD87-A2AB-1698-1BAECC9CF5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42011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4892A781-197A-239B-E246-091EAF7EB847}"/>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EE158E0C-0C92-E59F-3266-D798CF45A5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09650981-EADE-0561-18BE-F20A2D507D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0903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6B5C048E-642D-98FD-A8E8-9D18D4D5863B}"/>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BF902A95-5E44-38BD-E70C-A91A097BCB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CCD4386C-578B-DC53-7F37-C8EB4BAC57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2597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28DAAE2C-88D3-DC80-E815-4381B9426579}"/>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B864F71B-5706-2210-EB31-8CE7493543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BBFC68FE-88DB-B969-3E4F-E41887604D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65122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581EE68A-F63C-EFB1-38C7-CBF7CCEA9349}"/>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32E21A9A-85DE-12F7-E6D5-BEFC8C4280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12B1D8DF-3DCE-84E6-55B4-35BF095391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01343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5A99FD06-7108-39EA-2F77-716130F61996}"/>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7C606B92-1C51-2F02-FCEC-98B1967665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F215EF53-C813-9D9F-399C-3D8443EDCA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79278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27F19C2D-E007-E810-B14E-0FD81FFCB9A1}"/>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32C4CE98-3967-A8B6-CA02-32C5BF8402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98924EE5-35B4-D718-3E26-F51178814D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396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9D5DA673-EDF3-8A1A-A81A-AD93C0691F42}"/>
            </a:ext>
          </a:extLst>
        </p:cNvPr>
        <p:cNvGrpSpPr/>
        <p:nvPr/>
      </p:nvGrpSpPr>
      <p:grpSpPr>
        <a:xfrm>
          <a:off x="0" y="0"/>
          <a:ext cx="0" cy="0"/>
          <a:chOff x="0" y="0"/>
          <a:chExt cx="0" cy="0"/>
        </a:xfrm>
      </p:grpSpPr>
      <p:sp>
        <p:nvSpPr>
          <p:cNvPr id="218" name="Google Shape;218;p11:notes">
            <a:extLst>
              <a:ext uri="{FF2B5EF4-FFF2-40B4-BE49-F238E27FC236}">
                <a16:creationId xmlns:a16="http://schemas.microsoft.com/office/drawing/2014/main" id="{51FBCE25-4121-AEA3-A3DA-23AF9D0F58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a:extLst>
              <a:ext uri="{FF2B5EF4-FFF2-40B4-BE49-F238E27FC236}">
                <a16:creationId xmlns:a16="http://schemas.microsoft.com/office/drawing/2014/main" id="{3317B0DB-4B77-D9A8-2B38-1F434F7E1F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62944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30</a:t>
            </a:fld>
            <a:endParaRPr lang="es-ES"/>
          </a:p>
        </p:txBody>
      </p:sp>
    </p:spTree>
    <p:extLst>
      <p:ext uri="{BB962C8B-B14F-4D97-AF65-F5344CB8AC3E}">
        <p14:creationId xmlns:p14="http://schemas.microsoft.com/office/powerpoint/2010/main" val="4238627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31</a:t>
            </a:fld>
            <a:endParaRPr lang="es-ES"/>
          </a:p>
        </p:txBody>
      </p:sp>
    </p:spTree>
    <p:extLst>
      <p:ext uri="{BB962C8B-B14F-4D97-AF65-F5344CB8AC3E}">
        <p14:creationId xmlns:p14="http://schemas.microsoft.com/office/powerpoint/2010/main" val="789767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8" name="Marcador de fecha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1FE76E97-516D-4ABE-88C8-400B36F168FB}" type="datetime1">
              <a:rPr lang="es-ES" noProof="0" smtClean="0"/>
              <a:t>23/11/2025</a:t>
            </a:fld>
            <a:endParaRPr lang="es-ES" noProof="0"/>
          </a:p>
        </p:txBody>
      </p:sp>
      <p:sp>
        <p:nvSpPr>
          <p:cNvPr id="9" name="Marcador de pie de página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420804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a de título">
    <p:spTree>
      <p:nvGrpSpPr>
        <p:cNvPr id="1" name=""/>
        <p:cNvGrpSpPr/>
        <p:nvPr/>
      </p:nvGrpSpPr>
      <p:grpSpPr>
        <a:xfrm>
          <a:off x="0" y="0"/>
          <a:ext cx="0" cy="0"/>
          <a:chOff x="0" y="0"/>
          <a:chExt cx="0" cy="0"/>
        </a:xfrm>
      </p:grpSpPr>
      <p:sp>
        <p:nvSpPr>
          <p:cNvPr id="5" name="Marcador de posición de imagen 4"/>
          <p:cNvSpPr>
            <a:spLocks noGrp="1"/>
          </p:cNvSpPr>
          <p:nvPr>
            <p:ph type="pic" sz="quarter" idx="13"/>
          </p:nvPr>
        </p:nvSpPr>
        <p:spPr>
          <a:xfrm>
            <a:off x="0" y="0"/>
            <a:ext cx="12192000" cy="6858000"/>
          </a:xfrm>
        </p:spPr>
        <p:txBody>
          <a:bodyPr rtlCol="0"/>
          <a:lstStyle>
            <a:lvl1pPr algn="ctr">
              <a:defRPr/>
            </a:lvl1pPr>
          </a:lstStyle>
          <a:p>
            <a:pPr rtl="0"/>
            <a:r>
              <a:rPr lang="es-ES" noProof="0"/>
              <a:t>Haga clic en el icono para agregar una imagen</a:t>
            </a:r>
          </a:p>
        </p:txBody>
      </p:sp>
      <p:sp>
        <p:nvSpPr>
          <p:cNvPr id="11" name="Rectángulo 10"/>
          <p:cNvSpPr/>
          <p:nvPr userDrawn="1"/>
        </p:nvSpPr>
        <p:spPr>
          <a:xfrm>
            <a:off x="446534" y="4284627"/>
            <a:ext cx="11292840" cy="201167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3" name="Subtítulo 2"/>
          <p:cNvSpPr>
            <a:spLocks noGrp="1"/>
          </p:cNvSpPr>
          <p:nvPr>
            <p:ph type="subTitle" idx="1" hasCustomPrompt="1"/>
          </p:nvPr>
        </p:nvSpPr>
        <p:spPr>
          <a:xfrm>
            <a:off x="581194" y="5695849"/>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12" name="Rectángulo 11"/>
          <p:cNvSpPr/>
          <p:nvPr userDrawn="1"/>
        </p:nvSpPr>
        <p:spPr>
          <a:xfrm>
            <a:off x="446534" y="4114808"/>
            <a:ext cx="1129284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 name="Título 1"/>
          <p:cNvSpPr>
            <a:spLocks noGrp="1"/>
          </p:cNvSpPr>
          <p:nvPr>
            <p:ph type="ctrTitle"/>
          </p:nvPr>
        </p:nvSpPr>
        <p:spPr>
          <a:xfrm>
            <a:off x="581191" y="4220835"/>
            <a:ext cx="10993549" cy="1475013"/>
          </a:xfrm>
          <a:effectLst/>
        </p:spPr>
        <p:txBody>
          <a:bodyPr rtlCol="0" anchor="b">
            <a:normAutofit/>
          </a:bodyPr>
          <a:lstStyle>
            <a:lvl1pPr>
              <a:defRPr sz="3600">
                <a:solidFill>
                  <a:schemeClr val="bg1"/>
                </a:solidFill>
              </a:defRPr>
            </a:lvl1pPr>
          </a:lstStyle>
          <a:p>
            <a:pPr rtl="0"/>
            <a:r>
              <a:rPr lang="es-ES" noProof="0"/>
              <a:t>Haga clic para modificar el estilo de título del patrón</a:t>
            </a:r>
          </a:p>
        </p:txBody>
      </p:sp>
    </p:spTree>
    <p:extLst>
      <p:ext uri="{BB962C8B-B14F-4D97-AF65-F5344CB8AC3E}">
        <p14:creationId xmlns:p14="http://schemas.microsoft.com/office/powerpoint/2010/main" val="428334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a:xfrm>
            <a:off x="581192" y="702156"/>
            <a:ext cx="11029616" cy="1188720"/>
          </a:xfrm>
        </p:spPr>
        <p:txBody>
          <a:bodyPr rtlCol="0"/>
          <a:lstStyle/>
          <a:p>
            <a:pPr rtl="0"/>
            <a:r>
              <a:rPr lang="es-ES" noProof="0"/>
              <a:t>Haga clic para modificar el estilo de título del patrón</a:t>
            </a:r>
          </a:p>
        </p:txBody>
      </p:sp>
      <p:sp>
        <p:nvSpPr>
          <p:cNvPr id="3" name="Marcador de posición de contenido 2"/>
          <p:cNvSpPr>
            <a:spLocks noGrp="1"/>
          </p:cNvSpPr>
          <p:nvPr>
            <p:ph idx="1"/>
          </p:nvPr>
        </p:nvSpPr>
        <p:spPr>
          <a:xfrm>
            <a:off x="581192" y="2340864"/>
            <a:ext cx="11029615" cy="3634486"/>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21DFFEB0-22A6-45B7-A1B1-4E00AC60E9E5}" type="datetime1">
              <a:rPr lang="es-ES" noProof="0" smtClean="0"/>
              <a:t>23/11/2025</a:t>
            </a:fld>
            <a:endParaRPr lang="es-ES" noProof="0"/>
          </a:p>
        </p:txBody>
      </p:sp>
      <p:sp>
        <p:nvSpPr>
          <p:cNvPr id="9" name="Marcador de pie de página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96164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Cabecera de sección">
    <p:spTree>
      <p:nvGrpSpPr>
        <p:cNvPr id="1" name=""/>
        <p:cNvGrpSpPr/>
        <p:nvPr/>
      </p:nvGrpSpPr>
      <p:grpSpPr>
        <a:xfrm>
          <a:off x="0" y="0"/>
          <a:ext cx="0" cy="0"/>
          <a:chOff x="0" y="0"/>
          <a:chExt cx="0" cy="0"/>
        </a:xfrm>
      </p:grpSpPr>
      <p:sp>
        <p:nvSpPr>
          <p:cNvPr id="8" name="Rectángulo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64EB589F-AE9C-4159-962B-B23AA5BE2981}" type="datetime1">
              <a:rPr lang="es-ES" noProof="0" smtClean="0"/>
              <a:t>23/11/2025</a:t>
            </a:fld>
            <a:endParaRPr lang="es-ES" noProof="0"/>
          </a:p>
        </p:txBody>
      </p:sp>
      <p:sp>
        <p:nvSpPr>
          <p:cNvPr id="9" name="Marcador de pie de página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66143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contenido 2"/>
          <p:cNvSpPr>
            <a:spLocks noGrp="1"/>
          </p:cNvSpPr>
          <p:nvPr>
            <p:ph sz="half" idx="1"/>
          </p:nvPr>
        </p:nvSpPr>
        <p:spPr>
          <a:xfrm>
            <a:off x="581193" y="2228003"/>
            <a:ext cx="5194767" cy="3633047"/>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contenido 3"/>
          <p:cNvSpPr>
            <a:spLocks noGrp="1"/>
          </p:cNvSpPr>
          <p:nvPr>
            <p:ph sz="half" idx="2"/>
          </p:nvPr>
        </p:nvSpPr>
        <p:spPr>
          <a:xfrm>
            <a:off x="6416039" y="2228003"/>
            <a:ext cx="5194769" cy="3633047"/>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E20A020E-1DB8-4044-A808-ED9931C09B97}" type="datetime1">
              <a:rPr lang="es-ES" noProof="0" smtClean="0"/>
              <a:t>23/11/2025</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30166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1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1" y="2905648"/>
            <a:ext cx="5194769" cy="557784"/>
          </a:xfrm>
        </p:spPr>
        <p:txBody>
          <a:bodyPr rtlCol="0" anchor="ctr">
            <a:noAutofit/>
          </a:bodyPr>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581194" y="3580809"/>
            <a:ext cx="5194766" cy="2934999"/>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texto 4"/>
          <p:cNvSpPr>
            <a:spLocks noGrp="1"/>
          </p:cNvSpPr>
          <p:nvPr>
            <p:ph type="body" sz="quarter" idx="3"/>
          </p:nvPr>
        </p:nvSpPr>
        <p:spPr>
          <a:xfrm>
            <a:off x="6416039" y="2905649"/>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6" name="Marcador de posición de contenido 5"/>
          <p:cNvSpPr>
            <a:spLocks noGrp="1"/>
          </p:cNvSpPr>
          <p:nvPr>
            <p:ph sz="quarter" idx="4"/>
          </p:nvPr>
        </p:nvSpPr>
        <p:spPr>
          <a:xfrm>
            <a:off x="6416037" y="3580809"/>
            <a:ext cx="5194771" cy="2934999"/>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1A886D6C-642C-4F3A-80F4-3766661C3280}" type="datetime1">
              <a:rPr lang="es-ES" noProof="0" smtClean="0"/>
              <a:t>23/11/2025</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30825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5C8AF5F8-67F3-49B2-8A5D-9976371AC6D6}" type="datetime1">
              <a:rPr lang="es-ES" noProof="0" smtClean="0"/>
              <a:t>23/11/2025</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97010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ólo el título">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AB94070D-8484-4B7B-ADE0-4CCDD6380285}"/>
              </a:ext>
              <a:ext uri="{C183D7F6-B498-43B3-948B-1728B52AA6E4}">
                <adec:decorative xmlns:adec="http://schemas.microsoft.com/office/drawing/2017/decorative" val="1"/>
              </a:ext>
            </a:extLst>
          </p:cNvPr>
          <p:cNvSpPr/>
          <p:nvPr userDrawn="1"/>
        </p:nvSpPr>
        <p:spPr>
          <a:xfrm>
            <a:off x="-8626" y="5120639"/>
            <a:ext cx="12200626" cy="17326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latin typeface="Arial" panose="020B0604020202020204" pitchFamily="34" charset="0"/>
              <a:cs typeface="Arial" panose="020B0604020202020204" pitchFamily="34" charset="0"/>
            </a:endParaRPr>
          </a:p>
        </p:txBody>
      </p:sp>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
        <p:nvSpPr>
          <p:cNvPr id="25" name="Marcador de texto 2"/>
          <p:cNvSpPr>
            <a:spLocks noGrp="1"/>
          </p:cNvSpPr>
          <p:nvPr>
            <p:ph type="body" idx="1" hasCustomPrompt="1"/>
          </p:nvPr>
        </p:nvSpPr>
        <p:spPr>
          <a:xfrm>
            <a:off x="759402" y="5330449"/>
            <a:ext cx="1938528" cy="557784"/>
          </a:xfrm>
        </p:spPr>
        <p:txBody>
          <a:bodyPr rtlCol="0" anchor="ctr">
            <a:noAutofit/>
          </a:bodyPr>
          <a:lstStyle>
            <a:lvl1pPr marL="0" indent="0" algn="ctr" defTabSz="914400" rtl="0" eaLnBrk="1" latinLnBrk="0" hangingPunct="1">
              <a:buNone/>
              <a:defRPr lang="en-US" sz="4000" b="1" kern="1200" dirty="0">
                <a:solidFill>
                  <a:srgbClr val="465359"/>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26" name="Marcador de contenido 3"/>
          <p:cNvSpPr>
            <a:spLocks noGrp="1"/>
          </p:cNvSpPr>
          <p:nvPr>
            <p:ph sz="half" idx="2"/>
          </p:nvPr>
        </p:nvSpPr>
        <p:spPr>
          <a:xfrm>
            <a:off x="759405"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27" name="Marcador de texto 2"/>
          <p:cNvSpPr>
            <a:spLocks noGrp="1"/>
          </p:cNvSpPr>
          <p:nvPr>
            <p:ph type="body" idx="10" hasCustomPrompt="1"/>
          </p:nvPr>
        </p:nvSpPr>
        <p:spPr>
          <a:xfrm>
            <a:off x="3642897" y="5330449"/>
            <a:ext cx="1938528" cy="557784"/>
          </a:xfrm>
        </p:spPr>
        <p:txBody>
          <a:bodyPr rtlCol="0" anchor="ctr">
            <a:noAutofit/>
          </a:bodyPr>
          <a:lstStyle>
            <a:lvl1pPr marL="0" indent="0" algn="ctr" defTabSz="914400" rtl="0" eaLnBrk="1" latinLnBrk="0" hangingPunct="1">
              <a:buNone/>
              <a:defRPr lang="en-US" sz="4000" b="1" kern="1200" dirty="0">
                <a:solidFill>
                  <a:schemeClr val="accent1"/>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28" name="Marcador de posición de contenido 3"/>
          <p:cNvSpPr>
            <a:spLocks noGrp="1"/>
          </p:cNvSpPr>
          <p:nvPr>
            <p:ph sz="half" idx="11"/>
          </p:nvPr>
        </p:nvSpPr>
        <p:spPr>
          <a:xfrm>
            <a:off x="3642900"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29" name="Marcador de texto 2"/>
          <p:cNvSpPr>
            <a:spLocks noGrp="1"/>
          </p:cNvSpPr>
          <p:nvPr>
            <p:ph type="body" idx="12" hasCustomPrompt="1"/>
          </p:nvPr>
        </p:nvSpPr>
        <p:spPr>
          <a:xfrm>
            <a:off x="6526392" y="5330449"/>
            <a:ext cx="1938528" cy="557784"/>
          </a:xfrm>
        </p:spPr>
        <p:txBody>
          <a:bodyPr rtlCol="0" anchor="ctr">
            <a:noAutofit/>
          </a:bodyPr>
          <a:lstStyle>
            <a:lvl1pPr marL="0" indent="0" algn="ctr" defTabSz="914400" rtl="0" eaLnBrk="1" latinLnBrk="0" hangingPunct="1">
              <a:buNone/>
              <a:defRPr lang="en-US" sz="4000" b="1" kern="1200" dirty="0">
                <a:solidFill>
                  <a:schemeClr val="accent2"/>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30" name="Marcador de posición de contenido 3"/>
          <p:cNvSpPr>
            <a:spLocks noGrp="1"/>
          </p:cNvSpPr>
          <p:nvPr>
            <p:ph sz="half" idx="13"/>
          </p:nvPr>
        </p:nvSpPr>
        <p:spPr>
          <a:xfrm>
            <a:off x="6526395"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31" name="Marcador de texto 2"/>
          <p:cNvSpPr>
            <a:spLocks noGrp="1"/>
          </p:cNvSpPr>
          <p:nvPr>
            <p:ph type="body" idx="14" hasCustomPrompt="1"/>
          </p:nvPr>
        </p:nvSpPr>
        <p:spPr>
          <a:xfrm>
            <a:off x="9409888" y="5330449"/>
            <a:ext cx="1938528" cy="557784"/>
          </a:xfrm>
        </p:spPr>
        <p:txBody>
          <a:bodyPr rtlCol="0" anchor="ctr">
            <a:noAutofit/>
          </a:bodyPr>
          <a:lstStyle>
            <a:lvl1pPr marL="0" indent="0" algn="ctr" defTabSz="914400" rtl="0" eaLnBrk="1" latinLnBrk="0" hangingPunct="1">
              <a:buNone/>
              <a:defRPr lang="en-US" sz="4000" b="1" kern="1200" dirty="0">
                <a:solidFill>
                  <a:schemeClr val="accent2"/>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32" name="Marcador de posición de contenido 3"/>
          <p:cNvSpPr>
            <a:spLocks noGrp="1"/>
          </p:cNvSpPr>
          <p:nvPr>
            <p:ph sz="half" idx="15"/>
          </p:nvPr>
        </p:nvSpPr>
        <p:spPr>
          <a:xfrm>
            <a:off x="9409891"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Tree>
    <p:extLst>
      <p:ext uri="{BB962C8B-B14F-4D97-AF65-F5344CB8AC3E}">
        <p14:creationId xmlns:p14="http://schemas.microsoft.com/office/powerpoint/2010/main" val="242553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 Solo el título">
    <p:spTree>
      <p:nvGrpSpPr>
        <p:cNvPr id="1" name=""/>
        <p:cNvGrpSpPr/>
        <p:nvPr/>
      </p:nvGrpSpPr>
      <p:grpSpPr>
        <a:xfrm>
          <a:off x="0" y="0"/>
          <a:ext cx="0" cy="0"/>
          <a:chOff x="0" y="0"/>
          <a:chExt cx="0" cy="0"/>
        </a:xfrm>
      </p:grpSpPr>
      <p:sp>
        <p:nvSpPr>
          <p:cNvPr id="6" name="Rectángulo 5"/>
          <p:cNvSpPr>
            <a:spLocks noChangeAspect="1"/>
          </p:cNvSpPr>
          <p:nvPr userDrawn="1"/>
        </p:nvSpPr>
        <p:spPr>
          <a:xfrm>
            <a:off x="1"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hasCustomPrompt="1"/>
          </p:nvPr>
        </p:nvSpPr>
        <p:spPr>
          <a:xfrm>
            <a:off x="575894" y="729658"/>
            <a:ext cx="11029616" cy="988332"/>
          </a:xfrm>
        </p:spPr>
        <p:txBody>
          <a:bodyPr rtlCol="0"/>
          <a:lstStyle>
            <a:lvl1pPr>
              <a:defRPr>
                <a:solidFill>
                  <a:schemeClr val="bg1"/>
                </a:solidFill>
              </a:defRPr>
            </a:lvl1pPr>
          </a:lstStyle>
          <a:p>
            <a:pPr rtl="0"/>
            <a:r>
              <a:rPr lang="es-ES" noProof="0"/>
              <a:t>Haga clic para editar el estilo de título del patrón</a:t>
            </a:r>
          </a:p>
        </p:txBody>
      </p:sp>
      <p:sp>
        <p:nvSpPr>
          <p:cNvPr id="3" name="Marcador de fecha 2"/>
          <p:cNvSpPr>
            <a:spLocks noGrp="1"/>
          </p:cNvSpPr>
          <p:nvPr>
            <p:ph type="dt" sz="half" idx="10"/>
          </p:nvPr>
        </p:nvSpPr>
        <p:spPr/>
        <p:txBody>
          <a:bodyPr rtlCol="0"/>
          <a:lstStyle>
            <a:lvl1pPr>
              <a:defRPr>
                <a:solidFill>
                  <a:schemeClr val="bg2"/>
                </a:solidFill>
              </a:defRPr>
            </a:lvl1pPr>
          </a:lstStyle>
          <a:p>
            <a:pPr rtl="0"/>
            <a:fld id="{8129813C-4D03-47AC-BBC2-86147182E16B}" type="datetime1">
              <a:rPr lang="es-ES" noProof="0" smtClean="0"/>
              <a:t>23/11/2025</a:t>
            </a:fld>
            <a:endParaRPr lang="es-ES" noProof="0"/>
          </a:p>
        </p:txBody>
      </p:sp>
      <p:sp>
        <p:nvSpPr>
          <p:cNvPr id="4" name="Marcador de pie de página 3"/>
          <p:cNvSpPr>
            <a:spLocks noGrp="1"/>
          </p:cNvSpPr>
          <p:nvPr>
            <p:ph type="ftr" sz="quarter" idx="11"/>
          </p:nvPr>
        </p:nvSpPr>
        <p:spPr/>
        <p:txBody>
          <a:bodyPr rtlCol="0"/>
          <a:lstStyle>
            <a:lvl1pPr>
              <a:defRPr>
                <a:solidFill>
                  <a:schemeClr val="bg2"/>
                </a:solidFill>
              </a:defRPr>
            </a:lvl1pPr>
          </a:lstStyle>
          <a:p>
            <a:pPr rtl="0"/>
            <a:endParaRPr lang="es-ES" noProof="0"/>
          </a:p>
        </p:txBody>
      </p:sp>
      <p:sp>
        <p:nvSpPr>
          <p:cNvPr id="5" name="Marcador de posición de número de diapositiva 4"/>
          <p:cNvSpPr>
            <a:spLocks noGrp="1"/>
          </p:cNvSpPr>
          <p:nvPr>
            <p:ph type="sldNum" sz="quarter" idx="12"/>
          </p:nvPr>
        </p:nvSpPr>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9" name="Marcador de posición de imagen 5"/>
          <p:cNvSpPr>
            <a:spLocks noGrp="1"/>
          </p:cNvSpPr>
          <p:nvPr>
            <p:ph type="pic" sz="quarter" idx="13"/>
          </p:nvPr>
        </p:nvSpPr>
        <p:spPr>
          <a:xfrm>
            <a:off x="0" y="5245130"/>
            <a:ext cx="12192000" cy="1612870"/>
          </a:xfrm>
        </p:spPr>
        <p:txBody>
          <a:bodyPr rtlCol="0"/>
          <a:lstStyle/>
          <a:p>
            <a:pPr rtl="0"/>
            <a:r>
              <a:rPr lang="es-ES" noProof="0"/>
              <a:t>Haga clic en el icono para agregar una imagen</a:t>
            </a:r>
          </a:p>
        </p:txBody>
      </p:sp>
      <p:sp>
        <p:nvSpPr>
          <p:cNvPr id="10" name="Rectángulo 9"/>
          <p:cNvSpPr/>
          <p:nvPr userDrawn="1"/>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1" name="Rectángulo 10"/>
          <p:cNvSpPr/>
          <p:nvPr userDrawn="1"/>
        </p:nvSpPr>
        <p:spPr>
          <a:xfrm>
            <a:off x="8042147" y="453643"/>
            <a:ext cx="3703320" cy="98554"/>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ángulo 11"/>
          <p:cNvSpPr/>
          <p:nvPr userDrawn="1"/>
        </p:nvSpPr>
        <p:spPr>
          <a:xfrm>
            <a:off x="4241830" y="457200"/>
            <a:ext cx="3703320"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9529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olo el título">
    <p:spTree>
      <p:nvGrpSpPr>
        <p:cNvPr id="1" name=""/>
        <p:cNvGrpSpPr/>
        <p:nvPr/>
      </p:nvGrpSpPr>
      <p:grpSpPr>
        <a:xfrm>
          <a:off x="0" y="0"/>
          <a:ext cx="0" cy="0"/>
          <a:chOff x="0" y="0"/>
          <a:chExt cx="0" cy="0"/>
        </a:xfrm>
      </p:grpSpPr>
      <p:sp>
        <p:nvSpPr>
          <p:cNvPr id="6" name="Rectángulo 5"/>
          <p:cNvSpPr>
            <a:spLocks noChangeAspect="1"/>
          </p:cNvSpPr>
          <p:nvPr userDrawn="1"/>
        </p:nvSpPr>
        <p:spPr>
          <a:xfrm>
            <a:off x="1"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p:nvPr>
        </p:nvSpPr>
        <p:spPr>
          <a:xfrm>
            <a:off x="575894" y="729658"/>
            <a:ext cx="11029616" cy="988332"/>
          </a:xfrm>
        </p:spPr>
        <p:txBody>
          <a:bodyPr rtlCol="0"/>
          <a:lstStyle>
            <a:lvl1pPr>
              <a:defRPr>
                <a:solidFill>
                  <a:schemeClr val="bg1"/>
                </a:solidFill>
              </a:defRPr>
            </a:lvl1pPr>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lvl1pPr>
              <a:defRPr>
                <a:solidFill>
                  <a:schemeClr val="bg2"/>
                </a:solidFill>
              </a:defRPr>
            </a:lvl1pPr>
          </a:lstStyle>
          <a:p>
            <a:pPr rtl="0"/>
            <a:fld id="{C1CE38A4-10CF-4429-B577-AF2C7DB0C1E9}" type="datetime1">
              <a:rPr lang="es-ES" noProof="0" smtClean="0"/>
              <a:t>23/11/2025</a:t>
            </a:fld>
            <a:endParaRPr lang="es-ES" noProof="0"/>
          </a:p>
        </p:txBody>
      </p:sp>
      <p:sp>
        <p:nvSpPr>
          <p:cNvPr id="4" name="Marcador de pie de página 3"/>
          <p:cNvSpPr>
            <a:spLocks noGrp="1"/>
          </p:cNvSpPr>
          <p:nvPr>
            <p:ph type="ftr" sz="quarter" idx="11"/>
          </p:nvPr>
        </p:nvSpPr>
        <p:spPr/>
        <p:txBody>
          <a:bodyPr rtlCol="0"/>
          <a:lstStyle>
            <a:lvl1pPr>
              <a:defRPr>
                <a:solidFill>
                  <a:schemeClr val="bg2"/>
                </a:solidFill>
              </a:defRPr>
            </a:lvl1pPr>
          </a:lstStyle>
          <a:p>
            <a:pPr rtl="0"/>
            <a:endParaRPr lang="es-ES" noProof="0"/>
          </a:p>
        </p:txBody>
      </p:sp>
      <p:sp>
        <p:nvSpPr>
          <p:cNvPr id="5" name="Marcador de posición de número de diapositiva 4"/>
          <p:cNvSpPr>
            <a:spLocks noGrp="1"/>
          </p:cNvSpPr>
          <p:nvPr>
            <p:ph type="sldNum" sz="quarter" idx="12"/>
          </p:nvPr>
        </p:nvSpPr>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9" name="Marcador de posición de imagen 5"/>
          <p:cNvSpPr>
            <a:spLocks noGrp="1"/>
          </p:cNvSpPr>
          <p:nvPr>
            <p:ph type="pic" sz="quarter" idx="13"/>
          </p:nvPr>
        </p:nvSpPr>
        <p:spPr>
          <a:xfrm>
            <a:off x="0" y="5245130"/>
            <a:ext cx="12192000" cy="1612870"/>
          </a:xfrm>
        </p:spPr>
        <p:txBody>
          <a:bodyPr rtlCol="0"/>
          <a:lstStyle/>
          <a:p>
            <a:pPr rtl="0"/>
            <a:r>
              <a:rPr lang="es-ES" noProof="0"/>
              <a:t>Haga clic en el icono para agregar una imagen</a:t>
            </a:r>
          </a:p>
        </p:txBody>
      </p:sp>
      <p:sp>
        <p:nvSpPr>
          <p:cNvPr id="2" name="Rectángulo 1"/>
          <p:cNvSpPr/>
          <p:nvPr userDrawn="1"/>
        </p:nvSpPr>
        <p:spPr>
          <a:xfrm>
            <a:off x="575894"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Rectángulo 9"/>
          <p:cNvSpPr/>
          <p:nvPr userDrawn="1"/>
        </p:nvSpPr>
        <p:spPr>
          <a:xfrm>
            <a:off x="3429849"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Rectángulo 10"/>
          <p:cNvSpPr/>
          <p:nvPr userDrawn="1"/>
        </p:nvSpPr>
        <p:spPr>
          <a:xfrm>
            <a:off x="6283804"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Rectángulo 11"/>
          <p:cNvSpPr/>
          <p:nvPr userDrawn="1"/>
        </p:nvSpPr>
        <p:spPr>
          <a:xfrm>
            <a:off x="9137758"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texto 2"/>
          <p:cNvSpPr>
            <a:spLocks noGrp="1"/>
          </p:cNvSpPr>
          <p:nvPr>
            <p:ph type="body" idx="1"/>
          </p:nvPr>
        </p:nvSpPr>
        <p:spPr>
          <a:xfrm>
            <a:off x="581192" y="2988377"/>
            <a:ext cx="2492830" cy="557784"/>
          </a:xfrm>
        </p:spPr>
        <p:txBody>
          <a:bodyPr rtlCol="0" anchor="ctr">
            <a:noAutofit/>
          </a:bodyPr>
          <a:lstStyle>
            <a:lvl1pPr marL="0" indent="0" algn="l">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4" name="Marcador de posición de contenido 3"/>
          <p:cNvSpPr>
            <a:spLocks noGrp="1"/>
          </p:cNvSpPr>
          <p:nvPr>
            <p:ph sz="half" idx="2"/>
          </p:nvPr>
        </p:nvSpPr>
        <p:spPr>
          <a:xfrm>
            <a:off x="581194" y="3584516"/>
            <a:ext cx="2492828"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5" name="Marcador de posición de texto 4"/>
          <p:cNvSpPr>
            <a:spLocks noGrp="1"/>
          </p:cNvSpPr>
          <p:nvPr>
            <p:ph type="body" sz="quarter" idx="3"/>
          </p:nvPr>
        </p:nvSpPr>
        <p:spPr>
          <a:xfrm>
            <a:off x="6298472" y="2988377"/>
            <a:ext cx="249283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16" name="Marcador de posición de contenido 5"/>
          <p:cNvSpPr>
            <a:spLocks noGrp="1"/>
          </p:cNvSpPr>
          <p:nvPr>
            <p:ph sz="quarter" idx="4"/>
          </p:nvPr>
        </p:nvSpPr>
        <p:spPr>
          <a:xfrm>
            <a:off x="6298471" y="3584516"/>
            <a:ext cx="2492830"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7" name="Marcador de texto 2"/>
          <p:cNvSpPr>
            <a:spLocks noGrp="1"/>
          </p:cNvSpPr>
          <p:nvPr>
            <p:ph type="body" idx="14"/>
          </p:nvPr>
        </p:nvSpPr>
        <p:spPr>
          <a:xfrm>
            <a:off x="3444517" y="2988377"/>
            <a:ext cx="2492830" cy="557784"/>
          </a:xfrm>
        </p:spPr>
        <p:txBody>
          <a:bodyPr rtlCol="0" anchor="ctr">
            <a:noAutofit/>
          </a:bodyPr>
          <a:lstStyle>
            <a:lvl1pPr marL="0" indent="0" algn="l">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8" name="Marcador de posición de contenido 3"/>
          <p:cNvSpPr>
            <a:spLocks noGrp="1"/>
          </p:cNvSpPr>
          <p:nvPr>
            <p:ph sz="half" idx="15"/>
          </p:nvPr>
        </p:nvSpPr>
        <p:spPr>
          <a:xfrm>
            <a:off x="3444519" y="3584516"/>
            <a:ext cx="2492828"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9" name="Marcador de posición de texto 4"/>
          <p:cNvSpPr>
            <a:spLocks noGrp="1"/>
          </p:cNvSpPr>
          <p:nvPr>
            <p:ph type="body" sz="quarter" idx="16"/>
          </p:nvPr>
        </p:nvSpPr>
        <p:spPr>
          <a:xfrm>
            <a:off x="9138807" y="2988377"/>
            <a:ext cx="2492830" cy="553373"/>
          </a:xfrm>
        </p:spPr>
        <p:txBody>
          <a:bodyPr rtlCol="0" anchor="ctr">
            <a:noAutofit/>
          </a:bodyPr>
          <a:lstStyle>
            <a:lvl1pPr marL="0" marR="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20" name="Marcador de posición de contenido 5"/>
          <p:cNvSpPr>
            <a:spLocks noGrp="1"/>
          </p:cNvSpPr>
          <p:nvPr>
            <p:ph sz="quarter" idx="17"/>
          </p:nvPr>
        </p:nvSpPr>
        <p:spPr>
          <a:xfrm>
            <a:off x="9138806" y="3584516"/>
            <a:ext cx="2492830"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21" name="Rectángulo 20"/>
          <p:cNvSpPr/>
          <p:nvPr userDrawn="1"/>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ángulo 21"/>
          <p:cNvSpPr/>
          <p:nvPr userDrawn="1"/>
        </p:nvSpPr>
        <p:spPr>
          <a:xfrm>
            <a:off x="8042147" y="453643"/>
            <a:ext cx="3703320" cy="98554"/>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ángulo 22"/>
          <p:cNvSpPr/>
          <p:nvPr userDrawn="1"/>
        </p:nvSpPr>
        <p:spPr>
          <a:xfrm>
            <a:off x="4241830" y="457200"/>
            <a:ext cx="3703320"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25813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22921B1E-433B-41C9-841C-5F02BAB8C4F2}" type="datetime1">
              <a:rPr lang="es-ES" noProof="0" smtClean="0"/>
              <a:t>23/11/2025</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301450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FD3A0F3E-6225-430C-A5FE-15E61F4B1AF2}" type="datetime1">
              <a:rPr lang="es-ES" noProof="0" smtClean="0"/>
              <a:t>23/11/2025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2789195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ido con título">
    <p:spTree>
      <p:nvGrpSpPr>
        <p:cNvPr id="1" name=""/>
        <p:cNvGrpSpPr/>
        <p:nvPr/>
      </p:nvGrpSpPr>
      <p:grpSpPr>
        <a:xfrm>
          <a:off x="0" y="0"/>
          <a:ext cx="0" cy="0"/>
          <a:chOff x="0" y="0"/>
          <a:chExt cx="0" cy="0"/>
        </a:xfrm>
      </p:grpSpPr>
      <p:sp>
        <p:nvSpPr>
          <p:cNvPr id="6" name="Marcador de posición de imagen 5"/>
          <p:cNvSpPr>
            <a:spLocks noGrp="1"/>
          </p:cNvSpPr>
          <p:nvPr>
            <p:ph type="pic" sz="quarter" idx="13"/>
          </p:nvPr>
        </p:nvSpPr>
        <p:spPr>
          <a:xfrm>
            <a:off x="0" y="0"/>
            <a:ext cx="4232275" cy="6858000"/>
          </a:xfrm>
        </p:spPr>
        <p:txBody>
          <a:bodyPr rtlCol="0"/>
          <a:lstStyle/>
          <a:p>
            <a:pPr rtl="0"/>
            <a:r>
              <a:rPr lang="es-ES" noProof="0"/>
              <a:t>Haga clic en el icono para agregar una imagen</a:t>
            </a:r>
          </a:p>
        </p:txBody>
      </p:sp>
      <p:sp>
        <p:nvSpPr>
          <p:cNvPr id="2" name="Título 1"/>
          <p:cNvSpPr>
            <a:spLocks noGrp="1"/>
          </p:cNvSpPr>
          <p:nvPr>
            <p:ph type="title"/>
          </p:nvPr>
        </p:nvSpPr>
        <p:spPr>
          <a:xfrm>
            <a:off x="4900927" y="709565"/>
            <a:ext cx="6650991" cy="699407"/>
          </a:xfrm>
        </p:spPr>
        <p:txBody>
          <a:bodyPr rtlCol="0" anchor="b">
            <a:normAutofit/>
          </a:bodyPr>
          <a:lstStyle>
            <a:lvl1pPr algn="l">
              <a:defRPr sz="2400" b="0">
                <a:solidFill>
                  <a:schemeClr val="accent1"/>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632857"/>
            <a:ext cx="6650991" cy="4205188"/>
          </a:xfrm>
        </p:spPr>
        <p:txBody>
          <a:bodyPr rtlCol="0" anchor="t">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C3B4FB50-93DD-41FF-91C5-1DDB3ADCCD60}" type="datetime1">
              <a:rPr lang="es-ES" noProof="0" smtClean="0"/>
              <a:t>23/11/2025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3365701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ido con título">
    <p:bg>
      <p:bgPr>
        <a:solidFill>
          <a:schemeClr val="bg2"/>
        </a:solidFill>
        <a:effectLst/>
      </p:bgPr>
    </p:bg>
    <p:spTree>
      <p:nvGrpSpPr>
        <p:cNvPr id="1" name=""/>
        <p:cNvGrpSpPr/>
        <p:nvPr/>
      </p:nvGrpSpPr>
      <p:grpSpPr>
        <a:xfrm>
          <a:off x="0" y="0"/>
          <a:ext cx="0" cy="0"/>
          <a:chOff x="0" y="0"/>
          <a:chExt cx="0" cy="0"/>
        </a:xfrm>
      </p:grpSpPr>
      <p:sp>
        <p:nvSpPr>
          <p:cNvPr id="14" name="Marcador de posición de imagen 4"/>
          <p:cNvSpPr>
            <a:spLocks noGrp="1"/>
          </p:cNvSpPr>
          <p:nvPr>
            <p:ph type="pic" sz="quarter" idx="14" hasCustomPrompt="1"/>
          </p:nvPr>
        </p:nvSpPr>
        <p:spPr>
          <a:xfrm>
            <a:off x="8622917" y="3322281"/>
            <a:ext cx="3367862" cy="3367862"/>
          </a:xfrm>
        </p:spPr>
        <p:txBody>
          <a:bodyPr rtlCol="0"/>
          <a:lstStyle>
            <a:lvl1pPr marL="0" indent="0" algn="ctr">
              <a:buNone/>
              <a:defRPr>
                <a:solidFill>
                  <a:schemeClr val="tx1"/>
                </a:solidFill>
              </a:defRPr>
            </a:lvl1pPr>
          </a:lstStyle>
          <a:p>
            <a:pPr rtl="0"/>
            <a:r>
              <a:rPr lang="es-ES" noProof="0"/>
              <a:t>Marca de agua de icono</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9" name="Rectá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5" name="Marcador de posición de imagen 4"/>
          <p:cNvSpPr>
            <a:spLocks noGrp="1"/>
          </p:cNvSpPr>
          <p:nvPr>
            <p:ph type="pic" sz="quarter" idx="13" hasCustomPrompt="1"/>
          </p:nvPr>
        </p:nvSpPr>
        <p:spPr>
          <a:xfrm>
            <a:off x="768350" y="2312987"/>
            <a:ext cx="731520" cy="731520"/>
          </a:xfrm>
        </p:spPr>
        <p:txBody>
          <a:bodyPr rtlCol="0"/>
          <a:lstStyle>
            <a:lvl1pPr marL="0" indent="0">
              <a:buNone/>
              <a:defRPr>
                <a:solidFill>
                  <a:schemeClr val="bg1"/>
                </a:solidFill>
              </a:defRPr>
            </a:lvl1pPr>
          </a:lstStyle>
          <a:p>
            <a:pPr rtl="0"/>
            <a:r>
              <a:rPr lang="es-ES" noProof="0"/>
              <a:t>Icono</a:t>
            </a:r>
          </a:p>
        </p:txBody>
      </p:sp>
      <p:sp>
        <p:nvSpPr>
          <p:cNvPr id="2" name="Título 1"/>
          <p:cNvSpPr>
            <a:spLocks noGrp="1"/>
          </p:cNvSpPr>
          <p:nvPr>
            <p:ph type="title"/>
          </p:nvPr>
        </p:nvSpPr>
        <p:spPr>
          <a:xfrm>
            <a:off x="767857" y="2647728"/>
            <a:ext cx="3031852" cy="1722419"/>
          </a:xfrm>
        </p:spPr>
        <p:txBody>
          <a:bodyPr rtlCol="0" anchor="ctr">
            <a:normAutofit/>
          </a:bodyPr>
          <a:lstStyle>
            <a:lvl1pPr algn="l">
              <a:defRPr sz="2400" b="0">
                <a:solidFill>
                  <a:srgbClr val="FFFFFF"/>
                </a:solidFill>
              </a:defRPr>
            </a:lvl1pPr>
          </a:lstStyle>
          <a:p>
            <a:pPr rtl="0"/>
            <a:r>
              <a:rPr lang="es-ES" noProof="0"/>
              <a:t>Haga clic para modificar el estilo de título del patrón</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C7B463E3-5276-45DE-91A0-B6DD8B297E87}" type="datetime1">
              <a:rPr lang="es-ES" noProof="0" smtClean="0"/>
              <a:t>23/11/2025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4124179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1" y="0"/>
            <a:ext cx="12192000" cy="685800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2647728"/>
            <a:ext cx="3031852" cy="1722419"/>
          </a:xfrm>
        </p:spPr>
        <p:txBody>
          <a:bodyPr rtlCol="0" anchor="ctr">
            <a:normAutofit/>
          </a:bodyPr>
          <a:lstStyle>
            <a:lvl1pPr algn="l">
              <a:defRPr sz="2400" b="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lvl1pPr>
              <a:defRPr>
                <a:solidFill>
                  <a:schemeClr val="bg2"/>
                </a:solidFill>
              </a:defRPr>
            </a:lvl1pPr>
          </a:lstStyle>
          <a:p>
            <a:pPr rtl="0"/>
            <a:fld id="{749021CC-0307-446D-AE2B-559CB49EAF79}" type="datetime1">
              <a:rPr lang="es-ES" noProof="0" smtClean="0"/>
              <a:t>23/11/2025</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lvl1pPr>
              <a:defRPr>
                <a:solidFill>
                  <a:schemeClr val="bg2"/>
                </a:solidFill>
              </a:defRPr>
            </a:lvl1pPr>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12" name="Rectángulo 11"/>
          <p:cNvSpPr/>
          <p:nvPr userDrawn="1"/>
        </p:nvSpPr>
        <p:spPr>
          <a:xfrm rot="5400000">
            <a:off x="1415595" y="3435840"/>
            <a:ext cx="57607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45955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posición de texto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7D3998EE-11B0-4932-9198-DE9C6A1C81DE}" type="datetime1">
              <a:rPr lang="es-ES" noProof="0" smtClean="0"/>
              <a:t>23/11/2025</a:t>
            </a:fld>
            <a:endParaRPr lang="es-ES" noProof="0"/>
          </a:p>
        </p:txBody>
      </p:sp>
      <p:sp>
        <p:nvSpPr>
          <p:cNvPr id="6" name="Marcador de pie de página 5"/>
          <p:cNvSpPr>
            <a:spLocks noGrp="1"/>
          </p:cNvSpPr>
          <p:nvPr>
            <p:ph type="ftr" sz="quarter" idx="11"/>
          </p:nvPr>
        </p:nvSpPr>
        <p:spPr/>
        <p:txBody>
          <a:bodyPr rtlCol="0"/>
          <a:lstStyle/>
          <a:p>
            <a:pPr algn="l" rtl="0"/>
            <a:endParaRPr lang="es-ES" noProof="0"/>
          </a:p>
        </p:txBody>
      </p:sp>
      <p:sp>
        <p:nvSpPr>
          <p:cNvPr id="7" name="Marcador de posición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296349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9"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4ACE3A5-2E47-49A7-8A27-F4DC3346F446}" type="datetime1">
              <a:rPr lang="es-ES" noProof="0" smtClean="0"/>
              <a:t>23/11/2025</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1155914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ángulo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774923" y="863600"/>
            <a:ext cx="7161625" cy="4807326"/>
          </a:xfrm>
        </p:spPr>
        <p:txBody>
          <a:bodyPr vert="eaVert" rtlCol="0" anchor="t"/>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Rectángulo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ángulo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ángulo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Marcador de fecha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25533860-E818-4564-94A8-A4E78B95CB69}" type="datetime1">
              <a:rPr lang="es-ES" noProof="0" smtClean="0"/>
              <a:t>23/11/2025</a:t>
            </a:fld>
            <a:endParaRPr lang="es-ES" noProof="0"/>
          </a:p>
        </p:txBody>
      </p:sp>
      <p:sp>
        <p:nvSpPr>
          <p:cNvPr id="12" name="Marcador de pie de página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s-ES" noProof="0"/>
          </a:p>
        </p:txBody>
      </p:sp>
      <p:sp>
        <p:nvSpPr>
          <p:cNvPr id="13" name="Marcador de número de diapositiva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186844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2275148E-696F-45AE-9256-43F95C097160}" type="datetime1">
              <a:rPr lang="es-ES" noProof="0" smtClean="0"/>
              <a:t>23/11/2025</a:t>
            </a:fld>
            <a:endParaRPr lang="es-ES" noProof="0"/>
          </a:p>
        </p:txBody>
      </p:sp>
      <p:sp>
        <p:nvSpPr>
          <p:cNvPr id="5" name="Marcador de posición de pie de página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s-ES" noProof="0"/>
          </a:p>
        </p:txBody>
      </p:sp>
      <p:sp>
        <p:nvSpPr>
          <p:cNvPr id="6" name="Marcador de número de diapositiva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s-ES" noProof="0" smtClean="0"/>
              <a:t>‹Nº›</a:t>
            </a:fld>
            <a:endParaRPr lang="es-ES" noProof="0"/>
          </a:p>
        </p:txBody>
      </p:sp>
      <p:sp>
        <p:nvSpPr>
          <p:cNvPr id="9" name="Rectángulo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0" name="Rectángulo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1" name="Rectángulo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Tree>
    <p:extLst>
      <p:ext uri="{BB962C8B-B14F-4D97-AF65-F5344CB8AC3E}">
        <p14:creationId xmlns:p14="http://schemas.microsoft.com/office/powerpoint/2010/main" val="124448909"/>
      </p:ext>
    </p:extLst>
  </p:cSld>
  <p:clrMap bg1="lt1" tx1="dk1" bg2="lt2" tx2="dk2" accent1="accent1" accent2="accent2" accent3="accent3" accent4="accent4" accent5="accent5" accent6="accent6" hlink="hlink" folHlink="folHlink"/>
  <p:sldLayoutIdLst>
    <p:sldLayoutId id="2147483674" r:id="rId1"/>
    <p:sldLayoutId id="2147483687" r:id="rId2"/>
    <p:sldLayoutId id="2147483675" r:id="rId3"/>
    <p:sldLayoutId id="2147483676" r:id="rId4"/>
    <p:sldLayoutId id="2147483677" r:id="rId5"/>
    <p:sldLayoutId id="2147483684" r:id="rId6"/>
    <p:sldLayoutId id="2147483678" r:id="rId7"/>
    <p:sldLayoutId id="2147483692" r:id="rId8"/>
    <p:sldLayoutId id="2147483690" r:id="rId9"/>
    <p:sldLayoutId id="2147483691" r:id="rId10"/>
    <p:sldLayoutId id="2147483679" r:id="rId11"/>
    <p:sldLayoutId id="2147483680" r:id="rId12"/>
    <p:sldLayoutId id="2147483688" r:id="rId13"/>
    <p:sldLayoutId id="2147483686" r:id="rId14"/>
    <p:sldLayoutId id="2147483689" r:id="rId15"/>
    <p:sldLayoutId id="2147483683" r:id="rId16"/>
    <p:sldLayoutId id="2147483681" r:id="rId17"/>
    <p:sldLayoutId id="2147483682" r:id="rId18"/>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8" name="Rectángulo 17">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0" name="Rectángulo 19">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2" name="Rectángulo 21">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useBgFill="1">
        <p:nvSpPr>
          <p:cNvPr id="24" name="Rectángulo 23">
            <a:extLst>
              <a:ext uri="{FF2B5EF4-FFF2-40B4-BE49-F238E27FC236}">
                <a16:creationId xmlns:a16="http://schemas.microsoft.com/office/drawing/2014/main" id="{C1FA8F66-3B85-411D-A2A6-A50DF3026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pic>
        <p:nvPicPr>
          <p:cNvPr id="11" name="Marcador de posición de imagen 10" descr="grupo de empleados que colaboran"/>
          <p:cNvPicPr>
            <a:picLocks noGrp="1" noChangeAspect="1"/>
          </p:cNvPicPr>
          <p:nvPr>
            <p:ph type="pic" sz="quarter" idx="13"/>
          </p:nvPr>
        </p:nvPicPr>
        <p:blipFill rotWithShape="1">
          <a:blip r:embed="rId3" cstate="print">
            <a:extLst>
              <a:ext uri="{28A0092B-C50C-407E-A947-70E740481C1C}">
                <a14:useLocalDpi xmlns:a14="http://schemas.microsoft.com/office/drawing/2010/main" val="0"/>
              </a:ext>
            </a:extLst>
          </a:blip>
          <a:srcRect/>
          <a:stretch/>
        </p:blipFill>
        <p:spPr>
          <a:xfrm>
            <a:off x="0" y="0"/>
            <a:ext cx="12192000" cy="6858000"/>
          </a:xfrm>
          <a:prstGeom prst="rect">
            <a:avLst/>
          </a:prstGeom>
          <a:solidFill>
            <a:schemeClr val="tx1"/>
          </a:solidFill>
        </p:spPr>
      </p:pic>
      <p:sp>
        <p:nvSpPr>
          <p:cNvPr id="26" name="Rectángulo 25">
            <a:extLst>
              <a:ext uri="{FF2B5EF4-FFF2-40B4-BE49-F238E27FC236}">
                <a16:creationId xmlns:a16="http://schemas.microsoft.com/office/drawing/2014/main" id="{4179E790-E691-4202-B7FA-62924FC8D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8" name="Rectángulo 27">
            <a:extLst>
              <a:ext uri="{FF2B5EF4-FFF2-40B4-BE49-F238E27FC236}">
                <a16:creationId xmlns:a16="http://schemas.microsoft.com/office/drawing/2014/main" id="{065EE0A0-4DA6-4AA2-A475-14DB03C55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76057"/>
            <a:ext cx="11303626" cy="2034709"/>
          </a:xfrm>
          <a:prstGeom prst="rect">
            <a:avLst/>
          </a:prstGeom>
          <a:solidFill>
            <a:schemeClr val="bg1"/>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8" name="Título 7"/>
          <p:cNvSpPr>
            <a:spLocks noGrp="1"/>
          </p:cNvSpPr>
          <p:nvPr>
            <p:ph type="ctrTitle"/>
          </p:nvPr>
        </p:nvSpPr>
        <p:spPr>
          <a:xfrm>
            <a:off x="602805" y="4429451"/>
            <a:ext cx="11141961" cy="1104334"/>
          </a:xfrm>
        </p:spPr>
        <p:txBody>
          <a:bodyPr vert="horz" lIns="91440" tIns="45720" rIns="91440" bIns="45720" rtlCol="0" anchor="b">
            <a:normAutofit fontScale="90000"/>
          </a:bodyPr>
          <a:lstStyle/>
          <a:p>
            <a:pPr rtl="0"/>
            <a:r>
              <a:rPr lang="es-ES" sz="4000" dirty="0">
                <a:solidFill>
                  <a:schemeClr val="tx1"/>
                </a:solidFill>
              </a:rPr>
              <a:t>ANÁLISIS y visualización DE DATOS CON POWER BI – </a:t>
            </a:r>
            <a:r>
              <a:rPr lang="es-ES" sz="4000">
                <a:solidFill>
                  <a:schemeClr val="tx1"/>
                </a:solidFill>
              </a:rPr>
              <a:t>sesión 05</a:t>
            </a:r>
            <a:endParaRPr lang="es-ES" sz="4000" dirty="0">
              <a:solidFill>
                <a:schemeClr val="tx1"/>
              </a:solidFill>
            </a:endParaRPr>
          </a:p>
        </p:txBody>
      </p:sp>
      <p:sp>
        <p:nvSpPr>
          <p:cNvPr id="9" name="Subtítulo 8"/>
          <p:cNvSpPr>
            <a:spLocks noGrp="1"/>
          </p:cNvSpPr>
          <p:nvPr>
            <p:ph type="subTitle" idx="1"/>
          </p:nvPr>
        </p:nvSpPr>
        <p:spPr>
          <a:xfrm>
            <a:off x="609599" y="5587179"/>
            <a:ext cx="10965142" cy="776954"/>
          </a:xfrm>
        </p:spPr>
        <p:txBody>
          <a:bodyPr vert="horz" lIns="91440" tIns="45720" rIns="91440" bIns="45720" rtlCol="0" anchor="t">
            <a:normAutofit lnSpcReduction="10000"/>
          </a:bodyPr>
          <a:lstStyle/>
          <a:p>
            <a:pPr rtl="0"/>
            <a:r>
              <a:rPr lang="es-ES" dirty="0">
                <a:solidFill>
                  <a:schemeClr val="tx1"/>
                </a:solidFill>
              </a:rPr>
              <a:t>Docente: ing. Eric Alberto Heredia mendoza</a:t>
            </a:r>
          </a:p>
          <a:p>
            <a:pPr rtl="0"/>
            <a:r>
              <a:rPr lang="es-ES" dirty="0">
                <a:solidFill>
                  <a:schemeClr val="tx1"/>
                </a:solidFill>
              </a:rPr>
              <a:t>Microsoft certified  trainer</a:t>
            </a:r>
          </a:p>
          <a:p>
            <a:pPr rtl="0"/>
            <a:endParaRPr lang="es-ES" dirty="0"/>
          </a:p>
        </p:txBody>
      </p:sp>
      <p:pic>
        <p:nvPicPr>
          <p:cNvPr id="19" name="Imagen 18" descr="Inicio - Colegio de Ingenieros del Perú">
            <a:extLst>
              <a:ext uri="{FF2B5EF4-FFF2-40B4-BE49-F238E27FC236}">
                <a16:creationId xmlns:a16="http://schemas.microsoft.com/office/drawing/2014/main" id="{4AEC2F7C-C1D4-4FF1-B485-FF109FB3E04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77143" y="141660"/>
            <a:ext cx="763656" cy="763656"/>
          </a:xfrm>
          <a:prstGeom prst="rect">
            <a:avLst/>
          </a:prstGeom>
          <a:noFill/>
          <a:ln>
            <a:noFill/>
          </a:ln>
        </p:spPr>
      </p:pic>
      <p:pic>
        <p:nvPicPr>
          <p:cNvPr id="17" name="Imagen 16" descr="Imagen que contiene firmar, señal, azul, calle&#10;&#10;Descripción generada automáticamente">
            <a:extLst>
              <a:ext uri="{FF2B5EF4-FFF2-40B4-BE49-F238E27FC236}">
                <a16:creationId xmlns:a16="http://schemas.microsoft.com/office/drawing/2014/main" id="{1E471F84-1667-4465-ACBE-A339F6BD65E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176" b="97059" l="5294" r="94412">
                        <a14:foregroundMark x1="38235" y1="11471" x2="55000" y2="85588"/>
                        <a14:foregroundMark x1="33529" y1="46176" x2="75294" y2="47353"/>
                        <a14:foregroundMark x1="45294" y1="7647" x2="50294" y2="5294"/>
                        <a14:foregroundMark x1="50882" y1="93235" x2="50882" y2="93235"/>
                        <a14:foregroundMark x1="46176" y1="83529" x2="46176" y2="83529"/>
                        <a14:foregroundMark x1="50000" y1="97059" x2="50000" y2="97059"/>
                        <a14:foregroundMark x1="40588" y1="83824" x2="40588" y2="83824"/>
                        <a14:foregroundMark x1="34118" y1="35294" x2="44412" y2="81765"/>
                        <a14:foregroundMark x1="27647" y1="50000" x2="78235" y2="48235"/>
                        <a14:foregroundMark x1="20000" y1="45588" x2="20000" y2="45588"/>
                        <a14:foregroundMark x1="83824" y1="51765" x2="83824" y2="51765"/>
                        <a14:foregroundMark x1="20000" y1="42647" x2="77353" y2="50882"/>
                        <a14:foregroundMark x1="77353" y1="50882" x2="20000" y2="46176"/>
                        <a14:foregroundMark x1="20000" y1="46176" x2="14706" y2="47353"/>
                        <a14:foregroundMark x1="83529" y1="58235" x2="82059" y2="42647"/>
                        <a14:foregroundMark x1="49118" y1="18235" x2="52059" y2="19118"/>
                        <a14:foregroundMark x1="6176" y1="45294" x2="5882" y2="41765"/>
                        <a14:foregroundMark x1="31176" y1="71471" x2="73235" y2="70000"/>
                        <a14:foregroundMark x1="94412" y1="44118" x2="94412" y2="44118"/>
                        <a14:foregroundMark x1="51176" y1="1176" x2="51176" y2="1176"/>
                      </a14:backgroundRemoval>
                    </a14:imgEffect>
                  </a14:imgLayer>
                </a14:imgProps>
              </a:ext>
            </a:extLst>
          </a:blip>
          <a:stretch>
            <a:fillRect/>
          </a:stretch>
        </p:blipFill>
        <p:spPr>
          <a:xfrm>
            <a:off x="10421596" y="141660"/>
            <a:ext cx="849593" cy="849593"/>
          </a:xfrm>
          <a:prstGeom prst="rect">
            <a:avLst/>
          </a:prstGeom>
        </p:spPr>
      </p:pic>
      <p:pic>
        <p:nvPicPr>
          <p:cNvPr id="1028" name="Picture 4" descr="Microsoft Certified: Power Platform Fundamentals - Credly">
            <a:extLst>
              <a:ext uri="{FF2B5EF4-FFF2-40B4-BE49-F238E27FC236}">
                <a16:creationId xmlns:a16="http://schemas.microsoft.com/office/drawing/2014/main" id="{BBD27B71-1927-E753-8AB1-6300CBB09A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77919" y="131309"/>
            <a:ext cx="870297" cy="87029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E745CB0-D757-474C-90CC-C5B6758BA3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30262" y="123843"/>
            <a:ext cx="847550" cy="849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7D1B2-32AF-772D-91BE-4C22182B0BF5}"/>
            </a:ext>
          </a:extLst>
        </p:cNvPr>
        <p:cNvGrpSpPr/>
        <p:nvPr/>
      </p:nvGrpSpPr>
      <p:grpSpPr>
        <a:xfrm>
          <a:off x="0" y="0"/>
          <a:ext cx="0" cy="0"/>
          <a:chOff x="0" y="0"/>
          <a:chExt cx="0" cy="0"/>
        </a:xfrm>
      </p:grpSpPr>
      <p:sp>
        <p:nvSpPr>
          <p:cNvPr id="10" name="Título 9">
            <a:extLst>
              <a:ext uri="{FF2B5EF4-FFF2-40B4-BE49-F238E27FC236}">
                <a16:creationId xmlns:a16="http://schemas.microsoft.com/office/drawing/2014/main" id="{0C5AA333-CF56-D922-CBD5-23D2D75A40AD}"/>
              </a:ext>
            </a:extLst>
          </p:cNvPr>
          <p:cNvSpPr>
            <a:spLocks noGrp="1"/>
          </p:cNvSpPr>
          <p:nvPr>
            <p:ph type="title"/>
          </p:nvPr>
        </p:nvSpPr>
        <p:spPr>
          <a:xfrm>
            <a:off x="914400" y="606609"/>
            <a:ext cx="10515600" cy="531075"/>
          </a:xfrm>
        </p:spPr>
        <p:txBody>
          <a:bodyPr/>
          <a:lstStyle/>
          <a:p>
            <a:r>
              <a:rPr lang="es-ES" dirty="0"/>
              <a:t>ÍNDICE</a:t>
            </a:r>
            <a:endParaRPr lang="es-PE" dirty="0"/>
          </a:p>
        </p:txBody>
      </p:sp>
      <p:sp>
        <p:nvSpPr>
          <p:cNvPr id="12" name="Marcador de contenido 4">
            <a:extLst>
              <a:ext uri="{FF2B5EF4-FFF2-40B4-BE49-F238E27FC236}">
                <a16:creationId xmlns:a16="http://schemas.microsoft.com/office/drawing/2014/main" id="{F41569E4-08AC-468B-9180-7413F932B171}"/>
              </a:ext>
            </a:extLst>
          </p:cNvPr>
          <p:cNvSpPr>
            <a:spLocks noGrp="1"/>
          </p:cNvSpPr>
          <p:nvPr>
            <p:ph idx="1"/>
          </p:nvPr>
        </p:nvSpPr>
        <p:spPr>
          <a:xfrm>
            <a:off x="838200" y="1253330"/>
            <a:ext cx="10515600" cy="3356770"/>
          </a:xfrm>
        </p:spPr>
        <p:txBody>
          <a:bodyPr>
            <a:normAutofit/>
          </a:bodyPr>
          <a:lstStyle/>
          <a:p>
            <a:pPr algn="just">
              <a:buFont typeface="Arial" panose="020B0604020202020204" pitchFamily="34" charset="0"/>
              <a:buChar char="•"/>
            </a:pPr>
            <a:r>
              <a:rPr lang="es-ES" sz="2400" dirty="0"/>
              <a:t>Visualizaciones: Tabla, Matriz, Segmentación, Columna, Barra, </a:t>
            </a:r>
            <a:r>
              <a:rPr lang="pt-BR" sz="2400" dirty="0"/>
              <a:t>Circular, </a:t>
            </a:r>
            <a:r>
              <a:rPr lang="pt-BR" sz="2400" dirty="0" err="1"/>
              <a:t>Anillo</a:t>
            </a:r>
            <a:r>
              <a:rPr lang="pt-BR" sz="2400" dirty="0"/>
              <a:t>, </a:t>
            </a:r>
            <a:r>
              <a:rPr lang="pt-BR" sz="2400" dirty="0" err="1"/>
              <a:t>TreeMap</a:t>
            </a:r>
            <a:r>
              <a:rPr lang="pt-BR" sz="2400" dirty="0"/>
              <a:t>, Mapa, Mapa </a:t>
            </a:r>
            <a:r>
              <a:rPr lang="pt-BR" sz="2400" dirty="0" err="1"/>
              <a:t>Coropletico</a:t>
            </a:r>
            <a:r>
              <a:rPr lang="pt-BR" sz="2400" dirty="0"/>
              <a:t>, Mapa de formas, </a:t>
            </a:r>
            <a:r>
              <a:rPr lang="es-ES" sz="2400" dirty="0"/>
              <a:t>Lineal, Área, Burbujas, Tarjeta, Combinado, Velocímetro, Tarjeta de varias filas, KPI, Embudo, Gráfico de cascada.</a:t>
            </a:r>
          </a:p>
          <a:p>
            <a:pPr algn="just">
              <a:buFont typeface="Arial" panose="020B0604020202020204" pitchFamily="34" charset="0"/>
              <a:buChar char="•"/>
            </a:pPr>
            <a:r>
              <a:rPr lang="es-ES" sz="2400" dirty="0"/>
              <a:t>Caso aplicativo.</a:t>
            </a:r>
          </a:p>
        </p:txBody>
      </p:sp>
    </p:spTree>
    <p:extLst>
      <p:ext uri="{BB962C8B-B14F-4D97-AF65-F5344CB8AC3E}">
        <p14:creationId xmlns:p14="http://schemas.microsoft.com/office/powerpoint/2010/main" val="3970915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508A2659-5CDF-B61A-6AED-E79CC970724D}"/>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5B2635D9-42C3-95BA-7B06-F6512AB1C9AB}"/>
              </a:ext>
            </a:extLst>
          </p:cNvPr>
          <p:cNvSpPr txBox="1"/>
          <p:nvPr/>
        </p:nvSpPr>
        <p:spPr>
          <a:xfrm>
            <a:off x="579356" y="615895"/>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PE" dirty="0"/>
              <a:t>Visualizaciones en Power BI Desktop</a:t>
            </a:r>
          </a:p>
        </p:txBody>
      </p:sp>
      <p:sp>
        <p:nvSpPr>
          <p:cNvPr id="5" name="Google Shape;136;g260e3df6672_0_17">
            <a:extLst>
              <a:ext uri="{FF2B5EF4-FFF2-40B4-BE49-F238E27FC236}">
                <a16:creationId xmlns:a16="http://schemas.microsoft.com/office/drawing/2014/main" id="{0DF7BC72-1C48-AD60-74CC-EF56EE0EB4E0}"/>
              </a:ext>
            </a:extLst>
          </p:cNvPr>
          <p:cNvSpPr txBox="1"/>
          <p:nvPr/>
        </p:nvSpPr>
        <p:spPr>
          <a:xfrm>
            <a:off x="579356" y="1654076"/>
            <a:ext cx="6224856" cy="2492960"/>
          </a:xfrm>
          <a:prstGeom prst="rect">
            <a:avLst/>
          </a:prstGeom>
          <a:noFill/>
          <a:ln>
            <a:noFill/>
          </a:ln>
        </p:spPr>
        <p:txBody>
          <a:bodyPr spcFirstLastPara="1" wrap="square" lIns="91425" tIns="91425" rIns="91425" bIns="91425" anchor="t" anchorCtr="0">
            <a:spAutoFit/>
          </a:bodyPr>
          <a:lstStyle/>
          <a:p>
            <a:pPr algn="just">
              <a:lnSpc>
                <a:spcPct val="150000"/>
              </a:lnSpc>
              <a:buClr>
                <a:srgbClr val="474341"/>
              </a:buClr>
              <a:buSzPts val="1500"/>
            </a:pPr>
            <a:r>
              <a:rPr lang="es-ES" sz="2000" dirty="0">
                <a:cs typeface="Calibri"/>
                <a:sym typeface="Calibri"/>
              </a:rPr>
              <a:t>Las visualizaciones, también denominadas objetos visuales para abreviar, muestran información que se detectan en los datos. Un informe de Power BI puede tener una sola página con un objeto visual o podría tener páginas enteras de objetos visuales.</a:t>
            </a:r>
            <a:endParaRPr sz="2000" dirty="0">
              <a:cs typeface="Calibri"/>
              <a:sym typeface="Calibri"/>
            </a:endParaRPr>
          </a:p>
        </p:txBody>
      </p:sp>
      <p:pic>
        <p:nvPicPr>
          <p:cNvPr id="4" name="Imagen 3">
            <a:extLst>
              <a:ext uri="{FF2B5EF4-FFF2-40B4-BE49-F238E27FC236}">
                <a16:creationId xmlns:a16="http://schemas.microsoft.com/office/drawing/2014/main" id="{52430C7B-E808-4C77-6D4C-5D5823ED25D5}"/>
              </a:ext>
            </a:extLst>
          </p:cNvPr>
          <p:cNvPicPr>
            <a:picLocks noChangeAspect="1"/>
          </p:cNvPicPr>
          <p:nvPr/>
        </p:nvPicPr>
        <p:blipFill>
          <a:blip r:embed="rId3"/>
          <a:stretch>
            <a:fillRect/>
          </a:stretch>
        </p:blipFill>
        <p:spPr>
          <a:xfrm>
            <a:off x="8040421" y="1248493"/>
            <a:ext cx="2585538" cy="4579703"/>
          </a:xfrm>
          <a:prstGeom prst="rect">
            <a:avLst/>
          </a:prstGeom>
        </p:spPr>
      </p:pic>
      <p:sp>
        <p:nvSpPr>
          <p:cNvPr id="12" name="CuadroTexto 11">
            <a:extLst>
              <a:ext uri="{FF2B5EF4-FFF2-40B4-BE49-F238E27FC236}">
                <a16:creationId xmlns:a16="http://schemas.microsoft.com/office/drawing/2014/main" id="{A0E67161-977B-001E-534F-B2CBFE99765C}"/>
              </a:ext>
            </a:extLst>
          </p:cNvPr>
          <p:cNvSpPr txBox="1"/>
          <p:nvPr/>
        </p:nvSpPr>
        <p:spPr>
          <a:xfrm>
            <a:off x="7647232" y="5872773"/>
            <a:ext cx="3114675" cy="369332"/>
          </a:xfrm>
          <a:prstGeom prst="rect">
            <a:avLst/>
          </a:prstGeom>
          <a:noFill/>
        </p:spPr>
        <p:txBody>
          <a:bodyPr wrap="square" rtlCol="0">
            <a:spAutoFit/>
          </a:bodyPr>
          <a:lstStyle/>
          <a:p>
            <a:pPr algn="ctr"/>
            <a:r>
              <a:rPr lang="es-PE" b="1" dirty="0"/>
              <a:t>Objetos visuales</a:t>
            </a:r>
          </a:p>
        </p:txBody>
      </p:sp>
    </p:spTree>
    <p:extLst>
      <p:ext uri="{BB962C8B-B14F-4D97-AF65-F5344CB8AC3E}">
        <p14:creationId xmlns:p14="http://schemas.microsoft.com/office/powerpoint/2010/main" val="1484614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C8C404D1-5CFA-B46C-DA98-DEECD262F9BF}"/>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AC296936-0B68-F5D9-77F1-1D110C81753A}"/>
              </a:ext>
            </a:extLst>
          </p:cNvPr>
          <p:cNvSpPr txBox="1"/>
          <p:nvPr/>
        </p:nvSpPr>
        <p:spPr>
          <a:xfrm>
            <a:off x="389642" y="652145"/>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Tabla</a:t>
            </a:r>
          </a:p>
        </p:txBody>
      </p:sp>
      <p:sp>
        <p:nvSpPr>
          <p:cNvPr id="4" name="CuadroTexto 3">
            <a:extLst>
              <a:ext uri="{FF2B5EF4-FFF2-40B4-BE49-F238E27FC236}">
                <a16:creationId xmlns:a16="http://schemas.microsoft.com/office/drawing/2014/main" id="{36724726-E246-9D52-8514-B3180B7F5625}"/>
              </a:ext>
            </a:extLst>
          </p:cNvPr>
          <p:cNvSpPr txBox="1"/>
          <p:nvPr/>
        </p:nvSpPr>
        <p:spPr>
          <a:xfrm>
            <a:off x="7272757" y="4615729"/>
            <a:ext cx="3114675" cy="369332"/>
          </a:xfrm>
          <a:prstGeom prst="rect">
            <a:avLst/>
          </a:prstGeom>
          <a:noFill/>
        </p:spPr>
        <p:txBody>
          <a:bodyPr wrap="square" rtlCol="0">
            <a:spAutoFit/>
          </a:bodyPr>
          <a:lstStyle/>
          <a:p>
            <a:pPr algn="ctr"/>
            <a:r>
              <a:rPr lang="es-PE" b="1" dirty="0"/>
              <a:t>Visualización de Tabla</a:t>
            </a:r>
          </a:p>
        </p:txBody>
      </p:sp>
      <p:sp>
        <p:nvSpPr>
          <p:cNvPr id="13" name="Rectángulo 12">
            <a:extLst>
              <a:ext uri="{FF2B5EF4-FFF2-40B4-BE49-F238E27FC236}">
                <a16:creationId xmlns:a16="http://schemas.microsoft.com/office/drawing/2014/main" id="{C0D2E9B1-A5DE-2A43-1FD3-7D4828CB4552}"/>
              </a:ext>
            </a:extLst>
          </p:cNvPr>
          <p:cNvSpPr/>
          <p:nvPr/>
        </p:nvSpPr>
        <p:spPr>
          <a:xfrm>
            <a:off x="388201" y="1464321"/>
            <a:ext cx="4757195" cy="4479944"/>
          </a:xfrm>
          <a:prstGeom prst="rect">
            <a:avLst/>
          </a:prstGeom>
        </p:spPr>
        <p:txBody>
          <a:bodyPr wrap="square">
            <a:spAutoFit/>
          </a:bodyPr>
          <a:lstStyle/>
          <a:p>
            <a:pPr algn="just">
              <a:lnSpc>
                <a:spcPct val="110000"/>
              </a:lnSpc>
              <a:spcBef>
                <a:spcPts val="1200"/>
              </a:spcBef>
            </a:pPr>
            <a:r>
              <a:rPr lang="es-ES" sz="2000" dirty="0"/>
              <a:t>Una tabla es una cuadrícula que contiene datos relacionados en una serie lógica de filas y columnas. Una tabla también puede contener encabezados y una fila para los totales. Las tablas funcionan bien con comparaciones cuantitativas en las que está mirando muchos valores para una única categoría. En el ejemplo siguiente, en la tabla se muestran cinco medidas diferentes para los elementos de Categoría, incluyendo los precios promedio, las ventas anuales y los objetivos de ventas.</a:t>
            </a:r>
          </a:p>
        </p:txBody>
      </p:sp>
      <p:pic>
        <p:nvPicPr>
          <p:cNvPr id="1026" name="Picture 2" descr="Captura de pantalla de una tabla en la que se muestran cinco medidas para los elementos de Categoría.">
            <a:extLst>
              <a:ext uri="{FF2B5EF4-FFF2-40B4-BE49-F238E27FC236}">
                <a16:creationId xmlns:a16="http://schemas.microsoft.com/office/drawing/2014/main" id="{59365851-CF46-C7A6-3779-830AA82EE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1124" y="1464321"/>
            <a:ext cx="6162675"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8546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CC9D01D8-86D9-AD56-4FEA-124C0ABB1C3D}"/>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9D17EA87-D111-131D-B616-C4881DADE74A}"/>
              </a:ext>
            </a:extLst>
          </p:cNvPr>
          <p:cNvSpPr txBox="1"/>
          <p:nvPr/>
        </p:nvSpPr>
        <p:spPr>
          <a:xfrm>
            <a:off x="388201" y="572874"/>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Matriz</a:t>
            </a:r>
          </a:p>
        </p:txBody>
      </p:sp>
      <p:sp>
        <p:nvSpPr>
          <p:cNvPr id="4" name="CuadroTexto 3">
            <a:extLst>
              <a:ext uri="{FF2B5EF4-FFF2-40B4-BE49-F238E27FC236}">
                <a16:creationId xmlns:a16="http://schemas.microsoft.com/office/drawing/2014/main" id="{31CA0CFE-0091-002C-DFC5-026C9584CA8E}"/>
              </a:ext>
            </a:extLst>
          </p:cNvPr>
          <p:cNvSpPr txBox="1"/>
          <p:nvPr/>
        </p:nvSpPr>
        <p:spPr>
          <a:xfrm>
            <a:off x="7168585" y="4692757"/>
            <a:ext cx="3114675" cy="369332"/>
          </a:xfrm>
          <a:prstGeom prst="rect">
            <a:avLst/>
          </a:prstGeom>
          <a:noFill/>
        </p:spPr>
        <p:txBody>
          <a:bodyPr wrap="square" rtlCol="0">
            <a:spAutoFit/>
          </a:bodyPr>
          <a:lstStyle/>
          <a:p>
            <a:pPr algn="ctr"/>
            <a:r>
              <a:rPr lang="es-PE" b="1" dirty="0"/>
              <a:t>Visualización de Matriz</a:t>
            </a:r>
          </a:p>
        </p:txBody>
      </p:sp>
      <p:sp>
        <p:nvSpPr>
          <p:cNvPr id="13" name="Rectángulo 12">
            <a:extLst>
              <a:ext uri="{FF2B5EF4-FFF2-40B4-BE49-F238E27FC236}">
                <a16:creationId xmlns:a16="http://schemas.microsoft.com/office/drawing/2014/main" id="{73E64AB5-C766-AC39-434E-D557F490AD61}"/>
              </a:ext>
            </a:extLst>
          </p:cNvPr>
          <p:cNvSpPr/>
          <p:nvPr/>
        </p:nvSpPr>
        <p:spPr>
          <a:xfrm>
            <a:off x="388201" y="1464321"/>
            <a:ext cx="4757195" cy="4141390"/>
          </a:xfrm>
          <a:prstGeom prst="rect">
            <a:avLst/>
          </a:prstGeom>
        </p:spPr>
        <p:txBody>
          <a:bodyPr wrap="square">
            <a:spAutoFit/>
          </a:bodyPr>
          <a:lstStyle/>
          <a:p>
            <a:pPr algn="just">
              <a:lnSpc>
                <a:spcPct val="110000"/>
              </a:lnSpc>
              <a:spcBef>
                <a:spcPts val="1200"/>
              </a:spcBef>
            </a:pPr>
            <a:r>
              <a:rPr lang="es-PE" sz="2000" dirty="0"/>
              <a:t>El objeto visual de matriz guarda similitudes con una tabla convencional. Mientras que una tabla maneja dos dimensiones y muestra los datos en una estructura plana donde los valores duplicados se visualizan, pero no se agregan, una matriz ofrece una forma más efectiva de presentar datos en múltiples dimensiones gracias a su diseño escalonado. La matriz automatiza la agregación de datos y facilita la exploración en detalle de la información.</a:t>
            </a:r>
            <a:endParaRPr lang="es-ES" sz="2000" dirty="0"/>
          </a:p>
        </p:txBody>
      </p:sp>
      <p:pic>
        <p:nvPicPr>
          <p:cNvPr id="14" name="Picture 2" descr="matriz que muestra los iconos activados">
            <a:extLst>
              <a:ext uri="{FF2B5EF4-FFF2-40B4-BE49-F238E27FC236}">
                <a16:creationId xmlns:a16="http://schemas.microsoft.com/office/drawing/2014/main" id="{852811AE-2AA8-445E-3AD5-4E7538440A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813"/>
          <a:stretch/>
        </p:blipFill>
        <p:spPr bwMode="auto">
          <a:xfrm>
            <a:off x="5398200" y="1727441"/>
            <a:ext cx="6264062" cy="2751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869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31BA3C3F-CB40-1566-093E-67E4293610DF}"/>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D2D0442A-C1AA-E928-A9D2-8E18DF02EE19}"/>
              </a:ext>
            </a:extLst>
          </p:cNvPr>
          <p:cNvSpPr txBox="1"/>
          <p:nvPr/>
        </p:nvSpPr>
        <p:spPr>
          <a:xfrm>
            <a:off x="388201" y="679693"/>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Segmentación</a:t>
            </a:r>
          </a:p>
        </p:txBody>
      </p:sp>
      <p:sp>
        <p:nvSpPr>
          <p:cNvPr id="4" name="CuadroTexto 3">
            <a:extLst>
              <a:ext uri="{FF2B5EF4-FFF2-40B4-BE49-F238E27FC236}">
                <a16:creationId xmlns:a16="http://schemas.microsoft.com/office/drawing/2014/main" id="{51AC31DF-EBD2-513B-124A-72AA49ADE5B6}"/>
              </a:ext>
            </a:extLst>
          </p:cNvPr>
          <p:cNvSpPr txBox="1"/>
          <p:nvPr/>
        </p:nvSpPr>
        <p:spPr>
          <a:xfrm>
            <a:off x="7769453" y="5595583"/>
            <a:ext cx="3114675" cy="646331"/>
          </a:xfrm>
          <a:prstGeom prst="rect">
            <a:avLst/>
          </a:prstGeom>
          <a:noFill/>
        </p:spPr>
        <p:txBody>
          <a:bodyPr wrap="square" rtlCol="0">
            <a:spAutoFit/>
          </a:bodyPr>
          <a:lstStyle/>
          <a:p>
            <a:pPr algn="ctr"/>
            <a:r>
              <a:rPr lang="es-PE" b="1" dirty="0"/>
              <a:t>Visualización  de Segmentación</a:t>
            </a:r>
          </a:p>
        </p:txBody>
      </p:sp>
      <p:sp>
        <p:nvSpPr>
          <p:cNvPr id="13" name="Rectángulo 12">
            <a:extLst>
              <a:ext uri="{FF2B5EF4-FFF2-40B4-BE49-F238E27FC236}">
                <a16:creationId xmlns:a16="http://schemas.microsoft.com/office/drawing/2014/main" id="{45109327-322E-9BA6-2739-114FDAA5FB32}"/>
              </a:ext>
            </a:extLst>
          </p:cNvPr>
          <p:cNvSpPr/>
          <p:nvPr/>
        </p:nvSpPr>
        <p:spPr>
          <a:xfrm>
            <a:off x="388201" y="1464321"/>
            <a:ext cx="5352842" cy="3125727"/>
          </a:xfrm>
          <a:prstGeom prst="rect">
            <a:avLst/>
          </a:prstGeom>
        </p:spPr>
        <p:txBody>
          <a:bodyPr wrap="square">
            <a:spAutoFit/>
          </a:bodyPr>
          <a:lstStyle/>
          <a:p>
            <a:pPr algn="just">
              <a:lnSpc>
                <a:spcPct val="110000"/>
              </a:lnSpc>
              <a:spcBef>
                <a:spcPts val="1200"/>
              </a:spcBef>
            </a:pPr>
            <a:r>
              <a:rPr lang="es-ES" sz="2000" dirty="0"/>
              <a:t>Una segmentación de datos es un gráfico independiente que se puede usar para filtrar el resto de objetos visuales de la página. Las segmentaciones de datos se presentan en muchos formatos diferentes (categoría, intervalo, fecha, etc.) y pueden tener un formato que permita la selección de un solo valor, de varios o de todos los valores disponibles.</a:t>
            </a:r>
          </a:p>
        </p:txBody>
      </p:sp>
      <p:pic>
        <p:nvPicPr>
          <p:cNvPr id="2" name="Picture 2" descr="Captura de pantalla de la segmentación con formato.">
            <a:extLst>
              <a:ext uri="{FF2B5EF4-FFF2-40B4-BE49-F238E27FC236}">
                <a16:creationId xmlns:a16="http://schemas.microsoft.com/office/drawing/2014/main" id="{3F56045A-15BA-0C2B-1CE3-6824A5F73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6216" y="1666509"/>
            <a:ext cx="4560371" cy="3524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410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3A01D761-696B-3EBD-630D-FB7DF000F050}"/>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3AB69A07-5E20-D3DE-903E-65560E569B5C}"/>
              </a:ext>
            </a:extLst>
          </p:cNvPr>
          <p:cNvSpPr txBox="1"/>
          <p:nvPr/>
        </p:nvSpPr>
        <p:spPr>
          <a:xfrm>
            <a:off x="388200" y="674923"/>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Segmentación</a:t>
            </a:r>
          </a:p>
        </p:txBody>
      </p:sp>
      <p:sp>
        <p:nvSpPr>
          <p:cNvPr id="13" name="Rectángulo 12">
            <a:extLst>
              <a:ext uri="{FF2B5EF4-FFF2-40B4-BE49-F238E27FC236}">
                <a16:creationId xmlns:a16="http://schemas.microsoft.com/office/drawing/2014/main" id="{7F9F1311-CA89-0621-B188-B9CA86A69600}"/>
              </a:ext>
            </a:extLst>
          </p:cNvPr>
          <p:cNvSpPr/>
          <p:nvPr/>
        </p:nvSpPr>
        <p:spPr>
          <a:xfrm>
            <a:off x="388200" y="1198103"/>
            <a:ext cx="10862391" cy="5372496"/>
          </a:xfrm>
          <a:prstGeom prst="rect">
            <a:avLst/>
          </a:prstGeom>
        </p:spPr>
        <p:txBody>
          <a:bodyPr wrap="square">
            <a:spAutoFit/>
          </a:bodyPr>
          <a:lstStyle/>
          <a:p>
            <a:pPr algn="just">
              <a:lnSpc>
                <a:spcPct val="110000"/>
              </a:lnSpc>
              <a:spcBef>
                <a:spcPts val="1200"/>
              </a:spcBef>
            </a:pPr>
            <a:r>
              <a:rPr lang="es-ES" sz="2000" dirty="0"/>
              <a:t>Las segmentaciones son una elección destacada si desea:</a:t>
            </a:r>
          </a:p>
          <a:p>
            <a:pPr algn="just">
              <a:lnSpc>
                <a:spcPct val="110000"/>
              </a:lnSpc>
              <a:spcBef>
                <a:spcPts val="1200"/>
              </a:spcBef>
            </a:pPr>
            <a:endParaRPr lang="es-ES" sz="2000" dirty="0"/>
          </a:p>
          <a:p>
            <a:pPr marL="342900" indent="-342900" algn="just">
              <a:lnSpc>
                <a:spcPct val="110000"/>
              </a:lnSpc>
              <a:spcBef>
                <a:spcPts val="1200"/>
              </a:spcBef>
              <a:buFont typeface="Arial" panose="020B0604020202020204" pitchFamily="34" charset="0"/>
              <a:buChar char="•"/>
            </a:pPr>
            <a:r>
              <a:rPr lang="es-ES" sz="2000" dirty="0"/>
              <a:t>Presentar filtros cruciales o de uso frecuente en el área de trabajo del informe para una fácil accesibilidad.</a:t>
            </a:r>
          </a:p>
          <a:p>
            <a:pPr marL="342900" indent="-342900" algn="just">
              <a:lnSpc>
                <a:spcPct val="110000"/>
              </a:lnSpc>
              <a:spcBef>
                <a:spcPts val="1200"/>
              </a:spcBef>
              <a:buFont typeface="Arial" panose="020B0604020202020204" pitchFamily="34" charset="0"/>
              <a:buChar char="•"/>
            </a:pPr>
            <a:endParaRPr lang="es-ES" sz="2000" dirty="0"/>
          </a:p>
          <a:p>
            <a:pPr marL="342900" indent="-342900" algn="just">
              <a:lnSpc>
                <a:spcPct val="110000"/>
              </a:lnSpc>
              <a:spcBef>
                <a:spcPts val="1200"/>
              </a:spcBef>
              <a:buFont typeface="Arial" panose="020B0604020202020204" pitchFamily="34" charset="0"/>
              <a:buChar char="•"/>
            </a:pPr>
            <a:r>
              <a:rPr lang="es-ES" sz="2000" dirty="0"/>
              <a:t>Simplificar la visualización del estado actual de los filtros sin necesidad de desplegar una lista.</a:t>
            </a:r>
          </a:p>
          <a:p>
            <a:pPr marL="342900" indent="-342900" algn="just">
              <a:lnSpc>
                <a:spcPct val="110000"/>
              </a:lnSpc>
              <a:spcBef>
                <a:spcPts val="1200"/>
              </a:spcBef>
              <a:buFont typeface="Arial" panose="020B0604020202020204" pitchFamily="34" charset="0"/>
              <a:buChar char="•"/>
            </a:pPr>
            <a:endParaRPr lang="es-ES" sz="2000" dirty="0"/>
          </a:p>
          <a:p>
            <a:pPr marL="342900" indent="-342900" algn="just">
              <a:lnSpc>
                <a:spcPct val="110000"/>
              </a:lnSpc>
              <a:spcBef>
                <a:spcPts val="1200"/>
              </a:spcBef>
              <a:buFont typeface="Arial" panose="020B0604020202020204" pitchFamily="34" charset="0"/>
              <a:buChar char="•"/>
            </a:pPr>
            <a:r>
              <a:rPr lang="es-ES" sz="2000" dirty="0"/>
              <a:t>Filtrar las columnas que son superfluas y están ocultas en las tablas de datos.</a:t>
            </a:r>
          </a:p>
          <a:p>
            <a:pPr marL="342900" indent="-342900" algn="just">
              <a:lnSpc>
                <a:spcPct val="110000"/>
              </a:lnSpc>
              <a:spcBef>
                <a:spcPts val="1200"/>
              </a:spcBef>
              <a:buFont typeface="Arial" panose="020B0604020202020204" pitchFamily="34" charset="0"/>
              <a:buChar char="•"/>
            </a:pPr>
            <a:endParaRPr lang="es-ES" sz="2000" dirty="0"/>
          </a:p>
          <a:p>
            <a:pPr marL="342900" indent="-342900" algn="just">
              <a:lnSpc>
                <a:spcPct val="110000"/>
              </a:lnSpc>
              <a:spcBef>
                <a:spcPts val="1200"/>
              </a:spcBef>
              <a:buFont typeface="Arial" panose="020B0604020202020204" pitchFamily="34" charset="0"/>
              <a:buChar char="•"/>
            </a:pPr>
            <a:r>
              <a:rPr lang="es-ES" sz="2000" dirty="0"/>
              <a:t>Desarrollar informes más específicos al colocar segmentaciones junto a elementos visuales significativos.</a:t>
            </a:r>
          </a:p>
        </p:txBody>
      </p:sp>
    </p:spTree>
    <p:extLst>
      <p:ext uri="{BB962C8B-B14F-4D97-AF65-F5344CB8AC3E}">
        <p14:creationId xmlns:p14="http://schemas.microsoft.com/office/powerpoint/2010/main" val="3536118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F82F2F5-B7C3-D12B-BEE6-63B9671C5DF6}"/>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70F17457-94CD-0214-EBDA-77C27E8D1814}"/>
              </a:ext>
            </a:extLst>
          </p:cNvPr>
          <p:cNvSpPr txBox="1"/>
          <p:nvPr/>
        </p:nvSpPr>
        <p:spPr>
          <a:xfrm>
            <a:off x="415612" y="665370"/>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Columna</a:t>
            </a:r>
          </a:p>
        </p:txBody>
      </p:sp>
      <p:sp>
        <p:nvSpPr>
          <p:cNvPr id="2" name="CuadroTexto 1">
            <a:extLst>
              <a:ext uri="{FF2B5EF4-FFF2-40B4-BE49-F238E27FC236}">
                <a16:creationId xmlns:a16="http://schemas.microsoft.com/office/drawing/2014/main" id="{1FEEA77B-3CDB-C87D-8641-C7314028D055}"/>
              </a:ext>
            </a:extLst>
          </p:cNvPr>
          <p:cNvSpPr txBox="1"/>
          <p:nvPr/>
        </p:nvSpPr>
        <p:spPr>
          <a:xfrm>
            <a:off x="7983712" y="4693059"/>
            <a:ext cx="3114675" cy="646331"/>
          </a:xfrm>
          <a:prstGeom prst="rect">
            <a:avLst/>
          </a:prstGeom>
          <a:noFill/>
        </p:spPr>
        <p:txBody>
          <a:bodyPr wrap="square" rtlCol="0">
            <a:spAutoFit/>
          </a:bodyPr>
          <a:lstStyle>
            <a:defPPr>
              <a:defRPr lang="es-PE"/>
            </a:defPPr>
            <a:lvl1pPr algn="ctr">
              <a:defRPr b="1"/>
            </a:lvl1pPr>
          </a:lstStyle>
          <a:p>
            <a:r>
              <a:rPr lang="es-PE" dirty="0"/>
              <a:t>Tipos de gráficos de barra y columna</a:t>
            </a:r>
          </a:p>
        </p:txBody>
      </p:sp>
      <p:sp>
        <p:nvSpPr>
          <p:cNvPr id="4" name="Rectángulo 3">
            <a:extLst>
              <a:ext uri="{FF2B5EF4-FFF2-40B4-BE49-F238E27FC236}">
                <a16:creationId xmlns:a16="http://schemas.microsoft.com/office/drawing/2014/main" id="{1E9CB50A-6BA9-EC92-648D-78E79F1BC476}"/>
              </a:ext>
            </a:extLst>
          </p:cNvPr>
          <p:cNvSpPr/>
          <p:nvPr/>
        </p:nvSpPr>
        <p:spPr>
          <a:xfrm>
            <a:off x="415612" y="1878902"/>
            <a:ext cx="6849484" cy="1771511"/>
          </a:xfrm>
          <a:prstGeom prst="rect">
            <a:avLst/>
          </a:prstGeom>
        </p:spPr>
        <p:txBody>
          <a:bodyPr wrap="square">
            <a:spAutoFit/>
          </a:bodyPr>
          <a:lstStyle/>
          <a:p>
            <a:pPr algn="just">
              <a:lnSpc>
                <a:spcPct val="110000"/>
              </a:lnSpc>
              <a:spcBef>
                <a:spcPts val="1200"/>
              </a:spcBef>
            </a:pPr>
            <a:r>
              <a:rPr lang="es-ES" sz="2000" dirty="0"/>
              <a:t>En Power BI, la visualización de columna es un tipo de gráfico que utiliza barras verticales (o columnas) para representar datos. Este gráfico es útil para comparar valores en diferentes categorías o para mostrar tendencias en un rango de tiempo discreto.</a:t>
            </a:r>
          </a:p>
        </p:txBody>
      </p:sp>
      <p:pic>
        <p:nvPicPr>
          <p:cNvPr id="7" name="Imagen 6">
            <a:extLst>
              <a:ext uri="{FF2B5EF4-FFF2-40B4-BE49-F238E27FC236}">
                <a16:creationId xmlns:a16="http://schemas.microsoft.com/office/drawing/2014/main" id="{E1404EE3-9431-B714-C1D5-E353DA5C01B2}"/>
              </a:ext>
            </a:extLst>
          </p:cNvPr>
          <p:cNvPicPr>
            <a:picLocks noChangeAspect="1"/>
          </p:cNvPicPr>
          <p:nvPr/>
        </p:nvPicPr>
        <p:blipFill>
          <a:blip r:embed="rId3"/>
          <a:stretch>
            <a:fillRect/>
          </a:stretch>
        </p:blipFill>
        <p:spPr>
          <a:xfrm>
            <a:off x="8096446" y="2089993"/>
            <a:ext cx="3114675" cy="2305211"/>
          </a:xfrm>
          <a:prstGeom prst="rect">
            <a:avLst/>
          </a:prstGeom>
        </p:spPr>
      </p:pic>
    </p:spTree>
    <p:extLst>
      <p:ext uri="{BB962C8B-B14F-4D97-AF65-F5344CB8AC3E}">
        <p14:creationId xmlns:p14="http://schemas.microsoft.com/office/powerpoint/2010/main" val="285778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375A6799-9D5E-A8C9-C989-03241F44E1B8}"/>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40A2454E-AADA-C6EC-7C27-960B7BAD94B8}"/>
              </a:ext>
            </a:extLst>
          </p:cNvPr>
          <p:cNvSpPr txBox="1"/>
          <p:nvPr/>
        </p:nvSpPr>
        <p:spPr>
          <a:xfrm>
            <a:off x="415612" y="792692"/>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Columna</a:t>
            </a:r>
          </a:p>
        </p:txBody>
      </p:sp>
      <p:sp>
        <p:nvSpPr>
          <p:cNvPr id="2" name="CuadroTexto 1">
            <a:extLst>
              <a:ext uri="{FF2B5EF4-FFF2-40B4-BE49-F238E27FC236}">
                <a16:creationId xmlns:a16="http://schemas.microsoft.com/office/drawing/2014/main" id="{4A720105-BC13-F743-98D6-B410AC0A64D9}"/>
              </a:ext>
            </a:extLst>
          </p:cNvPr>
          <p:cNvSpPr txBox="1"/>
          <p:nvPr/>
        </p:nvSpPr>
        <p:spPr>
          <a:xfrm>
            <a:off x="7983712" y="4693059"/>
            <a:ext cx="3114675" cy="646331"/>
          </a:xfrm>
          <a:prstGeom prst="rect">
            <a:avLst/>
          </a:prstGeom>
          <a:noFill/>
        </p:spPr>
        <p:txBody>
          <a:bodyPr wrap="square" rtlCol="0">
            <a:spAutoFit/>
          </a:bodyPr>
          <a:lstStyle>
            <a:defPPr>
              <a:defRPr lang="es-PE"/>
            </a:defPPr>
            <a:lvl1pPr algn="ctr">
              <a:defRPr b="1"/>
            </a:lvl1pPr>
          </a:lstStyle>
          <a:p>
            <a:r>
              <a:rPr lang="es-PE" dirty="0"/>
              <a:t>Tipos de gráficos de barra y columna</a:t>
            </a:r>
          </a:p>
        </p:txBody>
      </p:sp>
      <p:sp>
        <p:nvSpPr>
          <p:cNvPr id="4" name="Rectángulo 3">
            <a:extLst>
              <a:ext uri="{FF2B5EF4-FFF2-40B4-BE49-F238E27FC236}">
                <a16:creationId xmlns:a16="http://schemas.microsoft.com/office/drawing/2014/main" id="{3C3139F2-5B39-2075-7F3D-12A7161D3448}"/>
              </a:ext>
            </a:extLst>
          </p:cNvPr>
          <p:cNvSpPr/>
          <p:nvPr/>
        </p:nvSpPr>
        <p:spPr>
          <a:xfrm>
            <a:off x="415612" y="1878902"/>
            <a:ext cx="6849484" cy="1432956"/>
          </a:xfrm>
          <a:prstGeom prst="rect">
            <a:avLst/>
          </a:prstGeom>
        </p:spPr>
        <p:txBody>
          <a:bodyPr wrap="square">
            <a:spAutoFit/>
          </a:bodyPr>
          <a:lstStyle/>
          <a:p>
            <a:pPr algn="just">
              <a:lnSpc>
                <a:spcPct val="110000"/>
              </a:lnSpc>
              <a:spcBef>
                <a:spcPts val="1200"/>
              </a:spcBef>
            </a:pPr>
            <a:r>
              <a:rPr lang="es-ES" sz="2000" dirty="0"/>
              <a:t>La visualización de columna es un tipo de gráfico que utiliza barras verticales (o columnas) para representar datos. Este gráfico es útil para comparar valores en diferentes categorías o para mostrar tendencias en un rango de tiempo discreto.</a:t>
            </a:r>
          </a:p>
        </p:txBody>
      </p:sp>
      <p:pic>
        <p:nvPicPr>
          <p:cNvPr id="7" name="Imagen 6">
            <a:extLst>
              <a:ext uri="{FF2B5EF4-FFF2-40B4-BE49-F238E27FC236}">
                <a16:creationId xmlns:a16="http://schemas.microsoft.com/office/drawing/2014/main" id="{6BACF983-9727-734D-C722-15562A077EF5}"/>
              </a:ext>
            </a:extLst>
          </p:cNvPr>
          <p:cNvPicPr>
            <a:picLocks noChangeAspect="1"/>
          </p:cNvPicPr>
          <p:nvPr/>
        </p:nvPicPr>
        <p:blipFill>
          <a:blip r:embed="rId3"/>
          <a:stretch>
            <a:fillRect/>
          </a:stretch>
        </p:blipFill>
        <p:spPr>
          <a:xfrm>
            <a:off x="8096446" y="2089993"/>
            <a:ext cx="3114675" cy="2305211"/>
          </a:xfrm>
          <a:prstGeom prst="rect">
            <a:avLst/>
          </a:prstGeom>
        </p:spPr>
      </p:pic>
    </p:spTree>
    <p:extLst>
      <p:ext uri="{BB962C8B-B14F-4D97-AF65-F5344CB8AC3E}">
        <p14:creationId xmlns:p14="http://schemas.microsoft.com/office/powerpoint/2010/main" val="2778302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8384F7ED-6E17-EF76-0F76-BDFD8AD14046}"/>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466E8A46-94ED-5DA6-20E6-26C6800D0F67}"/>
              </a:ext>
            </a:extLst>
          </p:cNvPr>
          <p:cNvSpPr txBox="1"/>
          <p:nvPr/>
        </p:nvSpPr>
        <p:spPr>
          <a:xfrm>
            <a:off x="269701" y="680045"/>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Tipo de Visualización </a:t>
            </a:r>
            <a:r>
              <a:rPr lang="es-PE" dirty="0"/>
              <a:t>de Columna</a:t>
            </a:r>
          </a:p>
        </p:txBody>
      </p:sp>
      <p:sp>
        <p:nvSpPr>
          <p:cNvPr id="2" name="CuadroTexto 1">
            <a:extLst>
              <a:ext uri="{FF2B5EF4-FFF2-40B4-BE49-F238E27FC236}">
                <a16:creationId xmlns:a16="http://schemas.microsoft.com/office/drawing/2014/main" id="{1ED64B3B-218C-77A3-215B-ABB8E727ECFC}"/>
              </a:ext>
            </a:extLst>
          </p:cNvPr>
          <p:cNvSpPr txBox="1"/>
          <p:nvPr/>
        </p:nvSpPr>
        <p:spPr>
          <a:xfrm>
            <a:off x="7983711" y="5403328"/>
            <a:ext cx="3114675" cy="369332"/>
          </a:xfrm>
          <a:prstGeom prst="rect">
            <a:avLst/>
          </a:prstGeom>
          <a:noFill/>
        </p:spPr>
        <p:txBody>
          <a:bodyPr wrap="square" rtlCol="0">
            <a:spAutoFit/>
          </a:bodyPr>
          <a:lstStyle>
            <a:defPPr>
              <a:defRPr lang="es-PE"/>
            </a:defPPr>
            <a:lvl1pPr algn="ctr">
              <a:defRPr b="1"/>
            </a:lvl1pPr>
          </a:lstStyle>
          <a:p>
            <a:r>
              <a:rPr lang="es-PE" dirty="0"/>
              <a:t>Visualización de Columna</a:t>
            </a:r>
          </a:p>
        </p:txBody>
      </p:sp>
      <p:sp>
        <p:nvSpPr>
          <p:cNvPr id="4" name="Rectángulo 3">
            <a:extLst>
              <a:ext uri="{FF2B5EF4-FFF2-40B4-BE49-F238E27FC236}">
                <a16:creationId xmlns:a16="http://schemas.microsoft.com/office/drawing/2014/main" id="{3B6DFC20-3E14-CD9E-775A-0B02A07EF2CF}"/>
              </a:ext>
            </a:extLst>
          </p:cNvPr>
          <p:cNvSpPr/>
          <p:nvPr/>
        </p:nvSpPr>
        <p:spPr>
          <a:xfrm>
            <a:off x="269701" y="1662048"/>
            <a:ext cx="6436125" cy="4110612"/>
          </a:xfrm>
          <a:prstGeom prst="rect">
            <a:avLst/>
          </a:prstGeom>
        </p:spPr>
        <p:txBody>
          <a:bodyPr wrap="square">
            <a:spAutoFit/>
          </a:bodyPr>
          <a:lstStyle/>
          <a:p>
            <a:pPr algn="just">
              <a:lnSpc>
                <a:spcPct val="110000"/>
              </a:lnSpc>
              <a:spcBef>
                <a:spcPts val="1200"/>
              </a:spcBef>
            </a:pPr>
            <a:r>
              <a:rPr lang="es-ES" sz="2000" dirty="0"/>
              <a:t>Columna agrupada: Cada categoría se representa con una columna y las series se agrupan lado a lado. Ideal para comparar valores de diferentes categorías en un solo eje.</a:t>
            </a:r>
          </a:p>
          <a:p>
            <a:pPr algn="just">
              <a:lnSpc>
                <a:spcPct val="110000"/>
              </a:lnSpc>
              <a:spcBef>
                <a:spcPts val="1200"/>
              </a:spcBef>
            </a:pPr>
            <a:r>
              <a:rPr lang="es-ES" sz="2000" dirty="0"/>
              <a:t>Columna apilada: Las columnas están divididas en segmentos que representan diferentes subcategorías. Útil para mostrar la contribución de cada subcategoría al total.</a:t>
            </a:r>
          </a:p>
          <a:p>
            <a:pPr algn="just">
              <a:lnSpc>
                <a:spcPct val="110000"/>
              </a:lnSpc>
              <a:spcBef>
                <a:spcPts val="1200"/>
              </a:spcBef>
            </a:pPr>
            <a:r>
              <a:rPr lang="es-ES" sz="2000" dirty="0"/>
              <a:t>Columna 100% apilada: Similar a la columna apilada, pero los valores se normalizan al 100%.Ideal para mostrar proporciones o distribuciones relativas.</a:t>
            </a:r>
          </a:p>
        </p:txBody>
      </p:sp>
      <p:pic>
        <p:nvPicPr>
          <p:cNvPr id="2050" name="Picture 2" descr="Captura de pantalla de un gráfico de barras.">
            <a:extLst>
              <a:ext uri="{FF2B5EF4-FFF2-40B4-BE49-F238E27FC236}">
                <a16:creationId xmlns:a16="http://schemas.microsoft.com/office/drawing/2014/main" id="{737E1D4D-0B1E-D4B1-1C02-09F898694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0614" y="1913494"/>
            <a:ext cx="5051685" cy="3031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84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293A5C0-F421-ED6C-23B7-7738B4DB4A4F}"/>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FC5E90ED-129C-C613-2BF8-295E17269226}"/>
              </a:ext>
            </a:extLst>
          </p:cNvPr>
          <p:cNvSpPr txBox="1"/>
          <p:nvPr/>
        </p:nvSpPr>
        <p:spPr>
          <a:xfrm>
            <a:off x="403086" y="653796"/>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Barra</a:t>
            </a:r>
          </a:p>
        </p:txBody>
      </p:sp>
      <p:sp>
        <p:nvSpPr>
          <p:cNvPr id="2" name="CuadroTexto 1">
            <a:extLst>
              <a:ext uri="{FF2B5EF4-FFF2-40B4-BE49-F238E27FC236}">
                <a16:creationId xmlns:a16="http://schemas.microsoft.com/office/drawing/2014/main" id="{50CDD2A2-CBEE-8040-229F-75551B8F0BC9}"/>
              </a:ext>
            </a:extLst>
          </p:cNvPr>
          <p:cNvSpPr txBox="1"/>
          <p:nvPr/>
        </p:nvSpPr>
        <p:spPr>
          <a:xfrm>
            <a:off x="7983712" y="4693059"/>
            <a:ext cx="3114675" cy="646331"/>
          </a:xfrm>
          <a:prstGeom prst="rect">
            <a:avLst/>
          </a:prstGeom>
          <a:noFill/>
        </p:spPr>
        <p:txBody>
          <a:bodyPr wrap="square" rtlCol="0">
            <a:spAutoFit/>
          </a:bodyPr>
          <a:lstStyle>
            <a:defPPr>
              <a:defRPr lang="es-PE"/>
            </a:defPPr>
            <a:lvl1pPr algn="ctr">
              <a:defRPr b="1"/>
            </a:lvl1pPr>
          </a:lstStyle>
          <a:p>
            <a:r>
              <a:rPr lang="es-PE" dirty="0"/>
              <a:t>Tipos de gráficos de barra y columna</a:t>
            </a:r>
          </a:p>
        </p:txBody>
      </p:sp>
      <p:sp>
        <p:nvSpPr>
          <p:cNvPr id="4" name="Rectángulo 3">
            <a:extLst>
              <a:ext uri="{FF2B5EF4-FFF2-40B4-BE49-F238E27FC236}">
                <a16:creationId xmlns:a16="http://schemas.microsoft.com/office/drawing/2014/main" id="{8DEDF2A7-12FF-DA00-7888-F2DEB58E8941}"/>
              </a:ext>
            </a:extLst>
          </p:cNvPr>
          <p:cNvSpPr/>
          <p:nvPr/>
        </p:nvSpPr>
        <p:spPr>
          <a:xfrm>
            <a:off x="403086" y="2089993"/>
            <a:ext cx="6849484" cy="1771511"/>
          </a:xfrm>
          <a:prstGeom prst="rect">
            <a:avLst/>
          </a:prstGeom>
        </p:spPr>
        <p:txBody>
          <a:bodyPr wrap="square">
            <a:spAutoFit/>
          </a:bodyPr>
          <a:lstStyle/>
          <a:p>
            <a:pPr algn="just">
              <a:lnSpc>
                <a:spcPct val="110000"/>
              </a:lnSpc>
              <a:spcBef>
                <a:spcPts val="1200"/>
              </a:spcBef>
            </a:pPr>
            <a:r>
              <a:rPr lang="es-ES" sz="2000" dirty="0"/>
              <a:t>Una visualización de barra es un tipo de gráfico que utiliza barras horizontales para representar datos. Este gráfico es ideal para comparar categorías o subcategorías cuando los nombres de las categorías son largos o cuando hay muchas categorías, ya que el formato horizontal mejora la legibilidad.</a:t>
            </a:r>
          </a:p>
        </p:txBody>
      </p:sp>
      <p:pic>
        <p:nvPicPr>
          <p:cNvPr id="7" name="Imagen 6">
            <a:extLst>
              <a:ext uri="{FF2B5EF4-FFF2-40B4-BE49-F238E27FC236}">
                <a16:creationId xmlns:a16="http://schemas.microsoft.com/office/drawing/2014/main" id="{54C83ED8-E946-0606-184D-49C9FFB74006}"/>
              </a:ext>
            </a:extLst>
          </p:cNvPr>
          <p:cNvPicPr>
            <a:picLocks noChangeAspect="1"/>
          </p:cNvPicPr>
          <p:nvPr/>
        </p:nvPicPr>
        <p:blipFill>
          <a:blip r:embed="rId3"/>
          <a:stretch>
            <a:fillRect/>
          </a:stretch>
        </p:blipFill>
        <p:spPr>
          <a:xfrm>
            <a:off x="8096446" y="2089993"/>
            <a:ext cx="3114675" cy="2305211"/>
          </a:xfrm>
          <a:prstGeom prst="rect">
            <a:avLst/>
          </a:prstGeom>
        </p:spPr>
      </p:pic>
    </p:spTree>
    <p:extLst>
      <p:ext uri="{BB962C8B-B14F-4D97-AF65-F5344CB8AC3E}">
        <p14:creationId xmlns:p14="http://schemas.microsoft.com/office/powerpoint/2010/main" val="335329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2BF1FE30-1334-6A3D-A034-BC22AB27EBA5}"/>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907499CE-4F3B-9004-31BE-E2597FDA163A}"/>
              </a:ext>
            </a:extLst>
          </p:cNvPr>
          <p:cNvSpPr txBox="1"/>
          <p:nvPr/>
        </p:nvSpPr>
        <p:spPr>
          <a:xfrm>
            <a:off x="269701" y="748666"/>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Tipo de Visualización </a:t>
            </a:r>
            <a:r>
              <a:rPr lang="es-PE" dirty="0"/>
              <a:t>de Barra</a:t>
            </a:r>
          </a:p>
        </p:txBody>
      </p:sp>
      <p:sp>
        <p:nvSpPr>
          <p:cNvPr id="2" name="CuadroTexto 1">
            <a:extLst>
              <a:ext uri="{FF2B5EF4-FFF2-40B4-BE49-F238E27FC236}">
                <a16:creationId xmlns:a16="http://schemas.microsoft.com/office/drawing/2014/main" id="{3804F140-D917-147A-3C92-82A9773EAA07}"/>
              </a:ext>
            </a:extLst>
          </p:cNvPr>
          <p:cNvSpPr txBox="1"/>
          <p:nvPr/>
        </p:nvSpPr>
        <p:spPr>
          <a:xfrm>
            <a:off x="7983711" y="5403328"/>
            <a:ext cx="3114675" cy="369332"/>
          </a:xfrm>
          <a:prstGeom prst="rect">
            <a:avLst/>
          </a:prstGeom>
          <a:noFill/>
        </p:spPr>
        <p:txBody>
          <a:bodyPr wrap="square" rtlCol="0">
            <a:spAutoFit/>
          </a:bodyPr>
          <a:lstStyle>
            <a:defPPr>
              <a:defRPr lang="es-PE"/>
            </a:defPPr>
            <a:lvl1pPr algn="ctr">
              <a:defRPr b="1"/>
            </a:lvl1pPr>
          </a:lstStyle>
          <a:p>
            <a:r>
              <a:rPr lang="es-PE" dirty="0"/>
              <a:t>Visualización de Barra</a:t>
            </a:r>
          </a:p>
        </p:txBody>
      </p:sp>
      <p:sp>
        <p:nvSpPr>
          <p:cNvPr id="4" name="Rectángulo 3">
            <a:extLst>
              <a:ext uri="{FF2B5EF4-FFF2-40B4-BE49-F238E27FC236}">
                <a16:creationId xmlns:a16="http://schemas.microsoft.com/office/drawing/2014/main" id="{766E007C-726C-DFF4-36F8-59D80D23E6C8}"/>
              </a:ext>
            </a:extLst>
          </p:cNvPr>
          <p:cNvSpPr/>
          <p:nvPr/>
        </p:nvSpPr>
        <p:spPr>
          <a:xfrm>
            <a:off x="269701" y="1662048"/>
            <a:ext cx="6436125" cy="4110612"/>
          </a:xfrm>
          <a:prstGeom prst="rect">
            <a:avLst/>
          </a:prstGeom>
        </p:spPr>
        <p:txBody>
          <a:bodyPr wrap="square">
            <a:spAutoFit/>
          </a:bodyPr>
          <a:lstStyle/>
          <a:p>
            <a:pPr algn="just">
              <a:lnSpc>
                <a:spcPct val="110000"/>
              </a:lnSpc>
              <a:spcBef>
                <a:spcPts val="1200"/>
              </a:spcBef>
            </a:pPr>
            <a:r>
              <a:rPr lang="es-ES" sz="2000" dirty="0"/>
              <a:t>Barra agrupada: Las barras se representan horizontalmente, y las series se agrupan una junto a la otra dentro de cada categoría. Útil para comparar valores de diferentes categorías en un eje común.</a:t>
            </a:r>
          </a:p>
          <a:p>
            <a:pPr algn="just">
              <a:lnSpc>
                <a:spcPct val="110000"/>
              </a:lnSpc>
              <a:spcBef>
                <a:spcPts val="1200"/>
              </a:spcBef>
            </a:pPr>
            <a:r>
              <a:rPr lang="es-ES" sz="2000" dirty="0"/>
              <a:t>Barra apilada: Las barras están divididas en segmentos que representan subcategorías dentro de cada categoría. Sirve para mostrar la contribución de cada subcategoría al total.</a:t>
            </a:r>
          </a:p>
          <a:p>
            <a:pPr algn="just">
              <a:lnSpc>
                <a:spcPct val="110000"/>
              </a:lnSpc>
              <a:spcBef>
                <a:spcPts val="1200"/>
              </a:spcBef>
            </a:pPr>
            <a:r>
              <a:rPr lang="es-ES" sz="2000" dirty="0"/>
              <a:t>Barra 100% apilada: Similar a la barra apilada, pero los valores se normalizan al 100%.Ideal para comparar proporciones o distribuciones relativas entre categorías.</a:t>
            </a:r>
          </a:p>
        </p:txBody>
      </p:sp>
      <p:pic>
        <p:nvPicPr>
          <p:cNvPr id="3074" name="Picture 2" descr="Captura de pantalla de un gráfico de columnas.">
            <a:extLst>
              <a:ext uri="{FF2B5EF4-FFF2-40B4-BE49-F238E27FC236}">
                <a16:creationId xmlns:a16="http://schemas.microsoft.com/office/drawing/2014/main" id="{E13627B8-FE8F-2249-1758-3C1BDE78A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6569" y="2288604"/>
            <a:ext cx="4762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25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C8C404D1-5CFA-B46C-DA98-DEECD262F9BF}"/>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AC296936-0B68-F5D9-77F1-1D110C81753A}"/>
              </a:ext>
            </a:extLst>
          </p:cNvPr>
          <p:cNvSpPr txBox="1"/>
          <p:nvPr/>
        </p:nvSpPr>
        <p:spPr>
          <a:xfrm>
            <a:off x="389641" y="727592"/>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Circular</a:t>
            </a:r>
          </a:p>
        </p:txBody>
      </p:sp>
      <p:sp>
        <p:nvSpPr>
          <p:cNvPr id="4" name="CuadroTexto 3">
            <a:extLst>
              <a:ext uri="{FF2B5EF4-FFF2-40B4-BE49-F238E27FC236}">
                <a16:creationId xmlns:a16="http://schemas.microsoft.com/office/drawing/2014/main" id="{36724726-E246-9D52-8514-B3180B7F5625}"/>
              </a:ext>
            </a:extLst>
          </p:cNvPr>
          <p:cNvSpPr txBox="1"/>
          <p:nvPr/>
        </p:nvSpPr>
        <p:spPr>
          <a:xfrm>
            <a:off x="7272756" y="5237896"/>
            <a:ext cx="3114675" cy="369332"/>
          </a:xfrm>
          <a:prstGeom prst="rect">
            <a:avLst/>
          </a:prstGeom>
          <a:noFill/>
        </p:spPr>
        <p:txBody>
          <a:bodyPr wrap="square" rtlCol="0">
            <a:spAutoFit/>
          </a:bodyPr>
          <a:lstStyle/>
          <a:p>
            <a:pPr algn="ctr"/>
            <a:r>
              <a:rPr lang="es-PE" b="1" dirty="0"/>
              <a:t>Visualización Circular</a:t>
            </a:r>
          </a:p>
        </p:txBody>
      </p:sp>
      <p:sp>
        <p:nvSpPr>
          <p:cNvPr id="13" name="Rectángulo 12">
            <a:extLst>
              <a:ext uri="{FF2B5EF4-FFF2-40B4-BE49-F238E27FC236}">
                <a16:creationId xmlns:a16="http://schemas.microsoft.com/office/drawing/2014/main" id="{C0D2E9B1-A5DE-2A43-1FD3-7D4828CB4552}"/>
              </a:ext>
            </a:extLst>
          </p:cNvPr>
          <p:cNvSpPr/>
          <p:nvPr/>
        </p:nvSpPr>
        <p:spPr>
          <a:xfrm>
            <a:off x="388201" y="1493980"/>
            <a:ext cx="5035137" cy="755848"/>
          </a:xfrm>
          <a:prstGeom prst="rect">
            <a:avLst/>
          </a:prstGeom>
        </p:spPr>
        <p:txBody>
          <a:bodyPr wrap="square">
            <a:spAutoFit/>
          </a:bodyPr>
          <a:lstStyle/>
          <a:p>
            <a:pPr algn="just">
              <a:lnSpc>
                <a:spcPct val="110000"/>
              </a:lnSpc>
              <a:spcBef>
                <a:spcPts val="1200"/>
              </a:spcBef>
            </a:pPr>
            <a:r>
              <a:rPr lang="es-ES" sz="2000" dirty="0"/>
              <a:t>Los gráficos circulares muestran la relación de las partes con un todo.</a:t>
            </a:r>
          </a:p>
        </p:txBody>
      </p:sp>
      <p:pic>
        <p:nvPicPr>
          <p:cNvPr id="2" name="Picture 2" descr="Captura de pantalla de un gráfico circular.">
            <a:extLst>
              <a:ext uri="{FF2B5EF4-FFF2-40B4-BE49-F238E27FC236}">
                <a16:creationId xmlns:a16="http://schemas.microsoft.com/office/drawing/2014/main" id="{8B358C6C-A002-95B4-DCC3-EAB37ED482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93980"/>
            <a:ext cx="5354956" cy="344289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9229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296AD88C-936E-4B59-D91E-A66FD01E2DC2}"/>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B708B780-EC33-B004-A3F1-2DF387ED2637}"/>
              </a:ext>
            </a:extLst>
          </p:cNvPr>
          <p:cNvSpPr txBox="1"/>
          <p:nvPr/>
        </p:nvSpPr>
        <p:spPr>
          <a:xfrm>
            <a:off x="403966" y="726234"/>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Anillo</a:t>
            </a:r>
          </a:p>
        </p:txBody>
      </p:sp>
      <p:sp>
        <p:nvSpPr>
          <p:cNvPr id="4" name="CuadroTexto 3">
            <a:extLst>
              <a:ext uri="{FF2B5EF4-FFF2-40B4-BE49-F238E27FC236}">
                <a16:creationId xmlns:a16="http://schemas.microsoft.com/office/drawing/2014/main" id="{330445E0-1E21-A785-4748-E3FA95516FCE}"/>
              </a:ext>
            </a:extLst>
          </p:cNvPr>
          <p:cNvSpPr txBox="1"/>
          <p:nvPr/>
        </p:nvSpPr>
        <p:spPr>
          <a:xfrm>
            <a:off x="7511284" y="5239254"/>
            <a:ext cx="3114675" cy="369332"/>
          </a:xfrm>
          <a:prstGeom prst="rect">
            <a:avLst/>
          </a:prstGeom>
          <a:noFill/>
        </p:spPr>
        <p:txBody>
          <a:bodyPr wrap="square" rtlCol="0">
            <a:spAutoFit/>
          </a:bodyPr>
          <a:lstStyle/>
          <a:p>
            <a:pPr algn="ctr"/>
            <a:r>
              <a:rPr lang="es-PE" b="1" dirty="0"/>
              <a:t>Visualización de Anillo</a:t>
            </a:r>
          </a:p>
        </p:txBody>
      </p:sp>
      <p:sp>
        <p:nvSpPr>
          <p:cNvPr id="13" name="Rectángulo 12">
            <a:extLst>
              <a:ext uri="{FF2B5EF4-FFF2-40B4-BE49-F238E27FC236}">
                <a16:creationId xmlns:a16="http://schemas.microsoft.com/office/drawing/2014/main" id="{4B8DDF6D-BCBB-55A2-1EB4-CB19927520D7}"/>
              </a:ext>
            </a:extLst>
          </p:cNvPr>
          <p:cNvSpPr/>
          <p:nvPr/>
        </p:nvSpPr>
        <p:spPr>
          <a:xfrm>
            <a:off x="403966" y="1657489"/>
            <a:ext cx="5492337" cy="1771511"/>
          </a:xfrm>
          <a:prstGeom prst="rect">
            <a:avLst/>
          </a:prstGeom>
        </p:spPr>
        <p:txBody>
          <a:bodyPr wrap="square">
            <a:spAutoFit/>
          </a:bodyPr>
          <a:lstStyle/>
          <a:p>
            <a:pPr algn="just">
              <a:lnSpc>
                <a:spcPct val="110000"/>
              </a:lnSpc>
              <a:spcBef>
                <a:spcPts val="1200"/>
              </a:spcBef>
            </a:pPr>
            <a:r>
              <a:rPr lang="es-ES" sz="2000" dirty="0"/>
              <a:t>Los gráficos de anillos son similares a los gráficos circulares. Muestran la relación de las partes con el todo. La única diferencia es que el centro está en blanco y deja espacio para un icono o una etiqueta.</a:t>
            </a:r>
          </a:p>
        </p:txBody>
      </p:sp>
      <p:pic>
        <p:nvPicPr>
          <p:cNvPr id="2050" name="Picture 2" descr="Captura de pantalla de un gráfico de anillos.">
            <a:extLst>
              <a:ext uri="{FF2B5EF4-FFF2-40B4-BE49-F238E27FC236}">
                <a16:creationId xmlns:a16="http://schemas.microsoft.com/office/drawing/2014/main" id="{35B7DCB7-9240-1452-AEBD-F509C727B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5699" y="1657489"/>
            <a:ext cx="5304208" cy="3182525"/>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931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F6B521CE-A608-5FD1-E4A3-4A7030E4B926}"/>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3326787F-4128-0E64-EBDF-6A659294932F}"/>
              </a:ext>
            </a:extLst>
          </p:cNvPr>
          <p:cNvSpPr txBox="1"/>
          <p:nvPr/>
        </p:nvSpPr>
        <p:spPr>
          <a:xfrm>
            <a:off x="298540" y="678016"/>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TreeMap o rectángulo</a:t>
            </a:r>
          </a:p>
        </p:txBody>
      </p:sp>
      <p:sp>
        <p:nvSpPr>
          <p:cNvPr id="4" name="CuadroTexto 3">
            <a:extLst>
              <a:ext uri="{FF2B5EF4-FFF2-40B4-BE49-F238E27FC236}">
                <a16:creationId xmlns:a16="http://schemas.microsoft.com/office/drawing/2014/main" id="{A9ECCBA0-051C-5640-A292-60FCFC40F5E1}"/>
              </a:ext>
            </a:extLst>
          </p:cNvPr>
          <p:cNvSpPr txBox="1"/>
          <p:nvPr/>
        </p:nvSpPr>
        <p:spPr>
          <a:xfrm>
            <a:off x="7952719" y="4892131"/>
            <a:ext cx="3114675" cy="369332"/>
          </a:xfrm>
          <a:prstGeom prst="rect">
            <a:avLst/>
          </a:prstGeom>
          <a:noFill/>
        </p:spPr>
        <p:txBody>
          <a:bodyPr wrap="square" rtlCol="0">
            <a:spAutoFit/>
          </a:bodyPr>
          <a:lstStyle/>
          <a:p>
            <a:pPr algn="ctr"/>
            <a:r>
              <a:rPr lang="es-PE" b="1" dirty="0"/>
              <a:t>Visualización de Rectángulo</a:t>
            </a:r>
          </a:p>
        </p:txBody>
      </p:sp>
      <p:sp>
        <p:nvSpPr>
          <p:cNvPr id="13" name="Rectángulo 12">
            <a:extLst>
              <a:ext uri="{FF2B5EF4-FFF2-40B4-BE49-F238E27FC236}">
                <a16:creationId xmlns:a16="http://schemas.microsoft.com/office/drawing/2014/main" id="{CF3DB3C0-4450-1675-A7E4-815665AC0359}"/>
              </a:ext>
            </a:extLst>
          </p:cNvPr>
          <p:cNvSpPr/>
          <p:nvPr/>
        </p:nvSpPr>
        <p:spPr>
          <a:xfrm>
            <a:off x="298540" y="1594427"/>
            <a:ext cx="6107193" cy="2787173"/>
          </a:xfrm>
          <a:prstGeom prst="rect">
            <a:avLst/>
          </a:prstGeom>
        </p:spPr>
        <p:txBody>
          <a:bodyPr wrap="square">
            <a:spAutoFit/>
          </a:bodyPr>
          <a:lstStyle/>
          <a:p>
            <a:pPr algn="just">
              <a:lnSpc>
                <a:spcPct val="110000"/>
              </a:lnSpc>
              <a:spcBef>
                <a:spcPts val="1200"/>
              </a:spcBef>
            </a:pPr>
            <a:r>
              <a:rPr lang="es-ES" sz="2000" dirty="0"/>
              <a:t>Los gráficos de rectángulos son gráficos de rectángulos coloreados, cuyo tamaño representa el valor. Puede ser jerárquicos, con rectángulos anidados dentro de los rectángulos principales. El espacio dentro de cada rectángulo se asigna en función del valor que se va a medir. Y los rectángulos se organizan por tamaño desde la esquina superior izquierda (mayor) a la inferior derecha (menor).</a:t>
            </a:r>
          </a:p>
        </p:txBody>
      </p:sp>
      <p:pic>
        <p:nvPicPr>
          <p:cNvPr id="3074" name="Picture 2" descr="Captura de pantalla de un gráfico de rectángulos.">
            <a:extLst>
              <a:ext uri="{FF2B5EF4-FFF2-40B4-BE49-F238E27FC236}">
                <a16:creationId xmlns:a16="http://schemas.microsoft.com/office/drawing/2014/main" id="{25224EB1-F9A6-5E0F-6B86-0A01A7A497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090" y="1594427"/>
            <a:ext cx="5057370" cy="303442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193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D3445CE5-7023-474F-CD63-68307568E614}"/>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0E957C8A-271D-276D-A3B3-071C8691467B}"/>
              </a:ext>
            </a:extLst>
          </p:cNvPr>
          <p:cNvSpPr txBox="1"/>
          <p:nvPr/>
        </p:nvSpPr>
        <p:spPr>
          <a:xfrm>
            <a:off x="330071" y="676945"/>
            <a:ext cx="8355724"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TreeMap o Rectángulo</a:t>
            </a:r>
          </a:p>
        </p:txBody>
      </p:sp>
      <p:sp>
        <p:nvSpPr>
          <p:cNvPr id="13" name="Rectángulo 12">
            <a:extLst>
              <a:ext uri="{FF2B5EF4-FFF2-40B4-BE49-F238E27FC236}">
                <a16:creationId xmlns:a16="http://schemas.microsoft.com/office/drawing/2014/main" id="{FC1A5BF3-366D-CC09-014A-676040DFC005}"/>
              </a:ext>
            </a:extLst>
          </p:cNvPr>
          <p:cNvSpPr/>
          <p:nvPr/>
        </p:nvSpPr>
        <p:spPr>
          <a:xfrm>
            <a:off x="330071" y="1625958"/>
            <a:ext cx="11084163" cy="3864391"/>
          </a:xfrm>
          <a:prstGeom prst="rect">
            <a:avLst/>
          </a:prstGeom>
        </p:spPr>
        <p:txBody>
          <a:bodyPr wrap="square">
            <a:spAutoFit/>
          </a:bodyPr>
          <a:lstStyle/>
          <a:p>
            <a:pPr algn="just">
              <a:lnSpc>
                <a:spcPct val="110000"/>
              </a:lnSpc>
              <a:spcBef>
                <a:spcPts val="1200"/>
              </a:spcBef>
            </a:pPr>
            <a:r>
              <a:rPr lang="es-ES" sz="2000" dirty="0"/>
              <a:t>Los gráficos de rectángulos son una excelente opción:</a:t>
            </a:r>
          </a:p>
          <a:p>
            <a:pPr algn="just">
              <a:lnSpc>
                <a:spcPct val="110000"/>
              </a:lnSpc>
              <a:spcBef>
                <a:spcPts val="1200"/>
              </a:spcBef>
            </a:pPr>
            <a:endParaRPr lang="es-ES" sz="2000" dirty="0"/>
          </a:p>
          <a:p>
            <a:pPr marL="342900" indent="-342900" algn="just">
              <a:lnSpc>
                <a:spcPct val="110000"/>
              </a:lnSpc>
              <a:spcBef>
                <a:spcPts val="1200"/>
              </a:spcBef>
              <a:buFont typeface="Arial" panose="020B0604020202020204" pitchFamily="34" charset="0"/>
              <a:buChar char="•"/>
            </a:pPr>
            <a:r>
              <a:rPr lang="es-ES" sz="2000" dirty="0"/>
              <a:t>Para mostrar grandes cantidades de datos jerárquicos.</a:t>
            </a:r>
          </a:p>
          <a:p>
            <a:pPr marL="342900" indent="-342900" algn="just">
              <a:lnSpc>
                <a:spcPct val="110000"/>
              </a:lnSpc>
              <a:spcBef>
                <a:spcPts val="1200"/>
              </a:spcBef>
              <a:buFont typeface="Arial" panose="020B0604020202020204" pitchFamily="34" charset="0"/>
              <a:buChar char="•"/>
            </a:pPr>
            <a:r>
              <a:rPr lang="es-ES" sz="2000" dirty="0"/>
              <a:t>Cuando un gráfico de barras no puede administrar eficazmente un gran número de valores.</a:t>
            </a:r>
          </a:p>
          <a:p>
            <a:pPr marL="342900" indent="-342900" algn="just">
              <a:lnSpc>
                <a:spcPct val="110000"/>
              </a:lnSpc>
              <a:spcBef>
                <a:spcPts val="1200"/>
              </a:spcBef>
              <a:buFont typeface="Arial" panose="020B0604020202020204" pitchFamily="34" charset="0"/>
              <a:buChar char="•"/>
            </a:pPr>
            <a:r>
              <a:rPr lang="es-ES" sz="2000" dirty="0"/>
              <a:t>Para mostrar las proporciones entre cada parte y el todo.</a:t>
            </a:r>
          </a:p>
          <a:p>
            <a:pPr marL="342900" indent="-342900" algn="just">
              <a:lnSpc>
                <a:spcPct val="110000"/>
              </a:lnSpc>
              <a:spcBef>
                <a:spcPts val="1200"/>
              </a:spcBef>
              <a:buFont typeface="Arial" panose="020B0604020202020204" pitchFamily="34" charset="0"/>
              <a:buChar char="•"/>
            </a:pPr>
            <a:r>
              <a:rPr lang="es-ES" sz="2000" dirty="0"/>
              <a:t>Para mostrar el patrón de la distribución de la medida en cada nivel de categorías de la jerarquía.</a:t>
            </a:r>
          </a:p>
          <a:p>
            <a:pPr marL="342900" indent="-342900" algn="just">
              <a:lnSpc>
                <a:spcPct val="110000"/>
              </a:lnSpc>
              <a:spcBef>
                <a:spcPts val="1200"/>
              </a:spcBef>
              <a:buFont typeface="Arial" panose="020B0604020202020204" pitchFamily="34" charset="0"/>
              <a:buChar char="•"/>
            </a:pPr>
            <a:r>
              <a:rPr lang="es-ES" sz="2000" dirty="0"/>
              <a:t>Para mostrar los atributos mediante códigos de color y tamaño.</a:t>
            </a:r>
          </a:p>
          <a:p>
            <a:pPr marL="342900" indent="-342900" algn="just">
              <a:lnSpc>
                <a:spcPct val="110000"/>
              </a:lnSpc>
              <a:spcBef>
                <a:spcPts val="1200"/>
              </a:spcBef>
              <a:buFont typeface="Arial" panose="020B0604020202020204" pitchFamily="34" charset="0"/>
              <a:buChar char="•"/>
            </a:pPr>
            <a:r>
              <a:rPr lang="es-ES" sz="2000" dirty="0"/>
              <a:t>Para detectar patrones, valores atípicos, colaboradores más importantes y excepciones.</a:t>
            </a:r>
          </a:p>
        </p:txBody>
      </p:sp>
    </p:spTree>
    <p:extLst>
      <p:ext uri="{BB962C8B-B14F-4D97-AF65-F5344CB8AC3E}">
        <p14:creationId xmlns:p14="http://schemas.microsoft.com/office/powerpoint/2010/main" val="580724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A87B79A7-00D8-6E90-24A0-D3B9F88118F1}"/>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F54404AC-2CB1-B5ED-B08B-F4B33A694FDF}"/>
              </a:ext>
            </a:extLst>
          </p:cNvPr>
          <p:cNvSpPr txBox="1"/>
          <p:nvPr/>
        </p:nvSpPr>
        <p:spPr>
          <a:xfrm>
            <a:off x="156651" y="711669"/>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Mapa</a:t>
            </a:r>
          </a:p>
        </p:txBody>
      </p:sp>
      <p:sp>
        <p:nvSpPr>
          <p:cNvPr id="4" name="CuadroTexto 3">
            <a:extLst>
              <a:ext uri="{FF2B5EF4-FFF2-40B4-BE49-F238E27FC236}">
                <a16:creationId xmlns:a16="http://schemas.microsoft.com/office/drawing/2014/main" id="{B14F655F-4A85-0AE7-C80C-347CF88C0D16}"/>
              </a:ext>
            </a:extLst>
          </p:cNvPr>
          <p:cNvSpPr txBox="1"/>
          <p:nvPr/>
        </p:nvSpPr>
        <p:spPr>
          <a:xfrm>
            <a:off x="7779300" y="5379790"/>
            <a:ext cx="3114675" cy="369332"/>
          </a:xfrm>
          <a:prstGeom prst="rect">
            <a:avLst/>
          </a:prstGeom>
          <a:noFill/>
        </p:spPr>
        <p:txBody>
          <a:bodyPr wrap="square" rtlCol="0">
            <a:spAutoFit/>
          </a:bodyPr>
          <a:lstStyle/>
          <a:p>
            <a:pPr algn="ctr"/>
            <a:r>
              <a:rPr lang="es-PE" b="1" dirty="0"/>
              <a:t>Visualización de Mapa</a:t>
            </a:r>
          </a:p>
        </p:txBody>
      </p:sp>
      <p:sp>
        <p:nvSpPr>
          <p:cNvPr id="13" name="Rectángulo 12">
            <a:extLst>
              <a:ext uri="{FF2B5EF4-FFF2-40B4-BE49-F238E27FC236}">
                <a16:creationId xmlns:a16="http://schemas.microsoft.com/office/drawing/2014/main" id="{1AD65B52-D5EA-B24A-3C39-E18ED851AEF3}"/>
              </a:ext>
            </a:extLst>
          </p:cNvPr>
          <p:cNvSpPr/>
          <p:nvPr/>
        </p:nvSpPr>
        <p:spPr>
          <a:xfrm>
            <a:off x="156651" y="1785722"/>
            <a:ext cx="6107193" cy="1094402"/>
          </a:xfrm>
          <a:prstGeom prst="rect">
            <a:avLst/>
          </a:prstGeom>
        </p:spPr>
        <p:txBody>
          <a:bodyPr wrap="square">
            <a:spAutoFit/>
          </a:bodyPr>
          <a:lstStyle/>
          <a:p>
            <a:pPr algn="just">
              <a:lnSpc>
                <a:spcPct val="110000"/>
              </a:lnSpc>
              <a:spcBef>
                <a:spcPts val="1200"/>
              </a:spcBef>
            </a:pPr>
            <a:r>
              <a:rPr lang="es-ES" sz="2000" dirty="0"/>
              <a:t>Un mapa básico se usa para asociar información cuantitativa y de categorías con ubicaciones espaciales.</a:t>
            </a:r>
          </a:p>
        </p:txBody>
      </p:sp>
      <p:pic>
        <p:nvPicPr>
          <p:cNvPr id="4098" name="Picture 2" descr="Captura de pantalla de un mapa básico.">
            <a:extLst>
              <a:ext uri="{FF2B5EF4-FFF2-40B4-BE49-F238E27FC236}">
                <a16:creationId xmlns:a16="http://schemas.microsoft.com/office/drawing/2014/main" id="{8ACB378F-D3E0-617B-F0FA-7249C4AF0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1167" y="1815144"/>
            <a:ext cx="5342293" cy="337900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508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BB571DCC-A1DD-5499-D221-AE34543489A0}"/>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A2142A85-DA79-6506-DC2E-39F0E16913A7}"/>
              </a:ext>
            </a:extLst>
          </p:cNvPr>
          <p:cNvSpPr txBox="1"/>
          <p:nvPr/>
        </p:nvSpPr>
        <p:spPr>
          <a:xfrm>
            <a:off x="298540" y="768461"/>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Mapa Coroplético</a:t>
            </a:r>
          </a:p>
        </p:txBody>
      </p:sp>
      <p:sp>
        <p:nvSpPr>
          <p:cNvPr id="4" name="CuadroTexto 3">
            <a:extLst>
              <a:ext uri="{FF2B5EF4-FFF2-40B4-BE49-F238E27FC236}">
                <a16:creationId xmlns:a16="http://schemas.microsoft.com/office/drawing/2014/main" id="{132343B3-9525-197F-46A0-F7DF34A590BD}"/>
              </a:ext>
            </a:extLst>
          </p:cNvPr>
          <p:cNvSpPr txBox="1"/>
          <p:nvPr/>
        </p:nvSpPr>
        <p:spPr>
          <a:xfrm>
            <a:off x="7294188" y="5458617"/>
            <a:ext cx="4004444" cy="369332"/>
          </a:xfrm>
          <a:prstGeom prst="rect">
            <a:avLst/>
          </a:prstGeom>
          <a:noFill/>
        </p:spPr>
        <p:txBody>
          <a:bodyPr wrap="square" rtlCol="0">
            <a:spAutoFit/>
          </a:bodyPr>
          <a:lstStyle/>
          <a:p>
            <a:pPr algn="ctr"/>
            <a:r>
              <a:rPr lang="es-PE" b="1" dirty="0"/>
              <a:t>Visualización de Mapa Coroplético</a:t>
            </a:r>
          </a:p>
        </p:txBody>
      </p:sp>
      <p:sp>
        <p:nvSpPr>
          <p:cNvPr id="13" name="Rectángulo 12">
            <a:extLst>
              <a:ext uri="{FF2B5EF4-FFF2-40B4-BE49-F238E27FC236}">
                <a16:creationId xmlns:a16="http://schemas.microsoft.com/office/drawing/2014/main" id="{5CAD3E57-7ACC-E5CE-8C93-E433BAF689C4}"/>
              </a:ext>
            </a:extLst>
          </p:cNvPr>
          <p:cNvSpPr/>
          <p:nvPr/>
        </p:nvSpPr>
        <p:spPr>
          <a:xfrm>
            <a:off x="298540" y="1821001"/>
            <a:ext cx="6107193" cy="2448619"/>
          </a:xfrm>
          <a:prstGeom prst="rect">
            <a:avLst/>
          </a:prstGeom>
        </p:spPr>
        <p:txBody>
          <a:bodyPr wrap="square">
            <a:spAutoFit/>
          </a:bodyPr>
          <a:lstStyle/>
          <a:p>
            <a:pPr algn="just">
              <a:lnSpc>
                <a:spcPct val="110000"/>
              </a:lnSpc>
              <a:spcBef>
                <a:spcPts val="1200"/>
              </a:spcBef>
            </a:pPr>
            <a:r>
              <a:rPr lang="es-ES" sz="2000" dirty="0"/>
              <a:t>Los mapas coropléticos usan sombreado, tintes o patrones para mostrar las diferencias de un valor en proporción en una ubicación geográfica o región. Muestre rápidamente estas diferencias relativas con sombreados que va del claro (valores menos frecuentes o inferiores) a oscuro (más frecuentes o superiores).</a:t>
            </a:r>
          </a:p>
        </p:txBody>
      </p:sp>
      <p:pic>
        <p:nvPicPr>
          <p:cNvPr id="5122" name="Picture 2" descr="Captura de pantalla de un mapa coroplético.">
            <a:extLst>
              <a:ext uri="{FF2B5EF4-FFF2-40B4-BE49-F238E27FC236}">
                <a16:creationId xmlns:a16="http://schemas.microsoft.com/office/drawing/2014/main" id="{334590BF-20B4-3EF8-D7BF-B226763FA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61" y="1821001"/>
            <a:ext cx="5194097" cy="342367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0297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F6D737FB-9F35-7718-8958-006BE7B193DA}"/>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DAF9D9CC-BF24-BE2F-0A25-1485D6CED34A}"/>
              </a:ext>
            </a:extLst>
          </p:cNvPr>
          <p:cNvSpPr txBox="1"/>
          <p:nvPr/>
        </p:nvSpPr>
        <p:spPr>
          <a:xfrm>
            <a:off x="298540" y="716858"/>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Mapa de formas</a:t>
            </a:r>
          </a:p>
        </p:txBody>
      </p:sp>
      <p:sp>
        <p:nvSpPr>
          <p:cNvPr id="4" name="CuadroTexto 3">
            <a:extLst>
              <a:ext uri="{FF2B5EF4-FFF2-40B4-BE49-F238E27FC236}">
                <a16:creationId xmlns:a16="http://schemas.microsoft.com/office/drawing/2014/main" id="{5DB45DFB-D6C6-314B-6C98-06291F99B1CD}"/>
              </a:ext>
            </a:extLst>
          </p:cNvPr>
          <p:cNvSpPr txBox="1"/>
          <p:nvPr/>
        </p:nvSpPr>
        <p:spPr>
          <a:xfrm>
            <a:off x="7325719" y="5332493"/>
            <a:ext cx="4004444" cy="369332"/>
          </a:xfrm>
          <a:prstGeom prst="rect">
            <a:avLst/>
          </a:prstGeom>
          <a:noFill/>
        </p:spPr>
        <p:txBody>
          <a:bodyPr wrap="square" rtlCol="0">
            <a:spAutoFit/>
          </a:bodyPr>
          <a:lstStyle/>
          <a:p>
            <a:pPr algn="ctr"/>
            <a:r>
              <a:rPr lang="es-PE" b="1" dirty="0"/>
              <a:t>Visualización de Mapa de formas</a:t>
            </a:r>
          </a:p>
        </p:txBody>
      </p:sp>
      <p:sp>
        <p:nvSpPr>
          <p:cNvPr id="13" name="Rectángulo 12">
            <a:extLst>
              <a:ext uri="{FF2B5EF4-FFF2-40B4-BE49-F238E27FC236}">
                <a16:creationId xmlns:a16="http://schemas.microsoft.com/office/drawing/2014/main" id="{A2983034-85D5-38A4-1781-32813B8DA7D5}"/>
              </a:ext>
            </a:extLst>
          </p:cNvPr>
          <p:cNvSpPr/>
          <p:nvPr/>
        </p:nvSpPr>
        <p:spPr>
          <a:xfrm>
            <a:off x="298540" y="1821001"/>
            <a:ext cx="6107193" cy="2448619"/>
          </a:xfrm>
          <a:prstGeom prst="rect">
            <a:avLst/>
          </a:prstGeom>
        </p:spPr>
        <p:txBody>
          <a:bodyPr wrap="square">
            <a:spAutoFit/>
          </a:bodyPr>
          <a:lstStyle/>
          <a:p>
            <a:pPr algn="just">
              <a:lnSpc>
                <a:spcPct val="110000"/>
              </a:lnSpc>
              <a:spcBef>
                <a:spcPts val="1200"/>
              </a:spcBef>
            </a:pPr>
            <a:r>
              <a:rPr lang="es-ES" sz="2000" dirty="0"/>
              <a:t>Los mapas de formas comparan las regiones de un mapa mediante colores. Un mapa de formas no puede mostrar las ubicaciones geográficas precisas de los puntos de datos en un mapa. En su lugar, su propósito principal es mostrar comparaciones relativas de las regiones de un mapa mediante colores diferentes.</a:t>
            </a:r>
          </a:p>
        </p:txBody>
      </p:sp>
      <p:pic>
        <p:nvPicPr>
          <p:cNvPr id="6146" name="Picture 2" descr="Captura de pantalla de un mapa de formas de Texas.">
            <a:extLst>
              <a:ext uri="{FF2B5EF4-FFF2-40B4-BE49-F238E27FC236}">
                <a16:creationId xmlns:a16="http://schemas.microsoft.com/office/drawing/2014/main" id="{09388762-B8BB-BA07-2E8E-963ECAD9D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5300" y="1776472"/>
            <a:ext cx="5358160" cy="339394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835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C8C404D1-5CFA-B46C-DA98-DEECD262F9BF}"/>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AC296936-0B68-F5D9-77F1-1D110C81753A}"/>
              </a:ext>
            </a:extLst>
          </p:cNvPr>
          <p:cNvSpPr txBox="1"/>
          <p:nvPr/>
        </p:nvSpPr>
        <p:spPr>
          <a:xfrm>
            <a:off x="401215" y="598722"/>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Lineal</a:t>
            </a:r>
          </a:p>
        </p:txBody>
      </p:sp>
      <p:sp>
        <p:nvSpPr>
          <p:cNvPr id="4" name="CuadroTexto 3">
            <a:extLst>
              <a:ext uri="{FF2B5EF4-FFF2-40B4-BE49-F238E27FC236}">
                <a16:creationId xmlns:a16="http://schemas.microsoft.com/office/drawing/2014/main" id="{36724726-E246-9D52-8514-B3180B7F5625}"/>
              </a:ext>
            </a:extLst>
          </p:cNvPr>
          <p:cNvSpPr txBox="1"/>
          <p:nvPr/>
        </p:nvSpPr>
        <p:spPr>
          <a:xfrm>
            <a:off x="7284330" y="4966596"/>
            <a:ext cx="3114675" cy="369332"/>
          </a:xfrm>
          <a:prstGeom prst="rect">
            <a:avLst/>
          </a:prstGeom>
          <a:noFill/>
        </p:spPr>
        <p:txBody>
          <a:bodyPr wrap="square" rtlCol="0">
            <a:spAutoFit/>
          </a:bodyPr>
          <a:lstStyle/>
          <a:p>
            <a:pPr algn="ctr"/>
            <a:r>
              <a:rPr lang="es-PE" b="1" dirty="0"/>
              <a:t>Visualización Lineal</a:t>
            </a:r>
          </a:p>
        </p:txBody>
      </p:sp>
      <p:sp>
        <p:nvSpPr>
          <p:cNvPr id="13" name="Rectángulo 12">
            <a:extLst>
              <a:ext uri="{FF2B5EF4-FFF2-40B4-BE49-F238E27FC236}">
                <a16:creationId xmlns:a16="http://schemas.microsoft.com/office/drawing/2014/main" id="{C0D2E9B1-A5DE-2A43-1FD3-7D4828CB4552}"/>
              </a:ext>
            </a:extLst>
          </p:cNvPr>
          <p:cNvSpPr/>
          <p:nvPr/>
        </p:nvSpPr>
        <p:spPr>
          <a:xfrm>
            <a:off x="388201" y="1493980"/>
            <a:ext cx="5035137" cy="1094402"/>
          </a:xfrm>
          <a:prstGeom prst="rect">
            <a:avLst/>
          </a:prstGeom>
        </p:spPr>
        <p:txBody>
          <a:bodyPr wrap="square">
            <a:spAutoFit/>
          </a:bodyPr>
          <a:lstStyle/>
          <a:p>
            <a:pPr algn="just">
              <a:lnSpc>
                <a:spcPct val="110000"/>
              </a:lnSpc>
              <a:spcBef>
                <a:spcPts val="1200"/>
              </a:spcBef>
            </a:pPr>
            <a:r>
              <a:rPr lang="es-ES" sz="2000" dirty="0"/>
              <a:t>Destacan la estructura global de una serie de valores, generalmente a lo largo de un período de tiempo.</a:t>
            </a:r>
          </a:p>
        </p:txBody>
      </p:sp>
      <p:pic>
        <p:nvPicPr>
          <p:cNvPr id="5" name="Picture 4" descr="Gráficos de líneas en Power BI - Power BI | Microsoft Docs">
            <a:extLst>
              <a:ext uri="{FF2B5EF4-FFF2-40B4-BE49-F238E27FC236}">
                <a16:creationId xmlns:a16="http://schemas.microsoft.com/office/drawing/2014/main" id="{17779FC1-FFD5-E3B9-59F8-CEB3F8163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0703" y="1585732"/>
            <a:ext cx="6133096" cy="315988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993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875F2D28-6601-28D5-4AC3-F5FA08E2420A}"/>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1DD30E62-5C0B-3D5B-68FE-2F581F425D0C}"/>
              </a:ext>
            </a:extLst>
          </p:cNvPr>
          <p:cNvSpPr txBox="1"/>
          <p:nvPr/>
        </p:nvSpPr>
        <p:spPr>
          <a:xfrm>
            <a:off x="480798" y="688350"/>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Área</a:t>
            </a:r>
          </a:p>
        </p:txBody>
      </p:sp>
      <p:sp>
        <p:nvSpPr>
          <p:cNvPr id="4" name="CuadroTexto 3">
            <a:extLst>
              <a:ext uri="{FF2B5EF4-FFF2-40B4-BE49-F238E27FC236}">
                <a16:creationId xmlns:a16="http://schemas.microsoft.com/office/drawing/2014/main" id="{334897BA-21E1-40F6-5808-1AB81CDACFC4}"/>
              </a:ext>
            </a:extLst>
          </p:cNvPr>
          <p:cNvSpPr txBox="1"/>
          <p:nvPr/>
        </p:nvSpPr>
        <p:spPr>
          <a:xfrm>
            <a:off x="7261180" y="5220954"/>
            <a:ext cx="3114675" cy="369332"/>
          </a:xfrm>
          <a:prstGeom prst="rect">
            <a:avLst/>
          </a:prstGeom>
          <a:noFill/>
        </p:spPr>
        <p:txBody>
          <a:bodyPr wrap="square" rtlCol="0">
            <a:spAutoFit/>
          </a:bodyPr>
          <a:lstStyle/>
          <a:p>
            <a:pPr algn="ctr"/>
            <a:r>
              <a:rPr lang="es-PE" b="1" dirty="0"/>
              <a:t>Visualización de Área</a:t>
            </a:r>
          </a:p>
        </p:txBody>
      </p:sp>
      <p:sp>
        <p:nvSpPr>
          <p:cNvPr id="13" name="Rectángulo 12">
            <a:extLst>
              <a:ext uri="{FF2B5EF4-FFF2-40B4-BE49-F238E27FC236}">
                <a16:creationId xmlns:a16="http://schemas.microsoft.com/office/drawing/2014/main" id="{48ECC813-9E2D-987E-5DAE-BBD60316298F}"/>
              </a:ext>
            </a:extLst>
          </p:cNvPr>
          <p:cNvSpPr/>
          <p:nvPr/>
        </p:nvSpPr>
        <p:spPr>
          <a:xfrm>
            <a:off x="480798" y="1483251"/>
            <a:ext cx="5035137" cy="4141390"/>
          </a:xfrm>
          <a:prstGeom prst="rect">
            <a:avLst/>
          </a:prstGeom>
        </p:spPr>
        <p:txBody>
          <a:bodyPr wrap="square">
            <a:spAutoFit/>
          </a:bodyPr>
          <a:lstStyle/>
          <a:p>
            <a:pPr algn="just">
              <a:lnSpc>
                <a:spcPct val="110000"/>
              </a:lnSpc>
              <a:spcBef>
                <a:spcPts val="1200"/>
              </a:spcBef>
            </a:pPr>
            <a:r>
              <a:rPr lang="es-ES" sz="2000" dirty="0"/>
              <a:t>El gráfico de área fundamental, a veces denominado gráfico de área apilada se deriva del gráfico de líneas. En este tipo de gráfico, el espacio entre el eje y la línea se colorea para representar el volumen. Los gráficos de área resaltan la amplitud de cambios a lo largo del tiempo y resultan útiles para resaltar el valor total en una tendencia. Por ejemplo, se pueden representar datos de ganancias a lo largo del tiempo en un gráfico de área para enfatizar la ganancia total.</a:t>
            </a:r>
          </a:p>
        </p:txBody>
      </p:sp>
      <p:pic>
        <p:nvPicPr>
          <p:cNvPr id="2" name="Picture 2" descr="Gráfico de área básico">
            <a:extLst>
              <a:ext uri="{FF2B5EF4-FFF2-40B4-BE49-F238E27FC236}">
                <a16:creationId xmlns:a16="http://schemas.microsoft.com/office/drawing/2014/main" id="{EF800B85-20A9-E74D-8017-7445167F38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5733" y="1493980"/>
            <a:ext cx="5147777" cy="344452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230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BF3D8093-5754-EE6B-9170-786F4EC44A15}"/>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0FCF22FF-E6BD-3D9E-BA65-487D1C088B49}"/>
              </a:ext>
            </a:extLst>
          </p:cNvPr>
          <p:cNvSpPr txBox="1"/>
          <p:nvPr/>
        </p:nvSpPr>
        <p:spPr>
          <a:xfrm>
            <a:off x="480798" y="566711"/>
            <a:ext cx="8868316"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Burbujas o Dispersión</a:t>
            </a:r>
          </a:p>
        </p:txBody>
      </p:sp>
      <p:sp>
        <p:nvSpPr>
          <p:cNvPr id="4" name="CuadroTexto 3">
            <a:extLst>
              <a:ext uri="{FF2B5EF4-FFF2-40B4-BE49-F238E27FC236}">
                <a16:creationId xmlns:a16="http://schemas.microsoft.com/office/drawing/2014/main" id="{7C9F8635-CDE1-7B1B-B892-D68CC9985267}"/>
              </a:ext>
            </a:extLst>
          </p:cNvPr>
          <p:cNvSpPr txBox="1"/>
          <p:nvPr/>
        </p:nvSpPr>
        <p:spPr>
          <a:xfrm>
            <a:off x="7261180" y="5220954"/>
            <a:ext cx="3114675" cy="646331"/>
          </a:xfrm>
          <a:prstGeom prst="rect">
            <a:avLst/>
          </a:prstGeom>
          <a:noFill/>
        </p:spPr>
        <p:txBody>
          <a:bodyPr wrap="square" rtlCol="0">
            <a:spAutoFit/>
          </a:bodyPr>
          <a:lstStyle/>
          <a:p>
            <a:pPr algn="ctr"/>
            <a:r>
              <a:rPr lang="es-PE" b="1" dirty="0"/>
              <a:t>Visualización de Burbujas o Dispersión</a:t>
            </a:r>
          </a:p>
        </p:txBody>
      </p:sp>
      <p:sp>
        <p:nvSpPr>
          <p:cNvPr id="13" name="Rectángulo 12">
            <a:extLst>
              <a:ext uri="{FF2B5EF4-FFF2-40B4-BE49-F238E27FC236}">
                <a16:creationId xmlns:a16="http://schemas.microsoft.com/office/drawing/2014/main" id="{4E79F111-0315-0E76-81A8-F7C39A3B91A7}"/>
              </a:ext>
            </a:extLst>
          </p:cNvPr>
          <p:cNvSpPr/>
          <p:nvPr/>
        </p:nvSpPr>
        <p:spPr>
          <a:xfrm>
            <a:off x="480798" y="1483251"/>
            <a:ext cx="5035137" cy="1771511"/>
          </a:xfrm>
          <a:prstGeom prst="rect">
            <a:avLst/>
          </a:prstGeom>
        </p:spPr>
        <p:txBody>
          <a:bodyPr wrap="square">
            <a:spAutoFit/>
          </a:bodyPr>
          <a:lstStyle/>
          <a:p>
            <a:pPr algn="just">
              <a:lnSpc>
                <a:spcPct val="110000"/>
              </a:lnSpc>
              <a:spcBef>
                <a:spcPts val="1200"/>
              </a:spcBef>
            </a:pPr>
            <a:r>
              <a:rPr lang="es-ES" sz="2000" dirty="0"/>
              <a:t>Un gráfico de dispersión ilustra la conexión entre dos datos numéricos y sustituye los puntos de datos por burbujas, donde el tamaño de estas burbujas representa una tercera dimensión de información adicional.</a:t>
            </a:r>
          </a:p>
        </p:txBody>
      </p:sp>
      <p:pic>
        <p:nvPicPr>
          <p:cNvPr id="5" name="Picture 2" descr="Captura de pantalla de un gráfico de burbujas de ejemplo.">
            <a:extLst>
              <a:ext uri="{FF2B5EF4-FFF2-40B4-BE49-F238E27FC236}">
                <a16:creationId xmlns:a16="http://schemas.microsoft.com/office/drawing/2014/main" id="{D24A5DDD-DA48-2A8B-E8C0-695E141D0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1010" y="1414392"/>
            <a:ext cx="4819112" cy="368073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080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582E3E10-6E9A-AF94-8835-0C2968A9A896}"/>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AFFCC5D1-FCD6-61ED-423E-F0B60D200C9C}"/>
              </a:ext>
            </a:extLst>
          </p:cNvPr>
          <p:cNvSpPr txBox="1"/>
          <p:nvPr/>
        </p:nvSpPr>
        <p:spPr>
          <a:xfrm>
            <a:off x="480798" y="727803"/>
            <a:ext cx="8868316"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Tarjeta</a:t>
            </a:r>
          </a:p>
        </p:txBody>
      </p:sp>
      <p:sp>
        <p:nvSpPr>
          <p:cNvPr id="4" name="CuadroTexto 3">
            <a:extLst>
              <a:ext uri="{FF2B5EF4-FFF2-40B4-BE49-F238E27FC236}">
                <a16:creationId xmlns:a16="http://schemas.microsoft.com/office/drawing/2014/main" id="{F8B9474C-569C-4E02-3A78-8171731BEF91}"/>
              </a:ext>
            </a:extLst>
          </p:cNvPr>
          <p:cNvSpPr txBox="1"/>
          <p:nvPr/>
        </p:nvSpPr>
        <p:spPr>
          <a:xfrm>
            <a:off x="7343624" y="4526473"/>
            <a:ext cx="3114675" cy="369332"/>
          </a:xfrm>
          <a:prstGeom prst="rect">
            <a:avLst/>
          </a:prstGeom>
          <a:noFill/>
        </p:spPr>
        <p:txBody>
          <a:bodyPr wrap="square" rtlCol="0">
            <a:spAutoFit/>
          </a:bodyPr>
          <a:lstStyle/>
          <a:p>
            <a:pPr algn="ctr"/>
            <a:r>
              <a:rPr lang="es-PE" b="1" dirty="0"/>
              <a:t>Visualización de Tarjeta</a:t>
            </a:r>
          </a:p>
        </p:txBody>
      </p:sp>
      <p:sp>
        <p:nvSpPr>
          <p:cNvPr id="13" name="Rectángulo 12">
            <a:extLst>
              <a:ext uri="{FF2B5EF4-FFF2-40B4-BE49-F238E27FC236}">
                <a16:creationId xmlns:a16="http://schemas.microsoft.com/office/drawing/2014/main" id="{521CD744-162B-A710-AD83-00F63EA75BDA}"/>
              </a:ext>
            </a:extLst>
          </p:cNvPr>
          <p:cNvSpPr/>
          <p:nvPr/>
        </p:nvSpPr>
        <p:spPr>
          <a:xfrm>
            <a:off x="480798" y="1483251"/>
            <a:ext cx="5035137" cy="3956724"/>
          </a:xfrm>
          <a:prstGeom prst="rect">
            <a:avLst/>
          </a:prstGeom>
        </p:spPr>
        <p:txBody>
          <a:bodyPr wrap="square">
            <a:spAutoFit/>
          </a:bodyPr>
          <a:lstStyle/>
          <a:p>
            <a:pPr algn="just">
              <a:lnSpc>
                <a:spcPct val="110000"/>
              </a:lnSpc>
              <a:spcBef>
                <a:spcPts val="1200"/>
              </a:spcBef>
            </a:pPr>
            <a:r>
              <a:rPr lang="es-ES" sz="2000" dirty="0"/>
              <a:t>En ocasiones, en un informe de Power BI, el elemento más crucial que se desea seguir es un solo valor numérico, como las ventas totales, la cuota de mercado año tras año o el número total de oportunidades.</a:t>
            </a:r>
          </a:p>
          <a:p>
            <a:pPr algn="just">
              <a:lnSpc>
                <a:spcPct val="110000"/>
              </a:lnSpc>
              <a:spcBef>
                <a:spcPts val="1200"/>
              </a:spcBef>
            </a:pPr>
            <a:r>
              <a:rPr lang="es-ES" sz="2000" dirty="0"/>
              <a:t>Este tipo de visualización se denomina una tarjeta. Al igual que con casi todas las visualizaciones nativas de Power BI, se pueden crear tarjetas con el editor de informes o mediante Preguntas y respuestas.</a:t>
            </a:r>
          </a:p>
        </p:txBody>
      </p:sp>
      <p:pic>
        <p:nvPicPr>
          <p:cNvPr id="2" name="Picture 2" descr="visualización de tarjetas">
            <a:extLst>
              <a:ext uri="{FF2B5EF4-FFF2-40B4-BE49-F238E27FC236}">
                <a16:creationId xmlns:a16="http://schemas.microsoft.com/office/drawing/2014/main" id="{1B3748E6-2854-B3F2-26F0-1CF059258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6087" y="2049448"/>
            <a:ext cx="3152212" cy="224475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4012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903766E0-3152-FFE0-DCF3-0F3A3A2946EB}"/>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F676FF37-C7A4-B1A1-CE47-271F11FEFEB5}"/>
              </a:ext>
            </a:extLst>
          </p:cNvPr>
          <p:cNvSpPr txBox="1"/>
          <p:nvPr/>
        </p:nvSpPr>
        <p:spPr>
          <a:xfrm>
            <a:off x="480798" y="666608"/>
            <a:ext cx="8868316"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PE" dirty="0"/>
              <a:t>Gráfico Combinado</a:t>
            </a:r>
          </a:p>
        </p:txBody>
      </p:sp>
      <p:sp>
        <p:nvSpPr>
          <p:cNvPr id="4" name="CuadroTexto 3">
            <a:extLst>
              <a:ext uri="{FF2B5EF4-FFF2-40B4-BE49-F238E27FC236}">
                <a16:creationId xmlns:a16="http://schemas.microsoft.com/office/drawing/2014/main" id="{BE01001D-5030-F4FA-D023-413E0ACD56FD}"/>
              </a:ext>
            </a:extLst>
          </p:cNvPr>
          <p:cNvSpPr txBox="1"/>
          <p:nvPr/>
        </p:nvSpPr>
        <p:spPr>
          <a:xfrm>
            <a:off x="7424647" y="5374749"/>
            <a:ext cx="3114675" cy="369332"/>
          </a:xfrm>
          <a:prstGeom prst="rect">
            <a:avLst/>
          </a:prstGeom>
          <a:noFill/>
        </p:spPr>
        <p:txBody>
          <a:bodyPr wrap="square" rtlCol="0">
            <a:spAutoFit/>
          </a:bodyPr>
          <a:lstStyle/>
          <a:p>
            <a:pPr algn="ctr"/>
            <a:r>
              <a:rPr lang="es-PE" b="1" dirty="0"/>
              <a:t>Gráfico combinado</a:t>
            </a:r>
          </a:p>
        </p:txBody>
      </p:sp>
      <p:sp>
        <p:nvSpPr>
          <p:cNvPr id="13" name="Rectángulo 12">
            <a:extLst>
              <a:ext uri="{FF2B5EF4-FFF2-40B4-BE49-F238E27FC236}">
                <a16:creationId xmlns:a16="http://schemas.microsoft.com/office/drawing/2014/main" id="{A703A6C8-B597-FE6D-3BB4-AB37E9CB166E}"/>
              </a:ext>
            </a:extLst>
          </p:cNvPr>
          <p:cNvSpPr/>
          <p:nvPr/>
        </p:nvSpPr>
        <p:spPr>
          <a:xfrm>
            <a:off x="480798" y="1483251"/>
            <a:ext cx="5615202" cy="2110065"/>
          </a:xfrm>
          <a:prstGeom prst="rect">
            <a:avLst/>
          </a:prstGeom>
        </p:spPr>
        <p:txBody>
          <a:bodyPr wrap="square">
            <a:spAutoFit/>
          </a:bodyPr>
          <a:lstStyle/>
          <a:p>
            <a:pPr algn="just">
              <a:lnSpc>
                <a:spcPct val="110000"/>
              </a:lnSpc>
              <a:spcBef>
                <a:spcPts val="1200"/>
              </a:spcBef>
            </a:pPr>
            <a:r>
              <a:rPr lang="es-ES" sz="2000" dirty="0"/>
              <a:t>En Power BI, un gráfico combinado es una representación visual única que fusiona elementos de un gráfico de líneas y un gráfico de columnas. Esta fusión de ambos tipos de gráficos en uno solo facilita una comparación más ágil de los datos.</a:t>
            </a:r>
          </a:p>
        </p:txBody>
      </p:sp>
      <p:pic>
        <p:nvPicPr>
          <p:cNvPr id="5" name="Picture 2" descr="Ejemplo de gráfico combinado terminado">
            <a:extLst>
              <a:ext uri="{FF2B5EF4-FFF2-40B4-BE49-F238E27FC236}">
                <a16:creationId xmlns:a16="http://schemas.microsoft.com/office/drawing/2014/main" id="{4882CB17-D2DB-8C42-A18B-A881E1FBB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8207" y="1483251"/>
            <a:ext cx="4067903" cy="359803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508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C8C404D1-5CFA-B46C-DA98-DEECD262F9BF}"/>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AC296936-0B68-F5D9-77F1-1D110C81753A}"/>
              </a:ext>
            </a:extLst>
          </p:cNvPr>
          <p:cNvSpPr txBox="1"/>
          <p:nvPr/>
        </p:nvSpPr>
        <p:spPr>
          <a:xfrm>
            <a:off x="388201" y="750670"/>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Velocímetro</a:t>
            </a:r>
          </a:p>
        </p:txBody>
      </p:sp>
      <p:sp>
        <p:nvSpPr>
          <p:cNvPr id="4" name="CuadroTexto 3">
            <a:extLst>
              <a:ext uri="{FF2B5EF4-FFF2-40B4-BE49-F238E27FC236}">
                <a16:creationId xmlns:a16="http://schemas.microsoft.com/office/drawing/2014/main" id="{36724726-E246-9D52-8514-B3180B7F5625}"/>
              </a:ext>
            </a:extLst>
          </p:cNvPr>
          <p:cNvSpPr txBox="1"/>
          <p:nvPr/>
        </p:nvSpPr>
        <p:spPr>
          <a:xfrm>
            <a:off x="7281654" y="4588930"/>
            <a:ext cx="3675770" cy="369332"/>
          </a:xfrm>
          <a:prstGeom prst="rect">
            <a:avLst/>
          </a:prstGeom>
          <a:noFill/>
        </p:spPr>
        <p:txBody>
          <a:bodyPr wrap="square" rtlCol="0">
            <a:spAutoFit/>
          </a:bodyPr>
          <a:lstStyle/>
          <a:p>
            <a:pPr algn="ctr"/>
            <a:r>
              <a:rPr lang="es-PE" b="1" dirty="0"/>
              <a:t>Visualización de Velocímetro</a:t>
            </a:r>
          </a:p>
        </p:txBody>
      </p:sp>
      <p:sp>
        <p:nvSpPr>
          <p:cNvPr id="13" name="Rectángulo 12">
            <a:extLst>
              <a:ext uri="{FF2B5EF4-FFF2-40B4-BE49-F238E27FC236}">
                <a16:creationId xmlns:a16="http://schemas.microsoft.com/office/drawing/2014/main" id="{C0D2E9B1-A5DE-2A43-1FD3-7D4828CB4552}"/>
              </a:ext>
            </a:extLst>
          </p:cNvPr>
          <p:cNvSpPr/>
          <p:nvPr/>
        </p:nvSpPr>
        <p:spPr>
          <a:xfrm>
            <a:off x="388201" y="1493980"/>
            <a:ext cx="5035137" cy="3464282"/>
          </a:xfrm>
          <a:prstGeom prst="rect">
            <a:avLst/>
          </a:prstGeom>
        </p:spPr>
        <p:txBody>
          <a:bodyPr wrap="square">
            <a:spAutoFit/>
          </a:bodyPr>
          <a:lstStyle/>
          <a:p>
            <a:pPr algn="just">
              <a:lnSpc>
                <a:spcPct val="110000"/>
              </a:lnSpc>
              <a:spcBef>
                <a:spcPts val="1200"/>
              </a:spcBef>
            </a:pPr>
            <a:r>
              <a:rPr lang="es-ES" sz="2000" dirty="0"/>
              <a:t>Un medidor radial es un gráfico circular que representa un único valor, midiendo el progreso hacia un objetivo o un indicador clave de rendimiento (KPI). En este gráfico, una línea indica el objetivo, el área sombreada muestra el progreso hacia ese objetivo y el valor dentro del arco representa el avance logrado. Power BI distribuye los valores de manera uniforme a lo largo del arco, desde el mínimo hasta el máximo.</a:t>
            </a:r>
          </a:p>
        </p:txBody>
      </p:sp>
      <p:pic>
        <p:nvPicPr>
          <p:cNvPr id="2" name="Picture 2" descr="Captura de pantalla de medidor radial.">
            <a:extLst>
              <a:ext uri="{FF2B5EF4-FFF2-40B4-BE49-F238E27FC236}">
                <a16:creationId xmlns:a16="http://schemas.microsoft.com/office/drawing/2014/main" id="{B0CECEF2-8125-5942-4A9A-55504F57B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569" y="2036340"/>
            <a:ext cx="4827940" cy="2332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08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52D7EC2D-A87C-DF7C-8500-4580A8989CFB}"/>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F841D066-7710-2F3C-3EE4-035E5A49D7A6}"/>
              </a:ext>
            </a:extLst>
          </p:cNvPr>
          <p:cNvSpPr txBox="1"/>
          <p:nvPr/>
        </p:nvSpPr>
        <p:spPr>
          <a:xfrm>
            <a:off x="446075" y="757968"/>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Tarjeta de varias filas</a:t>
            </a:r>
          </a:p>
        </p:txBody>
      </p:sp>
      <p:sp>
        <p:nvSpPr>
          <p:cNvPr id="4" name="CuadroTexto 3">
            <a:extLst>
              <a:ext uri="{FF2B5EF4-FFF2-40B4-BE49-F238E27FC236}">
                <a16:creationId xmlns:a16="http://schemas.microsoft.com/office/drawing/2014/main" id="{43432CE9-8FF4-2ECA-8BF1-5B7EF2867E08}"/>
              </a:ext>
            </a:extLst>
          </p:cNvPr>
          <p:cNvSpPr txBox="1"/>
          <p:nvPr/>
        </p:nvSpPr>
        <p:spPr>
          <a:xfrm>
            <a:off x="6950189" y="4831997"/>
            <a:ext cx="3675770" cy="646331"/>
          </a:xfrm>
          <a:prstGeom prst="rect">
            <a:avLst/>
          </a:prstGeom>
          <a:noFill/>
        </p:spPr>
        <p:txBody>
          <a:bodyPr wrap="square" rtlCol="0">
            <a:spAutoFit/>
          </a:bodyPr>
          <a:lstStyle/>
          <a:p>
            <a:pPr algn="ctr"/>
            <a:r>
              <a:rPr lang="es-PE" b="1" dirty="0"/>
              <a:t>Visualización de Tarjeta de varias filas</a:t>
            </a:r>
          </a:p>
        </p:txBody>
      </p:sp>
      <p:sp>
        <p:nvSpPr>
          <p:cNvPr id="13" name="Rectángulo 12">
            <a:extLst>
              <a:ext uri="{FF2B5EF4-FFF2-40B4-BE49-F238E27FC236}">
                <a16:creationId xmlns:a16="http://schemas.microsoft.com/office/drawing/2014/main" id="{51C24EDF-3278-CF5F-4AE0-14C89A3832EF}"/>
              </a:ext>
            </a:extLst>
          </p:cNvPr>
          <p:cNvSpPr/>
          <p:nvPr/>
        </p:nvSpPr>
        <p:spPr>
          <a:xfrm>
            <a:off x="446075" y="1981579"/>
            <a:ext cx="5035137" cy="1771511"/>
          </a:xfrm>
          <a:prstGeom prst="rect">
            <a:avLst/>
          </a:prstGeom>
        </p:spPr>
        <p:txBody>
          <a:bodyPr wrap="square">
            <a:spAutoFit/>
          </a:bodyPr>
          <a:lstStyle/>
          <a:p>
            <a:pPr algn="just">
              <a:lnSpc>
                <a:spcPct val="110000"/>
              </a:lnSpc>
              <a:spcBef>
                <a:spcPts val="1200"/>
              </a:spcBef>
            </a:pPr>
            <a:r>
              <a:rPr lang="es-ES" sz="2000" dirty="0"/>
              <a:t>La tarjeta de varias filas comparte numerosas características con la tarjeta, siendo la mayor diferencia el hecho de que la tarjeta de varias filas admite más de un campo.</a:t>
            </a:r>
          </a:p>
        </p:txBody>
      </p:sp>
      <p:pic>
        <p:nvPicPr>
          <p:cNvPr id="1026" name="Picture 2" descr="Multi-row card (tarjeta de varias filas) | Interactive Chaos">
            <a:extLst>
              <a:ext uri="{FF2B5EF4-FFF2-40B4-BE49-F238E27FC236}">
                <a16:creationId xmlns:a16="http://schemas.microsoft.com/office/drawing/2014/main" id="{0B165CB8-82E8-2DC9-AEDF-5C9BA4889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4631" y="1981579"/>
            <a:ext cx="3019425"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518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52656F7D-41AD-CC67-9189-16A40D3AF06E}"/>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A5C78E1B-2DAF-DC67-0D26-0608746A8A15}"/>
              </a:ext>
            </a:extLst>
          </p:cNvPr>
          <p:cNvSpPr txBox="1"/>
          <p:nvPr/>
        </p:nvSpPr>
        <p:spPr>
          <a:xfrm>
            <a:off x="446075" y="932094"/>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KPI</a:t>
            </a:r>
          </a:p>
        </p:txBody>
      </p:sp>
      <p:sp>
        <p:nvSpPr>
          <p:cNvPr id="4" name="CuadroTexto 3">
            <a:extLst>
              <a:ext uri="{FF2B5EF4-FFF2-40B4-BE49-F238E27FC236}">
                <a16:creationId xmlns:a16="http://schemas.microsoft.com/office/drawing/2014/main" id="{3A3FC5AD-ABDF-CDAF-2A48-AAB42B8F5E23}"/>
              </a:ext>
            </a:extLst>
          </p:cNvPr>
          <p:cNvSpPr txBox="1"/>
          <p:nvPr/>
        </p:nvSpPr>
        <p:spPr>
          <a:xfrm>
            <a:off x="6950189" y="5294984"/>
            <a:ext cx="3675770" cy="369332"/>
          </a:xfrm>
          <a:prstGeom prst="rect">
            <a:avLst/>
          </a:prstGeom>
          <a:noFill/>
        </p:spPr>
        <p:txBody>
          <a:bodyPr wrap="square" rtlCol="0">
            <a:spAutoFit/>
          </a:bodyPr>
          <a:lstStyle/>
          <a:p>
            <a:pPr algn="ctr"/>
            <a:r>
              <a:rPr lang="es-PE" b="1" dirty="0"/>
              <a:t>Visualización de KPI</a:t>
            </a:r>
          </a:p>
        </p:txBody>
      </p:sp>
      <p:sp>
        <p:nvSpPr>
          <p:cNvPr id="13" name="Rectángulo 12">
            <a:extLst>
              <a:ext uri="{FF2B5EF4-FFF2-40B4-BE49-F238E27FC236}">
                <a16:creationId xmlns:a16="http://schemas.microsoft.com/office/drawing/2014/main" id="{D16BE58F-FED7-9424-6870-34BE225B42E8}"/>
              </a:ext>
            </a:extLst>
          </p:cNvPr>
          <p:cNvSpPr/>
          <p:nvPr/>
        </p:nvSpPr>
        <p:spPr>
          <a:xfrm>
            <a:off x="446075" y="1981579"/>
            <a:ext cx="5035137" cy="3925947"/>
          </a:xfrm>
          <a:prstGeom prst="rect">
            <a:avLst/>
          </a:prstGeom>
        </p:spPr>
        <p:txBody>
          <a:bodyPr wrap="square">
            <a:spAutoFit/>
          </a:bodyPr>
          <a:lstStyle/>
          <a:p>
            <a:pPr algn="just">
              <a:lnSpc>
                <a:spcPct val="110000"/>
              </a:lnSpc>
              <a:spcBef>
                <a:spcPts val="1200"/>
              </a:spcBef>
            </a:pPr>
            <a:r>
              <a:rPr lang="es-ES" sz="2000" dirty="0"/>
              <a:t>Un indicador clave de rendimiento (KPI) es una indicación visual que comunica el progreso realizado para lograr un objetivo cuantificable.</a:t>
            </a:r>
          </a:p>
          <a:p>
            <a:pPr algn="just">
              <a:lnSpc>
                <a:spcPct val="110000"/>
              </a:lnSpc>
              <a:spcBef>
                <a:spcPts val="1200"/>
              </a:spcBef>
            </a:pPr>
            <a:r>
              <a:rPr lang="es-ES" sz="2000" dirty="0"/>
              <a:t>Los KPI son una excelente opción:</a:t>
            </a:r>
          </a:p>
          <a:p>
            <a:pPr marL="342900" indent="-342900" algn="just">
              <a:lnSpc>
                <a:spcPct val="110000"/>
              </a:lnSpc>
              <a:spcBef>
                <a:spcPts val="1200"/>
              </a:spcBef>
              <a:buFont typeface="Arial" panose="020B0604020202020204" pitchFamily="34" charset="0"/>
              <a:buChar char="•"/>
            </a:pPr>
            <a:r>
              <a:rPr lang="es-ES" sz="2000" dirty="0"/>
              <a:t>Para medir el progreso (¿voy adelantado o retrasado?).</a:t>
            </a:r>
          </a:p>
          <a:p>
            <a:pPr marL="342900" indent="-342900" algn="just">
              <a:lnSpc>
                <a:spcPct val="110000"/>
              </a:lnSpc>
              <a:spcBef>
                <a:spcPts val="1200"/>
              </a:spcBef>
              <a:buFont typeface="Arial" panose="020B0604020202020204" pitchFamily="34" charset="0"/>
              <a:buChar char="•"/>
            </a:pPr>
            <a:r>
              <a:rPr lang="es-ES" sz="2000" dirty="0"/>
              <a:t>Para medir la distancia hasta una métrica (¿cuánto adelanto o retraso tengo?).</a:t>
            </a:r>
          </a:p>
        </p:txBody>
      </p:sp>
      <p:pic>
        <p:nvPicPr>
          <p:cNvPr id="2050" name="Picture 2" descr="Captura de pantalla de un gráfico KPI.">
            <a:extLst>
              <a:ext uri="{FF2B5EF4-FFF2-40B4-BE49-F238E27FC236}">
                <a16:creationId xmlns:a16="http://schemas.microsoft.com/office/drawing/2014/main" id="{7DD297C5-E8DD-DCC0-C9B7-4FDE53639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5733" y="2127571"/>
            <a:ext cx="4762500" cy="28575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967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CFB2ABE2-FE2F-B007-CCA8-D25605E13363}"/>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D9F90383-108C-966A-7C3F-2D4F3DBCA3E7}"/>
              </a:ext>
            </a:extLst>
          </p:cNvPr>
          <p:cNvSpPr txBox="1"/>
          <p:nvPr/>
        </p:nvSpPr>
        <p:spPr>
          <a:xfrm>
            <a:off x="446075" y="932094"/>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Embudo</a:t>
            </a:r>
          </a:p>
        </p:txBody>
      </p:sp>
      <p:sp>
        <p:nvSpPr>
          <p:cNvPr id="4" name="CuadroTexto 3">
            <a:extLst>
              <a:ext uri="{FF2B5EF4-FFF2-40B4-BE49-F238E27FC236}">
                <a16:creationId xmlns:a16="http://schemas.microsoft.com/office/drawing/2014/main" id="{F521F3C3-7BCF-9E63-8636-AC85C80ABEC3}"/>
              </a:ext>
            </a:extLst>
          </p:cNvPr>
          <p:cNvSpPr txBox="1"/>
          <p:nvPr/>
        </p:nvSpPr>
        <p:spPr>
          <a:xfrm>
            <a:off x="6950189" y="5294984"/>
            <a:ext cx="3675770" cy="369332"/>
          </a:xfrm>
          <a:prstGeom prst="rect">
            <a:avLst/>
          </a:prstGeom>
          <a:noFill/>
        </p:spPr>
        <p:txBody>
          <a:bodyPr wrap="square" rtlCol="0">
            <a:spAutoFit/>
          </a:bodyPr>
          <a:lstStyle/>
          <a:p>
            <a:pPr algn="ctr"/>
            <a:r>
              <a:rPr lang="es-PE" b="1" dirty="0"/>
              <a:t>Visualización de Embudo</a:t>
            </a:r>
          </a:p>
        </p:txBody>
      </p:sp>
      <p:sp>
        <p:nvSpPr>
          <p:cNvPr id="13" name="Rectángulo 12">
            <a:extLst>
              <a:ext uri="{FF2B5EF4-FFF2-40B4-BE49-F238E27FC236}">
                <a16:creationId xmlns:a16="http://schemas.microsoft.com/office/drawing/2014/main" id="{8E05C32E-71F7-6FEB-61EB-0F09E9B249D8}"/>
              </a:ext>
            </a:extLst>
          </p:cNvPr>
          <p:cNvSpPr/>
          <p:nvPr/>
        </p:nvSpPr>
        <p:spPr>
          <a:xfrm>
            <a:off x="446075" y="1981579"/>
            <a:ext cx="5035137" cy="3618170"/>
          </a:xfrm>
          <a:prstGeom prst="rect">
            <a:avLst/>
          </a:prstGeom>
        </p:spPr>
        <p:txBody>
          <a:bodyPr wrap="square">
            <a:spAutoFit/>
          </a:bodyPr>
          <a:lstStyle/>
          <a:p>
            <a:pPr algn="just">
              <a:lnSpc>
                <a:spcPct val="110000"/>
              </a:lnSpc>
              <a:spcBef>
                <a:spcPts val="1200"/>
              </a:spcBef>
            </a:pPr>
            <a:r>
              <a:rPr lang="es-ES" sz="2000" dirty="0"/>
              <a:t>Los embudos son útiles para representar gráficamente un proceso que consta de etapas y componentes que se mueven de manera secuencial de una etapa a la siguiente.</a:t>
            </a:r>
          </a:p>
          <a:p>
            <a:pPr algn="just">
              <a:lnSpc>
                <a:spcPct val="110000"/>
              </a:lnSpc>
              <a:spcBef>
                <a:spcPts val="1200"/>
              </a:spcBef>
            </a:pPr>
            <a:r>
              <a:rPr lang="es-ES" sz="2000" dirty="0"/>
              <a:t>Use un embudo cuando haya un flujo secuencial entre fases, por ejemplo: Un proceso de ventas que comience con posibles clientes y concluya con la finalización de una compra.</a:t>
            </a:r>
          </a:p>
        </p:txBody>
      </p:sp>
      <p:pic>
        <p:nvPicPr>
          <p:cNvPr id="2" name="Picture 2" descr="gráfico de embudo">
            <a:extLst>
              <a:ext uri="{FF2B5EF4-FFF2-40B4-BE49-F238E27FC236}">
                <a16:creationId xmlns:a16="http://schemas.microsoft.com/office/drawing/2014/main" id="{564FA89A-AD74-F26A-D4F3-F00876A05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5181" y="2016112"/>
            <a:ext cx="5145785" cy="3032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780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605C4CE-002D-7565-C9AC-1A694455C01C}"/>
            </a:ext>
          </a:extLst>
        </p:cNvPr>
        <p:cNvGrpSpPr/>
        <p:nvPr/>
      </p:nvGrpSpPr>
      <p:grpSpPr>
        <a:xfrm>
          <a:off x="0" y="0"/>
          <a:ext cx="0" cy="0"/>
          <a:chOff x="0" y="0"/>
          <a:chExt cx="0" cy="0"/>
        </a:xfrm>
      </p:grpSpPr>
      <p:sp>
        <p:nvSpPr>
          <p:cNvPr id="3" name="Google Shape;135;g260e3df6672_0_17">
            <a:extLst>
              <a:ext uri="{FF2B5EF4-FFF2-40B4-BE49-F238E27FC236}">
                <a16:creationId xmlns:a16="http://schemas.microsoft.com/office/drawing/2014/main" id="{DDBD5AE3-75B3-B475-4C49-18E7A42186A3}"/>
              </a:ext>
            </a:extLst>
          </p:cNvPr>
          <p:cNvSpPr txBox="1"/>
          <p:nvPr/>
        </p:nvSpPr>
        <p:spPr>
          <a:xfrm>
            <a:off x="422926" y="548292"/>
            <a:ext cx="8440452" cy="523180"/>
          </a:xfrm>
          <a:prstGeom prst="rect">
            <a:avLst/>
          </a:prstGeom>
        </p:spPr>
        <p:txBody>
          <a:bodyPr vert="horz" lIns="91440" tIns="45720" rIns="91440" bIns="45720" rtlCol="0" anchor="b">
            <a:normAutofit/>
          </a:bodyPr>
          <a:lstStyle>
            <a:defPPr rtl="0">
              <a:defRPr lang="es-es"/>
            </a:defPPr>
            <a:lvl1pPr defTabSz="457200">
              <a:spcBef>
                <a:spcPct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s-ES" dirty="0"/>
              <a:t>Visualización </a:t>
            </a:r>
            <a:r>
              <a:rPr lang="es-PE" dirty="0"/>
              <a:t>de Cascada</a:t>
            </a:r>
          </a:p>
        </p:txBody>
      </p:sp>
      <p:sp>
        <p:nvSpPr>
          <p:cNvPr id="4" name="CuadroTexto 3">
            <a:extLst>
              <a:ext uri="{FF2B5EF4-FFF2-40B4-BE49-F238E27FC236}">
                <a16:creationId xmlns:a16="http://schemas.microsoft.com/office/drawing/2014/main" id="{409B51E4-9F3B-4FB8-5AA3-7A5653D6896F}"/>
              </a:ext>
            </a:extLst>
          </p:cNvPr>
          <p:cNvSpPr txBox="1"/>
          <p:nvPr/>
        </p:nvSpPr>
        <p:spPr>
          <a:xfrm>
            <a:off x="6923014" y="5319249"/>
            <a:ext cx="3675770" cy="369332"/>
          </a:xfrm>
          <a:prstGeom prst="rect">
            <a:avLst/>
          </a:prstGeom>
          <a:noFill/>
        </p:spPr>
        <p:txBody>
          <a:bodyPr wrap="square" rtlCol="0">
            <a:spAutoFit/>
          </a:bodyPr>
          <a:lstStyle/>
          <a:p>
            <a:pPr algn="ctr"/>
            <a:r>
              <a:rPr lang="es-PE" b="1" dirty="0"/>
              <a:t>Visualización de Cascada</a:t>
            </a:r>
          </a:p>
        </p:txBody>
      </p:sp>
      <p:sp>
        <p:nvSpPr>
          <p:cNvPr id="13" name="Rectángulo 12">
            <a:extLst>
              <a:ext uri="{FF2B5EF4-FFF2-40B4-BE49-F238E27FC236}">
                <a16:creationId xmlns:a16="http://schemas.microsoft.com/office/drawing/2014/main" id="{A76136F5-EBE2-E9C9-F3EA-AD23D6803172}"/>
              </a:ext>
            </a:extLst>
          </p:cNvPr>
          <p:cNvSpPr/>
          <p:nvPr/>
        </p:nvSpPr>
        <p:spPr>
          <a:xfrm>
            <a:off x="422926" y="1333400"/>
            <a:ext cx="5035137" cy="5310941"/>
          </a:xfrm>
          <a:prstGeom prst="rect">
            <a:avLst/>
          </a:prstGeom>
        </p:spPr>
        <p:txBody>
          <a:bodyPr wrap="square">
            <a:spAutoFit/>
          </a:bodyPr>
          <a:lstStyle/>
          <a:p>
            <a:pPr algn="just">
              <a:lnSpc>
                <a:spcPct val="110000"/>
              </a:lnSpc>
              <a:spcBef>
                <a:spcPts val="1200"/>
              </a:spcBef>
            </a:pPr>
            <a:r>
              <a:rPr lang="es-ES" sz="2000" dirty="0"/>
              <a:t>Un gráfico de cascada muestra un total acumulado conforme se agregan o se restan valores. Son útiles para comprender cómo afecta una serie de cambios positivos y negativos a un valor inicial (por ejemplo, ingresos netos).</a:t>
            </a:r>
          </a:p>
          <a:p>
            <a:pPr algn="just">
              <a:lnSpc>
                <a:spcPct val="110000"/>
              </a:lnSpc>
              <a:spcBef>
                <a:spcPts val="1200"/>
              </a:spcBef>
            </a:pPr>
            <a:r>
              <a:rPr lang="es-ES" sz="2000" dirty="0"/>
              <a:t>Las columnas están codificadas por color para identificar rápidamente los aumentos y las disminuciones. Las columnas de valores iniciales y finales a menudo comienzan en el eje horizontal, mientras que los valores intermedios son columnas flotantes. Debido a este "aspecto", los gráficos de cascada también se denominan gráficos de puente.</a:t>
            </a:r>
          </a:p>
        </p:txBody>
      </p:sp>
      <p:pic>
        <p:nvPicPr>
          <p:cNvPr id="3074" name="Picture 2" descr="Captura de pantalla de un gráfico de cascada.">
            <a:extLst>
              <a:ext uri="{FF2B5EF4-FFF2-40B4-BE49-F238E27FC236}">
                <a16:creationId xmlns:a16="http://schemas.microsoft.com/office/drawing/2014/main" id="{6CCF02E3-2232-23CC-629D-139AC1C09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2724" y="1506204"/>
            <a:ext cx="6016350" cy="360981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571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FCB7694-E9F4-48E8-9698-65AAE3FDE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2692" y="1899314"/>
            <a:ext cx="6106615" cy="4579961"/>
          </a:xfrm>
          <a:prstGeom prst="rect">
            <a:avLst/>
          </a:prstGeom>
        </p:spPr>
      </p:pic>
      <p:sp>
        <p:nvSpPr>
          <p:cNvPr id="8" name="Rectángulo 7">
            <a:extLst>
              <a:ext uri="{FF2B5EF4-FFF2-40B4-BE49-F238E27FC236}">
                <a16:creationId xmlns:a16="http://schemas.microsoft.com/office/drawing/2014/main" id="{5F1FAB6A-4C43-4588-8929-0E53ED011457}"/>
              </a:ext>
            </a:extLst>
          </p:cNvPr>
          <p:cNvSpPr/>
          <p:nvPr/>
        </p:nvSpPr>
        <p:spPr>
          <a:xfrm>
            <a:off x="567543" y="812210"/>
            <a:ext cx="11438388" cy="923330"/>
          </a:xfrm>
          <a:prstGeom prst="rect">
            <a:avLst/>
          </a:prstGeom>
          <a:noFill/>
        </p:spPr>
        <p:txBody>
          <a:bodyPr wrap="none" lIns="91440" tIns="45720" rIns="91440" bIns="45720">
            <a:spAutoFit/>
          </a:bodyPr>
          <a:lstStyle/>
          <a:p>
            <a:pPr algn="ctr"/>
            <a:r>
              <a:rPr lang="es-E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AHORA VAMOS A LA PRÁCTICA</a:t>
            </a:r>
          </a:p>
        </p:txBody>
      </p:sp>
    </p:spTree>
    <p:extLst>
      <p:ext uri="{BB962C8B-B14F-4D97-AF65-F5344CB8AC3E}">
        <p14:creationId xmlns:p14="http://schemas.microsoft.com/office/powerpoint/2010/main" val="13114197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ángulo 1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sp>
        <p:nvSpPr>
          <p:cNvPr id="16" name="Rectángulo 1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8" name="Rectángulo 1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8" name="Título 7"/>
          <p:cNvSpPr>
            <a:spLocks noGrp="1"/>
          </p:cNvSpPr>
          <p:nvPr>
            <p:ph type="ctrTitle"/>
          </p:nvPr>
        </p:nvSpPr>
        <p:spPr>
          <a:xfrm>
            <a:off x="1893715" y="708498"/>
            <a:ext cx="7574507" cy="3330055"/>
          </a:xfrm>
        </p:spPr>
        <p:txBody>
          <a:bodyPr rtlCol="0" anchor="ctr">
            <a:normAutofit/>
          </a:bodyPr>
          <a:lstStyle/>
          <a:p>
            <a:pPr rtl="0"/>
            <a:r>
              <a:rPr lang="es-ES" sz="13800" dirty="0">
                <a:solidFill>
                  <a:srgbClr val="FFFFFF"/>
                </a:solidFill>
              </a:rPr>
              <a:t>Gracias</a:t>
            </a:r>
          </a:p>
        </p:txBody>
      </p:sp>
      <p:sp>
        <p:nvSpPr>
          <p:cNvPr id="20" name="Rectángulo 1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89929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Tree>
    <p:extLst>
      <p:ext uri="{BB962C8B-B14F-4D97-AF65-F5344CB8AC3E}">
        <p14:creationId xmlns:p14="http://schemas.microsoft.com/office/powerpoint/2010/main" val="92594583"/>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6D5C9E3-8C88-48BE-A8D5-BDFA60487B23}">
  <ds:schemaRefs>
    <ds:schemaRef ds:uri="http://schemas.microsoft.com/sharepoint/v3/contenttype/forms"/>
  </ds:schemaRefs>
</ds:datastoreItem>
</file>

<file path=customXml/itemProps2.xml><?xml version="1.0" encoding="utf-8"?>
<ds:datastoreItem xmlns:ds="http://schemas.openxmlformats.org/officeDocument/2006/customXml" ds:itemID="{11E27F0F-D896-41E6-B4EB-8C9AAA8B50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B9DF2D6-FF1F-4B5B-A177-F86A4BC1967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Presentación de resumen del producto</Template>
  <TotalTime>247</TotalTime>
  <Words>1845</Words>
  <Application>Microsoft Office PowerPoint</Application>
  <PresentationFormat>Panorámica</PresentationFormat>
  <Paragraphs>115</Paragraphs>
  <Slides>31</Slides>
  <Notes>30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31</vt:i4>
      </vt:variant>
    </vt:vector>
  </HeadingPairs>
  <TitlesOfParts>
    <vt:vector size="36" baseType="lpstr">
      <vt:lpstr>Arial</vt:lpstr>
      <vt:lpstr>Calibri</vt:lpstr>
      <vt:lpstr>Gill Sans MT</vt:lpstr>
      <vt:lpstr>Wingdings 2</vt:lpstr>
      <vt:lpstr>DividendVTI</vt:lpstr>
      <vt:lpstr>ANÁLISIS y visualización DE DATOS CON POWER BI – sesión 05</vt:lpstr>
      <vt:lpstr>ÍNDICE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dc:creator>
  <cp:lastModifiedBy>Eric Alberto Heredia Mendoza</cp:lastModifiedBy>
  <cp:revision>38</cp:revision>
  <dcterms:created xsi:type="dcterms:W3CDTF">2021-02-06T17:39:35Z</dcterms:created>
  <dcterms:modified xsi:type="dcterms:W3CDTF">2025-11-23T21:20:03Z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defa4170-0d19-0005-0004-bc88714345d2_Enabled">
    <vt:lpwstr>true</vt:lpwstr>
  </property>
  <property fmtid="{D5CDD505-2E9C-101B-9397-08002B2CF9AE}" pid="4" name="MSIP_Label_defa4170-0d19-0005-0004-bc88714345d2_SetDate">
    <vt:lpwstr>2025-04-18T16:00:08Z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be6becf1-4fef-4388-a21c-7184584d38cb</vt:lpwstr>
  </property>
  <property fmtid="{D5CDD505-2E9C-101B-9397-08002B2CF9AE}" pid="8" name="MSIP_Label_defa4170-0d19-0005-0004-bc88714345d2_ActionId">
    <vt:lpwstr>c5490f93-5b06-490d-8de4-017da94f6889</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ies>
</file>