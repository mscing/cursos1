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311" r:id="rId2"/>
    <p:sldId id="326" r:id="rId3"/>
    <p:sldId id="327" r:id="rId4"/>
    <p:sldId id="328" r:id="rId5"/>
    <p:sldId id="314" r:id="rId6"/>
    <p:sldId id="315" r:id="rId7"/>
    <p:sldId id="316" r:id="rId8"/>
    <p:sldId id="317" r:id="rId9"/>
    <p:sldId id="318" r:id="rId10"/>
    <p:sldId id="319" r:id="rId11"/>
    <p:sldId id="320" r:id="rId12"/>
    <p:sldId id="321" r:id="rId13"/>
    <p:sldId id="322" r:id="rId14"/>
    <p:sldId id="323" r:id="rId15"/>
    <p:sldId id="324" r:id="rId16"/>
    <p:sldId id="325" r:id="rId17"/>
  </p:sldIdLst>
  <p:sldSz cx="12192000" cy="6858000"/>
  <p:notesSz cx="6858000" cy="9144000"/>
  <p:defaultText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034" autoAdjust="0"/>
    <p:restoredTop sz="94660"/>
  </p:normalViewPr>
  <p:slideViewPr>
    <p:cSldViewPr snapToGrid="0">
      <p:cViewPr varScale="1">
        <p:scale>
          <a:sx n="91" d="100"/>
          <a:sy n="91" d="100"/>
        </p:scale>
        <p:origin x="390" y="90"/>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PE"/>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F7CEF1F-FE78-42FF-AFD8-D6E650E5D1AE}" type="datetimeFigureOut">
              <a:rPr lang="es-PE" smtClean="0"/>
              <a:t>29/04/2020</a:t>
            </a:fld>
            <a:endParaRPr lang="es-PE"/>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PE"/>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PE"/>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PE"/>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1F3D5AA-2868-47D7-9A31-16DC9A147307}" type="slidenum">
              <a:rPr lang="es-PE" smtClean="0"/>
              <a:t>‹Nº›</a:t>
            </a:fld>
            <a:endParaRPr lang="es-PE"/>
          </a:p>
        </p:txBody>
      </p:sp>
    </p:spTree>
    <p:extLst>
      <p:ext uri="{BB962C8B-B14F-4D97-AF65-F5344CB8AC3E}">
        <p14:creationId xmlns:p14="http://schemas.microsoft.com/office/powerpoint/2010/main" val="36470936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apositiva de título">
    <p:spTree>
      <p:nvGrpSpPr>
        <p:cNvPr id="1" name=""/>
        <p:cNvGrpSpPr/>
        <p:nvPr/>
      </p:nvGrpSpPr>
      <p:grpSpPr>
        <a:xfrm>
          <a:off x="0" y="0"/>
          <a:ext cx="0" cy="0"/>
          <a:chOff x="0" y="0"/>
          <a:chExt cx="0" cy="0"/>
        </a:xfrm>
      </p:grpSpPr>
      <p:sp>
        <p:nvSpPr>
          <p:cNvPr id="3" name="Subtítulo 2"/>
          <p:cNvSpPr>
            <a:spLocks noGrp="1"/>
          </p:cNvSpPr>
          <p:nvPr>
            <p:ph type="subTitle" idx="1"/>
          </p:nvPr>
        </p:nvSpPr>
        <p:spPr>
          <a:xfrm>
            <a:off x="1860827" y="5265683"/>
            <a:ext cx="6495393" cy="409904"/>
          </a:xfrm>
        </p:spPr>
        <p:txBody>
          <a:bodyPr>
            <a:normAutofit/>
          </a:bodyPr>
          <a:lstStyle>
            <a:lvl1pPr marL="0" indent="0" algn="l">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dirty="0" smtClean="0"/>
              <a:t>Haga clic para editar el estilo de subtítulo del patrón</a:t>
            </a:r>
            <a:endParaRPr lang="es-PE" dirty="0"/>
          </a:p>
        </p:txBody>
      </p:sp>
      <p:sp>
        <p:nvSpPr>
          <p:cNvPr id="4" name="Marcador de fecha 3"/>
          <p:cNvSpPr>
            <a:spLocks noGrp="1"/>
          </p:cNvSpPr>
          <p:nvPr>
            <p:ph type="dt" sz="half" idx="10"/>
          </p:nvPr>
        </p:nvSpPr>
        <p:spPr/>
        <p:txBody>
          <a:bodyPr/>
          <a:lstStyle/>
          <a:p>
            <a:fld id="{06D8BD8A-34F6-4620-907D-6D1CD67ED4DA}" type="datetimeFigureOut">
              <a:rPr lang="es-PE" smtClean="0"/>
              <a:t>29/04/2020</a:t>
            </a:fld>
            <a:endParaRPr lang="es-PE"/>
          </a:p>
        </p:txBody>
      </p:sp>
      <p:sp>
        <p:nvSpPr>
          <p:cNvPr id="5" name="Marcador de pie de página 4"/>
          <p:cNvSpPr>
            <a:spLocks noGrp="1"/>
          </p:cNvSpPr>
          <p:nvPr>
            <p:ph type="ftr" sz="quarter" idx="11"/>
          </p:nvPr>
        </p:nvSpPr>
        <p:spPr/>
        <p:txBody>
          <a:bodyPr/>
          <a:lstStyle/>
          <a:p>
            <a:endParaRPr lang="es-PE"/>
          </a:p>
        </p:txBody>
      </p:sp>
      <p:sp>
        <p:nvSpPr>
          <p:cNvPr id="6" name="Marcador de número de diapositiva 5"/>
          <p:cNvSpPr>
            <a:spLocks noGrp="1"/>
          </p:cNvSpPr>
          <p:nvPr>
            <p:ph type="sldNum" sz="quarter" idx="12"/>
          </p:nvPr>
        </p:nvSpPr>
        <p:spPr/>
        <p:txBody>
          <a:bodyPr/>
          <a:lstStyle/>
          <a:p>
            <a:fld id="{EC40BBE2-C205-44BA-AF9E-D64C0961F059}" type="slidenum">
              <a:rPr lang="es-PE" smtClean="0"/>
              <a:t>‹Nº›</a:t>
            </a:fld>
            <a:endParaRPr lang="es-PE"/>
          </a:p>
        </p:txBody>
      </p:sp>
      <p:sp>
        <p:nvSpPr>
          <p:cNvPr id="7" name="Rectángulo 6"/>
          <p:cNvSpPr/>
          <p:nvPr userDrawn="1"/>
        </p:nvSpPr>
        <p:spPr>
          <a:xfrm>
            <a:off x="0" y="0"/>
            <a:ext cx="727364" cy="6858000"/>
          </a:xfrm>
          <a:prstGeom prst="rect">
            <a:avLst/>
          </a:prstGeom>
          <a:solidFill>
            <a:srgbClr val="C00000"/>
          </a:solidFill>
          <a:ln>
            <a:solidFill>
              <a:srgbClr val="C00000"/>
            </a:solidFill>
          </a:ln>
        </p:spPr>
        <p:style>
          <a:lnRef idx="0">
            <a:schemeClr val="accent6"/>
          </a:lnRef>
          <a:fillRef idx="3">
            <a:schemeClr val="accent6"/>
          </a:fillRef>
          <a:effectRef idx="3">
            <a:schemeClr val="accent6"/>
          </a:effectRef>
          <a:fontRef idx="minor">
            <a:schemeClr val="lt1"/>
          </a:fontRef>
        </p:style>
        <p:txBody>
          <a:bodyPr rtlCol="0" anchor="ctr"/>
          <a:lstStyle/>
          <a:p>
            <a:pPr algn="ctr"/>
            <a:endParaRPr lang="es-PE"/>
          </a:p>
        </p:txBody>
      </p:sp>
      <p:sp>
        <p:nvSpPr>
          <p:cNvPr id="13" name="Rectángulo redondeado 12"/>
          <p:cNvSpPr/>
          <p:nvPr userDrawn="1"/>
        </p:nvSpPr>
        <p:spPr>
          <a:xfrm>
            <a:off x="3078455" y="2611903"/>
            <a:ext cx="6508531" cy="620111"/>
          </a:xfrm>
          <a:prstGeom prst="roundRect">
            <a:avLst>
              <a:gd name="adj" fmla="val 50000"/>
            </a:avLst>
          </a:prstGeom>
          <a:solidFill>
            <a:srgbClr val="C00000"/>
          </a:solidFill>
          <a:ln>
            <a:solidFill>
              <a:srgbClr val="C00000"/>
            </a:solidFill>
          </a:ln>
        </p:spPr>
        <p:style>
          <a:lnRef idx="0">
            <a:schemeClr val="accent6"/>
          </a:lnRef>
          <a:fillRef idx="3">
            <a:schemeClr val="accent6"/>
          </a:fillRef>
          <a:effectRef idx="3">
            <a:schemeClr val="accent6"/>
          </a:effectRef>
          <a:fontRef idx="minor">
            <a:schemeClr val="lt1"/>
          </a:fontRef>
        </p:style>
        <p:txBody>
          <a:bodyPr rtlCol="0" anchor="ctr"/>
          <a:lstStyle/>
          <a:p>
            <a:pPr algn="ctr"/>
            <a:endParaRPr lang="es-PE"/>
          </a:p>
        </p:txBody>
      </p:sp>
      <p:pic>
        <p:nvPicPr>
          <p:cNvPr id="16" name="Imagen 1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202304" y="4539723"/>
            <a:ext cx="1559792" cy="783020"/>
          </a:xfrm>
          <a:prstGeom prst="rect">
            <a:avLst/>
          </a:prstGeom>
        </p:spPr>
      </p:pic>
      <p:sp>
        <p:nvSpPr>
          <p:cNvPr id="2" name="AutoShape 2" descr="Resultado de imagen para word.png"/>
          <p:cNvSpPr>
            <a:spLocks noChangeAspect="1" noChangeArrowheads="1"/>
          </p:cNvSpPr>
          <p:nvPr userDrawn="1"/>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PE"/>
          </a:p>
        </p:txBody>
      </p:sp>
      <p:pic>
        <p:nvPicPr>
          <p:cNvPr id="9" name="Picture 2" descr="Resultado de imagen para icono excel.png"/>
          <p:cNvPicPr>
            <a:picLocks noChangeAspect="1" noChangeArrowheads="1"/>
          </p:cNvPicPr>
          <p:nvPr userDrawn="1"/>
        </p:nvPicPr>
        <p:blipFill rotWithShape="1">
          <a:blip r:embed="rId3" cstate="print">
            <a:extLst>
              <a:ext uri="{28A0092B-C50C-407E-A947-70E740481C1C}">
                <a14:useLocalDpi xmlns:a14="http://schemas.microsoft.com/office/drawing/2010/main" val="0"/>
              </a:ext>
            </a:extLst>
          </a:blip>
          <a:srcRect l="24759" t="2527" r="24871" b="9594"/>
          <a:stretch/>
        </p:blipFill>
        <p:spPr bwMode="auto">
          <a:xfrm>
            <a:off x="10869966" y="4518551"/>
            <a:ext cx="967667" cy="825364"/>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4" descr="Resultado de imagen para colegio de ingenieros del peru lambayeque"/>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10158372" y="160338"/>
            <a:ext cx="1647680" cy="16476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72260550"/>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Formato de Sesión">
    <p:spTree>
      <p:nvGrpSpPr>
        <p:cNvPr id="1" name=""/>
        <p:cNvGrpSpPr/>
        <p:nvPr/>
      </p:nvGrpSpPr>
      <p:grpSpPr>
        <a:xfrm>
          <a:off x="0" y="0"/>
          <a:ext cx="0" cy="0"/>
          <a:chOff x="0" y="0"/>
          <a:chExt cx="0" cy="0"/>
        </a:xfrm>
      </p:grpSpPr>
      <p:pic>
        <p:nvPicPr>
          <p:cNvPr id="10" name="Picture 4" descr="Resultado de imagen para colegio de ingenieros del peru lambayeque"/>
          <p:cNvPicPr>
            <a:picLocks noChangeAspect="1" noChangeArrowheads="1"/>
          </p:cNvPicPr>
          <p:nvPr userDrawn="1"/>
        </p:nvPicPr>
        <p:blipFill>
          <a:blip r:embed="rId2" cstate="print">
            <a:lum bright="70000" contrast="-70000"/>
            <a:extLst>
              <a:ext uri="{28A0092B-C50C-407E-A947-70E740481C1C}">
                <a14:useLocalDpi xmlns:a14="http://schemas.microsoft.com/office/drawing/2010/main" val="0"/>
              </a:ext>
            </a:extLst>
          </a:blip>
          <a:srcRect/>
          <a:stretch>
            <a:fillRect/>
          </a:stretch>
        </p:blipFill>
        <p:spPr bwMode="auto">
          <a:xfrm>
            <a:off x="10387812" y="5434812"/>
            <a:ext cx="1423188" cy="1423188"/>
          </a:xfrm>
          <a:prstGeom prst="rect">
            <a:avLst/>
          </a:prstGeom>
          <a:noFill/>
          <a:extLst>
            <a:ext uri="{909E8E84-426E-40DD-AFC4-6F175D3DCCD1}">
              <a14:hiddenFill xmlns:a14="http://schemas.microsoft.com/office/drawing/2010/main">
                <a:solidFill>
                  <a:srgbClr val="FFFFFF"/>
                </a:solidFill>
              </a14:hiddenFill>
            </a:ext>
          </a:extLst>
        </p:spPr>
      </p:pic>
      <p:sp>
        <p:nvSpPr>
          <p:cNvPr id="4" name="Marcador de fecha 3"/>
          <p:cNvSpPr>
            <a:spLocks noGrp="1"/>
          </p:cNvSpPr>
          <p:nvPr>
            <p:ph type="dt" sz="half" idx="10"/>
          </p:nvPr>
        </p:nvSpPr>
        <p:spPr/>
        <p:txBody>
          <a:bodyPr/>
          <a:lstStyle/>
          <a:p>
            <a:fld id="{06D8BD8A-34F6-4620-907D-6D1CD67ED4DA}" type="datetimeFigureOut">
              <a:rPr lang="es-PE" smtClean="0"/>
              <a:t>29/04/2020</a:t>
            </a:fld>
            <a:endParaRPr lang="es-PE"/>
          </a:p>
        </p:txBody>
      </p:sp>
      <p:sp>
        <p:nvSpPr>
          <p:cNvPr id="5" name="Marcador de pie de página 4"/>
          <p:cNvSpPr>
            <a:spLocks noGrp="1"/>
          </p:cNvSpPr>
          <p:nvPr>
            <p:ph type="ftr" sz="quarter" idx="11"/>
          </p:nvPr>
        </p:nvSpPr>
        <p:spPr/>
        <p:txBody>
          <a:bodyPr/>
          <a:lstStyle/>
          <a:p>
            <a:endParaRPr lang="es-PE"/>
          </a:p>
        </p:txBody>
      </p:sp>
      <p:sp>
        <p:nvSpPr>
          <p:cNvPr id="6" name="Marcador de número de diapositiva 5"/>
          <p:cNvSpPr>
            <a:spLocks noGrp="1"/>
          </p:cNvSpPr>
          <p:nvPr>
            <p:ph type="sldNum" sz="quarter" idx="12"/>
          </p:nvPr>
        </p:nvSpPr>
        <p:spPr/>
        <p:txBody>
          <a:bodyPr/>
          <a:lstStyle/>
          <a:p>
            <a:fld id="{EC40BBE2-C205-44BA-AF9E-D64C0961F059}" type="slidenum">
              <a:rPr lang="es-PE" smtClean="0"/>
              <a:t>‹Nº›</a:t>
            </a:fld>
            <a:endParaRPr lang="es-PE"/>
          </a:p>
        </p:txBody>
      </p:sp>
      <p:sp>
        <p:nvSpPr>
          <p:cNvPr id="7" name="Rectángulo 6"/>
          <p:cNvSpPr/>
          <p:nvPr userDrawn="1"/>
        </p:nvSpPr>
        <p:spPr>
          <a:xfrm rot="5400000">
            <a:off x="5732318" y="-5732318"/>
            <a:ext cx="727364" cy="12192000"/>
          </a:xfrm>
          <a:prstGeom prst="rect">
            <a:avLst/>
          </a:prstGeom>
          <a:solidFill>
            <a:srgbClr val="C00000"/>
          </a:solidFill>
          <a:ln>
            <a:solidFill>
              <a:srgbClr val="C00000"/>
            </a:solidFill>
          </a:ln>
        </p:spPr>
        <p:style>
          <a:lnRef idx="0">
            <a:schemeClr val="accent6"/>
          </a:lnRef>
          <a:fillRef idx="3">
            <a:schemeClr val="accent6"/>
          </a:fillRef>
          <a:effectRef idx="3">
            <a:schemeClr val="accent6"/>
          </a:effectRef>
          <a:fontRef idx="minor">
            <a:schemeClr val="lt1"/>
          </a:fontRef>
        </p:style>
        <p:txBody>
          <a:bodyPr rtlCol="0" anchor="ctr"/>
          <a:lstStyle/>
          <a:p>
            <a:pPr algn="ctr"/>
            <a:endParaRPr lang="es-PE"/>
          </a:p>
        </p:txBody>
      </p:sp>
      <p:sp>
        <p:nvSpPr>
          <p:cNvPr id="9" name="Marcador de texto 8"/>
          <p:cNvSpPr>
            <a:spLocks noGrp="1"/>
          </p:cNvSpPr>
          <p:nvPr>
            <p:ph type="body" sz="quarter" idx="13"/>
          </p:nvPr>
        </p:nvSpPr>
        <p:spPr>
          <a:xfrm>
            <a:off x="838200" y="2459181"/>
            <a:ext cx="10515600" cy="3668350"/>
          </a:xfrm>
        </p:spPr>
        <p:txBody>
          <a:bodyPr/>
          <a:lstStyle/>
          <a:p>
            <a:pPr lvl="0"/>
            <a:r>
              <a:rPr lang="es-ES" dirty="0" smtClean="0"/>
              <a:t>Editar el estilo de texto del patrón</a:t>
            </a:r>
          </a:p>
          <a:p>
            <a:pPr lvl="1"/>
            <a:r>
              <a:rPr lang="es-ES" dirty="0" smtClean="0"/>
              <a:t>Segundo nivel</a:t>
            </a:r>
          </a:p>
          <a:p>
            <a:pPr lvl="2"/>
            <a:r>
              <a:rPr lang="es-ES" dirty="0" smtClean="0"/>
              <a:t>Tercer nivel</a:t>
            </a:r>
          </a:p>
          <a:p>
            <a:pPr lvl="3"/>
            <a:r>
              <a:rPr lang="es-ES" dirty="0" smtClean="0"/>
              <a:t>Cuarto nivel</a:t>
            </a:r>
          </a:p>
          <a:p>
            <a:pPr lvl="4"/>
            <a:r>
              <a:rPr lang="es-ES" dirty="0" smtClean="0"/>
              <a:t>Quinto nivel</a:t>
            </a:r>
            <a:endParaRPr lang="es-PE" dirty="0"/>
          </a:p>
        </p:txBody>
      </p:sp>
      <p:sp>
        <p:nvSpPr>
          <p:cNvPr id="11" name="Título 10"/>
          <p:cNvSpPr>
            <a:spLocks noGrp="1"/>
          </p:cNvSpPr>
          <p:nvPr>
            <p:ph type="title"/>
          </p:nvPr>
        </p:nvSpPr>
        <p:spPr>
          <a:xfrm>
            <a:off x="838200" y="953704"/>
            <a:ext cx="10515600" cy="1325563"/>
          </a:xfrm>
        </p:spPr>
        <p:txBody>
          <a:bodyPr/>
          <a:lstStyle/>
          <a:p>
            <a:r>
              <a:rPr lang="es-ES" smtClean="0"/>
              <a:t>Haga clic para modificar el estilo de título del patrón</a:t>
            </a:r>
            <a:endParaRPr lang="es-PE"/>
          </a:p>
        </p:txBody>
      </p:sp>
    </p:spTree>
    <p:extLst>
      <p:ext uri="{BB962C8B-B14F-4D97-AF65-F5344CB8AC3E}">
        <p14:creationId xmlns:p14="http://schemas.microsoft.com/office/powerpoint/2010/main" val="2251650467"/>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pic>
        <p:nvPicPr>
          <p:cNvPr id="9" name="Picture 4" descr="Resultado de imagen para colegio de ingenieros del peru lambayeque"/>
          <p:cNvPicPr>
            <a:picLocks noChangeAspect="1" noChangeArrowheads="1"/>
          </p:cNvPicPr>
          <p:nvPr userDrawn="1"/>
        </p:nvPicPr>
        <p:blipFill>
          <a:blip r:embed="rId2" cstate="print">
            <a:lum bright="70000" contrast="-70000"/>
            <a:extLst>
              <a:ext uri="{28A0092B-C50C-407E-A947-70E740481C1C}">
                <a14:useLocalDpi xmlns:a14="http://schemas.microsoft.com/office/drawing/2010/main" val="0"/>
              </a:ext>
            </a:extLst>
          </a:blip>
          <a:srcRect/>
          <a:stretch>
            <a:fillRect/>
          </a:stretch>
        </p:blipFill>
        <p:spPr bwMode="auto">
          <a:xfrm>
            <a:off x="10642206" y="5434812"/>
            <a:ext cx="1423188" cy="1423188"/>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p:cNvSpPr/>
          <p:nvPr userDrawn="1"/>
        </p:nvSpPr>
        <p:spPr>
          <a:xfrm rot="5400000">
            <a:off x="5234873" y="-5233430"/>
            <a:ext cx="1722254" cy="12192000"/>
          </a:xfrm>
          <a:prstGeom prst="rect">
            <a:avLst/>
          </a:prstGeom>
          <a:solidFill>
            <a:srgbClr val="C00000"/>
          </a:solidFill>
          <a:ln>
            <a:solidFill>
              <a:srgbClr val="C00000"/>
            </a:solidFill>
          </a:ln>
        </p:spPr>
        <p:style>
          <a:lnRef idx="0">
            <a:schemeClr val="accent6"/>
          </a:lnRef>
          <a:fillRef idx="3">
            <a:schemeClr val="accent6"/>
          </a:fillRef>
          <a:effectRef idx="3">
            <a:schemeClr val="accent6"/>
          </a:effectRef>
          <a:fontRef idx="minor">
            <a:schemeClr val="lt1"/>
          </a:fontRef>
        </p:style>
        <p:txBody>
          <a:bodyPr rtlCol="0" anchor="ctr"/>
          <a:lstStyle/>
          <a:p>
            <a:pPr algn="ctr"/>
            <a:endParaRPr lang="es-PE"/>
          </a:p>
        </p:txBody>
      </p:sp>
      <p:sp>
        <p:nvSpPr>
          <p:cNvPr id="2" name="Título 1"/>
          <p:cNvSpPr>
            <a:spLocks noGrp="1"/>
          </p:cNvSpPr>
          <p:nvPr>
            <p:ph type="title"/>
          </p:nvPr>
        </p:nvSpPr>
        <p:spPr>
          <a:xfrm>
            <a:off x="838200" y="250753"/>
            <a:ext cx="10515600" cy="1325563"/>
          </a:xfrm>
        </p:spPr>
        <p:txBody>
          <a:bodyPr/>
          <a:lstStyle/>
          <a:p>
            <a:r>
              <a:rPr lang="es-ES" smtClean="0"/>
              <a:t>Haga clic para modificar el estilo de título del patrón</a:t>
            </a:r>
            <a:endParaRPr lang="es-PE"/>
          </a:p>
        </p:txBody>
      </p:sp>
      <p:sp>
        <p:nvSpPr>
          <p:cNvPr id="3" name="Marcador de contenido 2"/>
          <p:cNvSpPr>
            <a:spLocks noGrp="1"/>
          </p:cNvSpPr>
          <p:nvPr>
            <p:ph idx="1"/>
          </p:nvPr>
        </p:nvSpPr>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PE"/>
          </a:p>
        </p:txBody>
      </p:sp>
      <p:sp>
        <p:nvSpPr>
          <p:cNvPr id="4" name="Marcador de fecha 3"/>
          <p:cNvSpPr>
            <a:spLocks noGrp="1"/>
          </p:cNvSpPr>
          <p:nvPr>
            <p:ph type="dt" sz="half" idx="10"/>
          </p:nvPr>
        </p:nvSpPr>
        <p:spPr/>
        <p:txBody>
          <a:bodyPr/>
          <a:lstStyle/>
          <a:p>
            <a:fld id="{06D8BD8A-34F6-4620-907D-6D1CD67ED4DA}" type="datetimeFigureOut">
              <a:rPr lang="es-PE" smtClean="0"/>
              <a:t>29/04/2020</a:t>
            </a:fld>
            <a:endParaRPr lang="es-PE"/>
          </a:p>
        </p:txBody>
      </p:sp>
      <p:sp>
        <p:nvSpPr>
          <p:cNvPr id="5" name="Marcador de pie de página 4"/>
          <p:cNvSpPr>
            <a:spLocks noGrp="1"/>
          </p:cNvSpPr>
          <p:nvPr>
            <p:ph type="ftr" sz="quarter" idx="11"/>
          </p:nvPr>
        </p:nvSpPr>
        <p:spPr/>
        <p:txBody>
          <a:bodyPr/>
          <a:lstStyle/>
          <a:p>
            <a:endParaRPr lang="es-PE"/>
          </a:p>
        </p:txBody>
      </p:sp>
      <p:sp>
        <p:nvSpPr>
          <p:cNvPr id="6" name="Marcador de número de diapositiva 5"/>
          <p:cNvSpPr>
            <a:spLocks noGrp="1"/>
          </p:cNvSpPr>
          <p:nvPr>
            <p:ph type="sldNum" sz="quarter" idx="12"/>
          </p:nvPr>
        </p:nvSpPr>
        <p:spPr/>
        <p:txBody>
          <a:bodyPr/>
          <a:lstStyle/>
          <a:p>
            <a:fld id="{EC40BBE2-C205-44BA-AF9E-D64C0961F059}" type="slidenum">
              <a:rPr lang="es-PE" smtClean="0"/>
              <a:t>‹Nº›</a:t>
            </a:fld>
            <a:endParaRPr lang="es-PE"/>
          </a:p>
        </p:txBody>
      </p:sp>
    </p:spTree>
    <p:extLst>
      <p:ext uri="{BB962C8B-B14F-4D97-AF65-F5344CB8AC3E}">
        <p14:creationId xmlns:p14="http://schemas.microsoft.com/office/powerpoint/2010/main" val="4016932867"/>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es-ES" smtClean="0"/>
              <a:t>Haga clic para modificar el estilo de título del patrón</a:t>
            </a:r>
            <a:endParaRPr lang="es-PE"/>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smtClean="0"/>
              <a:t>Editar el estilo de texto del patrón</a:t>
            </a:r>
          </a:p>
        </p:txBody>
      </p:sp>
      <p:sp>
        <p:nvSpPr>
          <p:cNvPr id="4" name="Marcador de fecha 3"/>
          <p:cNvSpPr>
            <a:spLocks noGrp="1"/>
          </p:cNvSpPr>
          <p:nvPr>
            <p:ph type="dt" sz="half" idx="10"/>
          </p:nvPr>
        </p:nvSpPr>
        <p:spPr/>
        <p:txBody>
          <a:bodyPr/>
          <a:lstStyle/>
          <a:p>
            <a:fld id="{06D8BD8A-34F6-4620-907D-6D1CD67ED4DA}" type="datetimeFigureOut">
              <a:rPr lang="es-PE" smtClean="0"/>
              <a:t>29/04/2020</a:t>
            </a:fld>
            <a:endParaRPr lang="es-PE"/>
          </a:p>
        </p:txBody>
      </p:sp>
      <p:sp>
        <p:nvSpPr>
          <p:cNvPr id="5" name="Marcador de pie de página 4"/>
          <p:cNvSpPr>
            <a:spLocks noGrp="1"/>
          </p:cNvSpPr>
          <p:nvPr>
            <p:ph type="ftr" sz="quarter" idx="11"/>
          </p:nvPr>
        </p:nvSpPr>
        <p:spPr/>
        <p:txBody>
          <a:bodyPr/>
          <a:lstStyle/>
          <a:p>
            <a:endParaRPr lang="es-PE"/>
          </a:p>
        </p:txBody>
      </p:sp>
      <p:sp>
        <p:nvSpPr>
          <p:cNvPr id="6" name="Marcador de número de diapositiva 5"/>
          <p:cNvSpPr>
            <a:spLocks noGrp="1"/>
          </p:cNvSpPr>
          <p:nvPr>
            <p:ph type="sldNum" sz="quarter" idx="12"/>
          </p:nvPr>
        </p:nvSpPr>
        <p:spPr/>
        <p:txBody>
          <a:bodyPr/>
          <a:lstStyle/>
          <a:p>
            <a:fld id="{EC40BBE2-C205-44BA-AF9E-D64C0961F059}" type="slidenum">
              <a:rPr lang="es-PE" smtClean="0"/>
              <a:t>‹Nº›</a:t>
            </a:fld>
            <a:endParaRPr lang="es-PE"/>
          </a:p>
        </p:txBody>
      </p:sp>
    </p:spTree>
    <p:extLst>
      <p:ext uri="{BB962C8B-B14F-4D97-AF65-F5344CB8AC3E}">
        <p14:creationId xmlns:p14="http://schemas.microsoft.com/office/powerpoint/2010/main" val="2704476256"/>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pic>
        <p:nvPicPr>
          <p:cNvPr id="9" name="Picture 4" descr="Resultado de imagen para colegio de ingenieros del peru lambayeque"/>
          <p:cNvPicPr>
            <a:picLocks noChangeAspect="1" noChangeArrowheads="1"/>
          </p:cNvPicPr>
          <p:nvPr userDrawn="1"/>
        </p:nvPicPr>
        <p:blipFill>
          <a:blip r:embed="rId2" cstate="print">
            <a:lum bright="70000" contrast="-70000"/>
            <a:extLst>
              <a:ext uri="{28A0092B-C50C-407E-A947-70E740481C1C}">
                <a14:useLocalDpi xmlns:a14="http://schemas.microsoft.com/office/drawing/2010/main" val="0"/>
              </a:ext>
            </a:extLst>
          </a:blip>
          <a:srcRect/>
          <a:stretch>
            <a:fillRect/>
          </a:stretch>
        </p:blipFill>
        <p:spPr bwMode="auto">
          <a:xfrm>
            <a:off x="10642206" y="5434812"/>
            <a:ext cx="1423188" cy="1423188"/>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p:cNvSpPr/>
          <p:nvPr userDrawn="1"/>
        </p:nvSpPr>
        <p:spPr>
          <a:xfrm rot="5400000">
            <a:off x="5234873" y="-5234873"/>
            <a:ext cx="1722254" cy="12192000"/>
          </a:xfrm>
          <a:prstGeom prst="rect">
            <a:avLst/>
          </a:prstGeom>
          <a:solidFill>
            <a:srgbClr val="C00000"/>
          </a:solidFill>
          <a:ln>
            <a:solidFill>
              <a:srgbClr val="C00000"/>
            </a:solidFill>
          </a:ln>
        </p:spPr>
        <p:style>
          <a:lnRef idx="0">
            <a:schemeClr val="accent6"/>
          </a:lnRef>
          <a:fillRef idx="3">
            <a:schemeClr val="accent6"/>
          </a:fillRef>
          <a:effectRef idx="3">
            <a:schemeClr val="accent6"/>
          </a:effectRef>
          <a:fontRef idx="minor">
            <a:schemeClr val="lt1"/>
          </a:fontRef>
        </p:style>
        <p:txBody>
          <a:bodyPr rtlCol="0" anchor="ctr"/>
          <a:lstStyle/>
          <a:p>
            <a:pPr algn="ctr"/>
            <a:endParaRPr lang="es-PE"/>
          </a:p>
        </p:txBody>
      </p:sp>
      <p:sp>
        <p:nvSpPr>
          <p:cNvPr id="2" name="Título 1"/>
          <p:cNvSpPr>
            <a:spLocks noGrp="1"/>
          </p:cNvSpPr>
          <p:nvPr>
            <p:ph type="title"/>
          </p:nvPr>
        </p:nvSpPr>
        <p:spPr>
          <a:xfrm>
            <a:off x="838200" y="330200"/>
            <a:ext cx="10515600" cy="1325563"/>
          </a:xfrm>
        </p:spPr>
        <p:txBody>
          <a:bodyPr/>
          <a:lstStyle/>
          <a:p>
            <a:r>
              <a:rPr lang="es-ES" smtClean="0"/>
              <a:t>Haga clic para modificar el estilo de título del patrón</a:t>
            </a:r>
            <a:endParaRPr lang="es-PE"/>
          </a:p>
        </p:txBody>
      </p:sp>
      <p:sp>
        <p:nvSpPr>
          <p:cNvPr id="3" name="Marcador de contenido 2"/>
          <p:cNvSpPr>
            <a:spLocks noGrp="1"/>
          </p:cNvSpPr>
          <p:nvPr>
            <p:ph sz="half" idx="1"/>
          </p:nvPr>
        </p:nvSpPr>
        <p:spPr>
          <a:xfrm>
            <a:off x="838200" y="1825625"/>
            <a:ext cx="5181600" cy="4351338"/>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PE"/>
          </a:p>
        </p:txBody>
      </p:sp>
      <p:sp>
        <p:nvSpPr>
          <p:cNvPr id="4" name="Marcador de contenido 3"/>
          <p:cNvSpPr>
            <a:spLocks noGrp="1"/>
          </p:cNvSpPr>
          <p:nvPr>
            <p:ph sz="half" idx="2"/>
          </p:nvPr>
        </p:nvSpPr>
        <p:spPr>
          <a:xfrm>
            <a:off x="6172200" y="1825625"/>
            <a:ext cx="5181600" cy="4351338"/>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PE"/>
          </a:p>
        </p:txBody>
      </p:sp>
      <p:sp>
        <p:nvSpPr>
          <p:cNvPr id="5" name="Marcador de fecha 4"/>
          <p:cNvSpPr>
            <a:spLocks noGrp="1"/>
          </p:cNvSpPr>
          <p:nvPr>
            <p:ph type="dt" sz="half" idx="10"/>
          </p:nvPr>
        </p:nvSpPr>
        <p:spPr/>
        <p:txBody>
          <a:bodyPr/>
          <a:lstStyle/>
          <a:p>
            <a:fld id="{06D8BD8A-34F6-4620-907D-6D1CD67ED4DA}" type="datetimeFigureOut">
              <a:rPr lang="es-PE" smtClean="0"/>
              <a:t>29/04/2020</a:t>
            </a:fld>
            <a:endParaRPr lang="es-PE"/>
          </a:p>
        </p:txBody>
      </p:sp>
      <p:sp>
        <p:nvSpPr>
          <p:cNvPr id="6" name="Marcador de pie de página 5"/>
          <p:cNvSpPr>
            <a:spLocks noGrp="1"/>
          </p:cNvSpPr>
          <p:nvPr>
            <p:ph type="ftr" sz="quarter" idx="11"/>
          </p:nvPr>
        </p:nvSpPr>
        <p:spPr/>
        <p:txBody>
          <a:bodyPr/>
          <a:lstStyle/>
          <a:p>
            <a:endParaRPr lang="es-PE"/>
          </a:p>
        </p:txBody>
      </p:sp>
      <p:sp>
        <p:nvSpPr>
          <p:cNvPr id="7" name="Marcador de número de diapositiva 6"/>
          <p:cNvSpPr>
            <a:spLocks noGrp="1"/>
          </p:cNvSpPr>
          <p:nvPr>
            <p:ph type="sldNum" sz="quarter" idx="12"/>
          </p:nvPr>
        </p:nvSpPr>
        <p:spPr/>
        <p:txBody>
          <a:bodyPr/>
          <a:lstStyle/>
          <a:p>
            <a:fld id="{EC40BBE2-C205-44BA-AF9E-D64C0961F059}" type="slidenum">
              <a:rPr lang="es-PE" smtClean="0"/>
              <a:t>‹Nº›</a:t>
            </a:fld>
            <a:endParaRPr lang="es-PE"/>
          </a:p>
        </p:txBody>
      </p:sp>
    </p:spTree>
    <p:extLst>
      <p:ext uri="{BB962C8B-B14F-4D97-AF65-F5344CB8AC3E}">
        <p14:creationId xmlns:p14="http://schemas.microsoft.com/office/powerpoint/2010/main" val="1730956320"/>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 smtClean="0"/>
              <a:t>Haga clic para modificar el estilo de título del patrón</a:t>
            </a:r>
            <a:endParaRPr lang="es-PE"/>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Editar el estilo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PE"/>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Editar el estilo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PE"/>
          </a:p>
        </p:txBody>
      </p:sp>
      <p:sp>
        <p:nvSpPr>
          <p:cNvPr id="7" name="Marcador de fecha 6"/>
          <p:cNvSpPr>
            <a:spLocks noGrp="1"/>
          </p:cNvSpPr>
          <p:nvPr>
            <p:ph type="dt" sz="half" idx="10"/>
          </p:nvPr>
        </p:nvSpPr>
        <p:spPr/>
        <p:txBody>
          <a:bodyPr/>
          <a:lstStyle/>
          <a:p>
            <a:fld id="{06D8BD8A-34F6-4620-907D-6D1CD67ED4DA}" type="datetimeFigureOut">
              <a:rPr lang="es-PE" smtClean="0"/>
              <a:t>29/04/2020</a:t>
            </a:fld>
            <a:endParaRPr lang="es-PE"/>
          </a:p>
        </p:txBody>
      </p:sp>
      <p:sp>
        <p:nvSpPr>
          <p:cNvPr id="8" name="Marcador de pie de página 7"/>
          <p:cNvSpPr>
            <a:spLocks noGrp="1"/>
          </p:cNvSpPr>
          <p:nvPr>
            <p:ph type="ftr" sz="quarter" idx="11"/>
          </p:nvPr>
        </p:nvSpPr>
        <p:spPr/>
        <p:txBody>
          <a:bodyPr/>
          <a:lstStyle/>
          <a:p>
            <a:endParaRPr lang="es-PE"/>
          </a:p>
        </p:txBody>
      </p:sp>
      <p:sp>
        <p:nvSpPr>
          <p:cNvPr id="9" name="Marcador de número de diapositiva 8"/>
          <p:cNvSpPr>
            <a:spLocks noGrp="1"/>
          </p:cNvSpPr>
          <p:nvPr>
            <p:ph type="sldNum" sz="quarter" idx="12"/>
          </p:nvPr>
        </p:nvSpPr>
        <p:spPr/>
        <p:txBody>
          <a:bodyPr/>
          <a:lstStyle/>
          <a:p>
            <a:fld id="{EC40BBE2-C205-44BA-AF9E-D64C0961F059}" type="slidenum">
              <a:rPr lang="es-PE" smtClean="0"/>
              <a:t>‹Nº›</a:t>
            </a:fld>
            <a:endParaRPr lang="es-PE"/>
          </a:p>
        </p:txBody>
      </p:sp>
    </p:spTree>
    <p:extLst>
      <p:ext uri="{BB962C8B-B14F-4D97-AF65-F5344CB8AC3E}">
        <p14:creationId xmlns:p14="http://schemas.microsoft.com/office/powerpoint/2010/main" val="2990636041"/>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PE"/>
          </a:p>
        </p:txBody>
      </p:sp>
      <p:sp>
        <p:nvSpPr>
          <p:cNvPr id="3" name="Marcador de fecha 2"/>
          <p:cNvSpPr>
            <a:spLocks noGrp="1"/>
          </p:cNvSpPr>
          <p:nvPr>
            <p:ph type="dt" sz="half" idx="10"/>
          </p:nvPr>
        </p:nvSpPr>
        <p:spPr/>
        <p:txBody>
          <a:bodyPr/>
          <a:lstStyle/>
          <a:p>
            <a:fld id="{06D8BD8A-34F6-4620-907D-6D1CD67ED4DA}" type="datetimeFigureOut">
              <a:rPr lang="es-PE" smtClean="0"/>
              <a:t>29/04/2020</a:t>
            </a:fld>
            <a:endParaRPr lang="es-PE"/>
          </a:p>
        </p:txBody>
      </p:sp>
      <p:sp>
        <p:nvSpPr>
          <p:cNvPr id="4" name="Marcador de pie de página 3"/>
          <p:cNvSpPr>
            <a:spLocks noGrp="1"/>
          </p:cNvSpPr>
          <p:nvPr>
            <p:ph type="ftr" sz="quarter" idx="11"/>
          </p:nvPr>
        </p:nvSpPr>
        <p:spPr/>
        <p:txBody>
          <a:bodyPr/>
          <a:lstStyle/>
          <a:p>
            <a:endParaRPr lang="es-PE"/>
          </a:p>
        </p:txBody>
      </p:sp>
      <p:sp>
        <p:nvSpPr>
          <p:cNvPr id="5" name="Marcador de número de diapositiva 4"/>
          <p:cNvSpPr>
            <a:spLocks noGrp="1"/>
          </p:cNvSpPr>
          <p:nvPr>
            <p:ph type="sldNum" sz="quarter" idx="12"/>
          </p:nvPr>
        </p:nvSpPr>
        <p:spPr/>
        <p:txBody>
          <a:bodyPr/>
          <a:lstStyle/>
          <a:p>
            <a:fld id="{EC40BBE2-C205-44BA-AF9E-D64C0961F059}" type="slidenum">
              <a:rPr lang="es-PE" smtClean="0"/>
              <a:t>‹Nº›</a:t>
            </a:fld>
            <a:endParaRPr lang="es-PE"/>
          </a:p>
        </p:txBody>
      </p:sp>
    </p:spTree>
    <p:extLst>
      <p:ext uri="{BB962C8B-B14F-4D97-AF65-F5344CB8AC3E}">
        <p14:creationId xmlns:p14="http://schemas.microsoft.com/office/powerpoint/2010/main" val="3399291916"/>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06D8BD8A-34F6-4620-907D-6D1CD67ED4DA}" type="datetimeFigureOut">
              <a:rPr lang="es-PE" smtClean="0"/>
              <a:t>29/04/2020</a:t>
            </a:fld>
            <a:endParaRPr lang="es-PE"/>
          </a:p>
        </p:txBody>
      </p:sp>
      <p:sp>
        <p:nvSpPr>
          <p:cNvPr id="3" name="Marcador de pie de página 2"/>
          <p:cNvSpPr>
            <a:spLocks noGrp="1"/>
          </p:cNvSpPr>
          <p:nvPr>
            <p:ph type="ftr" sz="quarter" idx="11"/>
          </p:nvPr>
        </p:nvSpPr>
        <p:spPr/>
        <p:txBody>
          <a:bodyPr/>
          <a:lstStyle/>
          <a:p>
            <a:endParaRPr lang="es-PE"/>
          </a:p>
        </p:txBody>
      </p:sp>
      <p:sp>
        <p:nvSpPr>
          <p:cNvPr id="4" name="Marcador de número de diapositiva 3"/>
          <p:cNvSpPr>
            <a:spLocks noGrp="1"/>
          </p:cNvSpPr>
          <p:nvPr>
            <p:ph type="sldNum" sz="quarter" idx="12"/>
          </p:nvPr>
        </p:nvSpPr>
        <p:spPr/>
        <p:txBody>
          <a:bodyPr/>
          <a:lstStyle/>
          <a:p>
            <a:fld id="{EC40BBE2-C205-44BA-AF9E-D64C0961F059}" type="slidenum">
              <a:rPr lang="es-PE" smtClean="0"/>
              <a:t>‹Nº›</a:t>
            </a:fld>
            <a:endParaRPr lang="es-PE"/>
          </a:p>
        </p:txBody>
      </p:sp>
    </p:spTree>
    <p:extLst>
      <p:ext uri="{BB962C8B-B14F-4D97-AF65-F5344CB8AC3E}">
        <p14:creationId xmlns:p14="http://schemas.microsoft.com/office/powerpoint/2010/main" val="1074834576"/>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smtClean="0"/>
              <a:t>Haga clic para modificar el estilo de título del patrón</a:t>
            </a:r>
            <a:endParaRPr lang="es-PE"/>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PE"/>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smtClean="0"/>
              <a:t>Editar el estilo de texto del patrón</a:t>
            </a:r>
          </a:p>
        </p:txBody>
      </p:sp>
      <p:sp>
        <p:nvSpPr>
          <p:cNvPr id="5" name="Marcador de fecha 4"/>
          <p:cNvSpPr>
            <a:spLocks noGrp="1"/>
          </p:cNvSpPr>
          <p:nvPr>
            <p:ph type="dt" sz="half" idx="10"/>
          </p:nvPr>
        </p:nvSpPr>
        <p:spPr/>
        <p:txBody>
          <a:bodyPr/>
          <a:lstStyle/>
          <a:p>
            <a:fld id="{06D8BD8A-34F6-4620-907D-6D1CD67ED4DA}" type="datetimeFigureOut">
              <a:rPr lang="es-PE" smtClean="0"/>
              <a:t>29/04/2020</a:t>
            </a:fld>
            <a:endParaRPr lang="es-PE"/>
          </a:p>
        </p:txBody>
      </p:sp>
      <p:sp>
        <p:nvSpPr>
          <p:cNvPr id="6" name="Marcador de pie de página 5"/>
          <p:cNvSpPr>
            <a:spLocks noGrp="1"/>
          </p:cNvSpPr>
          <p:nvPr>
            <p:ph type="ftr" sz="quarter" idx="11"/>
          </p:nvPr>
        </p:nvSpPr>
        <p:spPr/>
        <p:txBody>
          <a:bodyPr/>
          <a:lstStyle/>
          <a:p>
            <a:endParaRPr lang="es-PE"/>
          </a:p>
        </p:txBody>
      </p:sp>
      <p:sp>
        <p:nvSpPr>
          <p:cNvPr id="7" name="Marcador de número de diapositiva 6"/>
          <p:cNvSpPr>
            <a:spLocks noGrp="1"/>
          </p:cNvSpPr>
          <p:nvPr>
            <p:ph type="sldNum" sz="quarter" idx="12"/>
          </p:nvPr>
        </p:nvSpPr>
        <p:spPr/>
        <p:txBody>
          <a:bodyPr/>
          <a:lstStyle/>
          <a:p>
            <a:fld id="{EC40BBE2-C205-44BA-AF9E-D64C0961F059}" type="slidenum">
              <a:rPr lang="es-PE" smtClean="0"/>
              <a:t>‹Nº›</a:t>
            </a:fld>
            <a:endParaRPr lang="es-PE"/>
          </a:p>
        </p:txBody>
      </p:sp>
    </p:spTree>
    <p:extLst>
      <p:ext uri="{BB962C8B-B14F-4D97-AF65-F5344CB8AC3E}">
        <p14:creationId xmlns:p14="http://schemas.microsoft.com/office/powerpoint/2010/main" val="2417530972"/>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smtClean="0"/>
              <a:t>Haga clic para modificar el estilo de título del patrón</a:t>
            </a:r>
            <a:endParaRPr lang="es-PE"/>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PE"/>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smtClean="0"/>
              <a:t>Editar el estilo de texto del patrón</a:t>
            </a:r>
          </a:p>
        </p:txBody>
      </p:sp>
      <p:sp>
        <p:nvSpPr>
          <p:cNvPr id="5" name="Marcador de fecha 4"/>
          <p:cNvSpPr>
            <a:spLocks noGrp="1"/>
          </p:cNvSpPr>
          <p:nvPr>
            <p:ph type="dt" sz="half" idx="10"/>
          </p:nvPr>
        </p:nvSpPr>
        <p:spPr/>
        <p:txBody>
          <a:bodyPr/>
          <a:lstStyle/>
          <a:p>
            <a:fld id="{06D8BD8A-34F6-4620-907D-6D1CD67ED4DA}" type="datetimeFigureOut">
              <a:rPr lang="es-PE" smtClean="0"/>
              <a:t>29/04/2020</a:t>
            </a:fld>
            <a:endParaRPr lang="es-PE"/>
          </a:p>
        </p:txBody>
      </p:sp>
      <p:sp>
        <p:nvSpPr>
          <p:cNvPr id="6" name="Marcador de pie de página 5"/>
          <p:cNvSpPr>
            <a:spLocks noGrp="1"/>
          </p:cNvSpPr>
          <p:nvPr>
            <p:ph type="ftr" sz="quarter" idx="11"/>
          </p:nvPr>
        </p:nvSpPr>
        <p:spPr/>
        <p:txBody>
          <a:bodyPr/>
          <a:lstStyle/>
          <a:p>
            <a:endParaRPr lang="es-PE"/>
          </a:p>
        </p:txBody>
      </p:sp>
      <p:sp>
        <p:nvSpPr>
          <p:cNvPr id="7" name="Marcador de número de diapositiva 6"/>
          <p:cNvSpPr>
            <a:spLocks noGrp="1"/>
          </p:cNvSpPr>
          <p:nvPr>
            <p:ph type="sldNum" sz="quarter" idx="12"/>
          </p:nvPr>
        </p:nvSpPr>
        <p:spPr/>
        <p:txBody>
          <a:bodyPr/>
          <a:lstStyle/>
          <a:p>
            <a:fld id="{EC40BBE2-C205-44BA-AF9E-D64C0961F059}" type="slidenum">
              <a:rPr lang="es-PE" smtClean="0"/>
              <a:t>‹Nº›</a:t>
            </a:fld>
            <a:endParaRPr lang="es-PE"/>
          </a:p>
        </p:txBody>
      </p:sp>
    </p:spTree>
    <p:extLst>
      <p:ext uri="{BB962C8B-B14F-4D97-AF65-F5344CB8AC3E}">
        <p14:creationId xmlns:p14="http://schemas.microsoft.com/office/powerpoint/2010/main" val="4243305541"/>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PE"/>
          </a:p>
        </p:txBody>
      </p:sp>
      <p:sp>
        <p:nvSpPr>
          <p:cNvPr id="3" name="Marcador de texto vertical 2"/>
          <p:cNvSpPr>
            <a:spLocks noGrp="1"/>
          </p:cNvSpPr>
          <p:nvPr>
            <p:ph type="body" orient="vert" idx="1"/>
          </p:nvPr>
        </p:nvSpPr>
        <p:spPr/>
        <p:txBody>
          <a:bodyPr vert="eaVert"/>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PE"/>
          </a:p>
        </p:txBody>
      </p:sp>
      <p:sp>
        <p:nvSpPr>
          <p:cNvPr id="4" name="Marcador de fecha 3"/>
          <p:cNvSpPr>
            <a:spLocks noGrp="1"/>
          </p:cNvSpPr>
          <p:nvPr>
            <p:ph type="dt" sz="half" idx="10"/>
          </p:nvPr>
        </p:nvSpPr>
        <p:spPr/>
        <p:txBody>
          <a:bodyPr/>
          <a:lstStyle/>
          <a:p>
            <a:fld id="{06D8BD8A-34F6-4620-907D-6D1CD67ED4DA}" type="datetimeFigureOut">
              <a:rPr lang="es-PE" smtClean="0"/>
              <a:t>29/04/2020</a:t>
            </a:fld>
            <a:endParaRPr lang="es-PE"/>
          </a:p>
        </p:txBody>
      </p:sp>
      <p:sp>
        <p:nvSpPr>
          <p:cNvPr id="5" name="Marcador de pie de página 4"/>
          <p:cNvSpPr>
            <a:spLocks noGrp="1"/>
          </p:cNvSpPr>
          <p:nvPr>
            <p:ph type="ftr" sz="quarter" idx="11"/>
          </p:nvPr>
        </p:nvSpPr>
        <p:spPr/>
        <p:txBody>
          <a:bodyPr/>
          <a:lstStyle/>
          <a:p>
            <a:endParaRPr lang="es-PE"/>
          </a:p>
        </p:txBody>
      </p:sp>
      <p:sp>
        <p:nvSpPr>
          <p:cNvPr id="6" name="Marcador de número de diapositiva 5"/>
          <p:cNvSpPr>
            <a:spLocks noGrp="1"/>
          </p:cNvSpPr>
          <p:nvPr>
            <p:ph type="sldNum" sz="quarter" idx="12"/>
          </p:nvPr>
        </p:nvSpPr>
        <p:spPr/>
        <p:txBody>
          <a:bodyPr/>
          <a:lstStyle/>
          <a:p>
            <a:fld id="{EC40BBE2-C205-44BA-AF9E-D64C0961F059}" type="slidenum">
              <a:rPr lang="es-PE" smtClean="0"/>
              <a:t>‹Nº›</a:t>
            </a:fld>
            <a:endParaRPr lang="es-PE"/>
          </a:p>
        </p:txBody>
      </p:sp>
    </p:spTree>
    <p:extLst>
      <p:ext uri="{BB962C8B-B14F-4D97-AF65-F5344CB8AC3E}">
        <p14:creationId xmlns:p14="http://schemas.microsoft.com/office/powerpoint/2010/main" val="2434875805"/>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 smtClean="0"/>
              <a:t>Haga clic para modificar el estilo de título del patrón</a:t>
            </a:r>
            <a:endParaRPr lang="es-PE"/>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PE"/>
          </a:p>
        </p:txBody>
      </p:sp>
      <p:sp>
        <p:nvSpPr>
          <p:cNvPr id="4" name="Marcador de fecha 3"/>
          <p:cNvSpPr>
            <a:spLocks noGrp="1"/>
          </p:cNvSpPr>
          <p:nvPr>
            <p:ph type="dt" sz="half" idx="10"/>
          </p:nvPr>
        </p:nvSpPr>
        <p:spPr/>
        <p:txBody>
          <a:bodyPr/>
          <a:lstStyle/>
          <a:p>
            <a:fld id="{06D8BD8A-34F6-4620-907D-6D1CD67ED4DA}" type="datetimeFigureOut">
              <a:rPr lang="es-PE" smtClean="0"/>
              <a:t>29/04/2020</a:t>
            </a:fld>
            <a:endParaRPr lang="es-PE"/>
          </a:p>
        </p:txBody>
      </p:sp>
      <p:sp>
        <p:nvSpPr>
          <p:cNvPr id="5" name="Marcador de pie de página 4"/>
          <p:cNvSpPr>
            <a:spLocks noGrp="1"/>
          </p:cNvSpPr>
          <p:nvPr>
            <p:ph type="ftr" sz="quarter" idx="11"/>
          </p:nvPr>
        </p:nvSpPr>
        <p:spPr/>
        <p:txBody>
          <a:bodyPr/>
          <a:lstStyle/>
          <a:p>
            <a:endParaRPr lang="es-PE"/>
          </a:p>
        </p:txBody>
      </p:sp>
      <p:sp>
        <p:nvSpPr>
          <p:cNvPr id="6" name="Marcador de número de diapositiva 5"/>
          <p:cNvSpPr>
            <a:spLocks noGrp="1"/>
          </p:cNvSpPr>
          <p:nvPr>
            <p:ph type="sldNum" sz="quarter" idx="12"/>
          </p:nvPr>
        </p:nvSpPr>
        <p:spPr/>
        <p:txBody>
          <a:bodyPr/>
          <a:lstStyle/>
          <a:p>
            <a:fld id="{EC40BBE2-C205-44BA-AF9E-D64C0961F059}" type="slidenum">
              <a:rPr lang="es-PE" smtClean="0"/>
              <a:t>‹Nº›</a:t>
            </a:fld>
            <a:endParaRPr lang="es-PE"/>
          </a:p>
        </p:txBody>
      </p:sp>
    </p:spTree>
    <p:extLst>
      <p:ext uri="{BB962C8B-B14F-4D97-AF65-F5344CB8AC3E}">
        <p14:creationId xmlns:p14="http://schemas.microsoft.com/office/powerpoint/2010/main" val="1337234767"/>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smtClean="0"/>
              <a:t>Haga clic para modificar el estilo de título del patrón</a:t>
            </a:r>
            <a:endParaRPr lang="es-PE"/>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PE"/>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6D8BD8A-34F6-4620-907D-6D1CD67ED4DA}" type="datetimeFigureOut">
              <a:rPr lang="es-PE" smtClean="0"/>
              <a:t>29/04/2020</a:t>
            </a:fld>
            <a:endParaRPr lang="es-PE"/>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PE"/>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C40BBE2-C205-44BA-AF9E-D64C0961F059}" type="slidenum">
              <a:rPr lang="es-PE" smtClean="0"/>
              <a:t>‹Nº›</a:t>
            </a:fld>
            <a:endParaRPr lang="es-PE"/>
          </a:p>
        </p:txBody>
      </p:sp>
    </p:spTree>
    <p:extLst>
      <p:ext uri="{BB962C8B-B14F-4D97-AF65-F5344CB8AC3E}">
        <p14:creationId xmlns:p14="http://schemas.microsoft.com/office/powerpoint/2010/main" val="1514703138"/>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CuadroTexto 3"/>
          <p:cNvSpPr txBox="1">
            <a:spLocks noChangeArrowheads="1"/>
          </p:cNvSpPr>
          <p:nvPr/>
        </p:nvSpPr>
        <p:spPr bwMode="auto">
          <a:xfrm>
            <a:off x="3720215" y="2655888"/>
            <a:ext cx="479996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r>
              <a:rPr lang="es-ES" altLang="es-PE" sz="2800" b="1" dirty="0" smtClean="0">
                <a:solidFill>
                  <a:schemeClr val="bg1"/>
                </a:solidFill>
              </a:rPr>
              <a:t>SESIÓN 04: EXCEL INTERMEDIO</a:t>
            </a:r>
            <a:endParaRPr lang="es-ES" altLang="es-PE" sz="2800" b="1" dirty="0">
              <a:solidFill>
                <a:schemeClr val="bg1"/>
              </a:solidFill>
            </a:endParaRPr>
          </a:p>
        </p:txBody>
      </p:sp>
      <p:sp>
        <p:nvSpPr>
          <p:cNvPr id="5" name="Título 1"/>
          <p:cNvSpPr txBox="1">
            <a:spLocks/>
          </p:cNvSpPr>
          <p:nvPr/>
        </p:nvSpPr>
        <p:spPr>
          <a:xfrm>
            <a:off x="2824163" y="376238"/>
            <a:ext cx="6907212" cy="1252537"/>
          </a:xfrm>
          <a:prstGeom prst="rect">
            <a:avLst/>
          </a:prstGeom>
        </p:spPr>
        <p:txBody>
          <a:bodyP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fontAlgn="auto">
              <a:spcAft>
                <a:spcPts val="0"/>
              </a:spcAft>
              <a:defRPr/>
            </a:pPr>
            <a:r>
              <a:rPr lang="es-PE" sz="2800" b="1" dirty="0" smtClean="0">
                <a:latin typeface="+mn-lt"/>
              </a:rPr>
              <a:t>COLEGIO DE INGENIEROS DEL PERU</a:t>
            </a:r>
            <a:br>
              <a:rPr lang="es-PE" sz="2800" b="1" dirty="0" smtClean="0">
                <a:latin typeface="+mn-lt"/>
              </a:rPr>
            </a:br>
            <a:r>
              <a:rPr lang="es-PE" sz="2800" b="1" dirty="0" smtClean="0">
                <a:latin typeface="+mn-lt"/>
              </a:rPr>
              <a:t>CONSEJO DEPARTAMENTAL DE LAMBAYEQUE</a:t>
            </a:r>
            <a:br>
              <a:rPr lang="es-PE" sz="2800" b="1" dirty="0" smtClean="0">
                <a:latin typeface="+mn-lt"/>
              </a:rPr>
            </a:br>
            <a:r>
              <a:rPr lang="es-PE" sz="2200" b="1" dirty="0" smtClean="0">
                <a:latin typeface="+mn-lt"/>
              </a:rPr>
              <a:t>INSTITUTO DE ESTUDIOS PROFESIONALES DE INGENIERÍA IEPI</a:t>
            </a:r>
          </a:p>
          <a:p>
            <a:pPr algn="ctr" fontAlgn="auto">
              <a:spcAft>
                <a:spcPts val="0"/>
              </a:spcAft>
              <a:defRPr/>
            </a:pPr>
            <a:r>
              <a:rPr lang="es-PE" sz="2200" b="1" dirty="0" smtClean="0">
                <a:latin typeface="+mn-lt"/>
              </a:rPr>
              <a:t>CENTRO DE CAPACITACIÓN</a:t>
            </a:r>
            <a:endParaRPr lang="es-PE" sz="2200" b="1" dirty="0">
              <a:latin typeface="+mn-lt"/>
            </a:endParaRPr>
          </a:p>
        </p:txBody>
      </p:sp>
      <p:sp>
        <p:nvSpPr>
          <p:cNvPr id="6" name="Subtítulo 2"/>
          <p:cNvSpPr>
            <a:spLocks noGrp="1"/>
          </p:cNvSpPr>
          <p:nvPr>
            <p:ph type="subTitle" idx="1"/>
          </p:nvPr>
        </p:nvSpPr>
        <p:spPr>
          <a:xfrm>
            <a:off x="3427413" y="5948363"/>
            <a:ext cx="5702300" cy="411162"/>
          </a:xfrm>
        </p:spPr>
        <p:txBody>
          <a:bodyPr>
            <a:normAutofit lnSpcReduction="10000"/>
          </a:bodyPr>
          <a:lstStyle/>
          <a:p>
            <a:r>
              <a:rPr lang="es-PE" altLang="es-PE" sz="2400" dirty="0" smtClean="0"/>
              <a:t>Docente: Ing. Eric Alberto Heredia Mendoza</a:t>
            </a:r>
          </a:p>
        </p:txBody>
      </p:sp>
    </p:spTree>
    <p:extLst>
      <p:ext uri="{BB962C8B-B14F-4D97-AF65-F5344CB8AC3E}">
        <p14:creationId xmlns:p14="http://schemas.microsoft.com/office/powerpoint/2010/main" val="4237674600"/>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ctr"/>
            <a:r>
              <a:rPr lang="es-PE" b="1" dirty="0" smtClean="0">
                <a:solidFill>
                  <a:schemeClr val="bg1"/>
                </a:solidFill>
              </a:rPr>
              <a:t>FUNCIONES DE TEXTO</a:t>
            </a:r>
            <a:endParaRPr lang="es-PE" b="1" dirty="0">
              <a:solidFill>
                <a:schemeClr val="bg1"/>
              </a:solidFill>
            </a:endParaRPr>
          </a:p>
        </p:txBody>
      </p:sp>
      <p:sp>
        <p:nvSpPr>
          <p:cNvPr id="3" name="Marcador de contenido 2"/>
          <p:cNvSpPr>
            <a:spLocks noGrp="1"/>
          </p:cNvSpPr>
          <p:nvPr>
            <p:ph idx="1"/>
          </p:nvPr>
        </p:nvSpPr>
        <p:spPr>
          <a:xfrm>
            <a:off x="578734" y="1822449"/>
            <a:ext cx="10775066" cy="4813482"/>
          </a:xfrm>
        </p:spPr>
        <p:txBody>
          <a:bodyPr/>
          <a:lstStyle/>
          <a:p>
            <a:pPr algn="just"/>
            <a:r>
              <a:rPr lang="es-PE" sz="2600" dirty="0" smtClean="0"/>
              <a:t>Función Izquierda: </a:t>
            </a:r>
            <a:r>
              <a:rPr lang="es-PE" sz="2600" dirty="0"/>
              <a:t>Devuelve el número especificado de caracteres del principio de una cadena de texto</a:t>
            </a:r>
            <a:r>
              <a:rPr lang="es-PE" sz="2600" dirty="0" smtClean="0"/>
              <a:t>.</a:t>
            </a:r>
          </a:p>
          <a:p>
            <a:pPr marL="0" indent="0" algn="just">
              <a:buNone/>
            </a:pPr>
            <a:r>
              <a:rPr lang="es-PE" sz="2600" dirty="0" smtClean="0"/>
              <a:t>	SINTAXIS:=IZQUIERDA(TEXTO,NÚM_DE_CARACTERES)</a:t>
            </a:r>
          </a:p>
          <a:p>
            <a:pPr algn="just"/>
            <a:r>
              <a:rPr lang="es-PE" sz="2600" dirty="0" smtClean="0"/>
              <a:t>Función Derecha:</a:t>
            </a:r>
            <a:r>
              <a:rPr lang="es-PE" sz="2600" dirty="0"/>
              <a:t> Devuelve el número especificado de caracteres del final de una cadena de texto</a:t>
            </a:r>
            <a:r>
              <a:rPr lang="es-PE" sz="2600" dirty="0" smtClean="0"/>
              <a:t>.</a:t>
            </a:r>
          </a:p>
          <a:p>
            <a:pPr marL="0" indent="0" algn="just">
              <a:buNone/>
            </a:pPr>
            <a:r>
              <a:rPr lang="es-PE" sz="2600" dirty="0"/>
              <a:t>	</a:t>
            </a:r>
            <a:r>
              <a:rPr lang="es-PE" sz="2600" dirty="0" smtClean="0"/>
              <a:t>SINTAXIS:=DERECHA(TEXTO,NÚM_DE_CARACTERES)</a:t>
            </a:r>
          </a:p>
          <a:p>
            <a:pPr algn="just"/>
            <a:r>
              <a:rPr lang="es-PE" sz="2600" dirty="0"/>
              <a:t>Función Extrae: Extrae caracteres que pertenecen a una cadena de texto. Lo único que debemos proporcionar es el número de caracteres que deseamos extraer y su punto de inicio dentro de la cadena de texto</a:t>
            </a:r>
            <a:r>
              <a:rPr lang="es-PE" sz="2600" dirty="0" smtClean="0"/>
              <a:t>.</a:t>
            </a:r>
          </a:p>
          <a:p>
            <a:pPr marL="0" indent="0" algn="just">
              <a:buNone/>
            </a:pPr>
            <a:r>
              <a:rPr lang="es-PE" sz="2600" dirty="0"/>
              <a:t>	</a:t>
            </a:r>
            <a:r>
              <a:rPr lang="es-PE" sz="2600" dirty="0" smtClean="0"/>
              <a:t>SINTAXIS:=EXTRAE(TEXTO,POSICIÓN_INICIAL,NÚM_DE_CARACTERES)</a:t>
            </a:r>
            <a:endParaRPr lang="es-PE" sz="2600" dirty="0"/>
          </a:p>
          <a:p>
            <a:pPr marL="0" indent="0" algn="just">
              <a:buNone/>
            </a:pPr>
            <a:endParaRPr lang="es-PE" sz="2200" dirty="0"/>
          </a:p>
          <a:p>
            <a:pPr marL="0" indent="0" algn="just">
              <a:buNone/>
            </a:pPr>
            <a:endParaRPr lang="es-PE" sz="2600" dirty="0" smtClean="0"/>
          </a:p>
          <a:p>
            <a:pPr marL="0" indent="0" algn="just">
              <a:buNone/>
            </a:pPr>
            <a:endParaRPr lang="es-PE" sz="2600" dirty="0"/>
          </a:p>
          <a:p>
            <a:pPr marL="0" indent="0">
              <a:buNone/>
            </a:pPr>
            <a:endParaRPr lang="es-PE" dirty="0"/>
          </a:p>
        </p:txBody>
      </p:sp>
    </p:spTree>
    <p:extLst>
      <p:ext uri="{BB962C8B-B14F-4D97-AF65-F5344CB8AC3E}">
        <p14:creationId xmlns:p14="http://schemas.microsoft.com/office/powerpoint/2010/main" val="1130172332"/>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ctr"/>
            <a:r>
              <a:rPr lang="es-PE" b="1" dirty="0" smtClean="0">
                <a:solidFill>
                  <a:schemeClr val="bg1"/>
                </a:solidFill>
              </a:rPr>
              <a:t>FUNCIONES DE TEXTO</a:t>
            </a:r>
            <a:endParaRPr lang="es-PE" b="1" dirty="0">
              <a:solidFill>
                <a:schemeClr val="bg1"/>
              </a:solidFill>
            </a:endParaRPr>
          </a:p>
        </p:txBody>
      </p:sp>
      <p:sp>
        <p:nvSpPr>
          <p:cNvPr id="3" name="Marcador de contenido 2"/>
          <p:cNvSpPr>
            <a:spLocks noGrp="1"/>
          </p:cNvSpPr>
          <p:nvPr>
            <p:ph idx="1"/>
          </p:nvPr>
        </p:nvSpPr>
        <p:spPr>
          <a:xfrm>
            <a:off x="578734" y="1822449"/>
            <a:ext cx="10775066" cy="4813482"/>
          </a:xfrm>
        </p:spPr>
        <p:txBody>
          <a:bodyPr>
            <a:normAutofit/>
          </a:bodyPr>
          <a:lstStyle/>
          <a:p>
            <a:pPr algn="just"/>
            <a:r>
              <a:rPr lang="es-PE" sz="2600" dirty="0" smtClean="0"/>
              <a:t>Función Largo: </a:t>
            </a:r>
            <a:r>
              <a:rPr lang="es-PE" sz="2600" dirty="0">
                <a:solidFill>
                  <a:schemeClr val="dk1"/>
                </a:solidFill>
              </a:rPr>
              <a:t>Nos devuelve el número de caracteres de dicha cadena</a:t>
            </a:r>
            <a:r>
              <a:rPr lang="es-PE" sz="2600" dirty="0" smtClean="0">
                <a:solidFill>
                  <a:schemeClr val="dk1"/>
                </a:solidFill>
              </a:rPr>
              <a:t>.</a:t>
            </a:r>
          </a:p>
          <a:p>
            <a:pPr marL="0" indent="0" algn="just">
              <a:buNone/>
            </a:pPr>
            <a:r>
              <a:rPr lang="es-PE" sz="2600" dirty="0" smtClean="0"/>
              <a:t>	SINTAXIS:=LARGO(TEXTO)</a:t>
            </a:r>
          </a:p>
          <a:p>
            <a:pPr algn="just" fontAlgn="t"/>
            <a:r>
              <a:rPr lang="es-PE" sz="2600" dirty="0" smtClean="0"/>
              <a:t>Función Mayusc: </a:t>
            </a:r>
            <a:r>
              <a:rPr lang="es-PE" sz="2600" dirty="0">
                <a:solidFill>
                  <a:schemeClr val="dk1"/>
                </a:solidFill>
              </a:rPr>
              <a:t>Convierte un texto en mayúsculas.</a:t>
            </a:r>
            <a:endParaRPr lang="es-PE" sz="2600" dirty="0"/>
          </a:p>
          <a:p>
            <a:pPr marL="0" indent="0" algn="just">
              <a:buNone/>
            </a:pPr>
            <a:r>
              <a:rPr lang="es-PE" sz="2600" dirty="0"/>
              <a:t>	</a:t>
            </a:r>
            <a:r>
              <a:rPr lang="es-PE" sz="2600" dirty="0" smtClean="0"/>
              <a:t>SINTAXIS:=MAYUSC(TEXTO)</a:t>
            </a:r>
          </a:p>
          <a:p>
            <a:pPr algn="just" fontAlgn="t"/>
            <a:r>
              <a:rPr lang="es-PE" sz="2600" dirty="0"/>
              <a:t>Función </a:t>
            </a:r>
            <a:r>
              <a:rPr lang="es-PE" sz="2600" dirty="0" err="1" smtClean="0"/>
              <a:t>Minusc</a:t>
            </a:r>
            <a:r>
              <a:rPr lang="es-PE" sz="2600" dirty="0" smtClean="0"/>
              <a:t>: </a:t>
            </a:r>
            <a:r>
              <a:rPr lang="es-PE" sz="2600" dirty="0">
                <a:solidFill>
                  <a:schemeClr val="dk1"/>
                </a:solidFill>
              </a:rPr>
              <a:t>Convierte un texto en minúsculas</a:t>
            </a:r>
            <a:endParaRPr lang="es-PE" sz="2600" dirty="0"/>
          </a:p>
          <a:p>
            <a:pPr marL="0" indent="0" algn="just">
              <a:buNone/>
            </a:pPr>
            <a:r>
              <a:rPr lang="es-PE" sz="2600" dirty="0"/>
              <a:t>	</a:t>
            </a:r>
            <a:r>
              <a:rPr lang="es-PE" sz="2600" dirty="0" smtClean="0"/>
              <a:t>SINTAXIS:=MINUSC(TEXTO)</a:t>
            </a:r>
          </a:p>
          <a:p>
            <a:pPr algn="just" fontAlgn="t"/>
            <a:r>
              <a:rPr lang="es-PE" sz="2600" dirty="0"/>
              <a:t>Función Hallar: Devuelve la posición dentro de una cadena de texto donde encuentra un carácter especificado</a:t>
            </a:r>
          </a:p>
          <a:p>
            <a:pPr marL="0" indent="0" algn="just">
              <a:buNone/>
            </a:pPr>
            <a:r>
              <a:rPr lang="es-PE" sz="2600" dirty="0"/>
              <a:t>	SINTAXIS</a:t>
            </a:r>
            <a:r>
              <a:rPr lang="es-PE" sz="2600" dirty="0" smtClean="0"/>
              <a:t>:=HALLAR(TEXTO_BUSCADO,DENTRO_DEL_TEXTO,</a:t>
            </a:r>
          </a:p>
          <a:p>
            <a:pPr marL="0" indent="0" algn="just">
              <a:buNone/>
            </a:pPr>
            <a:r>
              <a:rPr lang="es-PE" sz="2600" dirty="0"/>
              <a:t> </a:t>
            </a:r>
            <a:r>
              <a:rPr lang="es-PE" sz="2600" dirty="0" smtClean="0"/>
              <a:t>                                              NÚM_INICIAL)</a:t>
            </a:r>
            <a:endParaRPr lang="es-PE" sz="2600" dirty="0"/>
          </a:p>
          <a:p>
            <a:pPr marL="0" indent="0" algn="just">
              <a:buNone/>
            </a:pPr>
            <a:endParaRPr lang="es-PE" sz="2600" dirty="0"/>
          </a:p>
          <a:p>
            <a:pPr marL="0" indent="0" algn="just">
              <a:buNone/>
            </a:pPr>
            <a:endParaRPr lang="es-PE" sz="2200" dirty="0"/>
          </a:p>
          <a:p>
            <a:pPr marL="0" indent="0" algn="just">
              <a:buNone/>
            </a:pPr>
            <a:endParaRPr lang="es-PE" sz="2600" dirty="0" smtClean="0"/>
          </a:p>
          <a:p>
            <a:pPr marL="0" indent="0" algn="just">
              <a:buNone/>
            </a:pPr>
            <a:endParaRPr lang="es-PE" sz="2600" dirty="0"/>
          </a:p>
          <a:p>
            <a:pPr marL="0" indent="0">
              <a:buNone/>
            </a:pPr>
            <a:endParaRPr lang="es-PE" dirty="0"/>
          </a:p>
        </p:txBody>
      </p:sp>
    </p:spTree>
    <p:extLst>
      <p:ext uri="{BB962C8B-B14F-4D97-AF65-F5344CB8AC3E}">
        <p14:creationId xmlns:p14="http://schemas.microsoft.com/office/powerpoint/2010/main" val="2155074344"/>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ctr"/>
            <a:r>
              <a:rPr lang="es-PE" b="1" dirty="0" smtClean="0">
                <a:solidFill>
                  <a:schemeClr val="bg1"/>
                </a:solidFill>
              </a:rPr>
              <a:t>FUNCIONES DE TEXTO</a:t>
            </a:r>
            <a:endParaRPr lang="es-PE" b="1" dirty="0">
              <a:solidFill>
                <a:schemeClr val="bg1"/>
              </a:solidFill>
            </a:endParaRPr>
          </a:p>
        </p:txBody>
      </p:sp>
      <p:sp>
        <p:nvSpPr>
          <p:cNvPr id="3" name="Marcador de contenido 2"/>
          <p:cNvSpPr>
            <a:spLocks noGrp="1"/>
          </p:cNvSpPr>
          <p:nvPr>
            <p:ph idx="1"/>
          </p:nvPr>
        </p:nvSpPr>
        <p:spPr>
          <a:xfrm>
            <a:off x="578734" y="1822449"/>
            <a:ext cx="10775066" cy="4813482"/>
          </a:xfrm>
        </p:spPr>
        <p:txBody>
          <a:bodyPr/>
          <a:lstStyle/>
          <a:p>
            <a:pPr algn="just"/>
            <a:r>
              <a:rPr lang="es-PE" sz="2600" dirty="0" smtClean="0"/>
              <a:t>Función Texto: </a:t>
            </a:r>
            <a:r>
              <a:rPr lang="es-PE" sz="2400" dirty="0"/>
              <a:t>La función </a:t>
            </a:r>
            <a:r>
              <a:rPr lang="es-PE" sz="2400" b="1" dirty="0"/>
              <a:t>TEXTO</a:t>
            </a:r>
            <a:r>
              <a:rPr lang="es-PE" sz="2400" dirty="0"/>
              <a:t> le permite cambiar la apariencia de un número aplicándole formato con </a:t>
            </a:r>
            <a:r>
              <a:rPr lang="es-PE" sz="2400" b="1" dirty="0"/>
              <a:t>códigos de formato</a:t>
            </a:r>
            <a:r>
              <a:rPr lang="es-PE" sz="2400" dirty="0"/>
              <a:t>. Es útil para mostrar números en un formato más legible o para combinarlos con texto o símbolos.</a:t>
            </a:r>
            <a:endParaRPr lang="es-PE" sz="2200" dirty="0"/>
          </a:p>
          <a:p>
            <a:pPr marL="0" indent="0" algn="just">
              <a:buNone/>
            </a:pPr>
            <a:r>
              <a:rPr lang="es-PE" sz="2600" dirty="0" smtClean="0"/>
              <a:t>	SINTAXIS:=TEXTO(VALOR,FOMATO)</a:t>
            </a:r>
            <a:endParaRPr lang="es-PE" sz="2600" dirty="0"/>
          </a:p>
          <a:p>
            <a:pPr marL="0" indent="0" algn="just">
              <a:buNone/>
            </a:pPr>
            <a:endParaRPr lang="es-PE" sz="2600" dirty="0" smtClean="0"/>
          </a:p>
          <a:p>
            <a:pPr marL="0" indent="0" algn="just">
              <a:buNone/>
            </a:pPr>
            <a:endParaRPr lang="es-PE" sz="2600" dirty="0"/>
          </a:p>
          <a:p>
            <a:pPr marL="0" indent="0">
              <a:buNone/>
            </a:pPr>
            <a:endParaRPr lang="es-PE" dirty="0"/>
          </a:p>
        </p:txBody>
      </p:sp>
    </p:spTree>
    <p:extLst>
      <p:ext uri="{BB962C8B-B14F-4D97-AF65-F5344CB8AC3E}">
        <p14:creationId xmlns:p14="http://schemas.microsoft.com/office/powerpoint/2010/main" val="492315712"/>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p:cNvSpPr txBox="1"/>
          <p:nvPr/>
        </p:nvSpPr>
        <p:spPr>
          <a:xfrm>
            <a:off x="1719943" y="219228"/>
            <a:ext cx="3584320" cy="523220"/>
          </a:xfrm>
          <a:prstGeom prst="rect">
            <a:avLst/>
          </a:prstGeom>
          <a:noFill/>
        </p:spPr>
        <p:txBody>
          <a:bodyPr wrap="square" rtlCol="0">
            <a:spAutoFit/>
          </a:bodyPr>
          <a:lstStyle/>
          <a:p>
            <a:r>
              <a:rPr lang="es-ES" sz="2800" b="1" dirty="0">
                <a:solidFill>
                  <a:schemeClr val="bg1"/>
                </a:solidFill>
                <a:effectLst>
                  <a:outerShdw blurRad="38100" dist="38100" dir="2700000" algn="tl">
                    <a:srgbClr val="000000">
                      <a:alpha val="43137"/>
                    </a:srgbClr>
                  </a:outerShdw>
                </a:effectLst>
              </a:rPr>
              <a:t>TABLAS DINÁMICAS</a:t>
            </a:r>
          </a:p>
        </p:txBody>
      </p:sp>
      <p:sp>
        <p:nvSpPr>
          <p:cNvPr id="6" name="Rectángulo 5"/>
          <p:cNvSpPr/>
          <p:nvPr/>
        </p:nvSpPr>
        <p:spPr>
          <a:xfrm>
            <a:off x="1925808" y="1099849"/>
            <a:ext cx="8274106" cy="1938992"/>
          </a:xfrm>
          <a:prstGeom prst="rect">
            <a:avLst/>
          </a:prstGeom>
        </p:spPr>
        <p:txBody>
          <a:bodyPr wrap="square">
            <a:spAutoFit/>
          </a:bodyPr>
          <a:lstStyle/>
          <a:p>
            <a:pPr algn="just"/>
            <a:r>
              <a:rPr lang="es-PE" sz="2400" dirty="0"/>
              <a:t>Una tabla dinámica es una herramienta avanzada para calcular, resumir y analizar datos que le permite ver comparaciones, patrones y tendencias en ellos. En resumen es un cruce de información que permite un análisis mas efectivo de la información.</a:t>
            </a:r>
          </a:p>
        </p:txBody>
      </p:sp>
      <p:sp>
        <p:nvSpPr>
          <p:cNvPr id="10" name="Rectángulo 9"/>
          <p:cNvSpPr/>
          <p:nvPr/>
        </p:nvSpPr>
        <p:spPr>
          <a:xfrm>
            <a:off x="2015018" y="3038841"/>
            <a:ext cx="8274106" cy="2123658"/>
          </a:xfrm>
          <a:prstGeom prst="rect">
            <a:avLst/>
          </a:prstGeom>
        </p:spPr>
        <p:txBody>
          <a:bodyPr wrap="square">
            <a:spAutoFit/>
          </a:bodyPr>
          <a:lstStyle/>
          <a:p>
            <a:pPr algn="just"/>
            <a:r>
              <a:rPr lang="es-PE" sz="2400" b="1" dirty="0"/>
              <a:t>PASOS</a:t>
            </a:r>
            <a:endParaRPr lang="es-PE" sz="2400" dirty="0"/>
          </a:p>
          <a:p>
            <a:pPr marL="457200" indent="-457200" algn="just">
              <a:buFont typeface="+mj-lt"/>
              <a:buAutoNum type="arabicPeriod"/>
            </a:pPr>
            <a:r>
              <a:rPr lang="es-PE" sz="2400" dirty="0"/>
              <a:t>Seleccione las celdas a partir de las que quiera crear una tabla dinámica.</a:t>
            </a:r>
          </a:p>
          <a:p>
            <a:pPr marL="914400" lvl="1" indent="-457200" algn="just">
              <a:buFont typeface="Arial" panose="020B0604020202020204" pitchFamily="34" charset="0"/>
              <a:buChar char="•"/>
            </a:pPr>
            <a:r>
              <a:rPr lang="es-PE" b="1" i="1" dirty="0"/>
              <a:t>Los datos no deben tener filas o columnas vacías. Deben tener un encabezado o titulo en la fila.</a:t>
            </a:r>
          </a:p>
          <a:p>
            <a:pPr marL="457200" indent="-457200" algn="just">
              <a:buFont typeface="+mj-lt"/>
              <a:buAutoNum type="arabicPeriod"/>
            </a:pPr>
            <a:r>
              <a:rPr lang="es-PE" sz="2400" dirty="0"/>
              <a:t>Ingrese a </a:t>
            </a:r>
            <a:r>
              <a:rPr lang="es-PE" sz="2400" b="1" dirty="0"/>
              <a:t>Insertar, </a:t>
            </a:r>
            <a:r>
              <a:rPr lang="es-PE" sz="2400" dirty="0"/>
              <a:t>luego a </a:t>
            </a:r>
            <a:r>
              <a:rPr lang="es-PE" sz="2400" b="1" dirty="0"/>
              <a:t>Tabla dinámica</a:t>
            </a:r>
            <a:r>
              <a:rPr lang="es-PE" sz="2400" dirty="0"/>
              <a:t>.</a:t>
            </a:r>
          </a:p>
        </p:txBody>
      </p:sp>
      <p:pic>
        <p:nvPicPr>
          <p:cNvPr id="1026" name="Picture 2" descr="Tabla dinÃ¡mic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92212" y="5318617"/>
            <a:ext cx="1960988" cy="1212983"/>
          </a:xfrm>
          <a:prstGeom prst="rect">
            <a:avLst/>
          </a:prstGeom>
          <a:noFill/>
          <a:ln>
            <a:solidFill>
              <a:schemeClr val="bg1">
                <a:lumMod val="50000"/>
              </a:schemeClr>
            </a:solid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2" name="Rectángulo 1"/>
          <p:cNvSpPr/>
          <p:nvPr/>
        </p:nvSpPr>
        <p:spPr>
          <a:xfrm>
            <a:off x="4592212" y="5609063"/>
            <a:ext cx="622842" cy="922536"/>
          </a:xfrm>
          <a:prstGeom prst="rect">
            <a:avLst/>
          </a:prstGeom>
          <a:noFill/>
          <a:ln w="28575">
            <a:solidFill>
              <a:srgbClr val="FF0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Tree>
    <p:extLst>
      <p:ext uri="{BB962C8B-B14F-4D97-AF65-F5344CB8AC3E}">
        <p14:creationId xmlns:p14="http://schemas.microsoft.com/office/powerpoint/2010/main" val="135781241"/>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1759082" y="1165437"/>
            <a:ext cx="8274106" cy="5262979"/>
          </a:xfrm>
          <a:prstGeom prst="rect">
            <a:avLst/>
          </a:prstGeom>
        </p:spPr>
        <p:txBody>
          <a:bodyPr wrap="square">
            <a:spAutoFit/>
          </a:bodyPr>
          <a:lstStyle/>
          <a:p>
            <a:pPr marL="457200" indent="-457200" algn="just">
              <a:buFont typeface="+mj-lt"/>
              <a:buAutoNum type="arabicPeriod" startAt="3"/>
            </a:pPr>
            <a:r>
              <a:rPr lang="es-PE" sz="2400" dirty="0"/>
              <a:t>En la opción </a:t>
            </a:r>
            <a:r>
              <a:rPr lang="es-PE" sz="2400" b="1" dirty="0"/>
              <a:t>Seleccione los datos que desea analizar</a:t>
            </a:r>
            <a:r>
              <a:rPr lang="es-PE" sz="2400" dirty="0"/>
              <a:t>, haga clic en </a:t>
            </a:r>
            <a:r>
              <a:rPr lang="es-PE" sz="2400" b="1" dirty="0"/>
              <a:t>Seleccionar una tabla o rango</a:t>
            </a:r>
            <a:r>
              <a:rPr lang="es-PE" sz="2400" dirty="0"/>
              <a:t>.</a:t>
            </a:r>
          </a:p>
          <a:p>
            <a:pPr marL="457200" indent="-457200" algn="just">
              <a:buFont typeface="+mj-lt"/>
              <a:buAutoNum type="arabicPeriod" startAt="3"/>
            </a:pPr>
            <a:endParaRPr lang="es-PE" sz="2400" dirty="0"/>
          </a:p>
          <a:p>
            <a:pPr marL="457200" indent="-457200" algn="just">
              <a:buFont typeface="+mj-lt"/>
              <a:buAutoNum type="arabicPeriod" startAt="3"/>
            </a:pPr>
            <a:endParaRPr lang="es-PE" sz="2400" dirty="0"/>
          </a:p>
          <a:p>
            <a:pPr marL="457200" indent="-457200" algn="just">
              <a:buFont typeface="+mj-lt"/>
              <a:buAutoNum type="arabicPeriod" startAt="3"/>
            </a:pPr>
            <a:endParaRPr lang="es-PE" sz="2400" dirty="0"/>
          </a:p>
          <a:p>
            <a:pPr marL="457200" indent="-457200" algn="just">
              <a:buFont typeface="+mj-lt"/>
              <a:buAutoNum type="arabicPeriod" startAt="3"/>
            </a:pPr>
            <a:endParaRPr lang="es-PE" sz="2400" dirty="0"/>
          </a:p>
          <a:p>
            <a:pPr marL="457200" indent="-457200" algn="just">
              <a:buFont typeface="+mj-lt"/>
              <a:buAutoNum type="arabicPeriod" startAt="3"/>
            </a:pPr>
            <a:endParaRPr lang="es-PE" sz="2400" dirty="0"/>
          </a:p>
          <a:p>
            <a:pPr marL="457200" indent="-457200" algn="just">
              <a:buFont typeface="+mj-lt"/>
              <a:buAutoNum type="arabicPeriod" startAt="3"/>
            </a:pPr>
            <a:endParaRPr lang="es-PE" sz="2400" dirty="0"/>
          </a:p>
          <a:p>
            <a:pPr marL="457200" indent="-457200" algn="just">
              <a:buFont typeface="+mj-lt"/>
              <a:buAutoNum type="arabicPeriod" startAt="3"/>
            </a:pPr>
            <a:endParaRPr lang="es-PE" sz="2400" dirty="0"/>
          </a:p>
          <a:p>
            <a:pPr algn="just"/>
            <a:endParaRPr lang="es-PE" sz="2400" dirty="0"/>
          </a:p>
          <a:p>
            <a:pPr algn="just"/>
            <a:endParaRPr lang="es-PE" sz="2400" dirty="0"/>
          </a:p>
          <a:p>
            <a:pPr marL="457200" indent="-457200" algn="just">
              <a:buFont typeface="+mj-lt"/>
              <a:buAutoNum type="arabicPeriod" startAt="4"/>
            </a:pPr>
            <a:r>
              <a:rPr lang="es-PE" sz="2400" dirty="0"/>
              <a:t>En </a:t>
            </a:r>
            <a:r>
              <a:rPr lang="es-PE" sz="2400" b="1" dirty="0"/>
              <a:t>Tabla o rango</a:t>
            </a:r>
            <a:r>
              <a:rPr lang="es-PE" sz="2400" dirty="0"/>
              <a:t>, compruebe el rango de celdas.</a:t>
            </a:r>
          </a:p>
          <a:p>
            <a:pPr marL="457200" indent="-457200" algn="just">
              <a:buFont typeface="+mj-lt"/>
              <a:buAutoNum type="arabicPeriod" startAt="4"/>
            </a:pPr>
            <a:r>
              <a:rPr lang="es-PE" sz="2400" dirty="0"/>
              <a:t>Seleccione </a:t>
            </a:r>
            <a:r>
              <a:rPr lang="es-PE" sz="2400" b="1" dirty="0"/>
              <a:t>Nueva hoja de cálculo</a:t>
            </a:r>
          </a:p>
          <a:p>
            <a:pPr marL="457200" indent="-457200" algn="just">
              <a:buFont typeface="+mj-lt"/>
              <a:buAutoNum type="arabicPeriod" startAt="4"/>
            </a:pPr>
            <a:r>
              <a:rPr lang="es-PE" sz="2400" dirty="0"/>
              <a:t>Seleccione </a:t>
            </a:r>
            <a:r>
              <a:rPr lang="es-PE" sz="2400" b="1" dirty="0"/>
              <a:t>Aceptar</a:t>
            </a:r>
            <a:r>
              <a:rPr lang="es-PE" sz="2400" dirty="0"/>
              <a:t>.</a:t>
            </a:r>
          </a:p>
        </p:txBody>
      </p:sp>
      <p:pic>
        <p:nvPicPr>
          <p:cNvPr id="2050" name="Picture 2" descr="Tabla dinÃ¡mic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54741" y="1986937"/>
            <a:ext cx="3686175" cy="2952751"/>
          </a:xfrm>
          <a:prstGeom prst="rect">
            <a:avLst/>
          </a:prstGeom>
          <a:noFill/>
          <a:ln>
            <a:solidFill>
              <a:schemeClr val="bg1">
                <a:lumMod val="50000"/>
              </a:schemeClr>
            </a:solid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4" name="CuadroTexto 3"/>
          <p:cNvSpPr txBox="1"/>
          <p:nvPr/>
        </p:nvSpPr>
        <p:spPr>
          <a:xfrm>
            <a:off x="1719943" y="219228"/>
            <a:ext cx="3584320" cy="523220"/>
          </a:xfrm>
          <a:prstGeom prst="rect">
            <a:avLst/>
          </a:prstGeom>
          <a:noFill/>
        </p:spPr>
        <p:txBody>
          <a:bodyPr wrap="square" rtlCol="0">
            <a:spAutoFit/>
          </a:bodyPr>
          <a:lstStyle/>
          <a:p>
            <a:r>
              <a:rPr lang="es-ES" sz="2800" b="1" dirty="0">
                <a:solidFill>
                  <a:schemeClr val="bg1"/>
                </a:solidFill>
                <a:effectLst>
                  <a:outerShdw blurRad="38100" dist="38100" dir="2700000" algn="tl">
                    <a:srgbClr val="000000">
                      <a:alpha val="43137"/>
                    </a:srgbClr>
                  </a:outerShdw>
                </a:effectLst>
              </a:rPr>
              <a:t>TABLAS DINÁMICAS</a:t>
            </a:r>
          </a:p>
        </p:txBody>
      </p:sp>
    </p:spTree>
    <p:extLst>
      <p:ext uri="{BB962C8B-B14F-4D97-AF65-F5344CB8AC3E}">
        <p14:creationId xmlns:p14="http://schemas.microsoft.com/office/powerpoint/2010/main" val="1227572512"/>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rotWithShape="1">
          <a:blip r:embed="rId2"/>
          <a:srcRect t="19538" r="39995" b="7020"/>
          <a:stretch/>
        </p:blipFill>
        <p:spPr>
          <a:xfrm>
            <a:off x="2160609" y="992459"/>
            <a:ext cx="7191510" cy="4951141"/>
          </a:xfrm>
          <a:prstGeom prst="rect">
            <a:avLst/>
          </a:prstGeom>
        </p:spPr>
      </p:pic>
      <p:sp>
        <p:nvSpPr>
          <p:cNvPr id="3" name="CuadroTexto 2"/>
          <p:cNvSpPr txBox="1"/>
          <p:nvPr/>
        </p:nvSpPr>
        <p:spPr>
          <a:xfrm>
            <a:off x="1719943" y="219228"/>
            <a:ext cx="3584320" cy="523220"/>
          </a:xfrm>
          <a:prstGeom prst="rect">
            <a:avLst/>
          </a:prstGeom>
          <a:noFill/>
        </p:spPr>
        <p:txBody>
          <a:bodyPr wrap="square" rtlCol="0">
            <a:spAutoFit/>
          </a:bodyPr>
          <a:lstStyle/>
          <a:p>
            <a:r>
              <a:rPr lang="es-ES" sz="2800" b="1" dirty="0">
                <a:solidFill>
                  <a:schemeClr val="bg1"/>
                </a:solidFill>
                <a:effectLst>
                  <a:outerShdw blurRad="38100" dist="38100" dir="2700000" algn="tl">
                    <a:srgbClr val="000000">
                      <a:alpha val="43137"/>
                    </a:srgbClr>
                  </a:outerShdw>
                </a:effectLst>
              </a:rPr>
              <a:t>TABLAS DINÁMICAS</a:t>
            </a:r>
          </a:p>
        </p:txBody>
      </p:sp>
    </p:spTree>
    <p:extLst>
      <p:ext uri="{BB962C8B-B14F-4D97-AF65-F5344CB8AC3E}">
        <p14:creationId xmlns:p14="http://schemas.microsoft.com/office/powerpoint/2010/main" val="1301664653"/>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1719943" y="219228"/>
            <a:ext cx="3584320" cy="523220"/>
          </a:xfrm>
          <a:prstGeom prst="rect">
            <a:avLst/>
          </a:prstGeom>
          <a:noFill/>
        </p:spPr>
        <p:txBody>
          <a:bodyPr wrap="square" rtlCol="0">
            <a:spAutoFit/>
          </a:bodyPr>
          <a:lstStyle/>
          <a:p>
            <a:r>
              <a:rPr lang="es-ES" sz="2800" b="1" dirty="0">
                <a:solidFill>
                  <a:schemeClr val="bg1"/>
                </a:solidFill>
                <a:effectLst>
                  <a:outerShdw blurRad="38100" dist="38100" dir="2700000" algn="tl">
                    <a:srgbClr val="000000">
                      <a:alpha val="43137"/>
                    </a:srgbClr>
                  </a:outerShdw>
                </a:effectLst>
              </a:rPr>
              <a:t>TABLAS DINÁMICAS</a:t>
            </a:r>
          </a:p>
        </p:txBody>
      </p:sp>
      <p:pic>
        <p:nvPicPr>
          <p:cNvPr id="3" name="Imagen 2"/>
          <p:cNvPicPr>
            <a:picLocks noChangeAspect="1"/>
          </p:cNvPicPr>
          <p:nvPr/>
        </p:nvPicPr>
        <p:blipFill rotWithShape="1">
          <a:blip r:embed="rId2"/>
          <a:srcRect l="82521" t="19597" b="7756"/>
          <a:stretch/>
        </p:blipFill>
        <p:spPr>
          <a:xfrm>
            <a:off x="4102051" y="896291"/>
            <a:ext cx="2194671" cy="5130873"/>
          </a:xfrm>
          <a:prstGeom prst="rect">
            <a:avLst/>
          </a:prstGeom>
          <a:ln>
            <a:solidFill>
              <a:schemeClr val="bg1">
                <a:lumMod val="50000"/>
              </a:schemeClr>
            </a:solidFill>
          </a:ln>
          <a:effectLst>
            <a:outerShdw blurRad="50800" dist="38100" dir="2700000" algn="tl" rotWithShape="0">
              <a:prstClr val="black">
                <a:alpha val="40000"/>
              </a:prstClr>
            </a:outerShdw>
          </a:effectLst>
        </p:spPr>
      </p:pic>
      <p:sp>
        <p:nvSpPr>
          <p:cNvPr id="5" name="Llamada con línea 1 4"/>
          <p:cNvSpPr/>
          <p:nvPr/>
        </p:nvSpPr>
        <p:spPr>
          <a:xfrm>
            <a:off x="6844454" y="1783468"/>
            <a:ext cx="3289609" cy="914400"/>
          </a:xfrm>
          <a:prstGeom prst="borderCallout1">
            <a:avLst>
              <a:gd name="adj1" fmla="val 53009"/>
              <a:gd name="adj2" fmla="val 820"/>
              <a:gd name="adj3" fmla="val 52315"/>
              <a:gd name="adj4" fmla="val -30197"/>
            </a:avLst>
          </a:prstGeom>
          <a:solidFill>
            <a:schemeClr val="bg1"/>
          </a:solidFill>
          <a:ln w="28575">
            <a:solidFill>
              <a:srgbClr val="FF0000"/>
            </a:solidFill>
            <a:headEnd type="none" w="med" len="med"/>
            <a:tailEnd type="triangl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b="1" dirty="0">
                <a:solidFill>
                  <a:sysClr val="windowText" lastClr="000000"/>
                </a:solidFill>
                <a:effectLst>
                  <a:outerShdw blurRad="38100" dist="38100" dir="2700000" algn="tl">
                    <a:srgbClr val="000000">
                      <a:alpha val="43137"/>
                    </a:srgbClr>
                  </a:outerShdw>
                </a:effectLst>
              </a:rPr>
              <a:t>CAMPOS DE LA TABLA DE DATOS DISPONIBLES</a:t>
            </a:r>
          </a:p>
        </p:txBody>
      </p:sp>
      <p:sp>
        <p:nvSpPr>
          <p:cNvPr id="6" name="Llamada con línea 1 5"/>
          <p:cNvSpPr/>
          <p:nvPr/>
        </p:nvSpPr>
        <p:spPr>
          <a:xfrm>
            <a:off x="7011722" y="4037637"/>
            <a:ext cx="3373245" cy="782027"/>
          </a:xfrm>
          <a:prstGeom prst="borderCallout1">
            <a:avLst>
              <a:gd name="adj1" fmla="val 53009"/>
              <a:gd name="adj2" fmla="val 820"/>
              <a:gd name="adj3" fmla="val 109353"/>
              <a:gd name="adj4" fmla="val -64433"/>
            </a:avLst>
          </a:prstGeom>
          <a:solidFill>
            <a:schemeClr val="bg1"/>
          </a:solidFill>
          <a:ln w="28575">
            <a:solidFill>
              <a:srgbClr val="FF0000"/>
            </a:solidFill>
            <a:headEnd type="none" w="med" len="med"/>
            <a:tailEnd type="triangl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s-PE" dirty="0">
                <a:solidFill>
                  <a:srgbClr val="2F2F2F"/>
                </a:solidFill>
              </a:rPr>
              <a:t>LOS CAMPOS NO NUMÉRICOS SE AGREGAN A </a:t>
            </a:r>
            <a:r>
              <a:rPr lang="es-PE" b="1" dirty="0">
                <a:solidFill>
                  <a:srgbClr val="2F2F2F"/>
                </a:solidFill>
              </a:rPr>
              <a:t>FILAS</a:t>
            </a:r>
            <a:endParaRPr lang="es-PE" b="1" dirty="0">
              <a:solidFill>
                <a:sysClr val="windowText" lastClr="000000"/>
              </a:solidFill>
              <a:effectLst>
                <a:outerShdw blurRad="38100" dist="38100" dir="2700000" algn="tl">
                  <a:srgbClr val="000000">
                    <a:alpha val="43137"/>
                  </a:srgbClr>
                </a:outerShdw>
              </a:effectLst>
            </a:endParaRPr>
          </a:p>
        </p:txBody>
      </p:sp>
      <p:sp>
        <p:nvSpPr>
          <p:cNvPr id="7" name="Llamada con línea 1 6"/>
          <p:cNvSpPr/>
          <p:nvPr/>
        </p:nvSpPr>
        <p:spPr>
          <a:xfrm>
            <a:off x="7011722" y="2976284"/>
            <a:ext cx="3373245" cy="885994"/>
          </a:xfrm>
          <a:prstGeom prst="borderCallout1">
            <a:avLst>
              <a:gd name="adj1" fmla="val 53009"/>
              <a:gd name="adj2" fmla="val 820"/>
              <a:gd name="adj3" fmla="val 136206"/>
              <a:gd name="adj4" fmla="val -28880"/>
            </a:avLst>
          </a:prstGeom>
          <a:solidFill>
            <a:schemeClr val="bg1"/>
          </a:solidFill>
          <a:ln w="28575">
            <a:solidFill>
              <a:srgbClr val="FF0000"/>
            </a:solidFill>
            <a:headEnd type="none" w="med" len="med"/>
            <a:tailEnd type="triangl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s-PE" dirty="0">
                <a:solidFill>
                  <a:srgbClr val="2F2F2F"/>
                </a:solidFill>
              </a:rPr>
              <a:t>LAS JERARQUÍAS TALES COMO  FECHA Y HORA SE AGREGAN A </a:t>
            </a:r>
            <a:r>
              <a:rPr lang="es-PE" b="1" dirty="0">
                <a:solidFill>
                  <a:srgbClr val="2F2F2F"/>
                </a:solidFill>
              </a:rPr>
              <a:t>COLUMNAS</a:t>
            </a:r>
            <a:r>
              <a:rPr lang="es-PE" dirty="0">
                <a:solidFill>
                  <a:srgbClr val="2F2F2F"/>
                </a:solidFill>
              </a:rPr>
              <a:t> </a:t>
            </a:r>
            <a:endParaRPr lang="es-PE" b="1" dirty="0">
              <a:solidFill>
                <a:sysClr val="windowText" lastClr="000000"/>
              </a:solidFill>
              <a:effectLst>
                <a:outerShdw blurRad="38100" dist="38100" dir="2700000" algn="tl">
                  <a:srgbClr val="000000">
                    <a:alpha val="43137"/>
                  </a:srgbClr>
                </a:outerShdw>
              </a:effectLst>
            </a:endParaRPr>
          </a:p>
        </p:txBody>
      </p:sp>
      <p:sp>
        <p:nvSpPr>
          <p:cNvPr id="8" name="Llamada con línea 1 7"/>
          <p:cNvSpPr/>
          <p:nvPr/>
        </p:nvSpPr>
        <p:spPr>
          <a:xfrm>
            <a:off x="7011721" y="5121747"/>
            <a:ext cx="3373245" cy="782027"/>
          </a:xfrm>
          <a:prstGeom prst="borderCallout1">
            <a:avLst>
              <a:gd name="adj1" fmla="val 53009"/>
              <a:gd name="adj2" fmla="val 820"/>
              <a:gd name="adj3" fmla="val 52316"/>
              <a:gd name="adj4" fmla="val -37656"/>
            </a:avLst>
          </a:prstGeom>
          <a:solidFill>
            <a:schemeClr val="bg1"/>
          </a:solidFill>
          <a:ln w="28575">
            <a:solidFill>
              <a:srgbClr val="FF0000"/>
            </a:solidFill>
            <a:headEnd type="none" w="med" len="med"/>
            <a:tailEnd type="triangl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s-PE" dirty="0">
                <a:solidFill>
                  <a:srgbClr val="2F2F2F"/>
                </a:solidFill>
              </a:rPr>
              <a:t>Y LOS CAMPOS NUMÉRICOS SE AGREGAN A </a:t>
            </a:r>
            <a:r>
              <a:rPr lang="es-PE" b="1" dirty="0">
                <a:solidFill>
                  <a:srgbClr val="2F2F2F"/>
                </a:solidFill>
              </a:rPr>
              <a:t>VALORES</a:t>
            </a:r>
            <a:r>
              <a:rPr lang="es-PE" dirty="0">
                <a:solidFill>
                  <a:srgbClr val="2F2F2F"/>
                </a:solidFill>
              </a:rPr>
              <a:t>.</a:t>
            </a:r>
            <a:endParaRPr lang="es-PE" dirty="0"/>
          </a:p>
        </p:txBody>
      </p:sp>
      <p:sp>
        <p:nvSpPr>
          <p:cNvPr id="9" name="Llamada con línea 1 8"/>
          <p:cNvSpPr/>
          <p:nvPr/>
        </p:nvSpPr>
        <p:spPr>
          <a:xfrm flipH="1">
            <a:off x="1635512" y="3144447"/>
            <a:ext cx="2206620" cy="1675217"/>
          </a:xfrm>
          <a:prstGeom prst="borderCallout1">
            <a:avLst>
              <a:gd name="adj1" fmla="val 53009"/>
              <a:gd name="adj2" fmla="val 820"/>
              <a:gd name="adj3" fmla="val 136206"/>
              <a:gd name="adj4" fmla="val -28880"/>
            </a:avLst>
          </a:prstGeom>
          <a:solidFill>
            <a:schemeClr val="bg1"/>
          </a:solidFill>
          <a:ln w="28575">
            <a:solidFill>
              <a:srgbClr val="FF0000"/>
            </a:solidFill>
            <a:headEnd type="none" w="med" len="med"/>
            <a:tailEnd type="triangl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s-PE" dirty="0">
                <a:solidFill>
                  <a:sysClr val="windowText" lastClr="000000"/>
                </a:solidFill>
              </a:rPr>
              <a:t>LA JERARQUÍA PRINCIPAL SE COLOCA EN </a:t>
            </a:r>
            <a:r>
              <a:rPr lang="es-PE" b="1" dirty="0">
                <a:solidFill>
                  <a:sysClr val="windowText" lastClr="000000"/>
                </a:solidFill>
                <a:effectLst>
                  <a:outerShdw blurRad="38100" dist="38100" dir="2700000" algn="tl">
                    <a:srgbClr val="000000">
                      <a:alpha val="43137"/>
                    </a:srgbClr>
                  </a:outerShdw>
                </a:effectLst>
              </a:rPr>
              <a:t>FILTROS (</a:t>
            </a:r>
            <a:r>
              <a:rPr lang="es-PE" sz="1600" b="1" i="1" dirty="0">
                <a:solidFill>
                  <a:srgbClr val="FF0000"/>
                </a:solidFill>
                <a:effectLst>
                  <a:outerShdw blurRad="38100" dist="38100" dir="2700000" algn="tl">
                    <a:srgbClr val="000000">
                      <a:alpha val="43137"/>
                    </a:srgbClr>
                  </a:outerShdw>
                </a:effectLst>
              </a:rPr>
              <a:t>OPCIONAL</a:t>
            </a:r>
            <a:r>
              <a:rPr lang="es-PE" b="1" dirty="0">
                <a:solidFill>
                  <a:sysClr val="windowText" lastClr="000000"/>
                </a:solidFill>
                <a:effectLst>
                  <a:outerShdw blurRad="38100" dist="38100" dir="2700000" algn="tl">
                    <a:srgbClr val="000000">
                      <a:alpha val="43137"/>
                    </a:srgbClr>
                  </a:outerShdw>
                </a:effectLst>
              </a:rPr>
              <a:t>)</a:t>
            </a:r>
          </a:p>
        </p:txBody>
      </p:sp>
    </p:spTree>
    <p:extLst>
      <p:ext uri="{BB962C8B-B14F-4D97-AF65-F5344CB8AC3E}">
        <p14:creationId xmlns:p14="http://schemas.microsoft.com/office/powerpoint/2010/main" val="757686437"/>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1719943" y="219228"/>
            <a:ext cx="3584320" cy="523220"/>
          </a:xfrm>
          <a:prstGeom prst="rect">
            <a:avLst/>
          </a:prstGeom>
          <a:noFill/>
        </p:spPr>
        <p:txBody>
          <a:bodyPr wrap="square" rtlCol="0">
            <a:spAutoFit/>
          </a:bodyPr>
          <a:lstStyle/>
          <a:p>
            <a:r>
              <a:rPr lang="es-ES" sz="2800" b="1" dirty="0">
                <a:solidFill>
                  <a:schemeClr val="bg1"/>
                </a:solidFill>
                <a:effectLst>
                  <a:outerShdw blurRad="38100" dist="38100" dir="2700000" algn="tl">
                    <a:srgbClr val="000000">
                      <a:alpha val="43137"/>
                    </a:srgbClr>
                  </a:outerShdw>
                </a:effectLst>
              </a:rPr>
              <a:t>TABLAS DINÁMICAS</a:t>
            </a:r>
          </a:p>
        </p:txBody>
      </p:sp>
      <p:pic>
        <p:nvPicPr>
          <p:cNvPr id="3" name="Imagen 2"/>
          <p:cNvPicPr>
            <a:picLocks noChangeAspect="1"/>
          </p:cNvPicPr>
          <p:nvPr/>
        </p:nvPicPr>
        <p:blipFill rotWithShape="1">
          <a:blip r:embed="rId2"/>
          <a:srcRect l="80369" t="20966" b="10240"/>
          <a:stretch/>
        </p:blipFill>
        <p:spPr>
          <a:xfrm>
            <a:off x="3964259" y="881697"/>
            <a:ext cx="2590800" cy="5674470"/>
          </a:xfrm>
          <a:prstGeom prst="rect">
            <a:avLst/>
          </a:prstGeom>
          <a:ln>
            <a:solidFill>
              <a:schemeClr val="bg1">
                <a:lumMod val="50000"/>
              </a:schemeClr>
            </a:solidFill>
          </a:ln>
          <a:effectLst>
            <a:outerShdw blurRad="50800" dist="38100" dir="2700000" algn="tl" rotWithShape="0">
              <a:prstClr val="black">
                <a:alpha val="40000"/>
              </a:prstClr>
            </a:outerShdw>
          </a:effectLst>
        </p:spPr>
      </p:pic>
      <p:sp>
        <p:nvSpPr>
          <p:cNvPr id="4" name="Llamada con línea 1 3"/>
          <p:cNvSpPr/>
          <p:nvPr/>
        </p:nvSpPr>
        <p:spPr>
          <a:xfrm>
            <a:off x="6844454" y="1783468"/>
            <a:ext cx="3289609" cy="914400"/>
          </a:xfrm>
          <a:prstGeom prst="borderCallout1">
            <a:avLst>
              <a:gd name="adj1" fmla="val 53009"/>
              <a:gd name="adj2" fmla="val 820"/>
              <a:gd name="adj3" fmla="val 52315"/>
              <a:gd name="adj4" fmla="val -30197"/>
            </a:avLst>
          </a:prstGeom>
          <a:solidFill>
            <a:schemeClr val="bg1"/>
          </a:solidFill>
          <a:ln w="28575">
            <a:solidFill>
              <a:srgbClr val="FF0000"/>
            </a:solidFill>
            <a:headEnd type="none" w="med" len="med"/>
            <a:tailEnd type="triangl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b="1" dirty="0">
                <a:solidFill>
                  <a:sysClr val="windowText" lastClr="000000"/>
                </a:solidFill>
                <a:effectLst>
                  <a:outerShdw blurRad="38100" dist="38100" dir="2700000" algn="tl">
                    <a:srgbClr val="000000">
                      <a:alpha val="43137"/>
                    </a:srgbClr>
                  </a:outerShdw>
                </a:effectLst>
              </a:rPr>
              <a:t>CAMPOS DE LA TABLA DE DATOS DISPONIBLES</a:t>
            </a:r>
          </a:p>
        </p:txBody>
      </p:sp>
      <p:sp>
        <p:nvSpPr>
          <p:cNvPr id="5" name="Llamada con línea 1 4"/>
          <p:cNvSpPr/>
          <p:nvPr/>
        </p:nvSpPr>
        <p:spPr>
          <a:xfrm flipH="1">
            <a:off x="1635512" y="4795260"/>
            <a:ext cx="2206620" cy="920601"/>
          </a:xfrm>
          <a:prstGeom prst="borderCallout1">
            <a:avLst>
              <a:gd name="adj1" fmla="val 53009"/>
              <a:gd name="adj2" fmla="val 820"/>
              <a:gd name="adj3" fmla="val 73235"/>
              <a:gd name="adj4" fmla="val -23906"/>
            </a:avLst>
          </a:prstGeom>
          <a:solidFill>
            <a:schemeClr val="bg1"/>
          </a:solidFill>
          <a:ln w="28575">
            <a:solidFill>
              <a:srgbClr val="FF0000"/>
            </a:solidFill>
            <a:headEnd type="none" w="med" len="med"/>
            <a:tailEnd type="triangl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s-PE" dirty="0">
                <a:solidFill>
                  <a:srgbClr val="2F2F2F"/>
                </a:solidFill>
              </a:rPr>
              <a:t>EN LAS FILAS COLOCAREMOS </a:t>
            </a:r>
            <a:r>
              <a:rPr lang="es-PE" b="1" dirty="0">
                <a:solidFill>
                  <a:srgbClr val="FF0000"/>
                </a:solidFill>
                <a:effectLst>
                  <a:outerShdw blurRad="38100" dist="38100" dir="2700000" algn="tl">
                    <a:srgbClr val="000000">
                      <a:alpha val="43137"/>
                    </a:srgbClr>
                  </a:outerShdw>
                </a:effectLst>
              </a:rPr>
              <a:t>VENDEDOR</a:t>
            </a:r>
          </a:p>
        </p:txBody>
      </p:sp>
      <p:sp>
        <p:nvSpPr>
          <p:cNvPr id="6" name="Llamada con línea 1 5"/>
          <p:cNvSpPr/>
          <p:nvPr/>
        </p:nvSpPr>
        <p:spPr>
          <a:xfrm>
            <a:off x="7134385" y="3082222"/>
            <a:ext cx="3122341" cy="625455"/>
          </a:xfrm>
          <a:prstGeom prst="borderCallout1">
            <a:avLst>
              <a:gd name="adj1" fmla="val 53009"/>
              <a:gd name="adj2" fmla="val 820"/>
              <a:gd name="adj3" fmla="val 218956"/>
              <a:gd name="adj4" fmla="val -39222"/>
            </a:avLst>
          </a:prstGeom>
          <a:solidFill>
            <a:schemeClr val="bg1"/>
          </a:solidFill>
          <a:ln w="28575">
            <a:solidFill>
              <a:srgbClr val="FF0000"/>
            </a:solidFill>
            <a:headEnd type="none" w="med" len="med"/>
            <a:tailEnd type="triangl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s-PE" dirty="0">
                <a:solidFill>
                  <a:srgbClr val="2F2F2F"/>
                </a:solidFill>
              </a:rPr>
              <a:t>EN  LAS COLUMNAS COLOCAREMOS </a:t>
            </a:r>
            <a:r>
              <a:rPr lang="es-PE" b="1" dirty="0">
                <a:solidFill>
                  <a:srgbClr val="FF0000"/>
                </a:solidFill>
                <a:effectLst>
                  <a:outerShdw blurRad="38100" dist="38100" dir="2700000" algn="tl">
                    <a:srgbClr val="000000">
                      <a:alpha val="43137"/>
                    </a:srgbClr>
                  </a:outerShdw>
                </a:effectLst>
              </a:rPr>
              <a:t>REGIÓN</a:t>
            </a:r>
          </a:p>
        </p:txBody>
      </p:sp>
      <p:sp>
        <p:nvSpPr>
          <p:cNvPr id="7" name="Llamada con línea 1 6"/>
          <p:cNvSpPr/>
          <p:nvPr/>
        </p:nvSpPr>
        <p:spPr>
          <a:xfrm>
            <a:off x="7134385" y="5255561"/>
            <a:ext cx="3373245" cy="782027"/>
          </a:xfrm>
          <a:prstGeom prst="borderCallout1">
            <a:avLst>
              <a:gd name="adj1" fmla="val 53009"/>
              <a:gd name="adj2" fmla="val 820"/>
              <a:gd name="adj3" fmla="val 107928"/>
              <a:gd name="adj4" fmla="val -32367"/>
            </a:avLst>
          </a:prstGeom>
          <a:solidFill>
            <a:schemeClr val="bg1"/>
          </a:solidFill>
          <a:ln w="28575">
            <a:solidFill>
              <a:srgbClr val="FF0000"/>
            </a:solidFill>
            <a:headEnd type="none" w="med" len="med"/>
            <a:tailEnd type="triangl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s-PE" dirty="0">
                <a:solidFill>
                  <a:srgbClr val="2F2F2F"/>
                </a:solidFill>
              </a:rPr>
              <a:t>EN VALORES COLOCAREMOS </a:t>
            </a:r>
            <a:r>
              <a:rPr lang="es-PE" b="1" dirty="0">
                <a:solidFill>
                  <a:srgbClr val="FF0000"/>
                </a:solidFill>
                <a:effectLst>
                  <a:outerShdw blurRad="38100" dist="38100" dir="2700000" algn="tl">
                    <a:srgbClr val="000000">
                      <a:alpha val="43137"/>
                    </a:srgbClr>
                  </a:outerShdw>
                </a:effectLst>
              </a:rPr>
              <a:t>UNIDADES</a:t>
            </a:r>
          </a:p>
        </p:txBody>
      </p:sp>
      <p:sp>
        <p:nvSpPr>
          <p:cNvPr id="8" name="Llamada con línea 1 7"/>
          <p:cNvSpPr/>
          <p:nvPr/>
        </p:nvSpPr>
        <p:spPr>
          <a:xfrm flipH="1">
            <a:off x="1635512" y="3144447"/>
            <a:ext cx="2206620" cy="1237983"/>
          </a:xfrm>
          <a:prstGeom prst="borderCallout1">
            <a:avLst>
              <a:gd name="adj1" fmla="val 53009"/>
              <a:gd name="adj2" fmla="val 820"/>
              <a:gd name="adj3" fmla="val 94813"/>
              <a:gd name="adj4" fmla="val -30902"/>
            </a:avLst>
          </a:prstGeom>
          <a:solidFill>
            <a:schemeClr val="bg1"/>
          </a:solidFill>
          <a:ln w="28575">
            <a:solidFill>
              <a:srgbClr val="FF0000"/>
            </a:solidFill>
            <a:headEnd type="none" w="med" len="med"/>
            <a:tailEnd type="triangl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s-PE" dirty="0">
                <a:solidFill>
                  <a:sysClr val="windowText" lastClr="000000"/>
                </a:solidFill>
              </a:rPr>
              <a:t>COMO JERARQUÍA PRINCIPAL SE COLOCARÁ </a:t>
            </a:r>
            <a:r>
              <a:rPr lang="es-PE" b="1" dirty="0">
                <a:solidFill>
                  <a:srgbClr val="FF0000"/>
                </a:solidFill>
                <a:effectLst>
                  <a:outerShdw blurRad="38100" dist="38100" dir="2700000" algn="tl">
                    <a:srgbClr val="000000">
                      <a:alpha val="43137"/>
                    </a:srgbClr>
                  </a:outerShdw>
                </a:effectLst>
              </a:rPr>
              <a:t>PRODUCTOS</a:t>
            </a:r>
          </a:p>
        </p:txBody>
      </p:sp>
    </p:spTree>
    <p:extLst>
      <p:ext uri="{BB962C8B-B14F-4D97-AF65-F5344CB8AC3E}">
        <p14:creationId xmlns:p14="http://schemas.microsoft.com/office/powerpoint/2010/main" val="3733626805"/>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1719943" y="219228"/>
            <a:ext cx="3584320" cy="523220"/>
          </a:xfrm>
          <a:prstGeom prst="rect">
            <a:avLst/>
          </a:prstGeom>
          <a:noFill/>
        </p:spPr>
        <p:txBody>
          <a:bodyPr wrap="square" rtlCol="0">
            <a:spAutoFit/>
          </a:bodyPr>
          <a:lstStyle/>
          <a:p>
            <a:r>
              <a:rPr lang="es-ES" sz="2800" b="1" dirty="0">
                <a:solidFill>
                  <a:schemeClr val="bg1"/>
                </a:solidFill>
                <a:effectLst>
                  <a:outerShdw blurRad="38100" dist="38100" dir="2700000" algn="tl">
                    <a:srgbClr val="000000">
                      <a:alpha val="43137"/>
                    </a:srgbClr>
                  </a:outerShdw>
                </a:effectLst>
              </a:rPr>
              <a:t>TABLAS DINÁMICAS</a:t>
            </a:r>
          </a:p>
        </p:txBody>
      </p:sp>
      <p:pic>
        <p:nvPicPr>
          <p:cNvPr id="3" name="Imagen 2"/>
          <p:cNvPicPr>
            <a:picLocks noChangeAspect="1"/>
          </p:cNvPicPr>
          <p:nvPr/>
        </p:nvPicPr>
        <p:blipFill rotWithShape="1">
          <a:blip r:embed="rId2"/>
          <a:srcRect t="19574" r="43047" b="47586"/>
          <a:stretch/>
        </p:blipFill>
        <p:spPr>
          <a:xfrm>
            <a:off x="2206814" y="2226327"/>
            <a:ext cx="7777509" cy="2802872"/>
          </a:xfrm>
          <a:prstGeom prst="rect">
            <a:avLst/>
          </a:prstGeom>
          <a:ln>
            <a:solidFill>
              <a:schemeClr val="bg1">
                <a:lumMod val="50000"/>
              </a:schemeClr>
            </a:solidFill>
          </a:ln>
          <a:effectLst>
            <a:outerShdw blurRad="50800" dist="38100" dir="2700000" algn="tl" rotWithShape="0">
              <a:prstClr val="black">
                <a:alpha val="40000"/>
              </a:prstClr>
            </a:outerShdw>
          </a:effectLst>
        </p:spPr>
      </p:pic>
      <p:sp>
        <p:nvSpPr>
          <p:cNvPr id="4" name="Llamada con línea 1 3"/>
          <p:cNvSpPr/>
          <p:nvPr/>
        </p:nvSpPr>
        <p:spPr>
          <a:xfrm>
            <a:off x="6699487" y="1572714"/>
            <a:ext cx="1381431" cy="512174"/>
          </a:xfrm>
          <a:prstGeom prst="borderCallout1">
            <a:avLst>
              <a:gd name="adj1" fmla="val 53009"/>
              <a:gd name="adj2" fmla="val 820"/>
              <a:gd name="adj3" fmla="val 218956"/>
              <a:gd name="adj4" fmla="val -39222"/>
            </a:avLst>
          </a:prstGeom>
          <a:solidFill>
            <a:schemeClr val="bg1"/>
          </a:solidFill>
          <a:ln w="28575">
            <a:solidFill>
              <a:srgbClr val="FF0000"/>
            </a:solidFill>
            <a:headEnd type="none" w="med" len="med"/>
            <a:tailEnd type="triangl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sz="2000" b="1" dirty="0">
                <a:solidFill>
                  <a:srgbClr val="2F2F2F"/>
                </a:solidFill>
                <a:effectLst>
                  <a:outerShdw blurRad="38100" dist="38100" dir="2700000" algn="tl">
                    <a:srgbClr val="000000">
                      <a:alpha val="43137"/>
                    </a:srgbClr>
                  </a:outerShdw>
                </a:effectLst>
              </a:rPr>
              <a:t>FILTRO</a:t>
            </a:r>
            <a:endParaRPr lang="es-PE" sz="2000" b="1" dirty="0">
              <a:solidFill>
                <a:srgbClr val="FF0000"/>
              </a:solidFill>
              <a:effectLst>
                <a:outerShdw blurRad="38100" dist="38100" dir="2700000" algn="tl">
                  <a:srgbClr val="000000">
                    <a:alpha val="43137"/>
                  </a:srgbClr>
                </a:outerShdw>
              </a:effectLst>
            </a:endParaRPr>
          </a:p>
        </p:txBody>
      </p:sp>
      <p:sp>
        <p:nvSpPr>
          <p:cNvPr id="5" name="Llamada con línea 1 4"/>
          <p:cNvSpPr/>
          <p:nvPr/>
        </p:nvSpPr>
        <p:spPr>
          <a:xfrm>
            <a:off x="3354121" y="5319915"/>
            <a:ext cx="1381431" cy="512174"/>
          </a:xfrm>
          <a:prstGeom prst="borderCallout1">
            <a:avLst>
              <a:gd name="adj1" fmla="val 53009"/>
              <a:gd name="adj2" fmla="val 820"/>
              <a:gd name="adj3" fmla="val -155528"/>
              <a:gd name="adj4" fmla="val -18234"/>
            </a:avLst>
          </a:prstGeom>
          <a:solidFill>
            <a:schemeClr val="bg1"/>
          </a:solidFill>
          <a:ln w="28575">
            <a:solidFill>
              <a:srgbClr val="FF0000"/>
            </a:solidFill>
            <a:headEnd type="none" w="med" len="med"/>
            <a:tailEnd type="triangl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sz="2000" b="1" dirty="0">
                <a:solidFill>
                  <a:srgbClr val="2F2F2F"/>
                </a:solidFill>
                <a:effectLst>
                  <a:outerShdw blurRad="38100" dist="38100" dir="2700000" algn="tl">
                    <a:srgbClr val="000000">
                      <a:alpha val="43137"/>
                    </a:srgbClr>
                  </a:outerShdw>
                </a:effectLst>
              </a:rPr>
              <a:t>FILA</a:t>
            </a:r>
            <a:endParaRPr lang="es-PE" sz="2000" b="1" dirty="0">
              <a:solidFill>
                <a:srgbClr val="FF0000"/>
              </a:solidFill>
              <a:effectLst>
                <a:outerShdw blurRad="38100" dist="38100" dir="2700000" algn="tl">
                  <a:srgbClr val="000000">
                    <a:alpha val="43137"/>
                  </a:srgbClr>
                </a:outerShdw>
              </a:effectLst>
            </a:endParaRPr>
          </a:p>
        </p:txBody>
      </p:sp>
      <p:sp>
        <p:nvSpPr>
          <p:cNvPr id="6" name="Llamada con línea 1 5"/>
          <p:cNvSpPr/>
          <p:nvPr/>
        </p:nvSpPr>
        <p:spPr>
          <a:xfrm>
            <a:off x="8929730" y="2732832"/>
            <a:ext cx="1381431" cy="512174"/>
          </a:xfrm>
          <a:prstGeom prst="borderCallout1">
            <a:avLst>
              <a:gd name="adj1" fmla="val 53009"/>
              <a:gd name="adj2" fmla="val 820"/>
              <a:gd name="adj3" fmla="val 208070"/>
              <a:gd name="adj4" fmla="val -103800"/>
            </a:avLst>
          </a:prstGeom>
          <a:solidFill>
            <a:schemeClr val="bg1"/>
          </a:solidFill>
          <a:ln w="28575">
            <a:solidFill>
              <a:srgbClr val="FF0000"/>
            </a:solidFill>
            <a:headEnd type="none" w="med" len="med"/>
            <a:tailEnd type="triangl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sz="2000" b="1" dirty="0">
                <a:solidFill>
                  <a:srgbClr val="2F2F2F"/>
                </a:solidFill>
                <a:effectLst>
                  <a:outerShdw blurRad="38100" dist="38100" dir="2700000" algn="tl">
                    <a:srgbClr val="000000">
                      <a:alpha val="43137"/>
                    </a:srgbClr>
                  </a:outerShdw>
                </a:effectLst>
              </a:rPr>
              <a:t>COLUMNA</a:t>
            </a:r>
            <a:endParaRPr lang="es-PE" sz="2000" b="1" dirty="0">
              <a:solidFill>
                <a:srgbClr val="FF0000"/>
              </a:solidFill>
              <a:effectLst>
                <a:outerShdw blurRad="38100" dist="38100" dir="2700000" algn="tl">
                  <a:srgbClr val="000000">
                    <a:alpha val="43137"/>
                  </a:srgbClr>
                </a:outerShdw>
              </a:effectLst>
            </a:endParaRPr>
          </a:p>
        </p:txBody>
      </p:sp>
      <p:sp>
        <p:nvSpPr>
          <p:cNvPr id="7" name="Llamada con línea 1 6"/>
          <p:cNvSpPr/>
          <p:nvPr/>
        </p:nvSpPr>
        <p:spPr>
          <a:xfrm flipH="1">
            <a:off x="6275740" y="5320698"/>
            <a:ext cx="1381431" cy="512174"/>
          </a:xfrm>
          <a:prstGeom prst="borderCallout1">
            <a:avLst>
              <a:gd name="adj1" fmla="val 53009"/>
              <a:gd name="adj2" fmla="val 820"/>
              <a:gd name="adj3" fmla="val -155528"/>
              <a:gd name="adj4" fmla="val -89270"/>
            </a:avLst>
          </a:prstGeom>
          <a:solidFill>
            <a:schemeClr val="bg1"/>
          </a:solidFill>
          <a:ln w="28575">
            <a:solidFill>
              <a:srgbClr val="FF0000"/>
            </a:solidFill>
            <a:headEnd type="none" w="med" len="med"/>
            <a:tailEnd type="triangl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sz="2000" b="1" dirty="0">
                <a:solidFill>
                  <a:srgbClr val="2F2F2F"/>
                </a:solidFill>
                <a:effectLst>
                  <a:outerShdw blurRad="38100" dist="38100" dir="2700000" algn="tl">
                    <a:srgbClr val="000000">
                      <a:alpha val="43137"/>
                    </a:srgbClr>
                  </a:outerShdw>
                </a:effectLst>
              </a:rPr>
              <a:t>VALORES</a:t>
            </a:r>
            <a:endParaRPr lang="es-PE" sz="2000"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084229456"/>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6C1B63D0-1557-4497-B0AA-840DE7936144}"/>
              </a:ext>
            </a:extLst>
          </p:cNvPr>
          <p:cNvSpPr txBox="1"/>
          <p:nvPr/>
        </p:nvSpPr>
        <p:spPr>
          <a:xfrm>
            <a:off x="1719943" y="219228"/>
            <a:ext cx="3584320" cy="523220"/>
          </a:xfrm>
          <a:prstGeom prst="rect">
            <a:avLst/>
          </a:prstGeom>
          <a:noFill/>
        </p:spPr>
        <p:txBody>
          <a:bodyPr wrap="square" rtlCol="0">
            <a:spAutoFit/>
          </a:bodyPr>
          <a:lstStyle/>
          <a:p>
            <a:r>
              <a:rPr lang="es-ES" sz="2800" b="1" dirty="0">
                <a:solidFill>
                  <a:schemeClr val="bg1"/>
                </a:solidFill>
                <a:effectLst>
                  <a:outerShdw blurRad="38100" dist="38100" dir="2700000" algn="tl">
                    <a:srgbClr val="000000">
                      <a:alpha val="43137"/>
                    </a:srgbClr>
                  </a:outerShdw>
                </a:effectLst>
              </a:rPr>
              <a:t>GRÁFICOS DINÁMICOS</a:t>
            </a:r>
          </a:p>
        </p:txBody>
      </p:sp>
      <p:pic>
        <p:nvPicPr>
          <p:cNvPr id="3" name="Imagen 2">
            <a:extLst>
              <a:ext uri="{FF2B5EF4-FFF2-40B4-BE49-F238E27FC236}">
                <a16:creationId xmlns:a16="http://schemas.microsoft.com/office/drawing/2014/main" id="{A31767A9-37BA-4594-9C5D-147D6E7C6D87}"/>
              </a:ext>
            </a:extLst>
          </p:cNvPr>
          <p:cNvPicPr>
            <a:picLocks noChangeAspect="1"/>
          </p:cNvPicPr>
          <p:nvPr/>
        </p:nvPicPr>
        <p:blipFill rotWithShape="1">
          <a:blip r:embed="rId2"/>
          <a:srcRect t="19538" r="39995" b="7020"/>
          <a:stretch/>
        </p:blipFill>
        <p:spPr>
          <a:xfrm>
            <a:off x="2160609" y="992459"/>
            <a:ext cx="7191510" cy="4951141"/>
          </a:xfrm>
          <a:prstGeom prst="rect">
            <a:avLst/>
          </a:prstGeom>
        </p:spPr>
      </p:pic>
    </p:spTree>
    <p:extLst>
      <p:ext uri="{BB962C8B-B14F-4D97-AF65-F5344CB8AC3E}">
        <p14:creationId xmlns:p14="http://schemas.microsoft.com/office/powerpoint/2010/main" val="2261018038"/>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00000000-0008-0000-1C00-000004000000}"/>
              </a:ext>
            </a:extLst>
          </p:cNvPr>
          <p:cNvPicPr>
            <a:picLocks noChangeAspect="1"/>
          </p:cNvPicPr>
          <p:nvPr/>
        </p:nvPicPr>
        <p:blipFill rotWithShape="1">
          <a:blip r:embed="rId2"/>
          <a:srcRect l="82369" t="21118" b="8027"/>
          <a:stretch/>
        </p:blipFill>
        <p:spPr>
          <a:xfrm>
            <a:off x="5963413" y="1517692"/>
            <a:ext cx="2066925" cy="4672570"/>
          </a:xfrm>
          <a:prstGeom prst="rect">
            <a:avLst/>
          </a:prstGeom>
          <a:ln>
            <a:solidFill>
              <a:schemeClr val="bg1">
                <a:lumMod val="65000"/>
              </a:schemeClr>
            </a:solidFill>
          </a:ln>
          <a:effectLst>
            <a:outerShdw blurRad="50800" dist="38100" dir="2700000" algn="tl" rotWithShape="0">
              <a:prstClr val="black">
                <a:alpha val="40000"/>
              </a:prstClr>
            </a:outerShdw>
          </a:effectLst>
        </p:spPr>
      </p:pic>
      <p:sp>
        <p:nvSpPr>
          <p:cNvPr id="3" name="CuadroTexto 2">
            <a:extLst>
              <a:ext uri="{FF2B5EF4-FFF2-40B4-BE49-F238E27FC236}">
                <a16:creationId xmlns:a16="http://schemas.microsoft.com/office/drawing/2014/main" id="{A94C0212-3705-46E4-A388-08FC6E8C9E1F}"/>
              </a:ext>
            </a:extLst>
          </p:cNvPr>
          <p:cNvSpPr txBox="1"/>
          <p:nvPr/>
        </p:nvSpPr>
        <p:spPr>
          <a:xfrm>
            <a:off x="1719943" y="219228"/>
            <a:ext cx="3584320" cy="523220"/>
          </a:xfrm>
          <a:prstGeom prst="rect">
            <a:avLst/>
          </a:prstGeom>
          <a:noFill/>
        </p:spPr>
        <p:txBody>
          <a:bodyPr wrap="square" rtlCol="0">
            <a:spAutoFit/>
          </a:bodyPr>
          <a:lstStyle/>
          <a:p>
            <a:r>
              <a:rPr lang="es-ES" sz="2800" b="1" dirty="0">
                <a:solidFill>
                  <a:schemeClr val="bg1"/>
                </a:solidFill>
                <a:effectLst>
                  <a:outerShdw blurRad="38100" dist="38100" dir="2700000" algn="tl">
                    <a:srgbClr val="000000">
                      <a:alpha val="43137"/>
                    </a:srgbClr>
                  </a:outerShdw>
                </a:effectLst>
              </a:rPr>
              <a:t>GRÁFICOS DINÁMICOS</a:t>
            </a:r>
          </a:p>
        </p:txBody>
      </p:sp>
      <p:sp>
        <p:nvSpPr>
          <p:cNvPr id="4" name="CuadroTexto 3">
            <a:extLst>
              <a:ext uri="{FF2B5EF4-FFF2-40B4-BE49-F238E27FC236}">
                <a16:creationId xmlns:a16="http://schemas.microsoft.com/office/drawing/2014/main" id="{B244D303-93CE-4457-8E45-EDD39C8AFC3C}"/>
              </a:ext>
            </a:extLst>
          </p:cNvPr>
          <p:cNvSpPr txBox="1"/>
          <p:nvPr/>
        </p:nvSpPr>
        <p:spPr>
          <a:xfrm>
            <a:off x="2968752" y="945404"/>
            <a:ext cx="6464808" cy="369332"/>
          </a:xfrm>
          <a:prstGeom prst="rect">
            <a:avLst/>
          </a:prstGeom>
          <a:solidFill>
            <a:schemeClr val="bg1"/>
          </a:solidFill>
          <a:ln w="19050">
            <a:solidFill>
              <a:srgbClr val="FF0000"/>
            </a:solidFill>
          </a:ln>
          <a:effectLst>
            <a:outerShdw blurRad="50800" dist="38100" dir="2700000" algn="tl" rotWithShape="0">
              <a:prstClr val="black">
                <a:alpha val="40000"/>
              </a:prstClr>
            </a:outerShdw>
          </a:effectLst>
        </p:spPr>
        <p:txBody>
          <a:bodyPr wrap="square" rtlCol="0">
            <a:spAutoFit/>
          </a:bodyPr>
          <a:lstStyle/>
          <a:p>
            <a:r>
              <a:rPr lang="es-PE" b="1" dirty="0">
                <a:effectLst>
                  <a:outerShdw blurRad="38100" dist="38100" dir="2700000" algn="tl">
                    <a:srgbClr val="000000">
                      <a:alpha val="43137"/>
                    </a:srgbClr>
                  </a:outerShdw>
                </a:effectLst>
              </a:rPr>
              <a:t>DISTRIBUYA LOS CAMPOS DE LA TABLA COMO SE MUESTRA</a:t>
            </a:r>
          </a:p>
        </p:txBody>
      </p:sp>
      <p:sp>
        <p:nvSpPr>
          <p:cNvPr id="5" name="Globo: flecha derecha 4">
            <a:extLst>
              <a:ext uri="{FF2B5EF4-FFF2-40B4-BE49-F238E27FC236}">
                <a16:creationId xmlns:a16="http://schemas.microsoft.com/office/drawing/2014/main" id="{D24D7AAC-E1FA-4CDD-8998-734E8E5BC5F5}"/>
              </a:ext>
            </a:extLst>
          </p:cNvPr>
          <p:cNvSpPr/>
          <p:nvPr/>
        </p:nvSpPr>
        <p:spPr>
          <a:xfrm>
            <a:off x="2968752" y="2231136"/>
            <a:ext cx="2843784" cy="2880360"/>
          </a:xfrm>
          <a:prstGeom prst="rightArrowCallout">
            <a:avLst>
              <a:gd name="adj1" fmla="val 15757"/>
              <a:gd name="adj2" fmla="val 15877"/>
              <a:gd name="adj3" fmla="val 21154"/>
              <a:gd name="adj4" fmla="val 62436"/>
            </a:avLst>
          </a:prstGeom>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b="1" dirty="0">
                <a:effectLst>
                  <a:outerShdw blurRad="50800" dist="38100" dir="2700000" algn="tl" rotWithShape="0">
                    <a:prstClr val="black">
                      <a:alpha val="40000"/>
                    </a:prstClr>
                  </a:outerShdw>
                </a:effectLst>
              </a:rPr>
              <a:t>DISTRIBUCIÓN DE CAMPOS</a:t>
            </a:r>
          </a:p>
        </p:txBody>
      </p:sp>
    </p:spTree>
    <p:extLst>
      <p:ext uri="{BB962C8B-B14F-4D97-AF65-F5344CB8AC3E}">
        <p14:creationId xmlns:p14="http://schemas.microsoft.com/office/powerpoint/2010/main" val="1234483271"/>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6C305370-1444-4D5D-A916-2EFA739B31FF}"/>
              </a:ext>
            </a:extLst>
          </p:cNvPr>
          <p:cNvPicPr>
            <a:picLocks noChangeAspect="1"/>
          </p:cNvPicPr>
          <p:nvPr/>
        </p:nvPicPr>
        <p:blipFill>
          <a:blip r:embed="rId2"/>
          <a:stretch>
            <a:fillRect/>
          </a:stretch>
        </p:blipFill>
        <p:spPr>
          <a:xfrm>
            <a:off x="5582031" y="1662303"/>
            <a:ext cx="4244721" cy="3727598"/>
          </a:xfrm>
          <a:prstGeom prst="rect">
            <a:avLst/>
          </a:prstGeom>
          <a:effectLst>
            <a:outerShdw blurRad="50800" dist="38100" dir="2700000" algn="tl" rotWithShape="0">
              <a:prstClr val="black">
                <a:alpha val="40000"/>
              </a:prstClr>
            </a:outerShdw>
          </a:effectLst>
        </p:spPr>
      </p:pic>
      <p:sp>
        <p:nvSpPr>
          <p:cNvPr id="6" name="CuadroTexto 5">
            <a:extLst>
              <a:ext uri="{FF2B5EF4-FFF2-40B4-BE49-F238E27FC236}">
                <a16:creationId xmlns:a16="http://schemas.microsoft.com/office/drawing/2014/main" id="{723A82B5-B34A-440F-AE3E-8AC4065EFD42}"/>
              </a:ext>
            </a:extLst>
          </p:cNvPr>
          <p:cNvSpPr txBox="1"/>
          <p:nvPr/>
        </p:nvSpPr>
        <p:spPr>
          <a:xfrm>
            <a:off x="1719943" y="219228"/>
            <a:ext cx="3584320" cy="523220"/>
          </a:xfrm>
          <a:prstGeom prst="rect">
            <a:avLst/>
          </a:prstGeom>
          <a:noFill/>
        </p:spPr>
        <p:txBody>
          <a:bodyPr wrap="square" rtlCol="0">
            <a:spAutoFit/>
          </a:bodyPr>
          <a:lstStyle/>
          <a:p>
            <a:r>
              <a:rPr lang="es-ES" sz="2800" b="1" dirty="0">
                <a:solidFill>
                  <a:schemeClr val="bg1"/>
                </a:solidFill>
                <a:effectLst>
                  <a:outerShdw blurRad="38100" dist="38100" dir="2700000" algn="tl">
                    <a:srgbClr val="000000">
                      <a:alpha val="43137"/>
                    </a:srgbClr>
                  </a:outerShdw>
                </a:effectLst>
              </a:rPr>
              <a:t>GRÁFICOS DINÁMICOS</a:t>
            </a:r>
          </a:p>
        </p:txBody>
      </p:sp>
      <p:sp>
        <p:nvSpPr>
          <p:cNvPr id="8" name="Globo: flecha derecha 7">
            <a:extLst>
              <a:ext uri="{FF2B5EF4-FFF2-40B4-BE49-F238E27FC236}">
                <a16:creationId xmlns:a16="http://schemas.microsoft.com/office/drawing/2014/main" id="{2B5DE97A-7B63-4BEC-BC8D-F81B2CF60E57}"/>
              </a:ext>
            </a:extLst>
          </p:cNvPr>
          <p:cNvSpPr/>
          <p:nvPr/>
        </p:nvSpPr>
        <p:spPr>
          <a:xfrm>
            <a:off x="2639568" y="2085922"/>
            <a:ext cx="2843784" cy="2880360"/>
          </a:xfrm>
          <a:prstGeom prst="rightArrowCallout">
            <a:avLst>
              <a:gd name="adj1" fmla="val 15757"/>
              <a:gd name="adj2" fmla="val 15877"/>
              <a:gd name="adj3" fmla="val 21154"/>
              <a:gd name="adj4" fmla="val 62436"/>
            </a:avLst>
          </a:prstGeom>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b="1" dirty="0">
                <a:effectLst>
                  <a:outerShdw blurRad="50800" dist="38100" dir="2700000" algn="tl" rotWithShape="0">
                    <a:prstClr val="black">
                      <a:alpha val="40000"/>
                    </a:prstClr>
                  </a:outerShdw>
                </a:effectLst>
              </a:rPr>
              <a:t>CREAR EL GRÁFICO EN OTRA HOJA</a:t>
            </a:r>
          </a:p>
        </p:txBody>
      </p:sp>
    </p:spTree>
    <p:extLst>
      <p:ext uri="{BB962C8B-B14F-4D97-AF65-F5344CB8AC3E}">
        <p14:creationId xmlns:p14="http://schemas.microsoft.com/office/powerpoint/2010/main" val="3171606291"/>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uadroTexto 5">
            <a:extLst>
              <a:ext uri="{FF2B5EF4-FFF2-40B4-BE49-F238E27FC236}">
                <a16:creationId xmlns:a16="http://schemas.microsoft.com/office/drawing/2014/main" id="{723A82B5-B34A-440F-AE3E-8AC4065EFD42}"/>
              </a:ext>
            </a:extLst>
          </p:cNvPr>
          <p:cNvSpPr txBox="1"/>
          <p:nvPr/>
        </p:nvSpPr>
        <p:spPr>
          <a:xfrm>
            <a:off x="1719943" y="219228"/>
            <a:ext cx="3584320" cy="523220"/>
          </a:xfrm>
          <a:prstGeom prst="rect">
            <a:avLst/>
          </a:prstGeom>
          <a:noFill/>
        </p:spPr>
        <p:txBody>
          <a:bodyPr wrap="square" rtlCol="0">
            <a:spAutoFit/>
          </a:bodyPr>
          <a:lstStyle/>
          <a:p>
            <a:r>
              <a:rPr lang="es-ES" sz="2800" b="1" dirty="0">
                <a:solidFill>
                  <a:schemeClr val="bg1"/>
                </a:solidFill>
                <a:effectLst>
                  <a:outerShdw blurRad="38100" dist="38100" dir="2700000" algn="tl">
                    <a:srgbClr val="000000">
                      <a:alpha val="43137"/>
                    </a:srgbClr>
                  </a:outerShdw>
                </a:effectLst>
              </a:rPr>
              <a:t>GRÁFICOS DINÁMICOS</a:t>
            </a:r>
          </a:p>
        </p:txBody>
      </p:sp>
      <p:pic>
        <p:nvPicPr>
          <p:cNvPr id="5" name="Imagen 4">
            <a:extLst>
              <a:ext uri="{FF2B5EF4-FFF2-40B4-BE49-F238E27FC236}">
                <a16:creationId xmlns:a16="http://schemas.microsoft.com/office/drawing/2014/main" id="{00000000-0008-0000-1C00-000003000000}"/>
              </a:ext>
            </a:extLst>
          </p:cNvPr>
          <p:cNvPicPr>
            <a:picLocks noChangeAspect="1"/>
          </p:cNvPicPr>
          <p:nvPr/>
        </p:nvPicPr>
        <p:blipFill rotWithShape="1">
          <a:blip r:embed="rId2"/>
          <a:srcRect l="9898" t="35013" r="37510" b="14031"/>
          <a:stretch/>
        </p:blipFill>
        <p:spPr>
          <a:xfrm>
            <a:off x="2968753" y="1768710"/>
            <a:ext cx="6552905" cy="3571387"/>
          </a:xfrm>
          <a:prstGeom prst="rect">
            <a:avLst/>
          </a:prstGeom>
          <a:ln>
            <a:solidFill>
              <a:schemeClr val="bg1">
                <a:lumMod val="65000"/>
              </a:schemeClr>
            </a:solidFill>
          </a:ln>
          <a:effectLst>
            <a:outerShdw blurRad="50800" dist="38100" dir="2700000" algn="tl" rotWithShape="0">
              <a:prstClr val="black">
                <a:alpha val="40000"/>
              </a:prstClr>
            </a:outerShdw>
          </a:effectLst>
        </p:spPr>
      </p:pic>
      <p:sp>
        <p:nvSpPr>
          <p:cNvPr id="12" name="CuadroTexto 11">
            <a:extLst>
              <a:ext uri="{FF2B5EF4-FFF2-40B4-BE49-F238E27FC236}">
                <a16:creationId xmlns:a16="http://schemas.microsoft.com/office/drawing/2014/main" id="{2A10F71A-EEE6-4351-B465-1D0AFA7650ED}"/>
              </a:ext>
            </a:extLst>
          </p:cNvPr>
          <p:cNvSpPr txBox="1"/>
          <p:nvPr/>
        </p:nvSpPr>
        <p:spPr>
          <a:xfrm>
            <a:off x="2968752" y="945404"/>
            <a:ext cx="6464808" cy="369332"/>
          </a:xfrm>
          <a:prstGeom prst="rect">
            <a:avLst/>
          </a:prstGeom>
          <a:solidFill>
            <a:schemeClr val="bg1"/>
          </a:solidFill>
          <a:ln w="19050">
            <a:solidFill>
              <a:srgbClr val="FF0000"/>
            </a:solidFill>
          </a:ln>
          <a:effectLst>
            <a:outerShdw blurRad="50800" dist="38100" dir="2700000" algn="tl" rotWithShape="0">
              <a:prstClr val="black">
                <a:alpha val="40000"/>
              </a:prstClr>
            </a:outerShdw>
          </a:effectLst>
        </p:spPr>
        <p:txBody>
          <a:bodyPr wrap="square" rtlCol="0">
            <a:spAutoFit/>
          </a:bodyPr>
          <a:lstStyle/>
          <a:p>
            <a:pPr algn="ctr"/>
            <a:r>
              <a:rPr lang="es-PE" b="1" dirty="0">
                <a:effectLst>
                  <a:outerShdw blurRad="38100" dist="38100" dir="2700000" algn="tl">
                    <a:srgbClr val="000000">
                      <a:alpha val="43137"/>
                    </a:srgbClr>
                  </a:outerShdw>
                </a:effectLst>
              </a:rPr>
              <a:t>MODELO SUGERIDO: COLUMNAS 3D AGRUPADAS</a:t>
            </a:r>
          </a:p>
        </p:txBody>
      </p:sp>
      <p:sp>
        <p:nvSpPr>
          <p:cNvPr id="3" name="Globo: línea 2">
            <a:extLst>
              <a:ext uri="{FF2B5EF4-FFF2-40B4-BE49-F238E27FC236}">
                <a16:creationId xmlns:a16="http://schemas.microsoft.com/office/drawing/2014/main" id="{7D972A18-141C-40A0-86C0-C9B936926D5B}"/>
              </a:ext>
            </a:extLst>
          </p:cNvPr>
          <p:cNvSpPr/>
          <p:nvPr/>
        </p:nvSpPr>
        <p:spPr>
          <a:xfrm flipH="1">
            <a:off x="1926336" y="3977640"/>
            <a:ext cx="2862072" cy="523220"/>
          </a:xfrm>
          <a:prstGeom prst="borderCallout1">
            <a:avLst>
              <a:gd name="adj1" fmla="val 48460"/>
              <a:gd name="adj2" fmla="val 519"/>
              <a:gd name="adj3" fmla="val -72167"/>
              <a:gd name="adj4" fmla="val -26743"/>
            </a:avLst>
          </a:prstGeom>
          <a:solidFill>
            <a:schemeClr val="bg1"/>
          </a:solidFill>
          <a:ln w="28575">
            <a:solidFill>
              <a:srgbClr val="FF0000"/>
            </a:solidFill>
            <a:headEnd type="none" w="med" len="med"/>
            <a:tailEnd type="triangl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sz="1400" b="1" dirty="0">
                <a:solidFill>
                  <a:sysClr val="windowText" lastClr="000000"/>
                </a:solidFill>
                <a:effectLst>
                  <a:outerShdw blurRad="38100" dist="38100" dir="2700000" algn="tl">
                    <a:srgbClr val="000000">
                      <a:alpha val="43137"/>
                    </a:srgbClr>
                  </a:outerShdw>
                </a:effectLst>
              </a:rPr>
              <a:t>Note que se coloco imágenes descriptivas</a:t>
            </a:r>
          </a:p>
        </p:txBody>
      </p:sp>
    </p:spTree>
    <p:extLst>
      <p:ext uri="{BB962C8B-B14F-4D97-AF65-F5344CB8AC3E}">
        <p14:creationId xmlns:p14="http://schemas.microsoft.com/office/powerpoint/2010/main" val="2485367825"/>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type="body" sz="quarter" idx="13"/>
          </p:nvPr>
        </p:nvSpPr>
        <p:spPr>
          <a:xfrm>
            <a:off x="838200" y="1378527"/>
            <a:ext cx="10515600" cy="3668350"/>
          </a:xfrm>
        </p:spPr>
        <p:txBody>
          <a:bodyPr>
            <a:normAutofit/>
          </a:bodyPr>
          <a:lstStyle/>
          <a:p>
            <a:pPr algn="just"/>
            <a:r>
              <a:rPr lang="es-PE" sz="2600" dirty="0"/>
              <a:t>La segmentación de datos proporciona botones en los que puede hacer clic para filtrar datos de una tabla o una tabla dinámica. Además del filtrado rápido, las segmentaciones de datos también indican el estado de filtrado actual, de este modo es fácil entender qué se muestra exactamente en una tabla dinámica filtrada.</a:t>
            </a:r>
          </a:p>
        </p:txBody>
      </p:sp>
      <p:sp>
        <p:nvSpPr>
          <p:cNvPr id="2" name="Título 1"/>
          <p:cNvSpPr>
            <a:spLocks noGrp="1"/>
          </p:cNvSpPr>
          <p:nvPr>
            <p:ph type="title"/>
          </p:nvPr>
        </p:nvSpPr>
        <p:spPr>
          <a:xfrm>
            <a:off x="838200" y="132822"/>
            <a:ext cx="10515600" cy="584151"/>
          </a:xfrm>
        </p:spPr>
        <p:txBody>
          <a:bodyPr>
            <a:normAutofit fontScale="90000"/>
          </a:bodyPr>
          <a:lstStyle/>
          <a:p>
            <a:pPr algn="ctr"/>
            <a:r>
              <a:rPr lang="es-PE" b="1" dirty="0" smtClean="0">
                <a:solidFill>
                  <a:schemeClr val="bg1"/>
                </a:solidFill>
              </a:rPr>
              <a:t>SEGMENTACIÓN DE DATOS</a:t>
            </a:r>
            <a:endParaRPr lang="es-PE" b="1" dirty="0">
              <a:solidFill>
                <a:schemeClr val="bg1"/>
              </a:solidFill>
            </a:endParaRPr>
          </a:p>
        </p:txBody>
      </p:sp>
      <p:pic>
        <p:nvPicPr>
          <p:cNvPr id="1026" name="Picture 2" descr="Resultado de imagen para segmentacion de datos"/>
          <p:cNvPicPr>
            <a:picLocks noChangeAspect="1" noChangeArrowheads="1"/>
          </p:cNvPicPr>
          <p:nvPr/>
        </p:nvPicPr>
        <p:blipFill rotWithShape="1">
          <a:blip r:embed="rId2">
            <a:extLst>
              <a:ext uri="{28A0092B-C50C-407E-A947-70E740481C1C}">
                <a14:useLocalDpi xmlns:a14="http://schemas.microsoft.com/office/drawing/2010/main" val="0"/>
              </a:ext>
            </a:extLst>
          </a:blip>
          <a:srcRect l="1566" t="45695"/>
          <a:stretch/>
        </p:blipFill>
        <p:spPr bwMode="auto">
          <a:xfrm>
            <a:off x="3886200" y="3611714"/>
            <a:ext cx="4491037" cy="24724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15083391"/>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type="body" sz="quarter" idx="13"/>
          </p:nvPr>
        </p:nvSpPr>
        <p:spPr>
          <a:xfrm>
            <a:off x="838200" y="1613021"/>
            <a:ext cx="10515600" cy="3668350"/>
          </a:xfrm>
        </p:spPr>
        <p:txBody>
          <a:bodyPr>
            <a:normAutofit/>
          </a:bodyPr>
          <a:lstStyle/>
          <a:p>
            <a:pPr algn="just"/>
            <a:r>
              <a:rPr lang="es-PE" dirty="0"/>
              <a:t>En lugar de ajustar los filtros para mostrar las fechas, puede usar una Escala de tiempo de tablas dinámicas, una opción de filtro dinámico que le permite filtrar fácilmente por fecha y hora, y acercar el período que desee con un control deslizante. Haga clic en </a:t>
            </a:r>
            <a:r>
              <a:rPr lang="es-PE" b="1" dirty="0"/>
              <a:t>Analizar</a:t>
            </a:r>
            <a:r>
              <a:rPr lang="es-PE" dirty="0"/>
              <a:t> &gt; </a:t>
            </a:r>
            <a:r>
              <a:rPr lang="es-PE" b="1" dirty="0"/>
              <a:t>Insertar escala de tiempo</a:t>
            </a:r>
            <a:r>
              <a:rPr lang="es-PE" dirty="0"/>
              <a:t> para agregar una a la hoja de cálculo. </a:t>
            </a:r>
            <a:endParaRPr lang="es-PE" sz="2600" dirty="0"/>
          </a:p>
        </p:txBody>
      </p:sp>
      <p:sp>
        <p:nvSpPr>
          <p:cNvPr id="2" name="Título 1"/>
          <p:cNvSpPr>
            <a:spLocks noGrp="1"/>
          </p:cNvSpPr>
          <p:nvPr>
            <p:ph type="title"/>
          </p:nvPr>
        </p:nvSpPr>
        <p:spPr>
          <a:xfrm>
            <a:off x="838200" y="135083"/>
            <a:ext cx="10515600" cy="613064"/>
          </a:xfrm>
        </p:spPr>
        <p:txBody>
          <a:bodyPr>
            <a:normAutofit fontScale="90000"/>
          </a:bodyPr>
          <a:lstStyle/>
          <a:p>
            <a:pPr algn="ctr"/>
            <a:r>
              <a:rPr lang="es-PE" b="1" dirty="0" smtClean="0">
                <a:solidFill>
                  <a:schemeClr val="bg1"/>
                </a:solidFill>
              </a:rPr>
              <a:t>ESCALA DE TIEMPO</a:t>
            </a:r>
            <a:endParaRPr lang="es-PE" b="1" dirty="0">
              <a:solidFill>
                <a:schemeClr val="bg1"/>
              </a:solidFill>
            </a:endParaRPr>
          </a:p>
        </p:txBody>
      </p:sp>
      <p:pic>
        <p:nvPicPr>
          <p:cNvPr id="2050" name="Picture 2" descr="Escala de tiemp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65908" y="4239885"/>
            <a:ext cx="4026019" cy="19063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32216488"/>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1048</TotalTime>
  <Words>345</Words>
  <Application>Microsoft Office PowerPoint</Application>
  <PresentationFormat>Panorámica</PresentationFormat>
  <Paragraphs>81</Paragraphs>
  <Slides>16</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16</vt:i4>
      </vt:variant>
    </vt:vector>
  </HeadingPairs>
  <TitlesOfParts>
    <vt:vector size="20" baseType="lpstr">
      <vt:lpstr>Arial</vt:lpstr>
      <vt:lpstr>Calibri</vt:lpstr>
      <vt:lpstr>Calibri Light</vt:lpstr>
      <vt:lpstr>Tema de Office</vt:lpstr>
      <vt:lpstr>Presentación de PowerPoint</vt:lpstr>
      <vt:lpstr>FUNCIONES DE TEXTO</vt:lpstr>
      <vt:lpstr>FUNCIONES DE TEXTO</vt:lpstr>
      <vt:lpstr>FUNCIONES DE TEXTO</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SEGMENTACIÓN DE DATOS</vt:lpstr>
      <vt:lpstr>ESCALA DE TIEMPO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MILAGROS-PC</dc:creator>
  <cp:lastModifiedBy>Ing. Eric Heredia Mendoza</cp:lastModifiedBy>
  <cp:revision>97</cp:revision>
  <dcterms:created xsi:type="dcterms:W3CDTF">2019-09-09T03:46:59Z</dcterms:created>
  <dcterms:modified xsi:type="dcterms:W3CDTF">2020-04-30T04:11:41Z</dcterms:modified>
</cp:coreProperties>
</file>