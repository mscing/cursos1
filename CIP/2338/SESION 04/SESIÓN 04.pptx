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1" r:id="rId2"/>
    <p:sldId id="312" r:id="rId3"/>
    <p:sldId id="313" r:id="rId4"/>
    <p:sldId id="314" r:id="rId5"/>
    <p:sldId id="315" r:id="rId6"/>
    <p:sldId id="316" r:id="rId7"/>
    <p:sldId id="317" r:id="rId8"/>
    <p:sldId id="318" r:id="rId9"/>
    <p:sldId id="319" r:id="rId10"/>
    <p:sldId id="320" r:id="rId11"/>
    <p:sldId id="321" r:id="rId1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91" d="100"/>
          <a:sy n="91" d="100"/>
        </p:scale>
        <p:origin x="39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29/04/2020</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Shape 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53" name="Shape 5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54" name="Shape 5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s-ES" sz="1200">
                <a:solidFill>
                  <a:schemeClr val="dk1"/>
                </a:solidFill>
                <a:latin typeface="Calibri"/>
                <a:ea typeface="Calibri"/>
                <a:cs typeface="Calibri"/>
                <a:sym typeface="Calibri"/>
              </a:rPr>
              <a:t>2</a:t>
            </a:fld>
            <a:endParaRPr lang="es-E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315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77" name="Shape 77"/>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s-ES" sz="1200">
                <a:solidFill>
                  <a:schemeClr val="dk1"/>
                </a:solidFill>
                <a:latin typeface="Calibri"/>
                <a:ea typeface="Calibri"/>
                <a:cs typeface="Calibri"/>
                <a:sym typeface="Calibri"/>
              </a:rPr>
              <a:t>3</a:t>
            </a:fld>
            <a:endParaRPr lang="es-E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12139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18" name="Shape 11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119" name="Shape 11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s-ES" sz="1200">
                <a:solidFill>
                  <a:schemeClr val="dk1"/>
                </a:solidFill>
                <a:latin typeface="Calibri"/>
                <a:ea typeface="Calibri"/>
                <a:cs typeface="Calibri"/>
                <a:sym typeface="Calibri"/>
              </a:rPr>
              <a:t>4</a:t>
            </a:fld>
            <a:endParaRPr lang="es-E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72400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37" name="Shape 137"/>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138" name="Shape 13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s-ES" sz="1200">
                <a:solidFill>
                  <a:schemeClr val="dk1"/>
                </a:solidFill>
                <a:latin typeface="Calibri"/>
                <a:ea typeface="Calibri"/>
                <a:cs typeface="Calibri"/>
                <a:sym typeface="Calibri"/>
              </a:rPr>
              <a:t>5</a:t>
            </a:fld>
            <a:endParaRPr lang="es-E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42908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Shape 1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53" name="Shape 153"/>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sz="1200" b="0" i="0" u="none" strike="noStrike" cap="none">
              <a:solidFill>
                <a:schemeClr val="dk1"/>
              </a:solidFill>
              <a:latin typeface="Calibri"/>
              <a:ea typeface="Calibri"/>
              <a:cs typeface="Calibri"/>
              <a:sym typeface="Calibri"/>
            </a:endParaRPr>
          </a:p>
        </p:txBody>
      </p:sp>
      <p:sp>
        <p:nvSpPr>
          <p:cNvPr id="154" name="Shape 154"/>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s-ES" sz="1200">
                <a:solidFill>
                  <a:schemeClr val="dk1"/>
                </a:solidFill>
                <a:latin typeface="Calibri"/>
                <a:ea typeface="Calibri"/>
                <a:cs typeface="Calibri"/>
                <a:sym typeface="Calibri"/>
              </a:rPr>
              <a:t>6</a:t>
            </a:fld>
            <a:endParaRPr lang="es-E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8533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smtClean="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smtClean="0"/>
              <a:t>Editar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smtClean="0"/>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smtClean="0"/>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29/04/2020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29/04/2020</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29/04/2020</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29/04/2020</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29/04/2020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29/04/2020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29/04/2020</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720215" y="2655888"/>
            <a:ext cx="47999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smtClean="0">
                <a:solidFill>
                  <a:schemeClr val="bg1"/>
                </a:solidFill>
              </a:rPr>
              <a:t>SESIÓN 05: EXCEL INTERMEDIO</a:t>
            </a:r>
            <a:endParaRPr lang="es-ES" altLang="es-PE" sz="2800" b="1" dirty="0">
              <a:solidFill>
                <a:schemeClr val="bg1"/>
              </a:solidFill>
            </a:endParaRP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smtClean="0">
                <a:latin typeface="+mn-lt"/>
              </a:rPr>
              <a:t>COLEGIO DE INGENIEROS DEL PERU</a:t>
            </a:r>
            <a:br>
              <a:rPr lang="es-PE" sz="2800" b="1" dirty="0" smtClean="0">
                <a:latin typeface="+mn-lt"/>
              </a:rPr>
            </a:br>
            <a:r>
              <a:rPr lang="es-PE" sz="2800" b="1" dirty="0" smtClean="0">
                <a:latin typeface="+mn-lt"/>
              </a:rPr>
              <a:t>CONSEJO DEPARTAMENTAL DE LAMBAYEQUE</a:t>
            </a:r>
            <a:br>
              <a:rPr lang="es-PE" sz="2800" b="1" dirty="0" smtClean="0">
                <a:latin typeface="+mn-lt"/>
              </a:rPr>
            </a:br>
            <a:r>
              <a:rPr lang="es-PE" sz="2200" b="1" dirty="0" smtClean="0">
                <a:latin typeface="+mn-lt"/>
              </a:rPr>
              <a:t>INSTITUTO DE ESTUDIOS PROFESIONALES DE INGENIERÍA IEPI</a:t>
            </a:r>
          </a:p>
          <a:p>
            <a:pPr algn="ctr" fontAlgn="auto">
              <a:spcAft>
                <a:spcPts val="0"/>
              </a:spcAft>
              <a:defRPr/>
            </a:pPr>
            <a:r>
              <a:rPr lang="es-PE" sz="2200" b="1" dirty="0" smtClean="0">
                <a:latin typeface="+mn-lt"/>
              </a:rPr>
              <a:t>CENTRO DE CAPACITACIÓN</a:t>
            </a:r>
            <a:endParaRPr lang="es-PE" sz="2200" b="1" dirty="0">
              <a:latin typeface="+mn-lt"/>
            </a:endParaRP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smtClean="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Shape 56"/>
          <p:cNvSpPr txBox="1"/>
          <p:nvPr/>
        </p:nvSpPr>
        <p:spPr>
          <a:xfrm>
            <a:off x="3945847" y="1245511"/>
            <a:ext cx="6181408" cy="1464130"/>
          </a:xfrm>
          <a:prstGeom prst="rect">
            <a:avLst/>
          </a:prstGeom>
          <a:noFill/>
          <a:ln>
            <a:noFill/>
          </a:ln>
        </p:spPr>
        <p:txBody>
          <a:bodyPr lIns="91425" tIns="45700" rIns="91425" bIns="45700" anchor="t" anchorCtr="0">
            <a:noAutofit/>
          </a:bodyPr>
          <a:lstStyle/>
          <a:p>
            <a:pPr lvl="0" algn="just">
              <a:buClr>
                <a:schemeClr val="dk1"/>
              </a:buClr>
              <a:buSzPct val="25000"/>
            </a:pPr>
            <a:r>
              <a:rPr lang="es-ES" dirty="0">
                <a:solidFill>
                  <a:schemeClr val="dk1"/>
                </a:solidFill>
                <a:latin typeface="Calibri"/>
                <a:ea typeface="Calibri"/>
                <a:cs typeface="Calibri"/>
                <a:sym typeface="Calibri"/>
              </a:rPr>
              <a:t>Las Macros en Excel son un conjunto de instrucciones que se ejecutan de manera secuencial por medio de una orden de ejecución, claro está que una Macro puede invocar a otras, logrando de esta forma obtener operaciones cada vez más complejas.</a:t>
            </a:r>
          </a:p>
        </p:txBody>
      </p:sp>
      <p:sp>
        <p:nvSpPr>
          <p:cNvPr id="57" name="Shape 57"/>
          <p:cNvSpPr txBox="1"/>
          <p:nvPr/>
        </p:nvSpPr>
        <p:spPr>
          <a:xfrm>
            <a:off x="2793240" y="112748"/>
            <a:ext cx="6428096" cy="468939"/>
          </a:xfrm>
          <a:prstGeom prst="rect">
            <a:avLst/>
          </a:prstGeom>
          <a:noFill/>
          <a:ln>
            <a:noFill/>
          </a:ln>
        </p:spPr>
        <p:txBody>
          <a:bodyPr lIns="91425" tIns="45700" rIns="91425" bIns="45700" anchor="t" anchorCtr="0">
            <a:noAutofit/>
          </a:bodyPr>
          <a:lstStyle/>
          <a:p>
            <a:pPr lvl="0" algn="ctr">
              <a:buClr>
                <a:schemeClr val="lt1"/>
              </a:buClr>
              <a:buSzPct val="25000"/>
            </a:pPr>
            <a:r>
              <a:rPr lang="es-ES" sz="2800" b="1" dirty="0">
                <a:solidFill>
                  <a:schemeClr val="lt1"/>
                </a:solidFill>
                <a:latin typeface="Calibri"/>
                <a:ea typeface="Calibri"/>
                <a:cs typeface="Calibri"/>
                <a:sym typeface="Calibri"/>
              </a:rPr>
              <a:t>¿Qué es una Macro en Excel?</a:t>
            </a:r>
          </a:p>
        </p:txBody>
      </p:sp>
      <p:sp>
        <p:nvSpPr>
          <p:cNvPr id="58" name="Shape 58"/>
          <p:cNvSpPr/>
          <p:nvPr/>
        </p:nvSpPr>
        <p:spPr>
          <a:xfrm>
            <a:off x="3945847" y="2775667"/>
            <a:ext cx="6181406" cy="1596840"/>
          </a:xfrm>
          <a:prstGeom prst="rect">
            <a:avLst/>
          </a:prstGeom>
          <a:noFill/>
          <a:ln>
            <a:noFill/>
          </a:ln>
        </p:spPr>
        <p:txBody>
          <a:bodyPr lIns="91425" tIns="45700" rIns="91425" bIns="45700" anchor="t" anchorCtr="0">
            <a:noAutofit/>
          </a:bodyPr>
          <a:lstStyle/>
          <a:p>
            <a:pPr lvl="0" algn="just">
              <a:buSzPct val="25000"/>
            </a:pPr>
            <a:r>
              <a:rPr lang="es-ES" dirty="0">
                <a:solidFill>
                  <a:schemeClr val="dk1"/>
                </a:solidFill>
                <a:latin typeface="Calibri"/>
                <a:ea typeface="Calibri"/>
                <a:cs typeface="Calibri"/>
                <a:sym typeface="Calibri"/>
              </a:rPr>
              <a:t>En el caso de Excel el lenguaje empleado para el uso de Macros es VBA (Visual Basic para Aplicaciones), Excel cuenta con un «Editor de Visual Basic» o también conocido como «Editor de VBA» que permite la creación, y/o mantenimiento de las Macros que se tengan disponibles.</a:t>
            </a:r>
          </a:p>
        </p:txBody>
      </p:sp>
      <p:sp>
        <p:nvSpPr>
          <p:cNvPr id="59" name="Shape 59"/>
          <p:cNvSpPr/>
          <p:nvPr/>
        </p:nvSpPr>
        <p:spPr>
          <a:xfrm>
            <a:off x="3954313" y="4621694"/>
            <a:ext cx="6164475" cy="1200329"/>
          </a:xfrm>
          <a:prstGeom prst="rect">
            <a:avLst/>
          </a:prstGeom>
          <a:noFill/>
          <a:ln>
            <a:noFill/>
          </a:ln>
        </p:spPr>
        <p:txBody>
          <a:bodyPr lIns="91425" tIns="45700" rIns="91425" bIns="45700" anchor="t" anchorCtr="0">
            <a:noAutofit/>
          </a:bodyPr>
          <a:lstStyle/>
          <a:p>
            <a:pPr algn="just">
              <a:buSzPct val="25000"/>
            </a:pPr>
            <a:r>
              <a:rPr lang="es-ES" dirty="0">
                <a:solidFill>
                  <a:schemeClr val="dk1"/>
                </a:solidFill>
                <a:latin typeface="Calibri"/>
                <a:ea typeface="Calibri"/>
                <a:cs typeface="Calibri"/>
                <a:sym typeface="Calibri"/>
              </a:rPr>
              <a:t>Las macros en Excel se pueden usar para automatizar procesos, asimismo se puede usar para crear sistemas sencillos que ayuden a las empresas a llevar un control, administrar bases de datos, generar reportes estadísticos, entre otros.</a:t>
            </a:r>
          </a:p>
        </p:txBody>
      </p:sp>
      <p:sp>
        <p:nvSpPr>
          <p:cNvPr id="60" name="Shape 60"/>
          <p:cNvSpPr/>
          <p:nvPr/>
        </p:nvSpPr>
        <p:spPr>
          <a:xfrm>
            <a:off x="1634447" y="1401683"/>
            <a:ext cx="2209799" cy="829734"/>
          </a:xfrm>
          <a:prstGeom prst="homePlate">
            <a:avLst>
              <a:gd name="adj" fmla="val 50000"/>
            </a:avLst>
          </a:prstGeom>
          <a:solidFill>
            <a:schemeClr val="bg2">
              <a:lumMod val="75000"/>
            </a:schemeClr>
          </a:solidFill>
          <a:ln>
            <a:noFill/>
          </a:ln>
          <a:effectLst>
            <a:outerShdw blurRad="39999" dist="23000" dir="5400000" rotWithShape="0">
              <a:srgbClr val="000000">
                <a:alpha val="34901"/>
              </a:srgbClr>
            </a:outerShdw>
          </a:effectLst>
        </p:spPr>
        <p:txBody>
          <a:bodyPr lIns="91425" tIns="45700" rIns="91425" bIns="45700" anchor="ctr" anchorCtr="0">
            <a:noAutofit/>
          </a:bodyPr>
          <a:lstStyle/>
          <a:p>
            <a:pPr>
              <a:buSzPct val="25000"/>
            </a:pPr>
            <a:r>
              <a:rPr lang="es-ES" dirty="0">
                <a:solidFill>
                  <a:schemeClr val="lt1"/>
                </a:solidFill>
                <a:latin typeface="Calibri"/>
                <a:ea typeface="Calibri"/>
                <a:cs typeface="Calibri"/>
                <a:sym typeface="Calibri"/>
              </a:rPr>
              <a:t>CONCEPTO</a:t>
            </a:r>
          </a:p>
        </p:txBody>
      </p:sp>
      <p:sp>
        <p:nvSpPr>
          <p:cNvPr id="61" name="Shape 61"/>
          <p:cNvSpPr/>
          <p:nvPr/>
        </p:nvSpPr>
        <p:spPr>
          <a:xfrm>
            <a:off x="1634447" y="3148588"/>
            <a:ext cx="2209799" cy="829734"/>
          </a:xfrm>
          <a:prstGeom prst="homePlate">
            <a:avLst>
              <a:gd name="adj" fmla="val 50000"/>
            </a:avLst>
          </a:prstGeom>
          <a:solidFill>
            <a:schemeClr val="bg2">
              <a:lumMod val="75000"/>
            </a:schemeClr>
          </a:solidFill>
          <a:ln>
            <a:noFill/>
          </a:ln>
          <a:effectLst>
            <a:outerShdw blurRad="39999" dist="23000" dir="5400000" rotWithShape="0">
              <a:srgbClr val="000000">
                <a:alpha val="34901"/>
              </a:srgbClr>
            </a:outerShdw>
          </a:effectLst>
        </p:spPr>
        <p:txBody>
          <a:bodyPr lIns="91425" tIns="45700" rIns="91425" bIns="45700" anchor="ctr" anchorCtr="0">
            <a:noAutofit/>
          </a:bodyPr>
          <a:lstStyle/>
          <a:p>
            <a:pPr>
              <a:buSzPct val="25000"/>
            </a:pPr>
            <a:r>
              <a:rPr lang="es-ES" dirty="0">
                <a:solidFill>
                  <a:schemeClr val="lt1"/>
                </a:solidFill>
                <a:latin typeface="Calibri"/>
                <a:ea typeface="Calibri"/>
                <a:cs typeface="Calibri"/>
                <a:sym typeface="Calibri"/>
              </a:rPr>
              <a:t>INFORMACIÓN ADICIONAL</a:t>
            </a:r>
          </a:p>
        </p:txBody>
      </p:sp>
      <p:sp>
        <p:nvSpPr>
          <p:cNvPr id="62" name="Shape 62"/>
          <p:cNvSpPr/>
          <p:nvPr/>
        </p:nvSpPr>
        <p:spPr>
          <a:xfrm>
            <a:off x="1634447" y="4806991"/>
            <a:ext cx="2209799" cy="829734"/>
          </a:xfrm>
          <a:prstGeom prst="homePlate">
            <a:avLst>
              <a:gd name="adj" fmla="val 50000"/>
            </a:avLst>
          </a:prstGeom>
          <a:solidFill>
            <a:schemeClr val="bg2">
              <a:lumMod val="75000"/>
            </a:schemeClr>
          </a:solidFill>
          <a:ln>
            <a:noFill/>
          </a:ln>
          <a:effectLst>
            <a:outerShdw blurRad="39999" dist="23000" dir="5400000" rotWithShape="0">
              <a:srgbClr val="000000">
                <a:alpha val="34901"/>
              </a:srgbClr>
            </a:outerShdw>
          </a:effectLst>
        </p:spPr>
        <p:txBody>
          <a:bodyPr lIns="91425" tIns="45700" rIns="91425" bIns="45700" anchor="ctr" anchorCtr="0">
            <a:noAutofit/>
          </a:bodyPr>
          <a:lstStyle/>
          <a:p>
            <a:pPr>
              <a:buSzPct val="25000"/>
            </a:pPr>
            <a:r>
              <a:rPr lang="es-ES" dirty="0">
                <a:solidFill>
                  <a:schemeClr val="lt1"/>
                </a:solidFill>
                <a:latin typeface="Calibri"/>
                <a:ea typeface="Calibri"/>
                <a:cs typeface="Calibri"/>
                <a:sym typeface="Calibri"/>
              </a:rPr>
              <a:t>USOS</a:t>
            </a:r>
          </a:p>
        </p:txBody>
      </p:sp>
    </p:spTree>
    <p:extLst>
      <p:ext uri="{BB962C8B-B14F-4D97-AF65-F5344CB8AC3E}">
        <p14:creationId xmlns:p14="http://schemas.microsoft.com/office/powerpoint/2010/main" val="203467527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p:tgtEl>
                                          <p:spTgt spid="60"/>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500"/>
                                        <p:tgtEl>
                                          <p:spTgt spid="5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61"/>
                                        </p:tgtEl>
                                        <p:attrNameLst>
                                          <p:attrName>style.visibility</p:attrName>
                                        </p:attrNameLst>
                                      </p:cBhvr>
                                      <p:to>
                                        <p:strVal val="visible"/>
                                      </p:to>
                                    </p:set>
                                    <p:anim calcmode="lin" valueType="num">
                                      <p:cBhvr additive="base">
                                        <p:cTn id="16" dur="500"/>
                                        <p:tgtEl>
                                          <p:spTgt spid="61"/>
                                        </p:tgtEl>
                                        <p:attrNameLst>
                                          <p:attrName>ppt_x</p:attrName>
                                        </p:attrNameLst>
                                      </p:cBhvr>
                                      <p:tavLst>
                                        <p:tav tm="0">
                                          <p:val>
                                            <p:strVal val="#ppt_x-1"/>
                                          </p:val>
                                        </p:tav>
                                        <p:tav tm="100000">
                                          <p:val>
                                            <p:strVal val="#ppt_x"/>
                                          </p:val>
                                        </p:tav>
                                      </p:tavLst>
                                    </p:anim>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fade">
                                      <p:cBhvr>
                                        <p:cTn id="20" dur="500"/>
                                        <p:tgtEl>
                                          <p:spTgt spid="58"/>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2"/>
                                        </p:tgtEl>
                                        <p:attrNameLst>
                                          <p:attrName>style.visibility</p:attrName>
                                        </p:attrNameLst>
                                      </p:cBhvr>
                                      <p:to>
                                        <p:strVal val="visible"/>
                                      </p:to>
                                    </p:set>
                                    <p:anim calcmode="lin" valueType="num">
                                      <p:cBhvr additive="base">
                                        <p:cTn id="25" dur="500"/>
                                        <p:tgtEl>
                                          <p:spTgt spid="62"/>
                                        </p:tgtEl>
                                        <p:attrNameLst>
                                          <p:attrName>ppt_x</p:attrName>
                                        </p:attrNameLst>
                                      </p:cBhvr>
                                      <p:tavLst>
                                        <p:tav tm="0">
                                          <p:val>
                                            <p:strVal val="#ppt_x-1"/>
                                          </p:val>
                                        </p:tav>
                                        <p:tav tm="100000">
                                          <p:val>
                                            <p:strVal val="#ppt_x"/>
                                          </p:val>
                                        </p:tav>
                                      </p:tavLst>
                                    </p:anim>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fade">
                                      <p:cBhvr>
                                        <p:cTn id="2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5" name="Shape 69"/>
          <p:cNvSpPr txBox="1"/>
          <p:nvPr/>
        </p:nvSpPr>
        <p:spPr>
          <a:xfrm>
            <a:off x="2884784" y="211607"/>
            <a:ext cx="6428096" cy="468939"/>
          </a:xfrm>
          <a:prstGeom prst="rect">
            <a:avLst/>
          </a:prstGeom>
          <a:noFill/>
          <a:ln>
            <a:noFill/>
          </a:ln>
        </p:spPr>
        <p:txBody>
          <a:bodyPr lIns="91425" tIns="45700" rIns="91425" bIns="45700" anchor="t" anchorCtr="0">
            <a:noAutofit/>
          </a:bodyPr>
          <a:lstStyle/>
          <a:p>
            <a:pPr algn="ctr">
              <a:buClr>
                <a:schemeClr val="lt1"/>
              </a:buClr>
              <a:buSzPct val="25000"/>
            </a:pPr>
            <a:r>
              <a:rPr lang="es-ES" sz="2800" b="1" dirty="0">
                <a:solidFill>
                  <a:schemeClr val="lt1"/>
                </a:solidFill>
                <a:latin typeface="Calibri"/>
                <a:ea typeface="Calibri"/>
                <a:cs typeface="Calibri"/>
                <a:sym typeface="Calibri"/>
              </a:rPr>
              <a:t>Formularios en Excel</a:t>
            </a:r>
          </a:p>
        </p:txBody>
      </p:sp>
      <p:sp>
        <p:nvSpPr>
          <p:cNvPr id="3" name="Rectángulo 2"/>
          <p:cNvSpPr/>
          <p:nvPr/>
        </p:nvSpPr>
        <p:spPr>
          <a:xfrm>
            <a:off x="269521" y="1997341"/>
            <a:ext cx="11658622" cy="1477328"/>
          </a:xfrm>
          <a:prstGeom prst="rect">
            <a:avLst/>
          </a:prstGeom>
        </p:spPr>
        <p:txBody>
          <a:bodyPr wrap="square">
            <a:spAutoFit/>
          </a:bodyPr>
          <a:lstStyle/>
          <a:p>
            <a:pPr algn="just">
              <a:buClr>
                <a:schemeClr val="dk1"/>
              </a:buClr>
              <a:buSzPct val="100000"/>
            </a:pPr>
            <a:r>
              <a:rPr lang="es-ES" dirty="0">
                <a:solidFill>
                  <a:schemeClr val="dk1"/>
                </a:solidFill>
                <a:latin typeface="Calibri"/>
                <a:ea typeface="Calibri"/>
                <a:cs typeface="Calibri"/>
              </a:rPr>
              <a:t>Para poder visualizar los controles de un formulario es necesario agregar la ficha programador siguiendo los siguientes pasos:</a:t>
            </a:r>
          </a:p>
          <a:p>
            <a:pPr algn="just">
              <a:buClr>
                <a:schemeClr val="dk1"/>
              </a:buClr>
              <a:buSzPct val="100000"/>
            </a:pPr>
            <a:r>
              <a:rPr lang="es-ES" dirty="0">
                <a:solidFill>
                  <a:schemeClr val="dk1"/>
                </a:solidFill>
                <a:latin typeface="Calibri"/>
                <a:ea typeface="Calibri"/>
                <a:cs typeface="Calibri"/>
              </a:rPr>
              <a:t>Clic en </a:t>
            </a:r>
            <a:r>
              <a:rPr lang="es-ES" b="1" dirty="0">
                <a:solidFill>
                  <a:schemeClr val="dk1"/>
                </a:solidFill>
                <a:latin typeface="Calibri"/>
                <a:ea typeface="Calibri"/>
                <a:cs typeface="Calibri"/>
              </a:rPr>
              <a:t>Archivo</a:t>
            </a:r>
            <a:r>
              <a:rPr lang="es-ES" dirty="0">
                <a:solidFill>
                  <a:schemeClr val="dk1"/>
                </a:solidFill>
                <a:latin typeface="Calibri"/>
                <a:ea typeface="Calibri"/>
                <a:cs typeface="Calibri"/>
              </a:rPr>
              <a:t>, seleccionar </a:t>
            </a:r>
            <a:r>
              <a:rPr lang="es-ES" b="1" dirty="0">
                <a:solidFill>
                  <a:schemeClr val="dk1"/>
                </a:solidFill>
                <a:latin typeface="Calibri"/>
                <a:ea typeface="Calibri"/>
                <a:cs typeface="Calibri"/>
              </a:rPr>
              <a:t>Opciones</a:t>
            </a:r>
            <a:r>
              <a:rPr lang="es-ES" dirty="0">
                <a:solidFill>
                  <a:schemeClr val="dk1"/>
                </a:solidFill>
                <a:latin typeface="Calibri"/>
                <a:ea typeface="Calibri"/>
                <a:cs typeface="Calibri"/>
              </a:rPr>
              <a:t>, </a:t>
            </a:r>
            <a:r>
              <a:rPr lang="es-ES" dirty="0" err="1">
                <a:solidFill>
                  <a:schemeClr val="dk1"/>
                </a:solidFill>
                <a:latin typeface="Calibri"/>
                <a:ea typeface="Calibri"/>
                <a:cs typeface="Calibri"/>
              </a:rPr>
              <a:t>click</a:t>
            </a:r>
            <a:r>
              <a:rPr lang="es-ES" dirty="0">
                <a:solidFill>
                  <a:schemeClr val="dk1"/>
                </a:solidFill>
                <a:latin typeface="Calibri"/>
                <a:ea typeface="Calibri"/>
                <a:cs typeface="Calibri"/>
              </a:rPr>
              <a:t> en </a:t>
            </a:r>
            <a:r>
              <a:rPr lang="es-ES" b="1" dirty="0">
                <a:solidFill>
                  <a:schemeClr val="dk1"/>
                </a:solidFill>
                <a:latin typeface="Calibri"/>
                <a:ea typeface="Calibri"/>
                <a:cs typeface="Calibri"/>
              </a:rPr>
              <a:t>Personalizar cinta de opciones</a:t>
            </a:r>
            <a:r>
              <a:rPr lang="es-ES" dirty="0">
                <a:solidFill>
                  <a:schemeClr val="dk1"/>
                </a:solidFill>
                <a:latin typeface="Calibri"/>
                <a:ea typeface="Calibri"/>
                <a:cs typeface="Calibri"/>
              </a:rPr>
              <a:t>, activar el </a:t>
            </a:r>
            <a:r>
              <a:rPr lang="es-ES" dirty="0" err="1">
                <a:solidFill>
                  <a:schemeClr val="dk1"/>
                </a:solidFill>
                <a:latin typeface="Calibri"/>
                <a:ea typeface="Calibri"/>
                <a:cs typeface="Calibri"/>
              </a:rPr>
              <a:t>check</a:t>
            </a:r>
            <a:r>
              <a:rPr lang="es-ES" dirty="0">
                <a:solidFill>
                  <a:schemeClr val="dk1"/>
                </a:solidFill>
                <a:latin typeface="Calibri"/>
                <a:ea typeface="Calibri"/>
                <a:cs typeface="Calibri"/>
              </a:rPr>
              <a:t> </a:t>
            </a:r>
            <a:r>
              <a:rPr lang="es-ES" dirty="0" err="1">
                <a:solidFill>
                  <a:schemeClr val="dk1"/>
                </a:solidFill>
                <a:latin typeface="Calibri"/>
                <a:ea typeface="Calibri"/>
                <a:cs typeface="Calibri"/>
              </a:rPr>
              <a:t>list</a:t>
            </a:r>
            <a:r>
              <a:rPr lang="es-ES" dirty="0">
                <a:solidFill>
                  <a:schemeClr val="dk1"/>
                </a:solidFill>
                <a:latin typeface="Calibri"/>
                <a:ea typeface="Calibri"/>
                <a:cs typeface="Calibri"/>
              </a:rPr>
              <a:t> </a:t>
            </a:r>
            <a:r>
              <a:rPr lang="es-ES" b="1" dirty="0">
                <a:solidFill>
                  <a:schemeClr val="dk1"/>
                </a:solidFill>
                <a:latin typeface="Calibri"/>
                <a:ea typeface="Calibri"/>
                <a:cs typeface="Calibri"/>
              </a:rPr>
              <a:t>Programador</a:t>
            </a:r>
            <a:r>
              <a:rPr lang="es-ES" dirty="0">
                <a:solidFill>
                  <a:schemeClr val="dk1"/>
                </a:solidFill>
                <a:latin typeface="Calibri"/>
                <a:ea typeface="Calibri"/>
                <a:cs typeface="Calibri"/>
              </a:rPr>
              <a:t>, clic en </a:t>
            </a:r>
            <a:r>
              <a:rPr lang="es-ES" b="1" dirty="0">
                <a:solidFill>
                  <a:schemeClr val="dk1"/>
                </a:solidFill>
                <a:latin typeface="Calibri"/>
                <a:ea typeface="Calibri"/>
                <a:cs typeface="Calibri"/>
              </a:rPr>
              <a:t>Aceptar</a:t>
            </a:r>
            <a:r>
              <a:rPr lang="es-ES" dirty="0">
                <a:solidFill>
                  <a:schemeClr val="dk1"/>
                </a:solidFill>
                <a:latin typeface="Calibri"/>
                <a:ea typeface="Calibri"/>
                <a:cs typeface="Calibri"/>
              </a:rPr>
              <a:t>.</a:t>
            </a:r>
          </a:p>
          <a:p>
            <a:pPr algn="just">
              <a:buClr>
                <a:schemeClr val="dk1"/>
              </a:buClr>
              <a:buSzPct val="100000"/>
            </a:pPr>
            <a:endParaRPr lang="es-PE" dirty="0">
              <a:solidFill>
                <a:schemeClr val="dk1"/>
              </a:solidFill>
              <a:latin typeface="Calibri"/>
              <a:ea typeface="Calibri"/>
              <a:cs typeface="Calibri"/>
            </a:endParaRPr>
          </a:p>
        </p:txBody>
      </p:sp>
      <p:sp>
        <p:nvSpPr>
          <p:cNvPr id="6" name="Rectángulo 5"/>
          <p:cNvSpPr/>
          <p:nvPr/>
        </p:nvSpPr>
        <p:spPr>
          <a:xfrm>
            <a:off x="269521" y="1074011"/>
            <a:ext cx="11658622" cy="923330"/>
          </a:xfrm>
          <a:prstGeom prst="rect">
            <a:avLst/>
          </a:prstGeom>
        </p:spPr>
        <p:txBody>
          <a:bodyPr wrap="square">
            <a:spAutoFit/>
          </a:bodyPr>
          <a:lstStyle/>
          <a:p>
            <a:pPr algn="just"/>
            <a:r>
              <a:rPr lang="es-ES" dirty="0">
                <a:solidFill>
                  <a:schemeClr val="dk1"/>
                </a:solidFill>
                <a:latin typeface="Calibri"/>
                <a:ea typeface="Calibri"/>
                <a:cs typeface="Calibri"/>
              </a:rPr>
              <a:t>Los formularios en Excel son un método para ingresar datos a nuestras hojas y son de mucha utilidad porque nos ayudan a evitar errores en la captura de información. Podemos comparar los formularios de Excel con los formularios impresos en papel.</a:t>
            </a:r>
            <a:endParaRPr lang="es-PE" dirty="0"/>
          </a:p>
        </p:txBody>
      </p:sp>
      <p:pic>
        <p:nvPicPr>
          <p:cNvPr id="1026" name="Picture 2" descr="Resultado de imagen para aÃ±adir ficha programador gif">
            <a:extLst>
              <a:ext uri="{FF2B5EF4-FFF2-40B4-BE49-F238E27FC236}">
                <a16:creationId xmlns:a16="http://schemas.microsoft.com/office/drawing/2014/main" id="{3906FCFE-E015-480F-925F-A7EA0E684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582" y="3236965"/>
            <a:ext cx="47625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472296"/>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2" name="Shape 122"/>
          <p:cNvSpPr txBox="1"/>
          <p:nvPr/>
        </p:nvSpPr>
        <p:spPr>
          <a:xfrm>
            <a:off x="1923335" y="1116970"/>
            <a:ext cx="8390102" cy="1177836"/>
          </a:xfrm>
          <a:prstGeom prst="rect">
            <a:avLst/>
          </a:prstGeom>
          <a:noFill/>
          <a:ln>
            <a:noFill/>
          </a:ln>
        </p:spPr>
        <p:txBody>
          <a:bodyPr lIns="91425" tIns="45700" rIns="91425" bIns="45700" anchor="t" anchorCtr="0">
            <a:noAutofit/>
          </a:bodyPr>
          <a:lstStyle/>
          <a:p>
            <a:pPr lvl="0" algn="just">
              <a:buClr>
                <a:schemeClr val="dk1"/>
              </a:buClr>
              <a:buSzPct val="25000"/>
            </a:pPr>
            <a:r>
              <a:rPr lang="es-ES" dirty="0">
                <a:solidFill>
                  <a:schemeClr val="dk1"/>
                </a:solidFill>
                <a:latin typeface="Calibri"/>
                <a:ea typeface="Calibri"/>
                <a:cs typeface="Calibri"/>
                <a:sym typeface="Calibri"/>
              </a:rPr>
              <a:t>En Microsoft Excel encontraremos controles de formularios los cuales serán de mucha ayuda al momento de crear plataformas de ingreso de datos</a:t>
            </a:r>
          </a:p>
        </p:txBody>
      </p:sp>
      <p:sp>
        <p:nvSpPr>
          <p:cNvPr id="123" name="Shape 123"/>
          <p:cNvSpPr txBox="1"/>
          <p:nvPr/>
        </p:nvSpPr>
        <p:spPr>
          <a:xfrm>
            <a:off x="2881952" y="202468"/>
            <a:ext cx="6428096" cy="468939"/>
          </a:xfrm>
          <a:prstGeom prst="rect">
            <a:avLst/>
          </a:prstGeom>
          <a:noFill/>
          <a:ln>
            <a:noFill/>
          </a:ln>
        </p:spPr>
        <p:txBody>
          <a:bodyPr lIns="91425" tIns="45700" rIns="91425" bIns="45700" anchor="t" anchorCtr="0">
            <a:noAutofit/>
          </a:bodyPr>
          <a:lstStyle/>
          <a:p>
            <a:pPr lvl="0" algn="ctr">
              <a:buClr>
                <a:schemeClr val="lt1"/>
              </a:buClr>
              <a:buSzPct val="25000"/>
            </a:pPr>
            <a:r>
              <a:rPr lang="es-ES" sz="2800" b="1" dirty="0">
                <a:solidFill>
                  <a:schemeClr val="lt1"/>
                </a:solidFill>
                <a:latin typeface="Calibri"/>
                <a:ea typeface="Calibri"/>
                <a:cs typeface="Calibri"/>
                <a:sym typeface="Calibri"/>
              </a:rPr>
              <a:t>Descripción de controles de formulario</a:t>
            </a:r>
          </a:p>
        </p:txBody>
      </p:sp>
      <p:pic>
        <p:nvPicPr>
          <p:cNvPr id="16" name="Imagen 15">
            <a:extLst>
              <a:ext uri="{FF2B5EF4-FFF2-40B4-BE49-F238E27FC236}">
                <a16:creationId xmlns:a16="http://schemas.microsoft.com/office/drawing/2014/main" id="{B6E53BB0-E0C4-4219-AFFF-4C1FB655237D}"/>
              </a:ext>
            </a:extLst>
          </p:cNvPr>
          <p:cNvPicPr/>
          <p:nvPr/>
        </p:nvPicPr>
        <p:blipFill>
          <a:blip r:embed="rId3"/>
          <a:stretch>
            <a:fillRect/>
          </a:stretch>
        </p:blipFill>
        <p:spPr>
          <a:xfrm>
            <a:off x="4955785" y="4625963"/>
            <a:ext cx="2280430" cy="1026948"/>
          </a:xfrm>
          <a:prstGeom prst="rect">
            <a:avLst/>
          </a:prstGeom>
        </p:spPr>
      </p:pic>
      <p:pic>
        <p:nvPicPr>
          <p:cNvPr id="17" name="Imagen 16">
            <a:extLst>
              <a:ext uri="{FF2B5EF4-FFF2-40B4-BE49-F238E27FC236}">
                <a16:creationId xmlns:a16="http://schemas.microsoft.com/office/drawing/2014/main" id="{DE87B1B7-3FF6-4361-A299-EFC59E474CC5}"/>
              </a:ext>
            </a:extLst>
          </p:cNvPr>
          <p:cNvPicPr/>
          <p:nvPr/>
        </p:nvPicPr>
        <p:blipFill>
          <a:blip r:embed="rId4"/>
          <a:stretch>
            <a:fillRect/>
          </a:stretch>
        </p:blipFill>
        <p:spPr>
          <a:xfrm>
            <a:off x="4624668" y="2493848"/>
            <a:ext cx="2942664" cy="1709928"/>
          </a:xfrm>
          <a:prstGeom prst="rect">
            <a:avLst/>
          </a:prstGeom>
        </p:spPr>
      </p:pic>
    </p:spTree>
    <p:extLst>
      <p:ext uri="{BB962C8B-B14F-4D97-AF65-F5344CB8AC3E}">
        <p14:creationId xmlns:p14="http://schemas.microsoft.com/office/powerpoint/2010/main" val="244107933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Shape 140"/>
          <p:cNvSpPr txBox="1"/>
          <p:nvPr/>
        </p:nvSpPr>
        <p:spPr>
          <a:xfrm>
            <a:off x="2395739" y="1063928"/>
            <a:ext cx="1095399" cy="468940"/>
          </a:xfrm>
          <a:prstGeom prst="rect">
            <a:avLst/>
          </a:prstGeom>
          <a:noFill/>
          <a:ln>
            <a:noFill/>
          </a:ln>
        </p:spPr>
        <p:txBody>
          <a:bodyPr lIns="91425" tIns="45700" rIns="91425" bIns="45700" anchor="t" anchorCtr="0">
            <a:noAutofit/>
          </a:bodyPr>
          <a:lstStyle/>
          <a:p>
            <a:pPr algn="just">
              <a:buClr>
                <a:schemeClr val="dk1"/>
              </a:buClr>
              <a:buSzPct val="25000"/>
            </a:pPr>
            <a:r>
              <a:rPr lang="es-ES" dirty="0">
                <a:solidFill>
                  <a:schemeClr val="dk1"/>
                </a:solidFill>
                <a:latin typeface="Calibri"/>
                <a:ea typeface="Calibri"/>
                <a:cs typeface="Calibri"/>
                <a:sym typeface="Calibri"/>
              </a:rPr>
              <a:t>Ejemplos:</a:t>
            </a:r>
          </a:p>
        </p:txBody>
      </p:sp>
      <p:sp>
        <p:nvSpPr>
          <p:cNvPr id="141" name="Shape 141"/>
          <p:cNvSpPr txBox="1"/>
          <p:nvPr/>
        </p:nvSpPr>
        <p:spPr>
          <a:xfrm>
            <a:off x="2779592" y="173499"/>
            <a:ext cx="6428096" cy="468939"/>
          </a:xfrm>
          <a:prstGeom prst="rect">
            <a:avLst/>
          </a:prstGeom>
          <a:noFill/>
          <a:ln>
            <a:noFill/>
          </a:ln>
        </p:spPr>
        <p:txBody>
          <a:bodyPr lIns="91425" tIns="45700" rIns="91425" bIns="45700" anchor="t" anchorCtr="0">
            <a:noAutofit/>
          </a:bodyPr>
          <a:lstStyle/>
          <a:p>
            <a:pPr lvl="0" algn="ctr">
              <a:buClr>
                <a:schemeClr val="lt1"/>
              </a:buClr>
              <a:buSzPct val="25000"/>
            </a:pPr>
            <a:r>
              <a:rPr lang="es-ES" sz="2800" b="1" dirty="0">
                <a:solidFill>
                  <a:schemeClr val="lt1"/>
                </a:solidFill>
                <a:latin typeface="Calibri"/>
                <a:ea typeface="Calibri"/>
                <a:cs typeface="Calibri"/>
                <a:sym typeface="Calibri"/>
              </a:rPr>
              <a:t>Controles de la ficha Programador</a:t>
            </a:r>
          </a:p>
        </p:txBody>
      </p:sp>
      <p:sp>
        <p:nvSpPr>
          <p:cNvPr id="142" name="Shape 142"/>
          <p:cNvSpPr txBox="1"/>
          <p:nvPr/>
        </p:nvSpPr>
        <p:spPr>
          <a:xfrm>
            <a:off x="2395738" y="4740246"/>
            <a:ext cx="3788128" cy="1739576"/>
          </a:xfrm>
          <a:prstGeom prst="rect">
            <a:avLst/>
          </a:prstGeom>
          <a:noFill/>
          <a:ln>
            <a:noFill/>
          </a:ln>
        </p:spPr>
        <p:txBody>
          <a:bodyPr lIns="91425" tIns="45700" rIns="91425" bIns="45700" anchor="t" anchorCtr="0">
            <a:noAutofit/>
          </a:bodyPr>
          <a:lstStyle/>
          <a:p>
            <a:pPr lvl="0" algn="just">
              <a:buSzPct val="25000"/>
            </a:pPr>
            <a:r>
              <a:rPr lang="es-ES" dirty="0">
                <a:solidFill>
                  <a:schemeClr val="dk1"/>
                </a:solidFill>
                <a:latin typeface="Calibri"/>
                <a:ea typeface="Calibri"/>
                <a:cs typeface="Calibri"/>
                <a:sym typeface="Calibri"/>
              </a:rPr>
              <a:t>El control “Casilla” puede ser insertado en cualquier parte de una hoja de cálculo y puede modificársele sus formatos, así como vincularlo a una celda para que ésta dependa de lo que ocurra con el control.</a:t>
            </a:r>
          </a:p>
        </p:txBody>
      </p:sp>
      <p:pic>
        <p:nvPicPr>
          <p:cNvPr id="12" name="Imagen 11">
            <a:extLst>
              <a:ext uri="{FF2B5EF4-FFF2-40B4-BE49-F238E27FC236}">
                <a16:creationId xmlns:a16="http://schemas.microsoft.com/office/drawing/2014/main" id="{26EF0E5F-0DD1-492D-93A3-F52ABE627B70}"/>
              </a:ext>
            </a:extLst>
          </p:cNvPr>
          <p:cNvPicPr/>
          <p:nvPr/>
        </p:nvPicPr>
        <p:blipFill>
          <a:blip r:embed="rId3"/>
          <a:stretch>
            <a:fillRect/>
          </a:stretch>
        </p:blipFill>
        <p:spPr>
          <a:xfrm>
            <a:off x="2395738" y="1858595"/>
            <a:ext cx="1755140" cy="2733675"/>
          </a:xfrm>
          <a:prstGeom prst="rect">
            <a:avLst/>
          </a:prstGeom>
        </p:spPr>
      </p:pic>
      <p:pic>
        <p:nvPicPr>
          <p:cNvPr id="13" name="Imagen 12">
            <a:extLst>
              <a:ext uri="{FF2B5EF4-FFF2-40B4-BE49-F238E27FC236}">
                <a16:creationId xmlns:a16="http://schemas.microsoft.com/office/drawing/2014/main" id="{C89B7EFB-D78E-48A2-AEA8-07C1253B3FF1}"/>
              </a:ext>
            </a:extLst>
          </p:cNvPr>
          <p:cNvPicPr/>
          <p:nvPr/>
        </p:nvPicPr>
        <p:blipFill>
          <a:blip r:embed="rId4"/>
          <a:stretch>
            <a:fillRect/>
          </a:stretch>
        </p:blipFill>
        <p:spPr>
          <a:xfrm>
            <a:off x="7098171" y="2461456"/>
            <a:ext cx="2847340" cy="2840990"/>
          </a:xfrm>
          <a:prstGeom prst="rect">
            <a:avLst/>
          </a:prstGeom>
        </p:spPr>
      </p:pic>
      <p:sp>
        <p:nvSpPr>
          <p:cNvPr id="14" name="Shape 142">
            <a:extLst>
              <a:ext uri="{FF2B5EF4-FFF2-40B4-BE49-F238E27FC236}">
                <a16:creationId xmlns:a16="http://schemas.microsoft.com/office/drawing/2014/main" id="{3F5EFA82-FC99-430D-A2C4-0ADE20296ABF}"/>
              </a:ext>
            </a:extLst>
          </p:cNvPr>
          <p:cNvSpPr txBox="1"/>
          <p:nvPr/>
        </p:nvSpPr>
        <p:spPr>
          <a:xfrm>
            <a:off x="6592665" y="1236935"/>
            <a:ext cx="3352847" cy="1185252"/>
          </a:xfrm>
          <a:prstGeom prst="rect">
            <a:avLst/>
          </a:prstGeom>
          <a:noFill/>
          <a:ln>
            <a:noFill/>
          </a:ln>
        </p:spPr>
        <p:txBody>
          <a:bodyPr lIns="91425" tIns="45700" rIns="91425" bIns="45700" anchor="t" anchorCtr="0">
            <a:noAutofit/>
          </a:bodyPr>
          <a:lstStyle/>
          <a:p>
            <a:pPr lvl="0" algn="just">
              <a:buSzPct val="25000"/>
            </a:pPr>
            <a:r>
              <a:rPr lang="es-ES" dirty="0">
                <a:solidFill>
                  <a:schemeClr val="dk1"/>
                </a:solidFill>
                <a:latin typeface="Calibri"/>
                <a:ea typeface="Calibri"/>
                <a:cs typeface="Calibri"/>
                <a:sym typeface="Calibri"/>
              </a:rPr>
              <a:t>Este control solo puede otorgarle 2 resultados a la celda vinculada (VERDADERO o FALSO):</a:t>
            </a:r>
          </a:p>
        </p:txBody>
      </p:sp>
      <p:pic>
        <p:nvPicPr>
          <p:cNvPr id="15" name="Imagen 14">
            <a:extLst>
              <a:ext uri="{FF2B5EF4-FFF2-40B4-BE49-F238E27FC236}">
                <a16:creationId xmlns:a16="http://schemas.microsoft.com/office/drawing/2014/main" id="{21BC5691-7F6C-4A0F-B8B3-0135187E220F}"/>
              </a:ext>
            </a:extLst>
          </p:cNvPr>
          <p:cNvPicPr/>
          <p:nvPr/>
        </p:nvPicPr>
        <p:blipFill>
          <a:blip r:embed="rId5"/>
          <a:stretch>
            <a:fillRect/>
          </a:stretch>
        </p:blipFill>
        <p:spPr>
          <a:xfrm>
            <a:off x="7345187" y="5591284"/>
            <a:ext cx="2600325" cy="485775"/>
          </a:xfrm>
          <a:prstGeom prst="rect">
            <a:avLst/>
          </a:prstGeom>
        </p:spPr>
      </p:pic>
    </p:spTree>
    <p:extLst>
      <p:ext uri="{BB962C8B-B14F-4D97-AF65-F5344CB8AC3E}">
        <p14:creationId xmlns:p14="http://schemas.microsoft.com/office/powerpoint/2010/main" val="17286493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fade">
                                      <p:cBhvr>
                                        <p:cTn id="7" dur="500"/>
                                        <p:tgtEl>
                                          <p:spTgt spid="1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p:nvPr/>
        </p:nvSpPr>
        <p:spPr>
          <a:xfrm>
            <a:off x="2084928" y="4033558"/>
            <a:ext cx="3764857" cy="2062443"/>
          </a:xfrm>
          <a:prstGeom prst="rect">
            <a:avLst/>
          </a:prstGeom>
          <a:noFill/>
          <a:ln>
            <a:noFill/>
          </a:ln>
        </p:spPr>
        <p:txBody>
          <a:bodyPr lIns="91425" tIns="45700" rIns="91425" bIns="45700" anchor="t" anchorCtr="0">
            <a:noAutofit/>
          </a:bodyPr>
          <a:lstStyle/>
          <a:p>
            <a:pPr algn="just">
              <a:buClr>
                <a:schemeClr val="dk1"/>
              </a:buClr>
              <a:buSzPct val="25000"/>
            </a:pPr>
            <a:r>
              <a:rPr lang="es-ES" dirty="0">
                <a:solidFill>
                  <a:schemeClr val="dk1"/>
                </a:solidFill>
                <a:latin typeface="Calibri"/>
                <a:ea typeface="Calibri"/>
                <a:cs typeface="Calibri"/>
                <a:sym typeface="Calibri"/>
              </a:rPr>
              <a:t>Microsoft Excel nos brinda una manera sencilla de administrar una base de datos, poder ingresar, editar y buscar información dentro de una base de datos mediante el uso de un formulario de datos, para usarlo seguimos los siguientes pasos:</a:t>
            </a:r>
          </a:p>
        </p:txBody>
      </p:sp>
      <p:sp>
        <p:nvSpPr>
          <p:cNvPr id="157" name="Shape 157"/>
          <p:cNvSpPr txBox="1"/>
          <p:nvPr/>
        </p:nvSpPr>
        <p:spPr>
          <a:xfrm>
            <a:off x="2943366" y="243917"/>
            <a:ext cx="6428096" cy="468939"/>
          </a:xfrm>
          <a:prstGeom prst="rect">
            <a:avLst/>
          </a:prstGeom>
          <a:noFill/>
          <a:ln>
            <a:noFill/>
          </a:ln>
        </p:spPr>
        <p:txBody>
          <a:bodyPr lIns="91425" tIns="45700" rIns="91425" bIns="45700" anchor="t" anchorCtr="0">
            <a:noAutofit/>
          </a:bodyPr>
          <a:lstStyle/>
          <a:p>
            <a:pPr lvl="0" algn="ctr">
              <a:buClr>
                <a:schemeClr val="lt1"/>
              </a:buClr>
              <a:buSzPct val="25000"/>
            </a:pPr>
            <a:r>
              <a:rPr lang="es-ES" sz="2800" b="1" dirty="0">
                <a:solidFill>
                  <a:schemeClr val="lt1"/>
                </a:solidFill>
                <a:latin typeface="Calibri"/>
                <a:ea typeface="Calibri"/>
                <a:cs typeface="Calibri"/>
                <a:sym typeface="Calibri"/>
              </a:rPr>
              <a:t>Controles en la plataforma VBA</a:t>
            </a:r>
          </a:p>
        </p:txBody>
      </p:sp>
      <p:sp>
        <p:nvSpPr>
          <p:cNvPr id="11" name="Shape 140">
            <a:extLst>
              <a:ext uri="{FF2B5EF4-FFF2-40B4-BE49-F238E27FC236}">
                <a16:creationId xmlns:a16="http://schemas.microsoft.com/office/drawing/2014/main" id="{9090447C-7E70-476C-A1B9-1CE3FE58173E}"/>
              </a:ext>
            </a:extLst>
          </p:cNvPr>
          <p:cNvSpPr txBox="1"/>
          <p:nvPr/>
        </p:nvSpPr>
        <p:spPr>
          <a:xfrm>
            <a:off x="3419656" y="1011988"/>
            <a:ext cx="1095399" cy="381050"/>
          </a:xfrm>
          <a:prstGeom prst="rect">
            <a:avLst/>
          </a:prstGeom>
          <a:noFill/>
          <a:ln>
            <a:noFill/>
          </a:ln>
        </p:spPr>
        <p:txBody>
          <a:bodyPr lIns="91425" tIns="45700" rIns="91425" bIns="45700" anchor="t" anchorCtr="0">
            <a:noAutofit/>
          </a:bodyPr>
          <a:lstStyle/>
          <a:p>
            <a:pPr algn="just">
              <a:buClr>
                <a:schemeClr val="dk1"/>
              </a:buClr>
              <a:buSzPct val="25000"/>
            </a:pPr>
            <a:r>
              <a:rPr lang="es-ES" dirty="0">
                <a:solidFill>
                  <a:schemeClr val="dk1"/>
                </a:solidFill>
                <a:latin typeface="Calibri"/>
                <a:ea typeface="Calibri"/>
                <a:cs typeface="Calibri"/>
                <a:sym typeface="Calibri"/>
              </a:rPr>
              <a:t>Ejemplos:</a:t>
            </a:r>
          </a:p>
        </p:txBody>
      </p:sp>
      <p:pic>
        <p:nvPicPr>
          <p:cNvPr id="12" name="Imagen 11">
            <a:extLst>
              <a:ext uri="{FF2B5EF4-FFF2-40B4-BE49-F238E27FC236}">
                <a16:creationId xmlns:a16="http://schemas.microsoft.com/office/drawing/2014/main" id="{132931EB-B9B4-4910-A15A-5E77AECE76A3}"/>
              </a:ext>
            </a:extLst>
          </p:cNvPr>
          <p:cNvPicPr/>
          <p:nvPr/>
        </p:nvPicPr>
        <p:blipFill>
          <a:blip r:embed="rId3"/>
          <a:stretch>
            <a:fillRect/>
          </a:stretch>
        </p:blipFill>
        <p:spPr>
          <a:xfrm>
            <a:off x="2838644" y="1800825"/>
            <a:ext cx="2257425" cy="1743075"/>
          </a:xfrm>
          <a:prstGeom prst="rect">
            <a:avLst/>
          </a:prstGeom>
        </p:spPr>
      </p:pic>
      <p:sp>
        <p:nvSpPr>
          <p:cNvPr id="13" name="Shape 156">
            <a:extLst>
              <a:ext uri="{FF2B5EF4-FFF2-40B4-BE49-F238E27FC236}">
                <a16:creationId xmlns:a16="http://schemas.microsoft.com/office/drawing/2014/main" id="{981036AC-D947-4F4C-BC80-F14CE173FF4E}"/>
              </a:ext>
            </a:extLst>
          </p:cNvPr>
          <p:cNvSpPr txBox="1"/>
          <p:nvPr/>
        </p:nvSpPr>
        <p:spPr>
          <a:xfrm>
            <a:off x="6566615" y="1467557"/>
            <a:ext cx="3764857" cy="2062443"/>
          </a:xfrm>
          <a:prstGeom prst="rect">
            <a:avLst/>
          </a:prstGeom>
          <a:noFill/>
          <a:ln>
            <a:noFill/>
          </a:ln>
        </p:spPr>
        <p:txBody>
          <a:bodyPr lIns="91425" tIns="45700" rIns="91425" bIns="45700" anchor="t" anchorCtr="0">
            <a:noAutofit/>
          </a:bodyPr>
          <a:lstStyle/>
          <a:p>
            <a:pPr lvl="0" algn="just">
              <a:buClr>
                <a:schemeClr val="dk1"/>
              </a:buClr>
              <a:buSzPct val="25000"/>
            </a:pPr>
            <a:r>
              <a:rPr lang="es-ES" dirty="0">
                <a:solidFill>
                  <a:schemeClr val="dk1"/>
                </a:solidFill>
                <a:latin typeface="Calibri"/>
                <a:ea typeface="Calibri"/>
                <a:cs typeface="Calibri"/>
                <a:sym typeface="Calibri"/>
              </a:rPr>
              <a:t>El control casilla de verificación puede ser insertado en cualquier parte del </a:t>
            </a:r>
            <a:r>
              <a:rPr lang="es-ES" dirty="0" err="1">
                <a:solidFill>
                  <a:schemeClr val="dk1"/>
                </a:solidFill>
                <a:latin typeface="Calibri"/>
                <a:ea typeface="Calibri"/>
                <a:cs typeface="Calibri"/>
                <a:sym typeface="Calibri"/>
              </a:rPr>
              <a:t>user</a:t>
            </a:r>
            <a:r>
              <a:rPr lang="es-ES" dirty="0">
                <a:solidFill>
                  <a:schemeClr val="dk1"/>
                </a:solidFill>
                <a:latin typeface="Calibri"/>
                <a:ea typeface="Calibri"/>
                <a:cs typeface="Calibri"/>
                <a:sym typeface="Calibri"/>
              </a:rPr>
              <a:t> </a:t>
            </a:r>
            <a:r>
              <a:rPr lang="es-ES" dirty="0" err="1">
                <a:solidFill>
                  <a:schemeClr val="dk1"/>
                </a:solidFill>
                <a:latin typeface="Calibri"/>
                <a:ea typeface="Calibri"/>
                <a:cs typeface="Calibri"/>
                <a:sym typeface="Calibri"/>
              </a:rPr>
              <a:t>form</a:t>
            </a:r>
            <a:r>
              <a:rPr lang="es-ES" dirty="0">
                <a:solidFill>
                  <a:schemeClr val="dk1"/>
                </a:solidFill>
                <a:latin typeface="Calibri"/>
                <a:ea typeface="Calibri"/>
                <a:cs typeface="Calibri"/>
                <a:sym typeface="Calibri"/>
              </a:rPr>
              <a:t> y puede ejecutar una acción al estar activada o desactivada (cuando se le da </a:t>
            </a:r>
            <a:r>
              <a:rPr lang="es-ES" dirty="0" err="1">
                <a:solidFill>
                  <a:schemeClr val="dk1"/>
                </a:solidFill>
                <a:latin typeface="Calibri"/>
                <a:ea typeface="Calibri"/>
                <a:cs typeface="Calibri"/>
                <a:sym typeface="Calibri"/>
              </a:rPr>
              <a:t>click</a:t>
            </a:r>
            <a:r>
              <a:rPr lang="es-ES" dirty="0">
                <a:solidFill>
                  <a:schemeClr val="dk1"/>
                </a:solidFill>
                <a:latin typeface="Calibri"/>
                <a:ea typeface="Calibri"/>
                <a:cs typeface="Calibri"/>
                <a:sym typeface="Calibri"/>
              </a:rPr>
              <a:t>), esta acción deberá especificarse dentro de su código en VBA.</a:t>
            </a:r>
          </a:p>
        </p:txBody>
      </p:sp>
      <p:pic>
        <p:nvPicPr>
          <p:cNvPr id="14" name="Imagen 13">
            <a:extLst>
              <a:ext uri="{FF2B5EF4-FFF2-40B4-BE49-F238E27FC236}">
                <a16:creationId xmlns:a16="http://schemas.microsoft.com/office/drawing/2014/main" id="{60C9D58B-B6D2-4309-A9E8-8912AA687B9E}"/>
              </a:ext>
            </a:extLst>
          </p:cNvPr>
          <p:cNvPicPr/>
          <p:nvPr/>
        </p:nvPicPr>
        <p:blipFill rotWithShape="1">
          <a:blip r:embed="rId4"/>
          <a:srcRect l="639" t="749" r="1169" b="2606"/>
          <a:stretch/>
        </p:blipFill>
        <p:spPr bwMode="auto">
          <a:xfrm>
            <a:off x="6897737" y="4147433"/>
            <a:ext cx="3102610" cy="14897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5246299"/>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571796" y="676902"/>
            <a:ext cx="3501440" cy="584775"/>
          </a:xfrm>
          <a:prstGeom prst="rect">
            <a:avLst/>
          </a:prstGeom>
          <a:noFill/>
        </p:spPr>
        <p:txBody>
          <a:bodyPr wrap="square" rtlCol="0">
            <a:spAutoFit/>
          </a:bodyPr>
          <a:lstStyle/>
          <a:p>
            <a:r>
              <a:rPr lang="es-ES" sz="3200" b="1" dirty="0" smtClean="0">
                <a:solidFill>
                  <a:schemeClr val="bg1"/>
                </a:solidFill>
                <a:effectLst>
                  <a:outerShdw blurRad="38100" dist="38100" dir="2700000" algn="tl">
                    <a:srgbClr val="000000">
                      <a:alpha val="43137"/>
                    </a:srgbClr>
                  </a:outerShdw>
                </a:effectLst>
              </a:rPr>
              <a:t>FUNCIÓN INDICE</a:t>
            </a:r>
            <a:endParaRPr lang="es-ES" sz="3200" b="1" dirty="0">
              <a:solidFill>
                <a:schemeClr val="bg1"/>
              </a:solidFill>
              <a:effectLst>
                <a:outerShdw blurRad="38100" dist="38100" dir="2700000" algn="tl">
                  <a:srgbClr val="000000">
                    <a:alpha val="43137"/>
                  </a:srgbClr>
                </a:outerShdw>
              </a:effectLst>
            </a:endParaRPr>
          </a:p>
        </p:txBody>
      </p:sp>
      <p:sp>
        <p:nvSpPr>
          <p:cNvPr id="5" name="Rectángulo 4"/>
          <p:cNvSpPr/>
          <p:nvPr/>
        </p:nvSpPr>
        <p:spPr>
          <a:xfrm>
            <a:off x="457694" y="1899189"/>
            <a:ext cx="11159341" cy="1200329"/>
          </a:xfrm>
          <a:prstGeom prst="rect">
            <a:avLst/>
          </a:prstGeom>
        </p:spPr>
        <p:txBody>
          <a:bodyPr wrap="square">
            <a:spAutoFit/>
          </a:bodyPr>
          <a:lstStyle/>
          <a:p>
            <a:pPr algn="just"/>
            <a:r>
              <a:rPr lang="es-PE" sz="2400" dirty="0"/>
              <a:t>La </a:t>
            </a:r>
            <a:r>
              <a:rPr lang="es-PE" sz="2400" b="1" dirty="0"/>
              <a:t>función INDICE en Excel</a:t>
            </a:r>
            <a:r>
              <a:rPr lang="es-PE" sz="2400" dirty="0"/>
              <a:t> nos ayuda a obtener el valor de una celda dentro de una matriz especificando el número de fila y columna. Esta función tiene dos formas de uso: de forma matricial y de forma de referencia.</a:t>
            </a:r>
          </a:p>
        </p:txBody>
      </p:sp>
      <p:sp>
        <p:nvSpPr>
          <p:cNvPr id="6" name="Rectángulo 5"/>
          <p:cNvSpPr/>
          <p:nvPr/>
        </p:nvSpPr>
        <p:spPr>
          <a:xfrm>
            <a:off x="457694" y="3701362"/>
            <a:ext cx="11159341" cy="1569660"/>
          </a:xfrm>
          <a:prstGeom prst="rect">
            <a:avLst/>
          </a:prstGeom>
        </p:spPr>
        <p:txBody>
          <a:bodyPr wrap="square">
            <a:spAutoFit/>
          </a:bodyPr>
          <a:lstStyle/>
          <a:p>
            <a:pPr algn="just"/>
            <a:r>
              <a:rPr lang="es-PE" sz="2400" b="1" cap="all" dirty="0">
                <a:effectLst>
                  <a:outerShdw blurRad="38100" dist="38100" dir="2700000" algn="tl">
                    <a:srgbClr val="000000">
                      <a:alpha val="43137"/>
                    </a:srgbClr>
                  </a:outerShdw>
                </a:effectLst>
              </a:rPr>
              <a:t>FORMA MATRICIAL DE LA FUNCIÓN INDICE</a:t>
            </a:r>
          </a:p>
          <a:p>
            <a:pPr algn="just"/>
            <a:r>
              <a:rPr lang="es-PE" sz="2400" dirty="0"/>
              <a:t>En su forma matricial, la </a:t>
            </a:r>
            <a:r>
              <a:rPr lang="es-PE" sz="2400" b="1" dirty="0"/>
              <a:t>función INDICE en Excel</a:t>
            </a:r>
            <a:r>
              <a:rPr lang="es-PE" sz="2400" dirty="0"/>
              <a:t> nos ayuda a obtener el valor de la celda que se encuentra justamente en el cruce de la fila y de la columna que hayamos especificado. La sintaxis de la función INDICE es la siguiente:</a:t>
            </a:r>
          </a:p>
        </p:txBody>
      </p:sp>
      <p:sp>
        <p:nvSpPr>
          <p:cNvPr id="7" name="Rectángulo 6"/>
          <p:cNvSpPr/>
          <p:nvPr/>
        </p:nvSpPr>
        <p:spPr>
          <a:xfrm>
            <a:off x="457695" y="5872868"/>
            <a:ext cx="8613976" cy="830997"/>
          </a:xfrm>
          <a:prstGeom prst="rect">
            <a:avLst/>
          </a:prstGeom>
        </p:spPr>
        <p:txBody>
          <a:bodyPr wrap="square">
            <a:spAutoFit/>
          </a:bodyPr>
          <a:lstStyle/>
          <a:p>
            <a:r>
              <a:rPr lang="es-PE" sz="2400" b="1" dirty="0">
                <a:effectLst>
                  <a:outerShdw blurRad="38100" dist="38100" dir="2700000" algn="tl">
                    <a:srgbClr val="000000">
                      <a:alpha val="43137"/>
                    </a:srgbClr>
                  </a:outerShdw>
                </a:effectLst>
              </a:rPr>
              <a:t>SINTAXIS</a:t>
            </a:r>
          </a:p>
          <a:p>
            <a:r>
              <a:rPr lang="es-PE" sz="2400" dirty="0"/>
              <a:t>INDICE(matriz, </a:t>
            </a:r>
            <a:r>
              <a:rPr lang="es-PE" sz="2400" dirty="0" err="1"/>
              <a:t>núm_fila</a:t>
            </a:r>
            <a:r>
              <a:rPr lang="es-PE" sz="2400" dirty="0"/>
              <a:t>, [</a:t>
            </a:r>
            <a:r>
              <a:rPr lang="es-PE" sz="2400" dirty="0" err="1"/>
              <a:t>núm_columna</a:t>
            </a:r>
            <a:r>
              <a:rPr lang="es-PE" sz="2400" dirty="0"/>
              <a:t>])</a:t>
            </a:r>
          </a:p>
        </p:txBody>
      </p:sp>
    </p:spTree>
    <p:extLst>
      <p:ext uri="{BB962C8B-B14F-4D97-AF65-F5344CB8AC3E}">
        <p14:creationId xmlns:p14="http://schemas.microsoft.com/office/powerpoint/2010/main" val="113788013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19992" y="2050300"/>
            <a:ext cx="10425544" cy="3785652"/>
          </a:xfrm>
          <a:prstGeom prst="rect">
            <a:avLst/>
          </a:prstGeom>
        </p:spPr>
        <p:txBody>
          <a:bodyPr wrap="square">
            <a:spAutoFit/>
          </a:bodyPr>
          <a:lstStyle/>
          <a:p>
            <a:pPr algn="just"/>
            <a:r>
              <a:rPr lang="es-PE" sz="2400" dirty="0"/>
              <a:t>La sintaxis de la función INDICE tiene los siguientes argumentos:</a:t>
            </a:r>
          </a:p>
          <a:p>
            <a:pPr marL="342900" indent="-342900" algn="just">
              <a:buFont typeface="Arial" panose="020B0604020202020204" pitchFamily="34" charset="0"/>
              <a:buChar char="•"/>
            </a:pPr>
            <a:r>
              <a:rPr lang="es-PE" sz="2400" b="1" dirty="0"/>
              <a:t>Matriz</a:t>
            </a:r>
            <a:r>
              <a:rPr lang="es-PE" sz="2400" dirty="0"/>
              <a:t>    Obligatorio. Es un rango de celdas o una constante de matriz.</a:t>
            </a:r>
          </a:p>
          <a:p>
            <a:pPr marL="800100" lvl="1" indent="-342900" algn="just">
              <a:buFont typeface="Courier New" panose="02070309020205020404" pitchFamily="49" charset="0"/>
              <a:buChar char="o"/>
            </a:pPr>
            <a:r>
              <a:rPr lang="es-PE" sz="2400" dirty="0"/>
              <a:t>Si matriz contiene solo una fila o columna, el argumento </a:t>
            </a:r>
            <a:r>
              <a:rPr lang="es-PE" sz="2400" dirty="0" err="1"/>
              <a:t>núm_fila</a:t>
            </a:r>
            <a:r>
              <a:rPr lang="es-PE" sz="2400" dirty="0"/>
              <a:t> o </a:t>
            </a:r>
            <a:r>
              <a:rPr lang="es-PE" sz="2400" dirty="0" err="1"/>
              <a:t>núm_columna</a:t>
            </a:r>
            <a:r>
              <a:rPr lang="es-PE" sz="2400" dirty="0"/>
              <a:t> correspondiente es opcional.</a:t>
            </a:r>
          </a:p>
          <a:p>
            <a:pPr marL="800100" lvl="1" indent="-342900" algn="just">
              <a:buFont typeface="Courier New" panose="02070309020205020404" pitchFamily="49" charset="0"/>
              <a:buChar char="o"/>
            </a:pPr>
            <a:r>
              <a:rPr lang="es-PE" sz="2400" dirty="0"/>
              <a:t>Si matriz tiene varias filas y columnas, y solo usa </a:t>
            </a:r>
            <a:r>
              <a:rPr lang="es-PE" sz="2400" dirty="0" err="1"/>
              <a:t>núm_fila</a:t>
            </a:r>
            <a:r>
              <a:rPr lang="es-PE" sz="2400" dirty="0"/>
              <a:t> o </a:t>
            </a:r>
            <a:r>
              <a:rPr lang="es-PE" sz="2400" dirty="0" err="1"/>
              <a:t>núm_columna</a:t>
            </a:r>
            <a:r>
              <a:rPr lang="es-PE" sz="2400" dirty="0"/>
              <a:t>, INDICE devuelve una matriz de dicha fila o columna completa.</a:t>
            </a:r>
          </a:p>
          <a:p>
            <a:pPr marL="342900" indent="-342900" algn="just">
              <a:buFont typeface="Arial" panose="020B0604020202020204" pitchFamily="34" charset="0"/>
              <a:buChar char="•"/>
            </a:pPr>
            <a:r>
              <a:rPr lang="es-PE" sz="2400" b="1" dirty="0" err="1"/>
              <a:t>Núm_fila</a:t>
            </a:r>
            <a:r>
              <a:rPr lang="es-PE" sz="2400" dirty="0"/>
              <a:t>    Obligatorio. Selecciona la fila de la matriz desde la cual devolverá un valor. Si omite </a:t>
            </a:r>
            <a:r>
              <a:rPr lang="es-PE" sz="2400" dirty="0" err="1"/>
              <a:t>núm_fila</a:t>
            </a:r>
            <a:r>
              <a:rPr lang="es-PE" sz="2400" dirty="0"/>
              <a:t>, se necesita el argumento </a:t>
            </a:r>
            <a:r>
              <a:rPr lang="es-PE" sz="2400" dirty="0" err="1"/>
              <a:t>núm_columna</a:t>
            </a:r>
            <a:r>
              <a:rPr lang="es-PE" sz="2400" dirty="0"/>
              <a:t>.</a:t>
            </a:r>
          </a:p>
          <a:p>
            <a:pPr marL="342900" indent="-342900" algn="just">
              <a:buFont typeface="Arial" panose="020B0604020202020204" pitchFamily="34" charset="0"/>
              <a:buChar char="•"/>
            </a:pPr>
            <a:r>
              <a:rPr lang="es-PE" sz="2400" b="1" dirty="0" err="1"/>
              <a:t>Núm_columna</a:t>
            </a:r>
            <a:r>
              <a:rPr lang="es-PE" sz="2400" dirty="0"/>
              <a:t>    Opcional. Selecciona la columna de la matriz desde la cual devolverá un valor. Si omite </a:t>
            </a:r>
            <a:r>
              <a:rPr lang="es-PE" sz="2400" dirty="0" err="1"/>
              <a:t>núm_columna</a:t>
            </a:r>
            <a:r>
              <a:rPr lang="es-PE" sz="2400" dirty="0"/>
              <a:t>, se necesita el argumento </a:t>
            </a:r>
            <a:r>
              <a:rPr lang="es-PE" sz="2400" dirty="0" err="1"/>
              <a:t>núm_fila</a:t>
            </a:r>
            <a:r>
              <a:rPr lang="es-PE" sz="2400" dirty="0"/>
              <a:t>.</a:t>
            </a:r>
          </a:p>
        </p:txBody>
      </p:sp>
      <p:sp>
        <p:nvSpPr>
          <p:cNvPr id="5" name="CuadroTexto 4"/>
          <p:cNvSpPr txBox="1"/>
          <p:nvPr/>
        </p:nvSpPr>
        <p:spPr>
          <a:xfrm>
            <a:off x="619992" y="365175"/>
            <a:ext cx="6352308"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a:t>
            </a:r>
            <a:r>
              <a:rPr lang="es-ES" sz="3200" b="1" dirty="0" smtClean="0">
                <a:solidFill>
                  <a:schemeClr val="bg1"/>
                </a:solidFill>
                <a:effectLst>
                  <a:outerShdw blurRad="38100" dist="38100" dir="2700000" algn="tl">
                    <a:srgbClr val="000000">
                      <a:alpha val="43137"/>
                    </a:srgbClr>
                  </a:outerShdw>
                </a:effectLst>
              </a:rPr>
              <a:t>Matricial</a:t>
            </a:r>
            <a:endParaRPr lang="es-ES" sz="32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0065285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20663" r="10454" b="23125"/>
          <a:stretch/>
        </p:blipFill>
        <p:spPr>
          <a:xfrm>
            <a:off x="1510237" y="2375207"/>
            <a:ext cx="8261769" cy="2917229"/>
          </a:xfrm>
          <a:prstGeom prst="rect">
            <a:avLst/>
          </a:prstGeom>
        </p:spPr>
      </p:pic>
      <p:sp>
        <p:nvSpPr>
          <p:cNvPr id="5" name="CuadroTexto 4"/>
          <p:cNvSpPr txBox="1"/>
          <p:nvPr/>
        </p:nvSpPr>
        <p:spPr>
          <a:xfrm>
            <a:off x="1510236" y="583383"/>
            <a:ext cx="6282945"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Ejemplo  Forma </a:t>
            </a:r>
            <a:r>
              <a:rPr lang="es-ES" sz="3200" b="1" dirty="0" smtClean="0">
                <a:solidFill>
                  <a:schemeClr val="bg1"/>
                </a:solidFill>
                <a:effectLst>
                  <a:outerShdw blurRad="38100" dist="38100" dir="2700000" algn="tl">
                    <a:srgbClr val="000000">
                      <a:alpha val="43137"/>
                    </a:srgbClr>
                  </a:outerShdw>
                </a:effectLst>
              </a:rPr>
              <a:t>Matricial</a:t>
            </a:r>
            <a:endParaRPr lang="es-ES" sz="32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0931267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43196" y="365174"/>
            <a:ext cx="7751322"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Referencia</a:t>
            </a:r>
          </a:p>
        </p:txBody>
      </p:sp>
      <p:sp>
        <p:nvSpPr>
          <p:cNvPr id="5" name="Rectángulo 4"/>
          <p:cNvSpPr/>
          <p:nvPr/>
        </p:nvSpPr>
        <p:spPr>
          <a:xfrm>
            <a:off x="244928" y="1973055"/>
            <a:ext cx="11694226" cy="4154984"/>
          </a:xfrm>
          <a:prstGeom prst="rect">
            <a:avLst/>
          </a:prstGeom>
        </p:spPr>
        <p:txBody>
          <a:bodyPr wrap="square">
            <a:spAutoFit/>
          </a:bodyPr>
          <a:lstStyle/>
          <a:p>
            <a:pPr algn="just"/>
            <a:r>
              <a:rPr lang="es-PE" sz="2400" b="1" cap="all" dirty="0">
                <a:effectLst>
                  <a:outerShdw blurRad="38100" dist="38100" dir="2700000" algn="tl">
                    <a:srgbClr val="000000">
                      <a:alpha val="43137"/>
                    </a:srgbClr>
                  </a:outerShdw>
                </a:effectLst>
              </a:rPr>
              <a:t>FORMA DE REFERENCIA DE LA FUNCIÓN INDICE</a:t>
            </a:r>
          </a:p>
          <a:p>
            <a:pPr algn="just"/>
            <a:r>
              <a:rPr lang="es-PE" sz="2400" dirty="0"/>
              <a:t>La segunda forma de uso de la </a:t>
            </a:r>
            <a:r>
              <a:rPr lang="es-PE" sz="2400" b="1" dirty="0"/>
              <a:t>función INDICE en Excel</a:t>
            </a:r>
            <a:r>
              <a:rPr lang="es-PE" sz="2400" dirty="0"/>
              <a:t> es similar a la anterior pero con la diferencia de que en lugar de especificar una sola matriz podemos indicar más de una matriz. Bajo esta forma, la función INDICE tiene una sintaxis un poco diferente que el método anterior:</a:t>
            </a:r>
          </a:p>
          <a:p>
            <a:pPr marL="342900" indent="-342900" algn="just">
              <a:buFont typeface="Arial" panose="020B0604020202020204" pitchFamily="34" charset="0"/>
              <a:buChar char="•"/>
            </a:pPr>
            <a:r>
              <a:rPr lang="es-PE" sz="2400" b="1" dirty="0" err="1"/>
              <a:t>Ref</a:t>
            </a:r>
            <a:r>
              <a:rPr lang="es-PE" sz="2400" dirty="0"/>
              <a:t> (</a:t>
            </a:r>
            <a:r>
              <a:rPr lang="es-PE" sz="2400" i="1" dirty="0"/>
              <a:t>obligatorio</a:t>
            </a:r>
            <a:r>
              <a:rPr lang="es-PE" sz="2400" dirty="0"/>
              <a:t>): La referencia a las matrices que tienen los datos.</a:t>
            </a:r>
          </a:p>
          <a:p>
            <a:pPr marL="342900" indent="-342900" algn="just">
              <a:buFont typeface="Arial" panose="020B0604020202020204" pitchFamily="34" charset="0"/>
              <a:buChar char="•"/>
            </a:pPr>
            <a:r>
              <a:rPr lang="es-PE" sz="2400" b="1" dirty="0" err="1"/>
              <a:t>Núm_fila</a:t>
            </a:r>
            <a:r>
              <a:rPr lang="es-PE" sz="2400" dirty="0"/>
              <a:t> (</a:t>
            </a:r>
            <a:r>
              <a:rPr lang="es-PE" sz="2400" i="1" dirty="0"/>
              <a:t>obligatorio</a:t>
            </a:r>
            <a:r>
              <a:rPr lang="es-PE" sz="2400" dirty="0"/>
              <a:t>): El número de fila de la celda que deseamos obtener.</a:t>
            </a:r>
          </a:p>
          <a:p>
            <a:pPr marL="342900" indent="-342900" algn="just">
              <a:buFont typeface="Arial" panose="020B0604020202020204" pitchFamily="34" charset="0"/>
              <a:buChar char="•"/>
            </a:pPr>
            <a:r>
              <a:rPr lang="es-PE" sz="2400" b="1" dirty="0" err="1"/>
              <a:t>Núm_columna</a:t>
            </a:r>
            <a:r>
              <a:rPr lang="es-PE" sz="2400" dirty="0"/>
              <a:t> (</a:t>
            </a:r>
            <a:r>
              <a:rPr lang="es-PE" sz="2400" i="1" dirty="0"/>
              <a:t>opcional</a:t>
            </a:r>
            <a:r>
              <a:rPr lang="es-PE" sz="2400" dirty="0"/>
              <a:t>): El número de columna de la celda a obtener.</a:t>
            </a:r>
          </a:p>
          <a:p>
            <a:pPr marL="342900" indent="-342900" algn="just">
              <a:buFont typeface="Arial" panose="020B0604020202020204" pitchFamily="34" charset="0"/>
              <a:buChar char="•"/>
            </a:pPr>
            <a:r>
              <a:rPr lang="es-PE" sz="2400" b="1" dirty="0" err="1"/>
              <a:t>Núm_área</a:t>
            </a:r>
            <a:r>
              <a:rPr lang="es-PE" sz="2400" dirty="0"/>
              <a:t> (</a:t>
            </a:r>
            <a:r>
              <a:rPr lang="es-PE" sz="2400" i="1" dirty="0"/>
              <a:t>opcional</a:t>
            </a:r>
            <a:r>
              <a:rPr lang="es-PE" sz="2400" dirty="0"/>
              <a:t>): Ya que </a:t>
            </a:r>
            <a:r>
              <a:rPr lang="es-PE" sz="2400" i="1" dirty="0" err="1"/>
              <a:t>Ref</a:t>
            </a:r>
            <a:r>
              <a:rPr lang="es-PE" sz="2400" dirty="0"/>
              <a:t> puede tener especificados varios rangos como A1:C6, A8:C11 entonces </a:t>
            </a:r>
            <a:r>
              <a:rPr lang="es-PE" sz="2400" i="1" dirty="0" err="1"/>
              <a:t>Núm_área</a:t>
            </a:r>
            <a:r>
              <a:rPr lang="es-PE" sz="2400" dirty="0" err="1"/>
              <a:t>indicará</a:t>
            </a:r>
            <a:r>
              <a:rPr lang="es-PE" sz="2400" dirty="0"/>
              <a:t> cual de los rangos se debe utilizar.</a:t>
            </a:r>
          </a:p>
          <a:p>
            <a:pPr algn="just"/>
            <a:endParaRPr lang="es-PE" sz="2400" dirty="0"/>
          </a:p>
        </p:txBody>
      </p:sp>
    </p:spTree>
    <p:extLst>
      <p:ext uri="{BB962C8B-B14F-4D97-AF65-F5344CB8AC3E}">
        <p14:creationId xmlns:p14="http://schemas.microsoft.com/office/powerpoint/2010/main" val="364880899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94309" y="469084"/>
            <a:ext cx="7304513"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Referencia</a:t>
            </a:r>
          </a:p>
        </p:txBody>
      </p:sp>
      <p:pic>
        <p:nvPicPr>
          <p:cNvPr id="5" name="Imagen 4"/>
          <p:cNvPicPr>
            <a:picLocks noChangeAspect="1"/>
          </p:cNvPicPr>
          <p:nvPr/>
        </p:nvPicPr>
        <p:blipFill rotWithShape="1">
          <a:blip r:embed="rId2"/>
          <a:srcRect t="20058" r="11642" b="19527"/>
          <a:stretch/>
        </p:blipFill>
        <p:spPr>
          <a:xfrm>
            <a:off x="185056" y="1833967"/>
            <a:ext cx="6221186" cy="2392763"/>
          </a:xfrm>
          <a:prstGeom prst="rect">
            <a:avLst/>
          </a:prstGeom>
        </p:spPr>
      </p:pic>
      <p:pic>
        <p:nvPicPr>
          <p:cNvPr id="7" name="Imagen 6"/>
          <p:cNvPicPr>
            <a:picLocks noChangeAspect="1"/>
          </p:cNvPicPr>
          <p:nvPr/>
        </p:nvPicPr>
        <p:blipFill rotWithShape="1">
          <a:blip r:embed="rId3"/>
          <a:srcRect l="1124" t="20112" r="10384" b="19931"/>
          <a:stretch/>
        </p:blipFill>
        <p:spPr>
          <a:xfrm>
            <a:off x="3946566" y="4226730"/>
            <a:ext cx="6221186" cy="2371049"/>
          </a:xfrm>
          <a:prstGeom prst="rect">
            <a:avLst/>
          </a:prstGeom>
        </p:spPr>
      </p:pic>
    </p:spTree>
    <p:extLst>
      <p:ext uri="{BB962C8B-B14F-4D97-AF65-F5344CB8AC3E}">
        <p14:creationId xmlns:p14="http://schemas.microsoft.com/office/powerpoint/2010/main" val="154700821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1050</TotalTime>
  <Words>515</Words>
  <Application>Microsoft Office PowerPoint</Application>
  <PresentationFormat>Panorámica</PresentationFormat>
  <Paragraphs>52</Paragraphs>
  <Slides>11</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Calibri Light</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Ing. Eric Heredia Mendoza</cp:lastModifiedBy>
  <cp:revision>97</cp:revision>
  <dcterms:created xsi:type="dcterms:W3CDTF">2019-09-09T03:46:59Z</dcterms:created>
  <dcterms:modified xsi:type="dcterms:W3CDTF">2020-04-30T04:10:38Z</dcterms:modified>
</cp:coreProperties>
</file>