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62" r:id="rId3"/>
    <p:sldId id="263" r:id="rId4"/>
    <p:sldId id="316" r:id="rId5"/>
    <p:sldId id="319" r:id="rId6"/>
    <p:sldId id="318" r:id="rId7"/>
    <p:sldId id="320" r:id="rId8"/>
    <p:sldId id="317" r:id="rId9"/>
    <p:sldId id="321" r:id="rId10"/>
    <p:sldId id="260" r:id="rId1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26" autoAdjust="0"/>
    <p:restoredTop sz="87191" autoAdjust="0"/>
  </p:normalViewPr>
  <p:slideViewPr>
    <p:cSldViewPr snapToGrid="0">
      <p:cViewPr varScale="1">
        <p:scale>
          <a:sx n="79" d="100"/>
          <a:sy n="79" d="100"/>
        </p:scale>
        <p:origin x="978" y="78"/>
      </p:cViewPr>
      <p:guideLst/>
    </p:cSldViewPr>
  </p:slideViewPr>
  <p:outlineViewPr>
    <p:cViewPr>
      <p:scale>
        <a:sx n="33" d="100"/>
        <a:sy n="33" d="100"/>
      </p:scale>
      <p:origin x="0" y="-1536"/>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BB3638-5DA2-41E1-A32B-6A772F8F21E8}" type="datetimeFigureOut">
              <a:rPr lang="es-PE" smtClean="0"/>
              <a:t>22/01/2024</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54AF42-F54D-45D3-8F72-36401ED196A3}" type="slidenum">
              <a:rPr lang="es-PE" smtClean="0"/>
              <a:t>‹Nº›</a:t>
            </a:fld>
            <a:endParaRPr lang="es-PE"/>
          </a:p>
        </p:txBody>
      </p:sp>
    </p:spTree>
    <p:extLst>
      <p:ext uri="{BB962C8B-B14F-4D97-AF65-F5344CB8AC3E}">
        <p14:creationId xmlns:p14="http://schemas.microsoft.com/office/powerpoint/2010/main" val="2269954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22/01/2024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22/01/2024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22/01/2024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22/01/2024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22/01/2024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22/01/2024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22/01/2024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22/01/2024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22/01/2024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22/01/2024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22/01/2024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4_Título y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Marcador de texto 18"/>
          <p:cNvSpPr>
            <a:spLocks noGrp="1"/>
          </p:cNvSpPr>
          <p:nvPr>
            <p:ph type="body" sz="quarter" idx="10"/>
          </p:nvPr>
        </p:nvSpPr>
        <p:spPr>
          <a:xfrm>
            <a:off x="503238" y="2497138"/>
            <a:ext cx="10996612" cy="2321047"/>
          </a:xfrm>
          <a:prstGeom prst="rect">
            <a:avLst/>
          </a:prstGeom>
        </p:spPr>
        <p:txBody>
          <a:bodyPr/>
          <a:lstStyle>
            <a:lvl1pPr marL="0" indent="0">
              <a:buNone/>
              <a:defRPr sz="2000">
                <a:solidFill>
                  <a:srgbClr val="482784"/>
                </a:solidFill>
                <a:latin typeface="Zizou Slab Regular" pitchFamily="50" charset="0"/>
              </a:defRPr>
            </a:lvl1pPr>
          </a:lstStyle>
          <a:p>
            <a:pPr lvl="0"/>
            <a:r>
              <a:rPr lang="es-ES" dirty="0"/>
              <a:t>Editar el estilo de texto del patrón</a:t>
            </a:r>
          </a:p>
        </p:txBody>
      </p:sp>
      <p:sp>
        <p:nvSpPr>
          <p:cNvPr id="6" name="Título 1"/>
          <p:cNvSpPr>
            <a:spLocks noGrp="1"/>
          </p:cNvSpPr>
          <p:nvPr>
            <p:ph type="title"/>
          </p:nvPr>
        </p:nvSpPr>
        <p:spPr>
          <a:xfrm>
            <a:off x="503859" y="1325313"/>
            <a:ext cx="10855803" cy="848510"/>
          </a:xfrm>
          <a:prstGeom prst="rect">
            <a:avLst/>
          </a:prstGeom>
        </p:spPr>
        <p:txBody>
          <a:bodyPr/>
          <a:lstStyle>
            <a:lvl1pPr>
              <a:defRPr sz="4800">
                <a:solidFill>
                  <a:srgbClr val="482784"/>
                </a:solidFill>
                <a:latin typeface="Zizou Slab Bold" pitchFamily="50" charset="0"/>
              </a:defRPr>
            </a:lvl1pPr>
          </a:lstStyle>
          <a:p>
            <a:endParaRPr lang="en-PE" sz="4400" b="1" dirty="0">
              <a:solidFill>
                <a:srgbClr val="482783"/>
              </a:solidFill>
              <a:latin typeface="Zizou Slab Bold" pitchFamily="2" charset="77"/>
            </a:endParaRPr>
          </a:p>
        </p:txBody>
      </p:sp>
    </p:spTree>
    <p:extLst>
      <p:ext uri="{BB962C8B-B14F-4D97-AF65-F5344CB8AC3E}">
        <p14:creationId xmlns:p14="http://schemas.microsoft.com/office/powerpoint/2010/main" val="41951710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22/01/2024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themeOverride" Target="../theme/themeOverride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themeOverride" Target="../theme/themeOverride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themeOverride" Target="../theme/themeOverride4.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themeOverride" Target="../theme/themeOverride5.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2.xml"/><Relationship Id="rId1" Type="http://schemas.openxmlformats.org/officeDocument/2006/relationships/themeOverride" Target="../theme/themeOverride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1904948" y="2423937"/>
            <a:ext cx="9995900" cy="2123658"/>
          </a:xfrm>
          <a:prstGeom prst="rect">
            <a:avLst/>
          </a:prstGeom>
        </p:spPr>
        <p:txBody>
          <a:bodyPr wrap="square">
            <a:spAutoFit/>
          </a:bodyPr>
          <a:lstStyle/>
          <a:p>
            <a:r>
              <a:rPr lang="es-ES" sz="6600" dirty="0">
                <a:solidFill>
                  <a:srgbClr val="00F3B5"/>
                </a:solidFill>
                <a:latin typeface="Prompt" panose="00000800000000000000" pitchFamily="2" charset="-34"/>
                <a:cs typeface="Prompt" panose="00000800000000000000" pitchFamily="2" charset="-34"/>
              </a:rPr>
              <a:t>Gestión de proyectos inmobiliarios</a:t>
            </a:r>
            <a:endParaRPr lang="es-ES" sz="6600" dirty="0">
              <a:solidFill>
                <a:schemeClr val="bg1"/>
              </a:solidFill>
              <a:latin typeface="Prompt" panose="00000800000000000000" pitchFamily="2" charset="-34"/>
              <a:cs typeface="Prompt" panose="00000800000000000000" pitchFamily="2" charset="-34"/>
            </a:endParaRPr>
          </a:p>
        </p:txBody>
      </p:sp>
      <p:sp>
        <p:nvSpPr>
          <p:cNvPr id="7" name="CuadroTexto 6"/>
          <p:cNvSpPr txBox="1"/>
          <p:nvPr/>
        </p:nvSpPr>
        <p:spPr>
          <a:xfrm>
            <a:off x="1726249" y="1401509"/>
            <a:ext cx="3811425"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CURSO DE FORMACIÓN</a:t>
            </a: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87718" y="2766940"/>
            <a:ext cx="8490391" cy="844550"/>
          </a:xfrm>
        </p:spPr>
        <p:txBody>
          <a:bodyPr>
            <a:noAutofit/>
          </a:bodyPr>
          <a:lstStyle/>
          <a:p>
            <a:r>
              <a:rPr lang="es-MX" sz="3200" dirty="0">
                <a:solidFill>
                  <a:srgbClr val="00F3B5"/>
                </a:solidFill>
                <a:latin typeface="Prompt" panose="00000800000000000000" pitchFamily="2" charset="-34"/>
                <a:cs typeface="Prompt" panose="00000800000000000000" pitchFamily="2" charset="-34"/>
              </a:rPr>
              <a:t>Proyecto </a:t>
            </a:r>
            <a:r>
              <a:rPr lang="es-MX" sz="3200" dirty="0" err="1">
                <a:solidFill>
                  <a:srgbClr val="00F3B5"/>
                </a:solidFill>
                <a:latin typeface="Prompt" panose="00000800000000000000" pitchFamily="2" charset="-34"/>
                <a:cs typeface="Prompt" panose="00000800000000000000" pitchFamily="2" charset="-34"/>
              </a:rPr>
              <a:t>Inmobiliariao</a:t>
            </a:r>
            <a:endParaRPr lang="es-MX" sz="3200" dirty="0">
              <a:solidFill>
                <a:srgbClr val="00F3B5"/>
              </a:solidFill>
              <a:latin typeface="Prompt" panose="00000800000000000000" pitchFamily="2" charset="-34"/>
              <a:cs typeface="Prompt" panose="00000800000000000000" pitchFamily="2" charset="-34"/>
            </a:endParaRPr>
          </a:p>
        </p:txBody>
      </p:sp>
      <p:sp>
        <p:nvSpPr>
          <p:cNvPr id="5" name="CuadroTexto 4"/>
          <p:cNvSpPr txBox="1"/>
          <p:nvPr/>
        </p:nvSpPr>
        <p:spPr>
          <a:xfrm>
            <a:off x="1087718" y="3611490"/>
            <a:ext cx="6691357"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Módulo 15</a:t>
            </a:r>
            <a:endParaRPr lang="es-ES" dirty="0"/>
          </a:p>
        </p:txBody>
      </p:sp>
    </p:spTree>
    <p:extLst>
      <p:ext uri="{BB962C8B-B14F-4D97-AF65-F5344CB8AC3E}">
        <p14:creationId xmlns:p14="http://schemas.microsoft.com/office/powerpoint/2010/main" val="1071336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2A92BB-7C7B-25EB-3550-29BE5AB90BAB}"/>
              </a:ext>
            </a:extLst>
          </p:cNvPr>
          <p:cNvSpPr>
            <a:spLocks noGrp="1"/>
          </p:cNvSpPr>
          <p:nvPr>
            <p:ph type="title"/>
          </p:nvPr>
        </p:nvSpPr>
        <p:spPr>
          <a:xfrm>
            <a:off x="539078" y="743068"/>
            <a:ext cx="8490391" cy="844550"/>
          </a:xfrm>
        </p:spPr>
        <p:txBody>
          <a:bodyPr>
            <a:noAutofit/>
          </a:bodyPr>
          <a:lstStyle/>
          <a:p>
            <a:r>
              <a:rPr lang="es-MX" sz="3200" dirty="0">
                <a:solidFill>
                  <a:srgbClr val="00F3B5"/>
                </a:solidFill>
                <a:latin typeface="Prompt" panose="00000800000000000000" pitchFamily="2" charset="-34"/>
                <a:cs typeface="Prompt" panose="00000800000000000000" pitchFamily="2" charset="-34"/>
              </a:rPr>
              <a:t>Desarrollo del Proyecto y Costos de obra</a:t>
            </a:r>
          </a:p>
        </p:txBody>
      </p:sp>
      <p:sp>
        <p:nvSpPr>
          <p:cNvPr id="6" name="CuadroTexto 5">
            <a:extLst>
              <a:ext uri="{FF2B5EF4-FFF2-40B4-BE49-F238E27FC236}">
                <a16:creationId xmlns:a16="http://schemas.microsoft.com/office/drawing/2014/main" id="{9E5AD84F-BCE0-07C4-30F0-BBDB2F79FD60}"/>
              </a:ext>
            </a:extLst>
          </p:cNvPr>
          <p:cNvSpPr txBox="1"/>
          <p:nvPr/>
        </p:nvSpPr>
        <p:spPr>
          <a:xfrm>
            <a:off x="539078" y="1964353"/>
            <a:ext cx="10999313" cy="4893647"/>
          </a:xfrm>
          <a:prstGeom prst="rect">
            <a:avLst/>
          </a:prstGeom>
          <a:noFill/>
        </p:spPr>
        <p:txBody>
          <a:bodyPr wrap="square">
            <a:spAutoFit/>
          </a:bodyPr>
          <a:lstStyle/>
          <a:p>
            <a:r>
              <a:rPr lang="es-PE" sz="2400" b="1" u="sng" dirty="0"/>
              <a:t>Planificación precisa del presupuesto: </a:t>
            </a:r>
            <a:r>
              <a:rPr lang="es-PE" sz="2400" dirty="0"/>
              <a:t>El desarrollo de un proyecto inmobiliario está estrechamente vinculado a la planificación precisa de los costos de obra. Una estimación detallada que incluya materiales, mano de obra, permisos, y otros gastos asociados es esencial para evitar desviaciones presupuestarias y asegurar la viabilidad financiera del proyecto.</a:t>
            </a:r>
          </a:p>
          <a:p>
            <a:endParaRPr lang="es-PE" sz="2400" dirty="0"/>
          </a:p>
          <a:p>
            <a:r>
              <a:rPr lang="es-PE" sz="2400" b="1" u="sng" dirty="0"/>
              <a:t>Impacto de la ubicación y regulaciones locales: </a:t>
            </a:r>
            <a:r>
              <a:rPr lang="es-PE" sz="2400" dirty="0"/>
              <a:t>Los costos de obra pueden variar significativamente según la ubicación del proyecto y las regulaciones locales. Factores como la disponibilidad de mano de obra, precios de materiales regionales y requisitos normativos específicos pueden influir en los costos totales. La comprensión de estos factores es crucial para desarrolladores inmobiliarios que buscan maximizar la rentabilidad y minimizar riesgos financieros.</a:t>
            </a:r>
          </a:p>
          <a:p>
            <a:endParaRPr lang="es-PE" sz="2400" dirty="0"/>
          </a:p>
        </p:txBody>
      </p:sp>
    </p:spTree>
    <p:extLst>
      <p:ext uri="{BB962C8B-B14F-4D97-AF65-F5344CB8AC3E}">
        <p14:creationId xmlns:p14="http://schemas.microsoft.com/office/powerpoint/2010/main" val="1785032087"/>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2A92BB-7C7B-25EB-3550-29BE5AB90BAB}"/>
              </a:ext>
            </a:extLst>
          </p:cNvPr>
          <p:cNvSpPr>
            <a:spLocks noGrp="1"/>
          </p:cNvSpPr>
          <p:nvPr>
            <p:ph type="title"/>
          </p:nvPr>
        </p:nvSpPr>
        <p:spPr>
          <a:xfrm>
            <a:off x="539078" y="743068"/>
            <a:ext cx="8490391" cy="844550"/>
          </a:xfrm>
        </p:spPr>
        <p:txBody>
          <a:bodyPr>
            <a:noAutofit/>
          </a:bodyPr>
          <a:lstStyle/>
          <a:p>
            <a:r>
              <a:rPr lang="es-MX" sz="3200" dirty="0">
                <a:solidFill>
                  <a:srgbClr val="00F3B5"/>
                </a:solidFill>
                <a:latin typeface="Prompt" panose="00000800000000000000" pitchFamily="2" charset="-34"/>
                <a:cs typeface="Prompt" panose="00000800000000000000" pitchFamily="2" charset="-34"/>
              </a:rPr>
              <a:t>Desarrollo del Proyecto y Costos de obra</a:t>
            </a:r>
          </a:p>
        </p:txBody>
      </p:sp>
      <p:sp>
        <p:nvSpPr>
          <p:cNvPr id="6" name="CuadroTexto 5">
            <a:extLst>
              <a:ext uri="{FF2B5EF4-FFF2-40B4-BE49-F238E27FC236}">
                <a16:creationId xmlns:a16="http://schemas.microsoft.com/office/drawing/2014/main" id="{9E5AD84F-BCE0-07C4-30F0-BBDB2F79FD60}"/>
              </a:ext>
            </a:extLst>
          </p:cNvPr>
          <p:cNvSpPr txBox="1"/>
          <p:nvPr/>
        </p:nvSpPr>
        <p:spPr>
          <a:xfrm>
            <a:off x="596343" y="1473256"/>
            <a:ext cx="10999313" cy="4893647"/>
          </a:xfrm>
          <a:prstGeom prst="rect">
            <a:avLst/>
          </a:prstGeom>
          <a:noFill/>
        </p:spPr>
        <p:txBody>
          <a:bodyPr wrap="square">
            <a:spAutoFit/>
          </a:bodyPr>
          <a:lstStyle/>
          <a:p>
            <a:pPr algn="just"/>
            <a:endParaRPr lang="es-PE" sz="2400" dirty="0"/>
          </a:p>
          <a:p>
            <a:pPr algn="just"/>
            <a:r>
              <a:rPr lang="es-PE" sz="2400" b="1" u="sng" dirty="0"/>
              <a:t>Tecnología y eficiencia en la construcción: </a:t>
            </a:r>
            <a:r>
              <a:rPr lang="es-PE" sz="2400" dirty="0"/>
              <a:t>La adopción de tecnologías innovadoras y prácticas eficientes en la construcción puede impactar directamente en los costos de obra de un proyecto inmobiliario. La inversión en métodos constructivos modernos y sostenibles puede inicialmente aumentar los costos, pero a largo plazo puede resultar en ahorros significativos en energía, mantenimiento y otros gastos operativos.</a:t>
            </a:r>
          </a:p>
          <a:p>
            <a:pPr algn="just"/>
            <a:endParaRPr lang="es-PE" sz="2400" dirty="0"/>
          </a:p>
          <a:p>
            <a:pPr algn="just"/>
            <a:r>
              <a:rPr lang="es-PE" sz="2400" b="1" u="sng" dirty="0"/>
              <a:t>Gestión efectiva de riesgos y cambios: </a:t>
            </a:r>
            <a:r>
              <a:rPr lang="es-PE" sz="2400" dirty="0"/>
              <a:t>Los proyectos inmobiliarios están sujetos a posibles cambios en el diseño, condiciones del mercado y factores imprevistos. Una gestión efectiva de riesgos y cambios durante la ejecución del proyecto es esencial para evitar aumentos no planificados en los costos de obra. La capacidad de adaptarse a cambios mientras se mantiene el control sobre los costos contribuye a la salud financiera y el éxito general del proyecto inmobiliario.</a:t>
            </a:r>
          </a:p>
        </p:txBody>
      </p:sp>
    </p:spTree>
    <p:extLst>
      <p:ext uri="{BB962C8B-B14F-4D97-AF65-F5344CB8AC3E}">
        <p14:creationId xmlns:p14="http://schemas.microsoft.com/office/powerpoint/2010/main" val="1982681671"/>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2A92BB-7C7B-25EB-3550-29BE5AB90BAB}"/>
              </a:ext>
            </a:extLst>
          </p:cNvPr>
          <p:cNvSpPr>
            <a:spLocks noGrp="1"/>
          </p:cNvSpPr>
          <p:nvPr>
            <p:ph type="title"/>
          </p:nvPr>
        </p:nvSpPr>
        <p:spPr>
          <a:xfrm>
            <a:off x="539078" y="743068"/>
            <a:ext cx="8490391" cy="844550"/>
          </a:xfrm>
        </p:spPr>
        <p:txBody>
          <a:bodyPr>
            <a:noAutofit/>
          </a:bodyPr>
          <a:lstStyle/>
          <a:p>
            <a:r>
              <a:rPr lang="es-MX" sz="3200" dirty="0">
                <a:solidFill>
                  <a:srgbClr val="00F3B5"/>
                </a:solidFill>
                <a:latin typeface="Prompt" panose="00000800000000000000" pitchFamily="2" charset="-34"/>
                <a:cs typeface="Prompt" panose="00000800000000000000" pitchFamily="2" charset="-34"/>
              </a:rPr>
              <a:t>Marketing, ventas y postventa</a:t>
            </a:r>
          </a:p>
        </p:txBody>
      </p:sp>
      <p:sp>
        <p:nvSpPr>
          <p:cNvPr id="4" name="CuadroTexto 3">
            <a:extLst>
              <a:ext uri="{FF2B5EF4-FFF2-40B4-BE49-F238E27FC236}">
                <a16:creationId xmlns:a16="http://schemas.microsoft.com/office/drawing/2014/main" id="{7E44E690-A90C-BEF2-ABC4-2F4C3562BDCC}"/>
              </a:ext>
            </a:extLst>
          </p:cNvPr>
          <p:cNvSpPr txBox="1"/>
          <p:nvPr/>
        </p:nvSpPr>
        <p:spPr>
          <a:xfrm>
            <a:off x="596343" y="2136338"/>
            <a:ext cx="10999313" cy="4154984"/>
          </a:xfrm>
          <a:prstGeom prst="rect">
            <a:avLst/>
          </a:prstGeom>
          <a:noFill/>
        </p:spPr>
        <p:txBody>
          <a:bodyPr wrap="square">
            <a:spAutoFit/>
          </a:bodyPr>
          <a:lstStyle/>
          <a:p>
            <a:pPr algn="just"/>
            <a:r>
              <a:rPr lang="es-PE" sz="2400" b="1" u="sng" dirty="0"/>
              <a:t>Satisfacción del cliente y reputación de la marca: </a:t>
            </a:r>
            <a:r>
              <a:rPr lang="es-PE" sz="2400" dirty="0"/>
              <a:t>Una gestión eficiente de ventas y postventa en proyectos inmobiliarios asegura la satisfacción del cliente. Brindar un servicio de calidad durante la venta y resolver rápidamente cualquier problema postventa contribuye a construir una sólida reputación de la marca, generando confianza y fomentando recomendaciones positivas.</a:t>
            </a:r>
          </a:p>
          <a:p>
            <a:pPr algn="just"/>
            <a:endParaRPr lang="es-PE" sz="2400" dirty="0"/>
          </a:p>
          <a:p>
            <a:pPr algn="just"/>
            <a:r>
              <a:rPr lang="es-PE" sz="2400" b="1" u="sng" dirty="0"/>
              <a:t>Fidelización del cliente: </a:t>
            </a:r>
            <a:r>
              <a:rPr lang="es-PE" sz="2400" dirty="0"/>
              <a:t>La atención continua al cliente después de la venta es crucial para fomentar la fidelización. Una buena gestión postventa, que incluya seguimiento, asesoramiento y resolución oportuna de problemas, puede convertir a los clientes satisfechos en defensores de la marca, aumentando la probabilidad de futuras transacciones y referencias.</a:t>
            </a:r>
          </a:p>
        </p:txBody>
      </p:sp>
    </p:spTree>
    <p:extLst>
      <p:ext uri="{BB962C8B-B14F-4D97-AF65-F5344CB8AC3E}">
        <p14:creationId xmlns:p14="http://schemas.microsoft.com/office/powerpoint/2010/main" val="3289313701"/>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2A92BB-7C7B-25EB-3550-29BE5AB90BAB}"/>
              </a:ext>
            </a:extLst>
          </p:cNvPr>
          <p:cNvSpPr>
            <a:spLocks noGrp="1"/>
          </p:cNvSpPr>
          <p:nvPr>
            <p:ph type="title"/>
          </p:nvPr>
        </p:nvSpPr>
        <p:spPr>
          <a:xfrm>
            <a:off x="539078" y="743068"/>
            <a:ext cx="8490391" cy="844550"/>
          </a:xfrm>
        </p:spPr>
        <p:txBody>
          <a:bodyPr>
            <a:noAutofit/>
          </a:bodyPr>
          <a:lstStyle/>
          <a:p>
            <a:r>
              <a:rPr lang="es-MX" sz="3200" dirty="0">
                <a:solidFill>
                  <a:srgbClr val="00F3B5"/>
                </a:solidFill>
                <a:latin typeface="Prompt" panose="00000800000000000000" pitchFamily="2" charset="-34"/>
                <a:cs typeface="Prompt" panose="00000800000000000000" pitchFamily="2" charset="-34"/>
              </a:rPr>
              <a:t>Marketing, ventas y postventa</a:t>
            </a:r>
          </a:p>
        </p:txBody>
      </p:sp>
      <p:sp>
        <p:nvSpPr>
          <p:cNvPr id="4" name="CuadroTexto 3">
            <a:extLst>
              <a:ext uri="{FF2B5EF4-FFF2-40B4-BE49-F238E27FC236}">
                <a16:creationId xmlns:a16="http://schemas.microsoft.com/office/drawing/2014/main" id="{7E44E690-A90C-BEF2-ABC4-2F4C3562BDCC}"/>
              </a:ext>
            </a:extLst>
          </p:cNvPr>
          <p:cNvSpPr txBox="1"/>
          <p:nvPr/>
        </p:nvSpPr>
        <p:spPr>
          <a:xfrm>
            <a:off x="539078" y="1449378"/>
            <a:ext cx="10999313" cy="5016758"/>
          </a:xfrm>
          <a:prstGeom prst="rect">
            <a:avLst/>
          </a:prstGeom>
          <a:noFill/>
        </p:spPr>
        <p:txBody>
          <a:bodyPr wrap="square">
            <a:spAutoFit/>
          </a:bodyPr>
          <a:lstStyle/>
          <a:p>
            <a:pPr algn="just"/>
            <a:endParaRPr lang="es-PE" sz="2000" dirty="0"/>
          </a:p>
          <a:p>
            <a:pPr algn="just"/>
            <a:r>
              <a:rPr lang="es-PE" sz="2000" b="1" u="sng" dirty="0"/>
              <a:t>Valor agregado y diferenciación competitiva: </a:t>
            </a:r>
            <a:r>
              <a:rPr lang="es-PE" sz="2000" dirty="0"/>
              <a:t>Una sólida gestión de venta y postventa no solo implica cerrar la transacción, sino también agregar valor al cliente a lo largo de todo el proceso. Ofrecer servicios adicionales, asesoramiento personalizado y atención a detalles contribuye a diferenciar el proyecto inmobiliario en un mercado competitivo, creando una ventaja única.</a:t>
            </a:r>
          </a:p>
          <a:p>
            <a:pPr algn="just"/>
            <a:endParaRPr lang="es-PE" sz="2000" dirty="0"/>
          </a:p>
          <a:p>
            <a:pPr algn="just"/>
            <a:r>
              <a:rPr lang="es-PE" sz="2000" b="1" u="sng" dirty="0"/>
              <a:t>Reducción de conflictos legales: </a:t>
            </a:r>
            <a:r>
              <a:rPr lang="es-PE" sz="2000" dirty="0"/>
              <a:t>La gestión adecuada durante la venta y una sólida atención postventa pueden prevenir y resolver conflictos legales. La transparencia en la documentación, el cumplimiento de promesas y la rápida resolución de problemas contribuyen a evitar disputas legales, protegiendo la integridad del proyecto y la reputación de la empresa.</a:t>
            </a:r>
          </a:p>
          <a:p>
            <a:pPr algn="just"/>
            <a:endParaRPr lang="es-PE" sz="2000" dirty="0"/>
          </a:p>
          <a:p>
            <a:pPr algn="just"/>
            <a:r>
              <a:rPr lang="es-PE" sz="2000" b="1" u="sng" dirty="0"/>
              <a:t>Optimización de la rentabilidad a largo plazo: </a:t>
            </a:r>
            <a:r>
              <a:rPr lang="es-PE" sz="2000" dirty="0"/>
              <a:t>La retención de clientes y la generación de referencias positivas derivadas de una gestión de venta y postventa exitosa contribuyen a la optimización de la rentabilidad a largo plazo. Clientes satisfechos son más propensos a considerar futuras inversiones inmobiliarias con la misma empresa, asegurando un flujo constante de negocios y consolidando el éxito financiero del desarrollador inmobiliario.</a:t>
            </a:r>
          </a:p>
        </p:txBody>
      </p:sp>
    </p:spTree>
    <p:extLst>
      <p:ext uri="{BB962C8B-B14F-4D97-AF65-F5344CB8AC3E}">
        <p14:creationId xmlns:p14="http://schemas.microsoft.com/office/powerpoint/2010/main" val="2293415934"/>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2A92BB-7C7B-25EB-3550-29BE5AB90BAB}"/>
              </a:ext>
            </a:extLst>
          </p:cNvPr>
          <p:cNvSpPr>
            <a:spLocks noGrp="1"/>
          </p:cNvSpPr>
          <p:nvPr>
            <p:ph type="title"/>
          </p:nvPr>
        </p:nvSpPr>
        <p:spPr>
          <a:xfrm>
            <a:off x="539078" y="743068"/>
            <a:ext cx="8490391" cy="844550"/>
          </a:xfrm>
        </p:spPr>
        <p:txBody>
          <a:bodyPr>
            <a:noAutofit/>
          </a:bodyPr>
          <a:lstStyle/>
          <a:p>
            <a:r>
              <a:rPr lang="es-MX" sz="3200" dirty="0">
                <a:solidFill>
                  <a:srgbClr val="00F3B5"/>
                </a:solidFill>
                <a:latin typeface="Prompt" panose="00000800000000000000" pitchFamily="2" charset="-34"/>
                <a:cs typeface="Prompt" panose="00000800000000000000" pitchFamily="2" charset="-34"/>
              </a:rPr>
              <a:t>Trámites finales</a:t>
            </a:r>
          </a:p>
        </p:txBody>
      </p:sp>
      <p:sp>
        <p:nvSpPr>
          <p:cNvPr id="4" name="CuadroTexto 3">
            <a:extLst>
              <a:ext uri="{FF2B5EF4-FFF2-40B4-BE49-F238E27FC236}">
                <a16:creationId xmlns:a16="http://schemas.microsoft.com/office/drawing/2014/main" id="{B957469F-8133-B12D-505D-07EC42E39143}"/>
              </a:ext>
            </a:extLst>
          </p:cNvPr>
          <p:cNvSpPr txBox="1"/>
          <p:nvPr/>
        </p:nvSpPr>
        <p:spPr>
          <a:xfrm>
            <a:off x="539078" y="1693039"/>
            <a:ext cx="10999313" cy="4154984"/>
          </a:xfrm>
          <a:prstGeom prst="rect">
            <a:avLst/>
          </a:prstGeom>
          <a:noFill/>
        </p:spPr>
        <p:txBody>
          <a:bodyPr wrap="square">
            <a:spAutoFit/>
          </a:bodyPr>
          <a:lstStyle/>
          <a:p>
            <a:pPr algn="just"/>
            <a:r>
              <a:rPr lang="es-PE" sz="2400" b="1" u="sng" dirty="0"/>
              <a:t>Obtención de la Declaratoria de Fábrica: </a:t>
            </a:r>
            <a:r>
              <a:rPr lang="es-PE" sz="2400" dirty="0"/>
              <a:t>En Perú, uno de los trámites finales cruciales para cerrar proyectos inmobiliarios es la obtención de la Declaratoria de Fábrica. Este documento, emitido por la municipalidad correspondiente, certifica que la construcción se ha realizado de acuerdo con los planos aprobados y cumple con las normativas locales de construcción.</a:t>
            </a:r>
          </a:p>
          <a:p>
            <a:pPr algn="just"/>
            <a:endParaRPr lang="es-PE" sz="2400" dirty="0"/>
          </a:p>
          <a:p>
            <a:pPr algn="just"/>
            <a:r>
              <a:rPr lang="es-PE" sz="2400" b="1" u="sng" dirty="0"/>
              <a:t>Independización y Constitución de Reglamento Interno: </a:t>
            </a:r>
            <a:r>
              <a:rPr lang="es-PE" sz="2400" dirty="0"/>
              <a:t>Para proyectos que incluyen unidades independientes, la independización es esencial. Este trámite legaliza la existencia independiente de cada unidad inmobiliaria y establece las normas internas de convivencia a través de la Constitución del Reglamento Interno, proporcionando claridad en cuanto a derechos y responsabilidades de los propietarios.</a:t>
            </a:r>
          </a:p>
        </p:txBody>
      </p:sp>
    </p:spTree>
    <p:extLst>
      <p:ext uri="{BB962C8B-B14F-4D97-AF65-F5344CB8AC3E}">
        <p14:creationId xmlns:p14="http://schemas.microsoft.com/office/powerpoint/2010/main" val="398039089"/>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2A92BB-7C7B-25EB-3550-29BE5AB90BAB}"/>
              </a:ext>
            </a:extLst>
          </p:cNvPr>
          <p:cNvSpPr>
            <a:spLocks noGrp="1"/>
          </p:cNvSpPr>
          <p:nvPr>
            <p:ph type="title"/>
          </p:nvPr>
        </p:nvSpPr>
        <p:spPr>
          <a:xfrm>
            <a:off x="539078" y="743068"/>
            <a:ext cx="8490391" cy="844550"/>
          </a:xfrm>
        </p:spPr>
        <p:txBody>
          <a:bodyPr>
            <a:noAutofit/>
          </a:bodyPr>
          <a:lstStyle/>
          <a:p>
            <a:r>
              <a:rPr lang="es-MX" sz="3200" dirty="0">
                <a:solidFill>
                  <a:srgbClr val="00F3B5"/>
                </a:solidFill>
                <a:latin typeface="Prompt" panose="00000800000000000000" pitchFamily="2" charset="-34"/>
                <a:cs typeface="Prompt" panose="00000800000000000000" pitchFamily="2" charset="-34"/>
              </a:rPr>
              <a:t>Trámites finales</a:t>
            </a:r>
          </a:p>
        </p:txBody>
      </p:sp>
      <p:sp>
        <p:nvSpPr>
          <p:cNvPr id="4" name="CuadroTexto 3">
            <a:extLst>
              <a:ext uri="{FF2B5EF4-FFF2-40B4-BE49-F238E27FC236}">
                <a16:creationId xmlns:a16="http://schemas.microsoft.com/office/drawing/2014/main" id="{B957469F-8133-B12D-505D-07EC42E39143}"/>
              </a:ext>
            </a:extLst>
          </p:cNvPr>
          <p:cNvSpPr txBox="1"/>
          <p:nvPr/>
        </p:nvSpPr>
        <p:spPr>
          <a:xfrm>
            <a:off x="539078" y="1587618"/>
            <a:ext cx="10999313" cy="4893647"/>
          </a:xfrm>
          <a:prstGeom prst="rect">
            <a:avLst/>
          </a:prstGeom>
          <a:noFill/>
        </p:spPr>
        <p:txBody>
          <a:bodyPr wrap="square">
            <a:spAutoFit/>
          </a:bodyPr>
          <a:lstStyle/>
          <a:p>
            <a:pPr algn="just"/>
            <a:endParaRPr lang="es-PE" sz="2400" dirty="0"/>
          </a:p>
          <a:p>
            <a:pPr algn="just"/>
            <a:r>
              <a:rPr lang="es-PE" sz="2400" b="1" u="sng" dirty="0"/>
              <a:t>Inscripción en el Registro de Predios: </a:t>
            </a:r>
            <a:r>
              <a:rPr lang="es-PE" sz="2400" dirty="0"/>
              <a:t>La inscripción en el Registro de Predios es un paso fundamental para garantizar la legalidad y titularidad de las propiedades. Este trámite, realizado ante la Superintendencia Nacional de los Registros Públicos (SUNARP), establece oficialmente la propiedad de las unidades inmobiliarias, brindando seguridad jurídica a los propietarios y facilitando futuras transacciones.</a:t>
            </a:r>
          </a:p>
          <a:p>
            <a:pPr algn="just"/>
            <a:endParaRPr lang="es-PE" sz="2400" dirty="0"/>
          </a:p>
          <a:p>
            <a:pPr algn="just"/>
            <a:r>
              <a:rPr lang="es-PE" sz="2400" b="1" u="sng" dirty="0"/>
              <a:t>Entrega de Acta de Entrega-Recepción:</a:t>
            </a:r>
            <a:r>
              <a:rPr lang="es-PE" sz="2400" dirty="0"/>
              <a:t> La entrega de un Acta de Entrega-Recepción formaliza la culminación del proyecto inmobiliario. Este documento detalla el estado final de la construcción, asegurando que se cumplan todos los compromisos contractuales, y facilita la transición de responsabilidades entre el desarrollador y los propietarios. La firma de este acta es un hito clave en el cierre del proyecto y marca el inicio de la gestión postventa.</a:t>
            </a:r>
          </a:p>
        </p:txBody>
      </p:sp>
    </p:spTree>
    <p:extLst>
      <p:ext uri="{BB962C8B-B14F-4D97-AF65-F5344CB8AC3E}">
        <p14:creationId xmlns:p14="http://schemas.microsoft.com/office/powerpoint/2010/main" val="4055980307"/>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8007</TotalTime>
  <Words>857</Words>
  <Application>Microsoft Office PowerPoint</Application>
  <PresentationFormat>Panorámica</PresentationFormat>
  <Paragraphs>33</Paragraphs>
  <Slides>10</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10</vt:i4>
      </vt:variant>
    </vt:vector>
  </HeadingPairs>
  <TitlesOfParts>
    <vt:vector size="17" baseType="lpstr">
      <vt:lpstr>Arial</vt:lpstr>
      <vt:lpstr>Calibri</vt:lpstr>
      <vt:lpstr>Calibri Light</vt:lpstr>
      <vt:lpstr>Prompt</vt:lpstr>
      <vt:lpstr>Zizou Slab Bold</vt:lpstr>
      <vt:lpstr>Zizou Slab Regular</vt:lpstr>
      <vt:lpstr>Tema de Office</vt:lpstr>
      <vt:lpstr>Presentación de PowerPoint</vt:lpstr>
      <vt:lpstr>Presentación de PowerPoint</vt:lpstr>
      <vt:lpstr>Proyecto Inmobiliariao</vt:lpstr>
      <vt:lpstr>Desarrollo del Proyecto y Costos de obra</vt:lpstr>
      <vt:lpstr>Desarrollo del Proyecto y Costos de obra</vt:lpstr>
      <vt:lpstr>Marketing, ventas y postventa</vt:lpstr>
      <vt:lpstr>Marketing, ventas y postventa</vt:lpstr>
      <vt:lpstr>Trámites finales</vt:lpstr>
      <vt:lpstr>Trámites finales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spesac pedro prieto</cp:lastModifiedBy>
  <cp:revision>26</cp:revision>
  <dcterms:created xsi:type="dcterms:W3CDTF">2022-04-19T18:02:09Z</dcterms:created>
  <dcterms:modified xsi:type="dcterms:W3CDTF">2024-01-23T03:00:46Z</dcterms:modified>
</cp:coreProperties>
</file>