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2" r:id="rId3"/>
    <p:sldId id="263" r:id="rId4"/>
    <p:sldId id="257" r:id="rId5"/>
    <p:sldId id="270" r:id="rId6"/>
    <p:sldId id="301" r:id="rId7"/>
    <p:sldId id="302" r:id="rId8"/>
    <p:sldId id="268" r:id="rId9"/>
    <p:sldId id="271" r:id="rId10"/>
    <p:sldId id="269" r:id="rId11"/>
    <p:sldId id="272" r:id="rId12"/>
    <p:sldId id="303" r:id="rId13"/>
    <p:sldId id="299" r:id="rId14"/>
    <p:sldId id="294" r:id="rId15"/>
    <p:sldId id="260"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87191" autoAdjust="0"/>
  </p:normalViewPr>
  <p:slideViewPr>
    <p:cSldViewPr snapToGrid="0">
      <p:cViewPr varScale="1">
        <p:scale>
          <a:sx n="104" d="100"/>
          <a:sy n="104" d="100"/>
        </p:scale>
        <p:origin x="828" y="102"/>
      </p:cViewPr>
      <p:guideLst/>
    </p:cSldViewPr>
  </p:slideViewPr>
  <p:outlineViewPr>
    <p:cViewPr>
      <p:scale>
        <a:sx n="33" d="100"/>
        <a:sy n="33" d="100"/>
      </p:scale>
      <p:origin x="0" y="-15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B3638-5DA2-41E1-A32B-6A772F8F21E8}" type="datetimeFigureOut">
              <a:rPr lang="es-PE" smtClean="0"/>
              <a:t>18/11/2023</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4AF42-F54D-45D3-8F72-36401ED196A3}" type="slidenum">
              <a:rPr lang="es-PE" smtClean="0"/>
              <a:t>‹Nº›</a:t>
            </a:fld>
            <a:endParaRPr lang="es-PE"/>
          </a:p>
        </p:txBody>
      </p:sp>
    </p:spTree>
    <p:extLst>
      <p:ext uri="{BB962C8B-B14F-4D97-AF65-F5344CB8AC3E}">
        <p14:creationId xmlns:p14="http://schemas.microsoft.com/office/powerpoint/2010/main" val="226995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3E54AF42-F54D-45D3-8F72-36401ED196A3}" type="slidenum">
              <a:rPr lang="es-PE" smtClean="0"/>
              <a:t>6</a:t>
            </a:fld>
            <a:endParaRPr lang="es-PE"/>
          </a:p>
        </p:txBody>
      </p:sp>
    </p:spTree>
    <p:extLst>
      <p:ext uri="{BB962C8B-B14F-4D97-AF65-F5344CB8AC3E}">
        <p14:creationId xmlns:p14="http://schemas.microsoft.com/office/powerpoint/2010/main" val="920514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3E54AF42-F54D-45D3-8F72-36401ED196A3}" type="slidenum">
              <a:rPr lang="es-PE" smtClean="0"/>
              <a:t>7</a:t>
            </a:fld>
            <a:endParaRPr lang="es-PE"/>
          </a:p>
        </p:txBody>
      </p:sp>
    </p:spTree>
    <p:extLst>
      <p:ext uri="{BB962C8B-B14F-4D97-AF65-F5344CB8AC3E}">
        <p14:creationId xmlns:p14="http://schemas.microsoft.com/office/powerpoint/2010/main" val="2236936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3E54AF42-F54D-45D3-8F72-36401ED196A3}" type="slidenum">
              <a:rPr lang="es-PE" smtClean="0"/>
              <a:t>11</a:t>
            </a:fld>
            <a:endParaRPr lang="es-PE"/>
          </a:p>
        </p:txBody>
      </p:sp>
    </p:spTree>
    <p:extLst>
      <p:ext uri="{BB962C8B-B14F-4D97-AF65-F5344CB8AC3E}">
        <p14:creationId xmlns:p14="http://schemas.microsoft.com/office/powerpoint/2010/main" val="1891677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3E54AF42-F54D-45D3-8F72-36401ED196A3}" type="slidenum">
              <a:rPr lang="es-PE" smtClean="0"/>
              <a:t>12</a:t>
            </a:fld>
            <a:endParaRPr lang="es-PE"/>
          </a:p>
        </p:txBody>
      </p:sp>
    </p:spTree>
    <p:extLst>
      <p:ext uri="{BB962C8B-B14F-4D97-AF65-F5344CB8AC3E}">
        <p14:creationId xmlns:p14="http://schemas.microsoft.com/office/powerpoint/2010/main" val="390220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18/11/2023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18/11/2023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18/11/2023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18/11/2023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18/11/2023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18/11/2023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9995900" cy="2123658"/>
          </a:xfrm>
          <a:prstGeom prst="rect">
            <a:avLst/>
          </a:prstGeom>
        </p:spPr>
        <p:txBody>
          <a:bodyPr wrap="square">
            <a:spAutoFit/>
          </a:bodyPr>
          <a:lstStyle/>
          <a:p>
            <a:r>
              <a:rPr lang="es-ES" sz="6600" dirty="0">
                <a:solidFill>
                  <a:srgbClr val="00F3B5"/>
                </a:solidFill>
                <a:latin typeface="Prompt" panose="00000800000000000000" pitchFamily="2" charset="-34"/>
                <a:cs typeface="Prompt" panose="00000800000000000000" pitchFamily="2" charset="-34"/>
              </a:rPr>
              <a:t>Gestión de proyectos inmobiliarios</a:t>
            </a:r>
            <a:endParaRPr lang="es-ES" sz="6600" dirty="0">
              <a:solidFill>
                <a:schemeClr val="bg1"/>
              </a:solidFill>
              <a:latin typeface="Prompt" panose="00000800000000000000" pitchFamily="2" charset="-34"/>
              <a:cs typeface="Prompt" panose="00000800000000000000" pitchFamily="2" charset="-34"/>
            </a:endParaRP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8" y="2766940"/>
            <a:ext cx="7300907" cy="844550"/>
          </a:xfrm>
        </p:spPr>
        <p:txBody>
          <a:bodyPr>
            <a:normAutofit/>
          </a:bodyPr>
          <a:lstStyle/>
          <a:p>
            <a:r>
              <a:rPr lang="es-ES" dirty="0">
                <a:solidFill>
                  <a:srgbClr val="00F3B5"/>
                </a:solidFill>
                <a:latin typeface="Prompt" panose="00000800000000000000" pitchFamily="2" charset="-34"/>
                <a:cs typeface="Prompt" panose="00000800000000000000" pitchFamily="2" charset="-34"/>
              </a:rPr>
              <a:t>Legislación aplicada</a:t>
            </a:r>
          </a:p>
        </p:txBody>
      </p:sp>
      <p:sp>
        <p:nvSpPr>
          <p:cNvPr id="5" name="CuadroTexto 4"/>
          <p:cNvSpPr txBox="1"/>
          <p:nvPr/>
        </p:nvSpPr>
        <p:spPr>
          <a:xfrm>
            <a:off x="1087718" y="3717508"/>
            <a:ext cx="6691357"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Módulo 3</a:t>
            </a:r>
            <a:endParaRPr lang="es-ES" dirty="0"/>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788" y="365125"/>
            <a:ext cx="8794542" cy="1325563"/>
          </a:xfrm>
        </p:spPr>
        <p:txBody>
          <a:bodyPr>
            <a:normAutofit/>
          </a:bodyPr>
          <a:lstStyle/>
          <a:p>
            <a:r>
              <a:rPr lang="es-ES" sz="4400" dirty="0">
                <a:solidFill>
                  <a:srgbClr val="00F3B5"/>
                </a:solidFill>
                <a:latin typeface="Prompt" panose="00000800000000000000" pitchFamily="2" charset="-34"/>
                <a:cs typeface="Prompt" panose="00000800000000000000" pitchFamily="2" charset="-34"/>
              </a:rPr>
              <a:t>Temario</a:t>
            </a:r>
            <a:endParaRPr lang="es-ES" dirty="0"/>
          </a:p>
        </p:txBody>
      </p:sp>
      <p:sp>
        <p:nvSpPr>
          <p:cNvPr id="11" name="Marcador de texto 4">
            <a:extLst>
              <a:ext uri="{FF2B5EF4-FFF2-40B4-BE49-F238E27FC236}">
                <a16:creationId xmlns:a16="http://schemas.microsoft.com/office/drawing/2014/main" id="{352F2011-5FA8-494E-1FC9-0F50C31581AC}"/>
              </a:ext>
            </a:extLst>
          </p:cNvPr>
          <p:cNvSpPr txBox="1">
            <a:spLocks/>
          </p:cNvSpPr>
          <p:nvPr/>
        </p:nvSpPr>
        <p:spPr>
          <a:xfrm>
            <a:off x="938213" y="1514908"/>
            <a:ext cx="7069714"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ES" sz="1800" kern="0" dirty="0">
                <a:solidFill>
                  <a:srgbClr val="374151"/>
                </a:solidFill>
                <a:effectLst/>
                <a:latin typeface="Segoe UI" panose="020B0502040204020203" pitchFamily="34" charset="0"/>
                <a:ea typeface="Times New Roman" panose="02020603050405020304" pitchFamily="18" charset="0"/>
              </a:rPr>
              <a:t>Módulo III: Aspectos Legales, Contractuales, Notariales y Registrales</a:t>
            </a:r>
            <a:endParaRPr lang="es-ES" dirty="0"/>
          </a:p>
        </p:txBody>
      </p:sp>
      <p:graphicFrame>
        <p:nvGraphicFramePr>
          <p:cNvPr id="12" name="Tabla 11">
            <a:extLst>
              <a:ext uri="{FF2B5EF4-FFF2-40B4-BE49-F238E27FC236}">
                <a16:creationId xmlns:a16="http://schemas.microsoft.com/office/drawing/2014/main" id="{ADF99E8E-E3AD-938C-BD03-06DF4D128C47}"/>
              </a:ext>
            </a:extLst>
          </p:cNvPr>
          <p:cNvGraphicFramePr>
            <a:graphicFrameLocks noGrp="1"/>
          </p:cNvGraphicFramePr>
          <p:nvPr>
            <p:extLst>
              <p:ext uri="{D42A27DB-BD31-4B8C-83A1-F6EECF244321}">
                <p14:modId xmlns:p14="http://schemas.microsoft.com/office/powerpoint/2010/main" val="4051504322"/>
              </p:ext>
            </p:extLst>
          </p:nvPr>
        </p:nvGraphicFramePr>
        <p:xfrm>
          <a:off x="938213" y="2556415"/>
          <a:ext cx="7069714" cy="2597476"/>
        </p:xfrm>
        <a:graphic>
          <a:graphicData uri="http://schemas.openxmlformats.org/drawingml/2006/table">
            <a:tbl>
              <a:tblPr firstRow="1" firstCol="1" bandRow="1">
                <a:tableStyleId>{5C22544A-7EE6-4342-B048-85BDC9FD1C3A}</a:tableStyleId>
              </a:tblPr>
              <a:tblGrid>
                <a:gridCol w="7069714">
                  <a:extLst>
                    <a:ext uri="{9D8B030D-6E8A-4147-A177-3AD203B41FA5}">
                      <a16:colId xmlns:a16="http://schemas.microsoft.com/office/drawing/2014/main" val="3849463902"/>
                    </a:ext>
                  </a:extLst>
                </a:gridCol>
              </a:tblGrid>
              <a:tr h="649369">
                <a:tc>
                  <a:txBody>
                    <a:bodyPr/>
                    <a:lstStyle/>
                    <a:p>
                      <a:pPr indent="152400">
                        <a:lnSpc>
                          <a:spcPct val="107000"/>
                        </a:lnSpc>
                        <a:spcAft>
                          <a:spcPts val="800"/>
                        </a:spcAft>
                      </a:pPr>
                      <a:r>
                        <a:rPr lang="es-ES" sz="2400" kern="0" dirty="0">
                          <a:effectLst/>
                        </a:rPr>
                        <a:t>Conceptos generales del derecho inmobiliario.</a:t>
                      </a:r>
                      <a:endParaRPr lang="es-PE"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595271572"/>
                  </a:ext>
                </a:extLst>
              </a:tr>
              <a:tr h="649369">
                <a:tc>
                  <a:txBody>
                    <a:bodyPr/>
                    <a:lstStyle/>
                    <a:p>
                      <a:pPr indent="152400">
                        <a:lnSpc>
                          <a:spcPct val="107000"/>
                        </a:lnSpc>
                        <a:spcAft>
                          <a:spcPts val="800"/>
                        </a:spcAft>
                      </a:pPr>
                      <a:r>
                        <a:rPr lang="es-ES" sz="2400" kern="0" dirty="0">
                          <a:effectLst/>
                        </a:rPr>
                        <a:t>Contratos vinculados a negocios inmobiliarios.</a:t>
                      </a:r>
                      <a:endParaRPr lang="es-PE"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2228114566"/>
                  </a:ext>
                </a:extLst>
              </a:tr>
              <a:tr h="649369">
                <a:tc>
                  <a:txBody>
                    <a:bodyPr/>
                    <a:lstStyle/>
                    <a:p>
                      <a:pPr indent="152400">
                        <a:lnSpc>
                          <a:spcPct val="107000"/>
                        </a:lnSpc>
                        <a:spcAft>
                          <a:spcPts val="800"/>
                        </a:spcAft>
                      </a:pPr>
                      <a:r>
                        <a:rPr lang="es-ES" sz="2400" kern="0" dirty="0">
                          <a:effectLst/>
                        </a:rPr>
                        <a:t>Fideicomiso para inversiones inmobiliarias.</a:t>
                      </a:r>
                      <a:endParaRPr lang="es-PE"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235192308"/>
                  </a:ext>
                </a:extLst>
              </a:tr>
              <a:tr h="649369">
                <a:tc>
                  <a:txBody>
                    <a:bodyPr/>
                    <a:lstStyle/>
                    <a:p>
                      <a:pPr indent="152400">
                        <a:lnSpc>
                          <a:spcPct val="107000"/>
                        </a:lnSpc>
                        <a:spcAft>
                          <a:spcPts val="800"/>
                        </a:spcAft>
                      </a:pPr>
                      <a:r>
                        <a:rPr lang="es-ES" sz="2400" kern="0" dirty="0">
                          <a:effectLst/>
                        </a:rPr>
                        <a:t>Regulación notarial y registral.</a:t>
                      </a:r>
                      <a:endParaRPr lang="es-PE"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718720636"/>
                  </a:ext>
                </a:extLst>
              </a:tr>
            </a:tbl>
          </a:graphicData>
        </a:graphic>
      </p:graphicFrame>
    </p:spTree>
    <p:extLst>
      <p:ext uri="{BB962C8B-B14F-4D97-AF65-F5344CB8AC3E}">
        <p14:creationId xmlns:p14="http://schemas.microsoft.com/office/powerpoint/2010/main" val="3074702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normAutofit fontScale="90000"/>
          </a:bodyPr>
          <a:lstStyle/>
          <a:p>
            <a:r>
              <a:rPr lang="es-MX" dirty="0">
                <a:solidFill>
                  <a:srgbClr val="00F3B5"/>
                </a:solidFill>
                <a:latin typeface="Prompt" panose="00000800000000000000" pitchFamily="2" charset="-34"/>
                <a:cs typeface="Prompt" panose="00000800000000000000" pitchFamily="2" charset="-34"/>
              </a:rPr>
              <a:t>Conceptos generales del derecho inmobiliario</a:t>
            </a:r>
            <a:endParaRPr lang="es-ES" dirty="0">
              <a:solidFill>
                <a:srgbClr val="00F3B5"/>
              </a:solidFill>
              <a:latin typeface="Prompt" panose="00000800000000000000" pitchFamily="2" charset="-34"/>
              <a:cs typeface="Prompt" panose="00000800000000000000" pitchFamily="2" charset="-34"/>
            </a:endParaRPr>
          </a:p>
        </p:txBody>
      </p:sp>
    </p:spTree>
    <p:extLst>
      <p:ext uri="{BB962C8B-B14F-4D97-AF65-F5344CB8AC3E}">
        <p14:creationId xmlns:p14="http://schemas.microsoft.com/office/powerpoint/2010/main" val="3781268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F3272-4A46-1452-21BB-A74402C84541}"/>
              </a:ext>
            </a:extLst>
          </p:cNvPr>
          <p:cNvSpPr>
            <a:spLocks noGrp="1"/>
          </p:cNvSpPr>
          <p:nvPr>
            <p:ph type="title"/>
          </p:nvPr>
        </p:nvSpPr>
        <p:spPr>
          <a:xfrm>
            <a:off x="839788" y="365125"/>
            <a:ext cx="8585566" cy="1393337"/>
          </a:xfrm>
        </p:spPr>
        <p:txBody>
          <a:bodyPr/>
          <a:lstStyle/>
          <a:p>
            <a:r>
              <a:rPr lang="es-MX" dirty="0">
                <a:solidFill>
                  <a:srgbClr val="00F3B5"/>
                </a:solidFill>
                <a:latin typeface="Prompt" panose="00000800000000000000" pitchFamily="2" charset="-34"/>
                <a:cs typeface="Prompt" panose="00000800000000000000" pitchFamily="2" charset="-34"/>
              </a:rPr>
              <a:t>Conceptos generales del derecho inmobiliario</a:t>
            </a:r>
            <a:endParaRPr lang="es-PE" dirty="0"/>
          </a:p>
        </p:txBody>
      </p:sp>
      <p:sp>
        <p:nvSpPr>
          <p:cNvPr id="9" name="CuadroTexto 8">
            <a:extLst>
              <a:ext uri="{FF2B5EF4-FFF2-40B4-BE49-F238E27FC236}">
                <a16:creationId xmlns:a16="http://schemas.microsoft.com/office/drawing/2014/main" id="{C1A7E885-4353-34C2-8D1B-E75CBED435FC}"/>
              </a:ext>
            </a:extLst>
          </p:cNvPr>
          <p:cNvSpPr txBox="1"/>
          <p:nvPr/>
        </p:nvSpPr>
        <p:spPr>
          <a:xfrm>
            <a:off x="544947" y="2156117"/>
            <a:ext cx="4221739" cy="2031325"/>
          </a:xfrm>
          <a:prstGeom prst="rect">
            <a:avLst/>
          </a:prstGeom>
          <a:noFill/>
        </p:spPr>
        <p:txBody>
          <a:bodyPr wrap="square">
            <a:spAutoFit/>
          </a:bodyPr>
          <a:lstStyle/>
          <a:p>
            <a:pPr algn="just"/>
            <a:r>
              <a:rPr lang="es-MX" dirty="0"/>
              <a:t>En Perú, el derecho inmobiliario está regulado por diversas leyes y disposiciones legales que abarcan aspectos como la propiedad, contratos inmobiliarios, registro de la propiedad, entre otros. A continuación, algunas de las leyes más relevantes en este ámbito:</a:t>
            </a:r>
            <a:endParaRPr lang="es-PE" dirty="0"/>
          </a:p>
        </p:txBody>
      </p:sp>
      <p:sp>
        <p:nvSpPr>
          <p:cNvPr id="11" name="CuadroTexto 10">
            <a:extLst>
              <a:ext uri="{FF2B5EF4-FFF2-40B4-BE49-F238E27FC236}">
                <a16:creationId xmlns:a16="http://schemas.microsoft.com/office/drawing/2014/main" id="{A03A6E67-15B7-4CF8-5E82-B06157156525}"/>
              </a:ext>
            </a:extLst>
          </p:cNvPr>
          <p:cNvSpPr txBox="1"/>
          <p:nvPr/>
        </p:nvSpPr>
        <p:spPr>
          <a:xfrm>
            <a:off x="5132571" y="1810464"/>
            <a:ext cx="5865090" cy="5047536"/>
          </a:xfrm>
          <a:prstGeom prst="rect">
            <a:avLst/>
          </a:prstGeom>
          <a:noFill/>
        </p:spPr>
        <p:txBody>
          <a:bodyPr wrap="square">
            <a:spAutoFit/>
          </a:bodyPr>
          <a:lstStyle/>
          <a:p>
            <a:pPr algn="just"/>
            <a:r>
              <a:rPr lang="es-MX" sz="1400" b="1" dirty="0"/>
              <a:t>Ley N.º 27157 - Ley de Regularización de Edificaciones:</a:t>
            </a:r>
          </a:p>
          <a:p>
            <a:pPr algn="just"/>
            <a:r>
              <a:rPr lang="es-MX" sz="1400" dirty="0"/>
              <a:t>Esta ley regula la regularización de construcciones que no cuentan con la debida autorización municipal, estableciendo procedimientos para su legalización.</a:t>
            </a:r>
          </a:p>
          <a:p>
            <a:pPr algn="just"/>
            <a:endParaRPr lang="es-MX" sz="1400" dirty="0"/>
          </a:p>
          <a:p>
            <a:pPr algn="just"/>
            <a:r>
              <a:rPr lang="es-MX" sz="1400" b="1" dirty="0"/>
              <a:t>Ley N.º 27160 - Ley de Titulación de Predios Rústicos y Urbanos:</a:t>
            </a:r>
            <a:endParaRPr lang="es-MX" sz="1400" dirty="0"/>
          </a:p>
          <a:p>
            <a:pPr algn="just"/>
            <a:r>
              <a:rPr lang="es-MX" sz="1400" dirty="0"/>
              <a:t>Establece disposiciones sobre la titulación de predios, tanto rústicos como urbanos, con el objetivo de brindar seguridad jurídica a los propietarios.</a:t>
            </a:r>
          </a:p>
          <a:p>
            <a:pPr algn="just"/>
            <a:endParaRPr lang="es-MX" sz="1400" dirty="0"/>
          </a:p>
          <a:p>
            <a:pPr algn="just"/>
            <a:r>
              <a:rPr lang="es-MX" sz="1400" b="1" dirty="0"/>
              <a:t>Ley N.º 29090 - Ley de Desarrollo Urbano Sostenible:</a:t>
            </a:r>
          </a:p>
          <a:p>
            <a:pPr algn="just"/>
            <a:r>
              <a:rPr lang="es-MX" sz="1400" dirty="0"/>
              <a:t>Regula el desarrollo urbano sostenible, estableciendo normas para la planificación y ejecución de proyectos urbanos.</a:t>
            </a:r>
          </a:p>
          <a:p>
            <a:pPr algn="just"/>
            <a:endParaRPr lang="es-MX" sz="1400" dirty="0"/>
          </a:p>
          <a:p>
            <a:pPr algn="just"/>
            <a:r>
              <a:rPr lang="es-MX" sz="1400" b="1" dirty="0"/>
              <a:t>Decreto Legislativo N.º 776 - Ley de los Registros Públicos:</a:t>
            </a:r>
          </a:p>
          <a:p>
            <a:pPr algn="just"/>
            <a:r>
              <a:rPr lang="es-MX" sz="1400" dirty="0"/>
              <a:t>Este decreto legislativo regula el funcionamiento de los registros públicos, incluyendo el Registro de la Propiedad Inmueble.</a:t>
            </a:r>
          </a:p>
          <a:p>
            <a:pPr algn="just"/>
            <a:endParaRPr lang="es-MX" sz="1400" dirty="0"/>
          </a:p>
          <a:p>
            <a:pPr algn="just"/>
            <a:r>
              <a:rPr lang="es-MX" sz="1400" b="1" dirty="0"/>
              <a:t>Ley N.º 27153 - Ley del Sistema de Seguridad Jurídica de los Derechos de Propiedad:</a:t>
            </a:r>
          </a:p>
          <a:p>
            <a:pPr algn="just"/>
            <a:r>
              <a:rPr lang="es-MX" sz="1400" dirty="0"/>
              <a:t>Establece disposiciones para garantizar la seguridad jurídica de los derechos de propiedad, promoviendo la inscripción en el Registro de la Propiedad Inmueble.</a:t>
            </a:r>
          </a:p>
          <a:p>
            <a:pPr algn="just"/>
            <a:endParaRPr lang="es-MX" sz="1400" dirty="0"/>
          </a:p>
        </p:txBody>
      </p:sp>
    </p:spTree>
    <p:extLst>
      <p:ext uri="{BB962C8B-B14F-4D97-AF65-F5344CB8AC3E}">
        <p14:creationId xmlns:p14="http://schemas.microsoft.com/office/powerpoint/2010/main" val="3028221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F3272-4A46-1452-21BB-A74402C84541}"/>
              </a:ext>
            </a:extLst>
          </p:cNvPr>
          <p:cNvSpPr>
            <a:spLocks noGrp="1"/>
          </p:cNvSpPr>
          <p:nvPr>
            <p:ph type="title"/>
          </p:nvPr>
        </p:nvSpPr>
        <p:spPr>
          <a:xfrm>
            <a:off x="839788" y="365125"/>
            <a:ext cx="8585566" cy="1393337"/>
          </a:xfrm>
        </p:spPr>
        <p:txBody>
          <a:bodyPr/>
          <a:lstStyle/>
          <a:p>
            <a:r>
              <a:rPr lang="es-MX" dirty="0">
                <a:solidFill>
                  <a:srgbClr val="00F3B5"/>
                </a:solidFill>
                <a:latin typeface="Prompt" panose="00000800000000000000" pitchFamily="2" charset="-34"/>
                <a:cs typeface="Prompt" panose="00000800000000000000" pitchFamily="2" charset="-34"/>
              </a:rPr>
              <a:t>Conceptos generales del derecho inmobiliario</a:t>
            </a:r>
            <a:endParaRPr lang="es-PE" dirty="0"/>
          </a:p>
        </p:txBody>
      </p:sp>
      <p:sp>
        <p:nvSpPr>
          <p:cNvPr id="4" name="CuadroTexto 3">
            <a:extLst>
              <a:ext uri="{FF2B5EF4-FFF2-40B4-BE49-F238E27FC236}">
                <a16:creationId xmlns:a16="http://schemas.microsoft.com/office/drawing/2014/main" id="{92DF733A-2414-B152-796B-91A98BC8E12E}"/>
              </a:ext>
            </a:extLst>
          </p:cNvPr>
          <p:cNvSpPr txBox="1"/>
          <p:nvPr/>
        </p:nvSpPr>
        <p:spPr>
          <a:xfrm>
            <a:off x="839787" y="1758462"/>
            <a:ext cx="5071485" cy="4339650"/>
          </a:xfrm>
          <a:prstGeom prst="rect">
            <a:avLst/>
          </a:prstGeom>
          <a:noFill/>
        </p:spPr>
        <p:txBody>
          <a:bodyPr wrap="square">
            <a:spAutoFit/>
          </a:bodyPr>
          <a:lstStyle/>
          <a:p>
            <a:r>
              <a:rPr lang="es-MX" sz="1200" b="1" dirty="0"/>
              <a:t>Propiedad Inmobiliaria:</a:t>
            </a:r>
          </a:p>
          <a:p>
            <a:r>
              <a:rPr lang="es-MX" sz="1200" dirty="0"/>
              <a:t>Derecho real que otorga a una persona el dominio sobre un bien inmueble, brindándole el derecho exclusivo de uso, goce y disposición del mismo.</a:t>
            </a:r>
          </a:p>
          <a:p>
            <a:endParaRPr lang="es-MX" sz="1200" dirty="0"/>
          </a:p>
          <a:p>
            <a:r>
              <a:rPr lang="es-MX" sz="1200" b="1" dirty="0"/>
              <a:t>Derechos Reales sobre Bienes Inmuebles:</a:t>
            </a:r>
          </a:p>
          <a:p>
            <a:r>
              <a:rPr lang="es-MX" sz="1200" dirty="0"/>
              <a:t>Facultades reconocidas por la ley que permiten a una persona tener un interés directo sobre un bien inmueble, como la propiedad, la servidumbre o el usufructo.</a:t>
            </a:r>
          </a:p>
          <a:p>
            <a:endParaRPr lang="es-MX" sz="1200" dirty="0"/>
          </a:p>
          <a:p>
            <a:r>
              <a:rPr lang="es-MX" sz="1200" b="1" dirty="0"/>
              <a:t>Registro de la Propiedad Inmueble:</a:t>
            </a:r>
          </a:p>
          <a:p>
            <a:r>
              <a:rPr lang="es-MX" sz="1200" dirty="0"/>
              <a:t>Sistema público que consigna la información sobre la propiedad inmobiliaria, sus limitaciones y gravámenes, proporcionando seguridad jurídica a los titulares de derechos sobre bienes raíces.</a:t>
            </a:r>
          </a:p>
          <a:p>
            <a:endParaRPr lang="es-MX" sz="1200" dirty="0"/>
          </a:p>
          <a:p>
            <a:r>
              <a:rPr lang="es-MX" sz="1200" b="1" dirty="0"/>
              <a:t>Contrato de Compraventa Inmobiliaria:</a:t>
            </a:r>
          </a:p>
          <a:p>
            <a:r>
              <a:rPr lang="es-MX" sz="1200" dirty="0"/>
              <a:t>Acuerdo legal entre partes, donde una de ellas se obliga a transferir la propiedad de un bien inmueble a cambio de un precio determinado, y la otra a pagar dicho precio.</a:t>
            </a:r>
          </a:p>
          <a:p>
            <a:endParaRPr lang="es-MX" sz="1200" dirty="0"/>
          </a:p>
          <a:p>
            <a:r>
              <a:rPr lang="es-MX" sz="1200" b="1" dirty="0"/>
              <a:t>Hipoteca:</a:t>
            </a:r>
          </a:p>
          <a:p>
            <a:r>
              <a:rPr lang="es-MX" sz="1200" dirty="0"/>
              <a:t>Garantía real sobre un bien inmueble que se ofrece como seguridad para el cumplimiento de una obligación, generalmente un préstamo. En caso de incumplimiento, el acreedor puede ejecutar la hipoteca.</a:t>
            </a:r>
            <a:endParaRPr lang="es-PE" sz="1200" dirty="0"/>
          </a:p>
        </p:txBody>
      </p:sp>
      <p:sp>
        <p:nvSpPr>
          <p:cNvPr id="5" name="CuadroTexto 4">
            <a:extLst>
              <a:ext uri="{FF2B5EF4-FFF2-40B4-BE49-F238E27FC236}">
                <a16:creationId xmlns:a16="http://schemas.microsoft.com/office/drawing/2014/main" id="{74E193C7-15C4-988F-CB53-861C8D2C06C9}"/>
              </a:ext>
            </a:extLst>
          </p:cNvPr>
          <p:cNvSpPr txBox="1"/>
          <p:nvPr/>
        </p:nvSpPr>
        <p:spPr>
          <a:xfrm>
            <a:off x="5911272" y="1758462"/>
            <a:ext cx="5071485" cy="4339650"/>
          </a:xfrm>
          <a:prstGeom prst="rect">
            <a:avLst/>
          </a:prstGeom>
          <a:noFill/>
        </p:spPr>
        <p:txBody>
          <a:bodyPr wrap="square">
            <a:spAutoFit/>
          </a:bodyPr>
          <a:lstStyle/>
          <a:p>
            <a:r>
              <a:rPr lang="es-MX" sz="1200" b="1" dirty="0"/>
              <a:t>Posesión:</a:t>
            </a:r>
          </a:p>
          <a:p>
            <a:r>
              <a:rPr lang="es-MX" sz="1200" dirty="0"/>
              <a:t>Ejercicio efectivo de los poderes inherentes a la propiedad, que incluye el uso y goce del bien, pero no necesariamente implica la titularidad formal de la propiedad.</a:t>
            </a:r>
          </a:p>
          <a:p>
            <a:endParaRPr lang="es-MX" sz="1200" dirty="0"/>
          </a:p>
          <a:p>
            <a:r>
              <a:rPr lang="es-MX" sz="1200" b="1" dirty="0"/>
              <a:t>Usufructo:</a:t>
            </a:r>
          </a:p>
          <a:p>
            <a:r>
              <a:rPr lang="es-MX" sz="1200" dirty="0"/>
              <a:t>Derecho real que concede a una persona (usufructuario) el derecho de disfrutar y aprovechar los beneficios económicos de un bien inmueble, sin ser su propietario.</a:t>
            </a:r>
          </a:p>
          <a:p>
            <a:endParaRPr lang="es-MX" sz="1200" dirty="0"/>
          </a:p>
          <a:p>
            <a:r>
              <a:rPr lang="es-MX" sz="1200" b="1" dirty="0"/>
              <a:t>Desarrollo Inmobiliario:</a:t>
            </a:r>
          </a:p>
          <a:p>
            <a:r>
              <a:rPr lang="es-MX" sz="1200" dirty="0"/>
              <a:t>Proceso que involucra la planificación, construcción y comercialización de proyectos inmobiliarios, como conjuntos habitacionales, centros comerciales o complejos industriales.</a:t>
            </a:r>
          </a:p>
          <a:p>
            <a:endParaRPr lang="es-MX" sz="1200" dirty="0"/>
          </a:p>
          <a:p>
            <a:r>
              <a:rPr lang="es-MX" sz="1200" b="1" dirty="0"/>
              <a:t>Servidumbre:</a:t>
            </a:r>
          </a:p>
          <a:p>
            <a:r>
              <a:rPr lang="es-MX" sz="1200" dirty="0"/>
              <a:t>Derecho real que permite a su titular (dominante) realizar ciertos actos en un predio ajeno (sirviente), como el paso, la luz o la vista.</a:t>
            </a:r>
          </a:p>
          <a:p>
            <a:endParaRPr lang="es-MX" sz="1200" dirty="0"/>
          </a:p>
          <a:p>
            <a:r>
              <a:rPr lang="es-MX" sz="1200" b="1" dirty="0"/>
              <a:t>Prescripción Adquisitiva de Dominio:</a:t>
            </a:r>
          </a:p>
          <a:p>
            <a:r>
              <a:rPr lang="es-MX" sz="1200" dirty="0"/>
              <a:t>Mecanismo legal mediante el cual una persona puede adquirir la propiedad de un bien inmueble por haberlo poseído de manera ininterrumpida y pacífica durante un período de tiempo establecido por la ley.</a:t>
            </a:r>
            <a:endParaRPr lang="es-PE" sz="1200" dirty="0"/>
          </a:p>
        </p:txBody>
      </p:sp>
    </p:spTree>
    <p:extLst>
      <p:ext uri="{BB962C8B-B14F-4D97-AF65-F5344CB8AC3E}">
        <p14:creationId xmlns:p14="http://schemas.microsoft.com/office/powerpoint/2010/main" val="2913451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normAutofit fontScale="90000"/>
          </a:bodyPr>
          <a:lstStyle/>
          <a:p>
            <a:r>
              <a:rPr lang="es-ES" dirty="0">
                <a:solidFill>
                  <a:srgbClr val="00F3B5"/>
                </a:solidFill>
                <a:latin typeface="Prompt" panose="00000800000000000000" pitchFamily="2" charset="-34"/>
                <a:cs typeface="Prompt" panose="00000800000000000000" pitchFamily="2" charset="-34"/>
              </a:rPr>
              <a:t>Contratos vinculados a negocios inmobiliarios.</a:t>
            </a:r>
          </a:p>
        </p:txBody>
      </p:sp>
    </p:spTree>
    <p:extLst>
      <p:ext uri="{BB962C8B-B14F-4D97-AF65-F5344CB8AC3E}">
        <p14:creationId xmlns:p14="http://schemas.microsoft.com/office/powerpoint/2010/main" val="3012253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F3272-4A46-1452-21BB-A74402C84541}"/>
              </a:ext>
            </a:extLst>
          </p:cNvPr>
          <p:cNvSpPr>
            <a:spLocks noGrp="1"/>
          </p:cNvSpPr>
          <p:nvPr>
            <p:ph type="title"/>
          </p:nvPr>
        </p:nvSpPr>
        <p:spPr>
          <a:xfrm>
            <a:off x="839788" y="365125"/>
            <a:ext cx="8158438" cy="1384162"/>
          </a:xfrm>
        </p:spPr>
        <p:txBody>
          <a:bodyPr/>
          <a:lstStyle/>
          <a:p>
            <a:r>
              <a:rPr lang="es-ES" dirty="0">
                <a:solidFill>
                  <a:srgbClr val="00F3B5"/>
                </a:solidFill>
                <a:latin typeface="Prompt" panose="00000800000000000000" pitchFamily="2" charset="-34"/>
                <a:cs typeface="Prompt" panose="00000800000000000000" pitchFamily="2" charset="-34"/>
              </a:rPr>
              <a:t>Contratos vinculados a negocios inmobiliarios</a:t>
            </a:r>
            <a:endParaRPr lang="es-PE" dirty="0">
              <a:solidFill>
                <a:srgbClr val="00F3B5"/>
              </a:solidFill>
              <a:latin typeface="Prompt" panose="00000800000000000000" pitchFamily="2" charset="-34"/>
              <a:cs typeface="Prompt" panose="00000800000000000000" pitchFamily="2" charset="-34"/>
            </a:endParaRPr>
          </a:p>
        </p:txBody>
      </p:sp>
      <p:sp>
        <p:nvSpPr>
          <p:cNvPr id="9" name="CuadroTexto 8">
            <a:extLst>
              <a:ext uri="{FF2B5EF4-FFF2-40B4-BE49-F238E27FC236}">
                <a16:creationId xmlns:a16="http://schemas.microsoft.com/office/drawing/2014/main" id="{CEEAC342-A791-ACCF-CB1E-09D8A0D7831D}"/>
              </a:ext>
            </a:extLst>
          </p:cNvPr>
          <p:cNvSpPr txBox="1"/>
          <p:nvPr/>
        </p:nvSpPr>
        <p:spPr>
          <a:xfrm>
            <a:off x="516515" y="1749287"/>
            <a:ext cx="5514830" cy="4832092"/>
          </a:xfrm>
          <a:prstGeom prst="rect">
            <a:avLst/>
          </a:prstGeom>
          <a:noFill/>
        </p:spPr>
        <p:txBody>
          <a:bodyPr wrap="square">
            <a:spAutoFit/>
          </a:bodyPr>
          <a:lstStyle/>
          <a:p>
            <a:pPr algn="just"/>
            <a:r>
              <a:rPr lang="es-MX" sz="1400" dirty="0"/>
              <a:t>En el negocio inmobiliario en Perú, se utilizan diversos contratos que regulan las relaciones entre las partes involucradas, ya sea en la compra-venta, arrendamiento, construcción, entre otros aspectos. A continuación, detallo algunos de los contratos vinculados al negocio inmobiliario en Perú:</a:t>
            </a:r>
          </a:p>
          <a:p>
            <a:pPr algn="just"/>
            <a:endParaRPr lang="es-MX" sz="1400" dirty="0"/>
          </a:p>
          <a:p>
            <a:pPr algn="just"/>
            <a:r>
              <a:rPr lang="es-MX" sz="1400" b="1" dirty="0"/>
              <a:t>Contrato de Compraventa Inmobiliaria:</a:t>
            </a:r>
          </a:p>
          <a:p>
            <a:pPr algn="just"/>
            <a:r>
              <a:rPr lang="es-MX" sz="1400" dirty="0"/>
              <a:t>Este contrato regula la transferencia de la propiedad de un bien inmueble a cambio de un precio. Establece las condiciones de la transacción, los plazos de pago y las obligaciones de las partes.</a:t>
            </a:r>
          </a:p>
          <a:p>
            <a:pPr algn="just"/>
            <a:endParaRPr lang="es-MX" sz="1400" dirty="0"/>
          </a:p>
          <a:p>
            <a:pPr algn="just"/>
            <a:r>
              <a:rPr lang="es-MX" sz="1400" b="1" dirty="0"/>
              <a:t>Contrato de Arras o Señal:</a:t>
            </a:r>
          </a:p>
          <a:p>
            <a:pPr algn="just"/>
            <a:r>
              <a:rPr lang="es-MX" sz="1400" dirty="0"/>
              <a:t>Es un contrato accesorio al de compraventa, donde el comprador entrega una suma de dinero como señal para garantizar la celebración del contrato principal y asegurar el cumplimiento de las obligaciones.</a:t>
            </a:r>
          </a:p>
          <a:p>
            <a:pPr algn="just"/>
            <a:endParaRPr lang="es-MX" sz="1400" dirty="0"/>
          </a:p>
          <a:p>
            <a:pPr algn="just"/>
            <a:r>
              <a:rPr lang="es-MX" sz="1400" b="1" dirty="0"/>
              <a:t>Contrato de Arrendamiento (Alquiler):</a:t>
            </a:r>
          </a:p>
          <a:p>
            <a:pPr algn="just"/>
            <a:r>
              <a:rPr lang="es-MX" sz="1400" dirty="0"/>
              <a:t>Regula la cesión del uso y goce de un inmueble a cambio de un pago periódico. Establece derechos y obligaciones tanto para el arrendador como para el arrendatario.</a:t>
            </a:r>
          </a:p>
          <a:p>
            <a:endParaRPr lang="es-MX" sz="1400" dirty="0"/>
          </a:p>
          <a:p>
            <a:endParaRPr lang="es-MX" sz="1400" dirty="0"/>
          </a:p>
        </p:txBody>
      </p:sp>
      <p:sp>
        <p:nvSpPr>
          <p:cNvPr id="10" name="CuadroTexto 9">
            <a:extLst>
              <a:ext uri="{FF2B5EF4-FFF2-40B4-BE49-F238E27FC236}">
                <a16:creationId xmlns:a16="http://schemas.microsoft.com/office/drawing/2014/main" id="{4AD2430C-70E7-2A68-BFE7-516EB5277E89}"/>
              </a:ext>
            </a:extLst>
          </p:cNvPr>
          <p:cNvSpPr txBox="1"/>
          <p:nvPr/>
        </p:nvSpPr>
        <p:spPr>
          <a:xfrm>
            <a:off x="6160657" y="1749287"/>
            <a:ext cx="5514830" cy="4401205"/>
          </a:xfrm>
          <a:prstGeom prst="rect">
            <a:avLst/>
          </a:prstGeom>
          <a:noFill/>
        </p:spPr>
        <p:txBody>
          <a:bodyPr wrap="square">
            <a:spAutoFit/>
          </a:bodyPr>
          <a:lstStyle/>
          <a:p>
            <a:endParaRPr lang="es-MX" sz="1400" dirty="0"/>
          </a:p>
          <a:p>
            <a:pPr algn="just"/>
            <a:r>
              <a:rPr lang="es-MX" sz="1400" b="1" dirty="0"/>
              <a:t>Contrato de Construcción:</a:t>
            </a:r>
          </a:p>
          <a:p>
            <a:pPr algn="just"/>
            <a:r>
              <a:rPr lang="es-MX" sz="1400" dirty="0"/>
              <a:t>Este contrato se celebra entre el propietario de un terreno y una empresa constructora. Regula la ejecución de obras, plazos, presupuestos y otras condiciones relacionadas con la construcción de inmuebles.</a:t>
            </a:r>
          </a:p>
          <a:p>
            <a:pPr algn="just"/>
            <a:endParaRPr lang="es-MX" sz="1400" dirty="0"/>
          </a:p>
          <a:p>
            <a:pPr algn="just"/>
            <a:r>
              <a:rPr lang="es-MX" sz="1400" b="1" dirty="0"/>
              <a:t>Contrato de Promesa de Compraventa:</a:t>
            </a:r>
          </a:p>
          <a:p>
            <a:pPr algn="just"/>
            <a:r>
              <a:rPr lang="es-MX" sz="1400" dirty="0"/>
              <a:t>Es un compromiso unilateral o bilateral de vender o comprar un bien inmueble en el futuro, estableciendo las condiciones bajo las cuales se realizará la transacción definitiva.</a:t>
            </a:r>
          </a:p>
          <a:p>
            <a:pPr algn="just"/>
            <a:endParaRPr lang="es-MX" sz="1400" dirty="0"/>
          </a:p>
          <a:p>
            <a:pPr algn="just"/>
            <a:r>
              <a:rPr lang="es-MX" sz="1400" b="1" dirty="0"/>
              <a:t>Contrato de Hipoteca:</a:t>
            </a:r>
          </a:p>
          <a:p>
            <a:pPr algn="just"/>
            <a:r>
              <a:rPr lang="es-MX" sz="1400" dirty="0"/>
              <a:t>Establece una garantía real sobre un bien inmueble para asegurar el cumplimiento de una obligación financiera, generalmente un préstamo hipotecario.</a:t>
            </a:r>
          </a:p>
          <a:p>
            <a:pPr algn="just"/>
            <a:endParaRPr lang="es-MX" sz="1400" dirty="0"/>
          </a:p>
          <a:p>
            <a:pPr algn="just"/>
            <a:r>
              <a:rPr lang="es-MX" sz="1400" b="1" dirty="0"/>
              <a:t>Contrato de Cesión de Derechos:</a:t>
            </a:r>
          </a:p>
          <a:p>
            <a:pPr algn="just"/>
            <a:r>
              <a:rPr lang="es-MX" sz="1400" dirty="0"/>
              <a:t>Permite transferir los derechos que una parte tiene sobre un bien inmueble a otra, sin que necesariamente implique la transferencia de la propiedad.</a:t>
            </a:r>
          </a:p>
        </p:txBody>
      </p:sp>
    </p:spTree>
    <p:extLst>
      <p:ext uri="{BB962C8B-B14F-4D97-AF65-F5344CB8AC3E}">
        <p14:creationId xmlns:p14="http://schemas.microsoft.com/office/powerpoint/2010/main" val="154579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790899" cy="1429045"/>
          </a:xfrm>
        </p:spPr>
        <p:txBody>
          <a:bodyPr>
            <a:normAutofit fontScale="90000"/>
          </a:bodyPr>
          <a:lstStyle/>
          <a:p>
            <a:r>
              <a:rPr lang="es-ES" dirty="0">
                <a:solidFill>
                  <a:srgbClr val="00F3B5"/>
                </a:solidFill>
                <a:latin typeface="Prompt" panose="00000800000000000000" pitchFamily="2" charset="-34"/>
                <a:cs typeface="Prompt" panose="00000800000000000000" pitchFamily="2" charset="-34"/>
              </a:rPr>
              <a:t>Fideicomiso para inversiones inmobiliarias.</a:t>
            </a:r>
          </a:p>
        </p:txBody>
      </p:sp>
    </p:spTree>
    <p:extLst>
      <p:ext uri="{BB962C8B-B14F-4D97-AF65-F5344CB8AC3E}">
        <p14:creationId xmlns:p14="http://schemas.microsoft.com/office/powerpoint/2010/main" val="110157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23326B08-DA6B-E18B-60E8-1222D5121078}"/>
              </a:ext>
            </a:extLst>
          </p:cNvPr>
          <p:cNvSpPr>
            <a:spLocks noGrp="1"/>
          </p:cNvSpPr>
          <p:nvPr>
            <p:ph type="title"/>
          </p:nvPr>
        </p:nvSpPr>
        <p:spPr>
          <a:xfrm>
            <a:off x="470775" y="354246"/>
            <a:ext cx="8794411" cy="1429045"/>
          </a:xfrm>
        </p:spPr>
        <p:txBody>
          <a:bodyPr>
            <a:normAutofit/>
          </a:bodyPr>
          <a:lstStyle/>
          <a:p>
            <a:r>
              <a:rPr lang="es-ES" sz="4000" dirty="0">
                <a:solidFill>
                  <a:srgbClr val="00F3B5"/>
                </a:solidFill>
                <a:latin typeface="Prompt" panose="00000800000000000000" pitchFamily="2" charset="-34"/>
                <a:cs typeface="Prompt" panose="00000800000000000000" pitchFamily="2" charset="-34"/>
              </a:rPr>
              <a:t>Fideicomiso para inversiones inmobiliarias.</a:t>
            </a:r>
          </a:p>
        </p:txBody>
      </p:sp>
      <p:sp>
        <p:nvSpPr>
          <p:cNvPr id="18" name="CuadroTexto 17">
            <a:extLst>
              <a:ext uri="{FF2B5EF4-FFF2-40B4-BE49-F238E27FC236}">
                <a16:creationId xmlns:a16="http://schemas.microsoft.com/office/drawing/2014/main" id="{8E40FCE4-C024-0DA5-959F-958071879E72}"/>
              </a:ext>
            </a:extLst>
          </p:cNvPr>
          <p:cNvSpPr txBox="1"/>
          <p:nvPr/>
        </p:nvSpPr>
        <p:spPr>
          <a:xfrm>
            <a:off x="470775" y="1916929"/>
            <a:ext cx="5191116" cy="4524315"/>
          </a:xfrm>
          <a:prstGeom prst="rect">
            <a:avLst/>
          </a:prstGeom>
          <a:noFill/>
        </p:spPr>
        <p:txBody>
          <a:bodyPr wrap="square">
            <a:spAutoFit/>
          </a:bodyPr>
          <a:lstStyle/>
          <a:p>
            <a:pPr algn="just"/>
            <a:r>
              <a:rPr lang="es-MX" sz="2400" dirty="0"/>
              <a:t>El contrato de fideicomiso inmobiliario es un acuerdo mediante el cual una persona, denominada fideicomitente, transfiere ciertos bienes inmuebles a un fideicomiso con el propósito de que un fiduciario administre, gestione o disponga de dichos bienes en beneficio de un tercero, llamado fideicomisario. Este tipo de contrato se rige por la Ley de Fideicomiso en el Perú, que establece las normas y requisitos para su correcta implementación.</a:t>
            </a:r>
            <a:endParaRPr lang="es-PE" sz="2400" dirty="0"/>
          </a:p>
        </p:txBody>
      </p:sp>
      <p:pic>
        <p:nvPicPr>
          <p:cNvPr id="19" name="Imagen 18">
            <a:extLst>
              <a:ext uri="{FF2B5EF4-FFF2-40B4-BE49-F238E27FC236}">
                <a16:creationId xmlns:a16="http://schemas.microsoft.com/office/drawing/2014/main" id="{7089D626-E599-99E5-063A-E39370FF5444}"/>
              </a:ext>
            </a:extLst>
          </p:cNvPr>
          <p:cNvPicPr>
            <a:picLocks noChangeAspect="1"/>
          </p:cNvPicPr>
          <p:nvPr/>
        </p:nvPicPr>
        <p:blipFill>
          <a:blip r:embed="rId3"/>
          <a:stretch>
            <a:fillRect/>
          </a:stretch>
        </p:blipFill>
        <p:spPr>
          <a:xfrm>
            <a:off x="5877127" y="2207491"/>
            <a:ext cx="5844098" cy="3138920"/>
          </a:xfrm>
          <a:prstGeom prst="rect">
            <a:avLst/>
          </a:prstGeom>
        </p:spPr>
      </p:pic>
    </p:spTree>
    <p:extLst>
      <p:ext uri="{BB962C8B-B14F-4D97-AF65-F5344CB8AC3E}">
        <p14:creationId xmlns:p14="http://schemas.microsoft.com/office/powerpoint/2010/main" val="2304745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23326B08-DA6B-E18B-60E8-1222D5121078}"/>
              </a:ext>
            </a:extLst>
          </p:cNvPr>
          <p:cNvSpPr>
            <a:spLocks noGrp="1"/>
          </p:cNvSpPr>
          <p:nvPr>
            <p:ph type="title"/>
          </p:nvPr>
        </p:nvSpPr>
        <p:spPr>
          <a:xfrm>
            <a:off x="470775" y="354246"/>
            <a:ext cx="8794411" cy="1429045"/>
          </a:xfrm>
        </p:spPr>
        <p:txBody>
          <a:bodyPr>
            <a:normAutofit/>
          </a:bodyPr>
          <a:lstStyle/>
          <a:p>
            <a:r>
              <a:rPr lang="es-ES" sz="4000" dirty="0">
                <a:solidFill>
                  <a:srgbClr val="00F3B5"/>
                </a:solidFill>
                <a:latin typeface="Prompt" panose="00000800000000000000" pitchFamily="2" charset="-34"/>
                <a:cs typeface="Prompt" panose="00000800000000000000" pitchFamily="2" charset="-34"/>
              </a:rPr>
              <a:t>Fideicomiso para inversiones inmobiliarias.</a:t>
            </a:r>
          </a:p>
        </p:txBody>
      </p:sp>
      <p:sp>
        <p:nvSpPr>
          <p:cNvPr id="3" name="CuadroTexto 2">
            <a:extLst>
              <a:ext uri="{FF2B5EF4-FFF2-40B4-BE49-F238E27FC236}">
                <a16:creationId xmlns:a16="http://schemas.microsoft.com/office/drawing/2014/main" id="{9F260758-055A-3861-DCB5-71985EDC3BF2}"/>
              </a:ext>
            </a:extLst>
          </p:cNvPr>
          <p:cNvSpPr txBox="1"/>
          <p:nvPr/>
        </p:nvSpPr>
        <p:spPr>
          <a:xfrm>
            <a:off x="360219" y="1783291"/>
            <a:ext cx="5587999" cy="4832092"/>
          </a:xfrm>
          <a:prstGeom prst="rect">
            <a:avLst/>
          </a:prstGeom>
          <a:noFill/>
        </p:spPr>
        <p:txBody>
          <a:bodyPr wrap="square">
            <a:spAutoFit/>
          </a:bodyPr>
          <a:lstStyle/>
          <a:p>
            <a:r>
              <a:rPr lang="es-MX" sz="1400" dirty="0"/>
              <a:t>A continuación, se explican los principales elementos y roles involucrados en un contrato de fideicomiso inmobiliario:</a:t>
            </a:r>
          </a:p>
          <a:p>
            <a:endParaRPr lang="es-MX" sz="1400" dirty="0"/>
          </a:p>
          <a:p>
            <a:r>
              <a:rPr lang="es-MX" sz="1400" b="1" dirty="0"/>
              <a:t>Fideicomitente:</a:t>
            </a:r>
          </a:p>
          <a:p>
            <a:r>
              <a:rPr lang="es-MX" sz="1400" dirty="0"/>
              <a:t>Es la persona que transfiere la propiedad de los bienes inmuebles al fideicomiso. Esta transferencia se realiza con la finalidad de cumplir con un fin específico, como la construcción, administración, financiamiento, o cualquier otro objetivo establecido en el contrato.</a:t>
            </a:r>
          </a:p>
          <a:p>
            <a:endParaRPr lang="es-MX" sz="1400" dirty="0"/>
          </a:p>
          <a:p>
            <a:r>
              <a:rPr lang="es-MX" sz="1400" b="1" dirty="0"/>
              <a:t>Fiduciario:</a:t>
            </a:r>
          </a:p>
          <a:p>
            <a:r>
              <a:rPr lang="es-MX" sz="1400" dirty="0"/>
              <a:t>Es la entidad o persona designada para administrar y gestionar los bienes del fideicomiso de acuerdo con las instrucciones y objetivos establecidos por el fideicomitente. El fiduciario tiene el deber de actuar en beneficio del fideicomisario.</a:t>
            </a:r>
          </a:p>
          <a:p>
            <a:endParaRPr lang="es-MX" sz="1400" dirty="0"/>
          </a:p>
          <a:p>
            <a:r>
              <a:rPr lang="es-MX" sz="1400" b="1" dirty="0"/>
              <a:t>Fideicomisario:</a:t>
            </a:r>
          </a:p>
          <a:p>
            <a:r>
              <a:rPr lang="es-MX" sz="1400" dirty="0"/>
              <a:t>Es la persona que recibe los beneficios o resultados del fideicomiso. Puede ser el mismo fideicomitente o una tercera persona designada en el contrato. Los beneficios pueden incluir el uso de los bienes, ingresos generados por ellos, o la transferencia de la propiedad en una fecha específica.</a:t>
            </a:r>
          </a:p>
          <a:p>
            <a:endParaRPr lang="es-MX" sz="1400" dirty="0"/>
          </a:p>
        </p:txBody>
      </p:sp>
      <p:sp>
        <p:nvSpPr>
          <p:cNvPr id="4" name="CuadroTexto 3">
            <a:extLst>
              <a:ext uri="{FF2B5EF4-FFF2-40B4-BE49-F238E27FC236}">
                <a16:creationId xmlns:a16="http://schemas.microsoft.com/office/drawing/2014/main" id="{2886660A-5297-C349-1CA8-1AC6F36E9B06}"/>
              </a:ext>
            </a:extLst>
          </p:cNvPr>
          <p:cNvSpPr txBox="1"/>
          <p:nvPr/>
        </p:nvSpPr>
        <p:spPr>
          <a:xfrm>
            <a:off x="6243784" y="1783291"/>
            <a:ext cx="5504873" cy="4893647"/>
          </a:xfrm>
          <a:prstGeom prst="rect">
            <a:avLst/>
          </a:prstGeom>
          <a:noFill/>
        </p:spPr>
        <p:txBody>
          <a:bodyPr wrap="square">
            <a:spAutoFit/>
          </a:bodyPr>
          <a:lstStyle/>
          <a:p>
            <a:r>
              <a:rPr lang="es-MX" sz="1200" b="1" dirty="0"/>
              <a:t>Bienes Fideicomitidos:</a:t>
            </a:r>
            <a:endParaRPr lang="es-MX" sz="1200" dirty="0"/>
          </a:p>
          <a:p>
            <a:r>
              <a:rPr lang="es-MX" sz="1200" dirty="0"/>
              <a:t>Son los bienes inmuebles que el fideicomitente transfiere al fideicomiso. Estos bienes constituyen el patrimonio fideicomitido y son gestionados por el fiduciario de acuerdo con las instrucciones del contrato.</a:t>
            </a:r>
          </a:p>
          <a:p>
            <a:endParaRPr lang="es-MX" sz="1200" dirty="0"/>
          </a:p>
          <a:p>
            <a:r>
              <a:rPr lang="es-MX" sz="1200" b="1" dirty="0"/>
              <a:t>Duración del Fideicomiso:</a:t>
            </a:r>
            <a:endParaRPr lang="es-MX" sz="1200" dirty="0"/>
          </a:p>
          <a:p>
            <a:r>
              <a:rPr lang="es-MX" sz="1200" dirty="0"/>
              <a:t>El contrato debe especificar la duración del fideicomiso y las condiciones bajo las cuales puede terminar. Puede ser por cumplimiento de los objetivos, por el transcurso de un plazo determinado, o por eventos específicos establecidos en el contrato.</a:t>
            </a:r>
          </a:p>
          <a:p>
            <a:endParaRPr lang="es-MX" sz="1200" dirty="0"/>
          </a:p>
          <a:p>
            <a:r>
              <a:rPr lang="es-MX" sz="1200" b="1" dirty="0"/>
              <a:t>Finalidad del Fideicomiso:</a:t>
            </a:r>
          </a:p>
          <a:p>
            <a:r>
              <a:rPr lang="es-MX" sz="1200" dirty="0"/>
              <a:t>Se establecen los propósitos y objetivos específicos para los cuales se constituye el fideicomiso. Esto puede incluir la construcción de un proyecto inmobiliario, la generación de ingresos, la administración de propiedades, entre otros.</a:t>
            </a:r>
          </a:p>
          <a:p>
            <a:endParaRPr lang="es-MX" sz="1200" dirty="0"/>
          </a:p>
          <a:p>
            <a:r>
              <a:rPr lang="es-MX" sz="1200" b="1" dirty="0"/>
              <a:t>Facultades del Fiduciario:</a:t>
            </a:r>
          </a:p>
          <a:p>
            <a:r>
              <a:rPr lang="es-MX" sz="1200" dirty="0"/>
              <a:t>El contrato detalla las facultades y obligaciones del fiduciario, especificando cómo debe administrar y gestionar los bienes fideicomitidos para cumplir con la finalidad establecida.</a:t>
            </a:r>
          </a:p>
          <a:p>
            <a:endParaRPr lang="es-MX" sz="1200" dirty="0"/>
          </a:p>
          <a:p>
            <a:r>
              <a:rPr lang="es-MX" sz="1200" dirty="0"/>
              <a:t>El fideicomiso inmobiliario es una herramienta utilizada para estructurar operaciones complejas y brindar seguridad a las partes involucradas, permitiendo una gestión eficiente de los bienes inmuebles con un enfoque en los objetivos específicos del fideicomitente. Es crucial contar con asesoría legal especializada al establecer un contrato de fideicomiso inmobiliario para asegurar su validez y cumplimiento adecuado.</a:t>
            </a:r>
            <a:endParaRPr lang="es-PE" sz="1200" dirty="0"/>
          </a:p>
        </p:txBody>
      </p:sp>
    </p:spTree>
    <p:extLst>
      <p:ext uri="{BB962C8B-B14F-4D97-AF65-F5344CB8AC3E}">
        <p14:creationId xmlns:p14="http://schemas.microsoft.com/office/powerpoint/2010/main" val="1712861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5740371" cy="1429045"/>
          </a:xfrm>
        </p:spPr>
        <p:txBody>
          <a:bodyPr>
            <a:normAutofit/>
          </a:bodyPr>
          <a:lstStyle/>
          <a:p>
            <a:r>
              <a:rPr lang="es-ES" dirty="0">
                <a:solidFill>
                  <a:srgbClr val="00F3B5"/>
                </a:solidFill>
                <a:latin typeface="Prompt" panose="00000800000000000000" pitchFamily="2" charset="-34"/>
                <a:cs typeface="Prompt" panose="00000800000000000000" pitchFamily="2" charset="-34"/>
              </a:rPr>
              <a:t>Regulación notarial y registral.</a:t>
            </a:r>
          </a:p>
        </p:txBody>
      </p:sp>
    </p:spTree>
    <p:extLst>
      <p:ext uri="{BB962C8B-B14F-4D97-AF65-F5344CB8AC3E}">
        <p14:creationId xmlns:p14="http://schemas.microsoft.com/office/powerpoint/2010/main" val="2730440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6527CF1A-F8A4-6AD8-7E2A-013F02E82D8E}"/>
              </a:ext>
            </a:extLst>
          </p:cNvPr>
          <p:cNvSpPr>
            <a:spLocks noGrp="1"/>
          </p:cNvSpPr>
          <p:nvPr>
            <p:ph type="title"/>
          </p:nvPr>
        </p:nvSpPr>
        <p:spPr>
          <a:xfrm>
            <a:off x="355629" y="442381"/>
            <a:ext cx="8391764" cy="1331335"/>
          </a:xfrm>
        </p:spPr>
        <p:txBody>
          <a:bodyPr>
            <a:normAutofit/>
          </a:bodyPr>
          <a:lstStyle/>
          <a:p>
            <a:r>
              <a:rPr lang="es-ES" sz="4000" dirty="0">
                <a:solidFill>
                  <a:srgbClr val="00F3B5"/>
                </a:solidFill>
                <a:latin typeface="Prompt" panose="00000800000000000000" pitchFamily="2" charset="-34"/>
                <a:cs typeface="Prompt" panose="00000800000000000000" pitchFamily="2" charset="-34"/>
              </a:rPr>
              <a:t>Regulación notarial y registral.</a:t>
            </a:r>
          </a:p>
        </p:txBody>
      </p:sp>
      <p:sp>
        <p:nvSpPr>
          <p:cNvPr id="14" name="CuadroTexto 13">
            <a:extLst>
              <a:ext uri="{FF2B5EF4-FFF2-40B4-BE49-F238E27FC236}">
                <a16:creationId xmlns:a16="http://schemas.microsoft.com/office/drawing/2014/main" id="{36D1CEB2-1090-26E7-D2C3-C854EC19994E}"/>
              </a:ext>
            </a:extLst>
          </p:cNvPr>
          <p:cNvSpPr txBox="1"/>
          <p:nvPr/>
        </p:nvSpPr>
        <p:spPr>
          <a:xfrm>
            <a:off x="581890" y="1530197"/>
            <a:ext cx="10621819" cy="4770537"/>
          </a:xfrm>
          <a:prstGeom prst="rect">
            <a:avLst/>
          </a:prstGeom>
          <a:noFill/>
        </p:spPr>
        <p:txBody>
          <a:bodyPr wrap="square">
            <a:spAutoFit/>
          </a:bodyPr>
          <a:lstStyle/>
          <a:p>
            <a:pPr marL="285750" indent="-285750" algn="just">
              <a:buFont typeface="Wingdings" panose="05000000000000000000" pitchFamily="2" charset="2"/>
              <a:buChar char="ü"/>
            </a:pPr>
            <a:r>
              <a:rPr lang="es-MX" sz="1600" b="1" dirty="0"/>
              <a:t>Certificación Notarial de Documentos Inmobiliarios:</a:t>
            </a:r>
          </a:p>
          <a:p>
            <a:pPr algn="just"/>
            <a:r>
              <a:rPr lang="es-MX" sz="1600" dirty="0"/>
              <a:t>Los notarios en el Perú desempeñan un papel fundamental en la certificación de documentos relacionados con negocios inmobiliarios, como contratos de compraventa, hipotecas, y escrituras de propiedad. Su intervención garantiza la legalidad y autenticidad de los documentos, brindando seguridad jurídica a las partes involucradas.</a:t>
            </a:r>
          </a:p>
          <a:p>
            <a:pPr marL="285750" indent="-285750" algn="just">
              <a:buFont typeface="Wingdings" panose="05000000000000000000" pitchFamily="2" charset="2"/>
              <a:buChar char="ü"/>
            </a:pPr>
            <a:endParaRPr lang="es-MX" sz="1600" dirty="0"/>
          </a:p>
          <a:p>
            <a:pPr marL="285750" indent="-285750" algn="just">
              <a:buFont typeface="Wingdings" panose="05000000000000000000" pitchFamily="2" charset="2"/>
              <a:buChar char="ü"/>
            </a:pPr>
            <a:r>
              <a:rPr lang="es-MX" sz="1600" b="1" dirty="0"/>
              <a:t>Otorgamiento de Escrituras Públicas:</a:t>
            </a:r>
          </a:p>
          <a:p>
            <a:pPr algn="just"/>
            <a:r>
              <a:rPr lang="es-MX" sz="1600" dirty="0"/>
              <a:t>En el ámbito inmobiliario, los notarios tienen la responsabilidad de otorgar escrituras públicas que formalizan transacciones, acuerdos y contratos. Estas escrituras, una vez debidamente otorgadas, pueden ser inscritas en el Registro de la Propiedad Inmueble para conferir efectos legales y publicidad a los actos jurídicos.</a:t>
            </a:r>
          </a:p>
          <a:p>
            <a:pPr marL="285750" indent="-285750" algn="just">
              <a:buFont typeface="Wingdings" panose="05000000000000000000" pitchFamily="2" charset="2"/>
              <a:buChar char="ü"/>
            </a:pPr>
            <a:endParaRPr lang="es-MX" sz="1600" dirty="0"/>
          </a:p>
          <a:p>
            <a:pPr marL="285750" indent="-285750" algn="just">
              <a:buFont typeface="Wingdings" panose="05000000000000000000" pitchFamily="2" charset="2"/>
              <a:buChar char="ü"/>
            </a:pPr>
            <a:r>
              <a:rPr lang="es-MX" sz="1600" b="1" dirty="0"/>
              <a:t>Registro de la Propiedad Inmueble en SUNARP:</a:t>
            </a:r>
          </a:p>
          <a:p>
            <a:pPr algn="just"/>
            <a:r>
              <a:rPr lang="es-MX" sz="1600" dirty="0"/>
              <a:t>La Superintendencia Nacional de los Registros Públicos (SUNARP) regula el Registro de la Propiedad Inmueble, donde se inscriben los actos y contratos relacionados con bienes inmuebles. La inscripción en este registro proporciona seguridad y certeza jurídica, constituyendo un paso esencial en la formalización de negocios inmobiliarios.</a:t>
            </a:r>
          </a:p>
          <a:p>
            <a:pPr marL="285750" indent="-285750" algn="just">
              <a:buFont typeface="Wingdings" panose="05000000000000000000" pitchFamily="2" charset="2"/>
              <a:buChar char="ü"/>
            </a:pPr>
            <a:endParaRPr lang="es-MX" sz="1600" dirty="0"/>
          </a:p>
          <a:p>
            <a:pPr marL="285750" indent="-285750" algn="just">
              <a:buFont typeface="Wingdings" panose="05000000000000000000" pitchFamily="2" charset="2"/>
              <a:buChar char="ü"/>
            </a:pPr>
            <a:r>
              <a:rPr lang="es-MX" sz="1600" b="1" dirty="0"/>
              <a:t>Verificación de Gravámenes y Limitaciones:</a:t>
            </a:r>
          </a:p>
          <a:p>
            <a:pPr algn="just"/>
            <a:r>
              <a:rPr lang="es-MX" sz="1600" dirty="0"/>
              <a:t>La regulación notarial y registral en Perú asegura que los notarios, al certificar documentos inmobiliarios, verifiquen la existencia de gravámenes, limitaciones u otras cargas sobre la propiedad. Este proceso contribuye a informar a las partes sobre la situación jurídica del inmueble, permitiendo decisiones informadas en el contexto de transacciones inmobiliarias.</a:t>
            </a:r>
            <a:endParaRPr lang="es-PE" sz="1600" dirty="0"/>
          </a:p>
        </p:txBody>
      </p:sp>
    </p:spTree>
    <p:extLst>
      <p:ext uri="{BB962C8B-B14F-4D97-AF65-F5344CB8AC3E}">
        <p14:creationId xmlns:p14="http://schemas.microsoft.com/office/powerpoint/2010/main" val="2475313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4454</TotalTime>
  <Words>1627</Words>
  <Application>Microsoft Office PowerPoint</Application>
  <PresentationFormat>Panorámica</PresentationFormat>
  <Paragraphs>124</Paragraphs>
  <Slides>15</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Arial</vt:lpstr>
      <vt:lpstr>Calibri</vt:lpstr>
      <vt:lpstr>Calibri Light</vt:lpstr>
      <vt:lpstr>Prompt</vt:lpstr>
      <vt:lpstr>Segoe UI</vt:lpstr>
      <vt:lpstr>Wingdings</vt:lpstr>
      <vt:lpstr>Tema de Office</vt:lpstr>
      <vt:lpstr>Presentación de PowerPoint</vt:lpstr>
      <vt:lpstr>Presentación de PowerPoint</vt:lpstr>
      <vt:lpstr>Legislación aplicada</vt:lpstr>
      <vt:lpstr>Temario</vt:lpstr>
      <vt:lpstr>Conceptos generales del derecho inmobiliario</vt:lpstr>
      <vt:lpstr>Conceptos generales del derecho inmobiliario</vt:lpstr>
      <vt:lpstr>Conceptos generales del derecho inmobiliario</vt:lpstr>
      <vt:lpstr>Contratos vinculados a negocios inmobiliarios.</vt:lpstr>
      <vt:lpstr>Contratos vinculados a negocios inmobiliarios</vt:lpstr>
      <vt:lpstr>Fideicomiso para inversiones inmobiliarias.</vt:lpstr>
      <vt:lpstr>Fideicomiso para inversiones inmobiliarias.</vt:lpstr>
      <vt:lpstr>Fideicomiso para inversiones inmobiliarias.</vt:lpstr>
      <vt:lpstr>Regulación notarial y registral.</vt:lpstr>
      <vt:lpstr>Regulación notarial y registral.</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PEPPRIET (PRIETO MELGAR, PEDRO)</cp:lastModifiedBy>
  <cp:revision>10</cp:revision>
  <dcterms:created xsi:type="dcterms:W3CDTF">2022-04-19T18:02:09Z</dcterms:created>
  <dcterms:modified xsi:type="dcterms:W3CDTF">2023-11-20T03:38:41Z</dcterms:modified>
</cp:coreProperties>
</file>