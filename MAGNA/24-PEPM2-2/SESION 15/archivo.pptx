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3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0117" y="395223"/>
            <a:ext cx="6649720" cy="336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1802" y="2434209"/>
            <a:ext cx="3807460" cy="1379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jp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jp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jp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7" Type="http://schemas.openxmlformats.org/officeDocument/2006/relationships/image" Target="../media/image6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05304" y="1690306"/>
            <a:ext cx="6038850" cy="304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90850">
              <a:lnSpc>
                <a:spcPct val="100000"/>
              </a:lnSpc>
              <a:spcBef>
                <a:spcPts val="100"/>
              </a:spcBef>
            </a:pPr>
            <a:r>
              <a:rPr sz="6600" spc="120" dirty="0">
                <a:solidFill>
                  <a:srgbClr val="00F3B5"/>
                </a:solidFill>
                <a:latin typeface="Microsoft Sans Serif"/>
                <a:cs typeface="Microsoft Sans Serif"/>
              </a:rPr>
              <a:t>Planner </a:t>
            </a:r>
            <a:r>
              <a:rPr sz="6600" spc="450" dirty="0">
                <a:solidFill>
                  <a:srgbClr val="00F3B5"/>
                </a:solidFill>
                <a:latin typeface="Microsoft Sans Serif"/>
                <a:cs typeface="Microsoft Sans Serif"/>
              </a:rPr>
              <a:t>de</a:t>
            </a:r>
            <a:endParaRPr sz="6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600" spc="270" dirty="0">
                <a:solidFill>
                  <a:srgbClr val="00F3B5"/>
                </a:solidFill>
                <a:latin typeface="Microsoft Sans Serif"/>
                <a:cs typeface="Microsoft Sans Serif"/>
              </a:rPr>
              <a:t>Mantenimiento</a:t>
            </a:r>
            <a:endParaRPr sz="6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5304" y="1404620"/>
            <a:ext cx="2643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CURSO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FORMACIÓN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6812" y="2742882"/>
            <a:ext cx="25781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220" dirty="0">
                <a:solidFill>
                  <a:srgbClr val="00F3B5"/>
                </a:solidFill>
                <a:latin typeface="Microsoft Sans Serif"/>
                <a:cs typeface="Microsoft Sans Serif"/>
              </a:rPr>
              <a:t>Módulo</a:t>
            </a:r>
            <a:r>
              <a:rPr sz="4400" spc="459" dirty="0">
                <a:solidFill>
                  <a:srgbClr val="00F3B5"/>
                </a:solidFill>
                <a:latin typeface="Microsoft Sans Serif"/>
                <a:cs typeface="Microsoft Sans Serif"/>
              </a:rPr>
              <a:t> </a:t>
            </a:r>
            <a:r>
              <a:rPr sz="4400" spc="120" dirty="0">
                <a:solidFill>
                  <a:srgbClr val="00F3B5"/>
                </a:solidFill>
                <a:latin typeface="Microsoft Sans Serif"/>
                <a:cs typeface="Microsoft Sans Serif"/>
              </a:rPr>
              <a:t>4</a:t>
            </a:r>
            <a:endParaRPr sz="4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6812" y="3614991"/>
            <a:ext cx="5587365" cy="8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Gestión</a:t>
            </a:r>
            <a:r>
              <a:rPr sz="180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1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Stock</a:t>
            </a:r>
            <a:r>
              <a:rPr sz="180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repuestos</a:t>
            </a:r>
            <a:endParaRPr sz="1800">
              <a:latin typeface="Microsoft Sans Serif"/>
              <a:cs typeface="Microsoft Sans Serif"/>
            </a:endParaRPr>
          </a:p>
          <a:p>
            <a:pPr marL="29972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72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Planificación</a:t>
            </a:r>
            <a:r>
              <a:rPr sz="1800" spc="3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3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materiales</a:t>
            </a:r>
            <a:r>
              <a:rPr sz="1800" spc="3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3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Mantenimiento</a:t>
            </a:r>
            <a:endParaRPr sz="1800">
              <a:latin typeface="Microsoft Sans Serif"/>
              <a:cs typeface="Microsoft Sans Serif"/>
            </a:endParaRPr>
          </a:p>
          <a:p>
            <a:pPr marL="299720" indent="-287020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299720" algn="l"/>
              </a:tabLst>
            </a:pPr>
            <a:r>
              <a:rPr sz="180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Cantidad</a:t>
            </a:r>
            <a:r>
              <a:rPr sz="180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económica</a:t>
            </a:r>
            <a:r>
              <a:rPr sz="1800" spc="2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pedido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 err="1" smtClean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 smtClean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 dirty="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0559" y="965200"/>
            <a:ext cx="4072254" cy="683895"/>
            <a:chOff x="670559" y="965200"/>
            <a:chExt cx="4072254" cy="683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59" y="965200"/>
              <a:ext cx="2174493" cy="6835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9680" y="965200"/>
              <a:ext cx="818133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9899" y="965200"/>
              <a:ext cx="1732533" cy="6835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51217" y="1048384"/>
            <a:ext cx="3686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Optimización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inventario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46020" y="2004058"/>
            <a:ext cx="7299959" cy="47345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 err="1" smtClean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 smtClean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 dirty="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50900" y="1010919"/>
            <a:ext cx="6807834" cy="683895"/>
            <a:chOff x="850900" y="1010919"/>
            <a:chExt cx="6807834" cy="683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0900" y="1010919"/>
              <a:ext cx="2126234" cy="6835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9220" y="1010919"/>
              <a:ext cx="5009133" cy="68351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32192" y="1092136"/>
            <a:ext cx="64217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Clasificación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inventario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mantenimiento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039" y="1727200"/>
            <a:ext cx="7729219" cy="459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 err="1" smtClean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 smtClean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4224" y="1115215"/>
            <a:ext cx="8734576" cy="29803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5600" marR="5080" indent="-343535" algn="l">
              <a:lnSpc>
                <a:spcPct val="90300"/>
              </a:lnSpc>
              <a:spcBef>
                <a:spcPts val="380"/>
              </a:spcBef>
              <a:tabLst>
                <a:tab pos="2557780" algn="l"/>
                <a:tab pos="2788920" algn="l"/>
              </a:tabLst>
            </a:pPr>
            <a:r>
              <a:rPr b="1" spc="160" dirty="0" smtClean="0">
                <a:latin typeface="Arial MT"/>
                <a:cs typeface="Arial MT"/>
              </a:rPr>
              <a:t>CLASIFICACIÓN</a:t>
            </a:r>
            <a:r>
              <a:rPr lang="es-ES" b="1" dirty="0">
                <a:latin typeface="Arial MT"/>
                <a:cs typeface="Arial MT"/>
              </a:rPr>
              <a:t> </a:t>
            </a:r>
            <a:r>
              <a:rPr b="1" spc="95" dirty="0" smtClean="0">
                <a:latin typeface="Arial MT"/>
                <a:cs typeface="Arial MT"/>
              </a:rPr>
              <a:t>DEL </a:t>
            </a:r>
            <a:r>
              <a:rPr b="1" spc="135" dirty="0" smtClean="0">
                <a:latin typeface="Arial MT"/>
                <a:cs typeface="Arial MT"/>
              </a:rPr>
              <a:t>INVENTARIO</a:t>
            </a:r>
            <a:r>
              <a:rPr lang="es-ES" b="1" dirty="0">
                <a:latin typeface="Arial MT"/>
                <a:cs typeface="Arial MT"/>
              </a:rPr>
              <a:t> </a:t>
            </a:r>
            <a:r>
              <a:rPr b="1" spc="75" dirty="0" smtClean="0">
                <a:latin typeface="Arial MT"/>
                <a:cs typeface="Arial MT"/>
              </a:rPr>
              <a:t>PARA </a:t>
            </a:r>
            <a:r>
              <a:rPr b="1" spc="155" dirty="0">
                <a:latin typeface="Arial MT"/>
                <a:cs typeface="Arial MT"/>
              </a:rPr>
              <a:t>MANTENIMIENTO</a:t>
            </a:r>
            <a:endParaRPr b="1" dirty="0">
              <a:latin typeface="Arial MT"/>
              <a:cs typeface="Arial MT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609600" y="1789760"/>
            <a:ext cx="6781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i="0" dirty="0" smtClean="0">
                <a:solidFill>
                  <a:srgbClr val="4D5156"/>
                </a:solidFill>
                <a:effectLst/>
                <a:latin typeface="Google Sans"/>
              </a:rPr>
              <a:t>Los inventarios se clasifican </a:t>
            </a:r>
            <a:r>
              <a:rPr lang="es-ES" b="1" i="0" dirty="0" smtClean="0">
                <a:solidFill>
                  <a:srgbClr val="040C28"/>
                </a:solidFill>
                <a:effectLst/>
                <a:latin typeface="Google Sans"/>
              </a:rPr>
              <a:t>por ubicación, por función, por tiempo, por volumen y demanda</a:t>
            </a:r>
            <a:r>
              <a:rPr lang="es-ES" b="1" i="0" dirty="0" smtClean="0">
                <a:solidFill>
                  <a:srgbClr val="4D5156"/>
                </a:solidFill>
                <a:effectLst/>
                <a:latin typeface="Google Sans"/>
              </a:rPr>
              <a:t>.</a:t>
            </a:r>
            <a:endParaRPr lang="es-PE" b="1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24" y="2812606"/>
            <a:ext cx="7277100" cy="267652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3048000"/>
            <a:ext cx="2466975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68019" y="1071880"/>
            <a:ext cx="5608955" cy="683895"/>
            <a:chOff x="668019" y="1071880"/>
            <a:chExt cx="5608955" cy="683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019" y="1071880"/>
              <a:ext cx="2951734" cy="6835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0559" y="1071880"/>
              <a:ext cx="800353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5540" y="1071880"/>
              <a:ext cx="2591054" cy="6835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48676" y="1152525"/>
            <a:ext cx="776192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Características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artículos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 err="1" smtClean="0">
                <a:latin typeface="Arial MT"/>
                <a:cs typeface="Arial MT"/>
              </a:rPr>
              <a:t>activos</a:t>
            </a:r>
            <a:r>
              <a:rPr lang="es-ES" sz="2400" spc="-10" dirty="0" smtClean="0">
                <a:latin typeface="Arial MT"/>
                <a:cs typeface="Arial MT"/>
              </a:rPr>
              <a:t> de Alta Rotación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3500" y="1788160"/>
            <a:ext cx="8554720" cy="4706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68019" y="927100"/>
            <a:ext cx="5974715" cy="683895"/>
            <a:chOff x="668019" y="927100"/>
            <a:chExt cx="5974715" cy="683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019" y="927100"/>
              <a:ext cx="2951734" cy="6835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0559" y="927100"/>
              <a:ext cx="800353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5540" y="927100"/>
              <a:ext cx="2956814" cy="6835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48677" y="1007745"/>
            <a:ext cx="5591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Características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artículos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PASIVOS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54860" y="1643379"/>
            <a:ext cx="7774940" cy="49199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68019" y="899160"/>
            <a:ext cx="5974715" cy="683895"/>
            <a:chOff x="668019" y="899160"/>
            <a:chExt cx="5974715" cy="683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019" y="899160"/>
              <a:ext cx="2951734" cy="6835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0559" y="899160"/>
              <a:ext cx="800353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5540" y="899160"/>
              <a:ext cx="2956814" cy="6835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48677" y="982090"/>
            <a:ext cx="5591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Características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artículos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PASIVOS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91739" y="1790700"/>
            <a:ext cx="7594600" cy="444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17880" y="927100"/>
            <a:ext cx="2157095" cy="683895"/>
            <a:chOff x="817880" y="927100"/>
            <a:chExt cx="2157095" cy="683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880" y="927100"/>
              <a:ext cx="1463294" cy="6835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8019" y="927100"/>
              <a:ext cx="1036574" cy="68351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99172" y="1009015"/>
            <a:ext cx="1772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Análisis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ABC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77539" y="1696720"/>
            <a:ext cx="6576059" cy="4798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68019" y="795019"/>
            <a:ext cx="2157095" cy="683895"/>
            <a:chOff x="668019" y="795019"/>
            <a:chExt cx="2157095" cy="683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019" y="795019"/>
              <a:ext cx="1463294" cy="6835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159" y="795019"/>
              <a:ext cx="1036574" cy="68351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48677" y="876046"/>
            <a:ext cx="1772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Análisis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ABC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0" y="1498600"/>
            <a:ext cx="6692900" cy="5156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664138" y="1212214"/>
            <a:ext cx="4880610" cy="5497830"/>
            <a:chOff x="4664138" y="1212214"/>
            <a:chExt cx="4880610" cy="54978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3600" y="1221739"/>
              <a:ext cx="4861559" cy="54787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68901" y="1216977"/>
              <a:ext cx="4871085" cy="5488305"/>
            </a:xfrm>
            <a:custGeom>
              <a:avLst/>
              <a:gdLst/>
              <a:ahLst/>
              <a:cxnLst/>
              <a:rect l="l" t="t" r="r" b="b"/>
              <a:pathLst>
                <a:path w="4871084" h="5488305">
                  <a:moveTo>
                    <a:pt x="0" y="5488305"/>
                  </a:moveTo>
                  <a:lnTo>
                    <a:pt x="4871085" y="5488305"/>
                  </a:lnTo>
                  <a:lnTo>
                    <a:pt x="4871085" y="0"/>
                  </a:lnTo>
                  <a:lnTo>
                    <a:pt x="0" y="0"/>
                  </a:lnTo>
                  <a:lnTo>
                    <a:pt x="0" y="5488305"/>
                  </a:lnTo>
                  <a:close/>
                </a:path>
              </a:pathLst>
            </a:custGeom>
            <a:ln w="952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68019" y="795019"/>
            <a:ext cx="2157095" cy="683895"/>
            <a:chOff x="668019" y="795019"/>
            <a:chExt cx="2157095" cy="6838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019" y="795019"/>
              <a:ext cx="1463294" cy="68351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8159" y="795019"/>
              <a:ext cx="1036574" cy="68351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48677" y="876046"/>
            <a:ext cx="1772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Análisis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ABC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8179" y="1572259"/>
            <a:ext cx="8125459" cy="52857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68019" y="795019"/>
            <a:ext cx="2157095" cy="683895"/>
            <a:chOff x="668019" y="795019"/>
            <a:chExt cx="2157095" cy="6838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019" y="795019"/>
              <a:ext cx="1463294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8159" y="795019"/>
              <a:ext cx="1036574" cy="6835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48677" y="876046"/>
            <a:ext cx="1772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Análisis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ABC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68019" y="795019"/>
            <a:ext cx="9692640" cy="5798820"/>
            <a:chOff x="668019" y="795019"/>
            <a:chExt cx="9692640" cy="57988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2080" y="1221739"/>
              <a:ext cx="7688580" cy="53721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019" y="795019"/>
              <a:ext cx="1463294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8159" y="795019"/>
              <a:ext cx="1036574" cy="6835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48677" y="876046"/>
            <a:ext cx="1772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Análisis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ABC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68019" y="807719"/>
            <a:ext cx="9164320" cy="5946140"/>
            <a:chOff x="668019" y="807719"/>
            <a:chExt cx="9164320" cy="59461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4580" y="1452878"/>
              <a:ext cx="7477759" cy="53009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019" y="807719"/>
              <a:ext cx="1463294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8159" y="807719"/>
              <a:ext cx="1036574" cy="6835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48677" y="889253"/>
            <a:ext cx="1772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Análisis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ABC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68019" y="820419"/>
            <a:ext cx="2134235" cy="683895"/>
            <a:chOff x="668019" y="820419"/>
            <a:chExt cx="2134235" cy="683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019" y="820419"/>
              <a:ext cx="1463294" cy="6835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5939" y="820419"/>
              <a:ext cx="995934" cy="68351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48677" y="902017"/>
            <a:ext cx="17513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Análisis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XYZ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1620" y="1623060"/>
            <a:ext cx="7254240" cy="5095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68019" y="848360"/>
            <a:ext cx="2957195" cy="683895"/>
            <a:chOff x="668019" y="848360"/>
            <a:chExt cx="2957195" cy="683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019" y="848360"/>
              <a:ext cx="764793" cy="6835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3619" y="848360"/>
              <a:ext cx="1173733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1980" y="848360"/>
              <a:ext cx="1752854" cy="6835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48677" y="930211"/>
            <a:ext cx="25723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punto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pedido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02560" y="1567180"/>
            <a:ext cx="725170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0339" y="871219"/>
            <a:ext cx="2957195" cy="683895"/>
            <a:chOff x="180339" y="871219"/>
            <a:chExt cx="2957195" cy="683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339" y="871219"/>
              <a:ext cx="764794" cy="6835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939" y="871219"/>
              <a:ext cx="1173734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4300" y="871219"/>
              <a:ext cx="1752854" cy="6835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61315" y="952436"/>
            <a:ext cx="25723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punto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pedido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62579" y="1592580"/>
            <a:ext cx="749808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60780" y="2425700"/>
            <a:ext cx="2921635" cy="1344295"/>
            <a:chOff x="1160780" y="2425700"/>
            <a:chExt cx="2921635" cy="13442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0000" y="2425700"/>
              <a:ext cx="2593594" cy="6835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0780" y="2755900"/>
              <a:ext cx="2227834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8640" y="2755900"/>
              <a:ext cx="993393" cy="68351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7620" y="3086100"/>
              <a:ext cx="2575813" cy="68351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42389" y="2507932"/>
            <a:ext cx="2402840" cy="105219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065" marR="5080" indent="-3175" algn="ctr">
              <a:lnSpc>
                <a:spcPct val="90300"/>
              </a:lnSpc>
              <a:spcBef>
                <a:spcPts val="380"/>
              </a:spcBef>
              <a:tabLst>
                <a:tab pos="1940560" algn="l"/>
              </a:tabLst>
            </a:pPr>
            <a:r>
              <a:rPr sz="2400" spc="155" dirty="0">
                <a:latin typeface="Arial MT"/>
                <a:cs typeface="Arial MT"/>
              </a:rPr>
              <a:t>DIFERENTES POLÍTICAS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65" dirty="0">
                <a:latin typeface="Arial MT"/>
                <a:cs typeface="Arial MT"/>
              </a:rPr>
              <a:t>DE </a:t>
            </a:r>
            <a:r>
              <a:rPr sz="2400" spc="155" dirty="0">
                <a:latin typeface="Arial MT"/>
                <a:cs typeface="Arial MT"/>
              </a:rPr>
              <a:t>REPOSICIÓN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60900" y="1221739"/>
            <a:ext cx="6489700" cy="4414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3039" y="1696720"/>
            <a:ext cx="8884920" cy="49530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68019" y="848360"/>
            <a:ext cx="2957195" cy="683895"/>
            <a:chOff x="668019" y="848360"/>
            <a:chExt cx="2957195" cy="6838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019" y="848360"/>
              <a:ext cx="764793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3619" y="848360"/>
              <a:ext cx="1173733" cy="68351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1980" y="848360"/>
              <a:ext cx="1752854" cy="68351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48677" y="930211"/>
            <a:ext cx="25723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punto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pedido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0117" y="395223"/>
            <a:ext cx="664972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71779" y="2352039"/>
            <a:ext cx="4326255" cy="1671955"/>
            <a:chOff x="271779" y="2352039"/>
            <a:chExt cx="4326255" cy="16719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9499" y="2352039"/>
              <a:ext cx="3518154" cy="6835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779" y="2682239"/>
              <a:ext cx="4325874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820" y="3012439"/>
              <a:ext cx="3751833" cy="6835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7679" y="3340100"/>
              <a:ext cx="2730754" cy="68351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 indent="807720" algn="r">
              <a:lnSpc>
                <a:spcPts val="2600"/>
              </a:lnSpc>
              <a:spcBef>
                <a:spcPts val="420"/>
              </a:spcBef>
              <a:tabLst>
                <a:tab pos="595630" algn="l"/>
                <a:tab pos="2486025" algn="l"/>
                <a:tab pos="2547620" algn="l"/>
                <a:tab pos="2765425" algn="l"/>
                <a:tab pos="3130550" algn="l"/>
              </a:tabLst>
            </a:pPr>
            <a:r>
              <a:rPr spc="145" dirty="0"/>
              <a:t>CÁLCULO</a:t>
            </a:r>
            <a:r>
              <a:rPr dirty="0"/>
              <a:t>		</a:t>
            </a:r>
            <a:r>
              <a:rPr spc="65" dirty="0"/>
              <a:t>DE</a:t>
            </a:r>
            <a:r>
              <a:rPr dirty="0"/>
              <a:t>	</a:t>
            </a:r>
            <a:r>
              <a:rPr spc="95" dirty="0"/>
              <a:t>LOS </a:t>
            </a:r>
            <a:r>
              <a:rPr spc="140" dirty="0"/>
              <a:t>PARÁMETROS</a:t>
            </a:r>
            <a:r>
              <a:rPr dirty="0"/>
              <a:t>	</a:t>
            </a:r>
            <a:r>
              <a:rPr spc="120" dirty="0"/>
              <a:t>CLAVES </a:t>
            </a:r>
            <a:r>
              <a:rPr spc="60" dirty="0"/>
              <a:t>EN</a:t>
            </a:r>
            <a:r>
              <a:rPr dirty="0"/>
              <a:t>	</a:t>
            </a:r>
            <a:r>
              <a:rPr spc="90" dirty="0"/>
              <a:t>LA</a:t>
            </a:r>
            <a:r>
              <a:rPr spc="250" dirty="0"/>
              <a:t> </a:t>
            </a:r>
            <a:r>
              <a:rPr spc="145" dirty="0"/>
              <a:t>GESTIÓN</a:t>
            </a:r>
            <a:r>
              <a:rPr dirty="0"/>
              <a:t>	</a:t>
            </a:r>
            <a:r>
              <a:rPr spc="65" dirty="0"/>
              <a:t>DE</a:t>
            </a:r>
          </a:p>
          <a:p>
            <a:pPr marR="5715" algn="r">
              <a:lnSpc>
                <a:spcPts val="2545"/>
              </a:lnSpc>
            </a:pPr>
            <a:r>
              <a:rPr spc="145" dirty="0"/>
              <a:t>INVENTARIOS</a:t>
            </a: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86020" y="1381760"/>
            <a:ext cx="6725920" cy="51130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0117" y="395223"/>
            <a:ext cx="664972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0340" y="2199639"/>
            <a:ext cx="6682740" cy="429514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71779" y="2352039"/>
            <a:ext cx="4326255" cy="1671955"/>
            <a:chOff x="271779" y="2352039"/>
            <a:chExt cx="4326255" cy="16719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9499" y="2352039"/>
              <a:ext cx="3518154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779" y="2682239"/>
              <a:ext cx="4325874" cy="68351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5820" y="3012439"/>
              <a:ext cx="3751833" cy="6835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7679" y="3340100"/>
              <a:ext cx="2730754" cy="68351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 indent="807720" algn="r">
              <a:lnSpc>
                <a:spcPts val="2600"/>
              </a:lnSpc>
              <a:spcBef>
                <a:spcPts val="420"/>
              </a:spcBef>
              <a:tabLst>
                <a:tab pos="595630" algn="l"/>
                <a:tab pos="2486025" algn="l"/>
                <a:tab pos="2547620" algn="l"/>
                <a:tab pos="2765425" algn="l"/>
                <a:tab pos="3130550" algn="l"/>
              </a:tabLst>
            </a:pPr>
            <a:r>
              <a:rPr spc="145" dirty="0"/>
              <a:t>CÁLCULO</a:t>
            </a:r>
            <a:r>
              <a:rPr dirty="0"/>
              <a:t>		</a:t>
            </a:r>
            <a:r>
              <a:rPr spc="65" dirty="0"/>
              <a:t>DE</a:t>
            </a:r>
            <a:r>
              <a:rPr dirty="0"/>
              <a:t>	</a:t>
            </a:r>
            <a:r>
              <a:rPr spc="95" dirty="0"/>
              <a:t>LOS </a:t>
            </a:r>
            <a:r>
              <a:rPr spc="140" dirty="0"/>
              <a:t>PARÁMETROS</a:t>
            </a:r>
            <a:r>
              <a:rPr dirty="0"/>
              <a:t>	</a:t>
            </a:r>
            <a:r>
              <a:rPr spc="120" dirty="0"/>
              <a:t>CLAVES </a:t>
            </a:r>
            <a:r>
              <a:rPr spc="60" dirty="0"/>
              <a:t>EN</a:t>
            </a:r>
            <a:r>
              <a:rPr dirty="0"/>
              <a:t>	</a:t>
            </a:r>
            <a:r>
              <a:rPr spc="90" dirty="0"/>
              <a:t>LA</a:t>
            </a:r>
            <a:r>
              <a:rPr spc="250" dirty="0"/>
              <a:t> </a:t>
            </a:r>
            <a:r>
              <a:rPr spc="145" dirty="0"/>
              <a:t>GESTIÓN</a:t>
            </a:r>
            <a:r>
              <a:rPr dirty="0"/>
              <a:t>	</a:t>
            </a:r>
            <a:r>
              <a:rPr spc="65" dirty="0"/>
              <a:t>DE</a:t>
            </a:r>
          </a:p>
          <a:p>
            <a:pPr marR="5715" algn="r">
              <a:lnSpc>
                <a:spcPts val="2545"/>
              </a:lnSpc>
            </a:pPr>
            <a:r>
              <a:rPr spc="145" dirty="0"/>
              <a:t>INVENTARIOS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0117" y="395223"/>
            <a:ext cx="664972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5900" y="1960879"/>
            <a:ext cx="6664959" cy="45339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45440" y="2893060"/>
            <a:ext cx="4326255" cy="1671955"/>
            <a:chOff x="345440" y="2893060"/>
            <a:chExt cx="4326255" cy="167195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3159" y="2893060"/>
              <a:ext cx="3518154" cy="68351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440" y="3223260"/>
              <a:ext cx="4325874" cy="68351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9480" y="3553460"/>
              <a:ext cx="3751834" cy="6835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31340" y="3881120"/>
              <a:ext cx="2730754" cy="68351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25144" y="2976879"/>
            <a:ext cx="3807460" cy="137985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 indent="807720" algn="r">
              <a:lnSpc>
                <a:spcPts val="2600"/>
              </a:lnSpc>
              <a:spcBef>
                <a:spcPts val="420"/>
              </a:spcBef>
              <a:tabLst>
                <a:tab pos="595630" algn="l"/>
                <a:tab pos="2486025" algn="l"/>
                <a:tab pos="2546985" algn="l"/>
                <a:tab pos="2765425" algn="l"/>
                <a:tab pos="3130550" algn="l"/>
              </a:tabLst>
            </a:pPr>
            <a:r>
              <a:rPr sz="2400" spc="145" dirty="0">
                <a:latin typeface="Arial MT"/>
                <a:cs typeface="Arial MT"/>
              </a:rPr>
              <a:t>CÁLCULO</a:t>
            </a:r>
            <a:r>
              <a:rPr sz="2400" dirty="0">
                <a:latin typeface="Arial MT"/>
                <a:cs typeface="Arial MT"/>
              </a:rPr>
              <a:t>		</a:t>
            </a:r>
            <a:r>
              <a:rPr sz="2400" spc="65" dirty="0">
                <a:latin typeface="Arial MT"/>
                <a:cs typeface="Arial MT"/>
              </a:rPr>
              <a:t>DE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95" dirty="0">
                <a:latin typeface="Arial MT"/>
                <a:cs typeface="Arial MT"/>
              </a:rPr>
              <a:t>LOS </a:t>
            </a:r>
            <a:r>
              <a:rPr sz="2400" spc="140" dirty="0">
                <a:latin typeface="Arial MT"/>
                <a:cs typeface="Arial MT"/>
              </a:rPr>
              <a:t>PARÁMETROS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120" dirty="0">
                <a:latin typeface="Arial MT"/>
                <a:cs typeface="Arial MT"/>
              </a:rPr>
              <a:t>CLAVES </a:t>
            </a:r>
            <a:r>
              <a:rPr sz="2400" spc="60" dirty="0">
                <a:latin typeface="Arial MT"/>
                <a:cs typeface="Arial MT"/>
              </a:rPr>
              <a:t>EN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90" dirty="0">
                <a:latin typeface="Arial MT"/>
                <a:cs typeface="Arial MT"/>
              </a:rPr>
              <a:t>LA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spc="145" dirty="0">
                <a:latin typeface="Arial MT"/>
                <a:cs typeface="Arial MT"/>
              </a:rPr>
              <a:t>GESTIÓN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65" dirty="0">
                <a:latin typeface="Arial MT"/>
                <a:cs typeface="Arial MT"/>
              </a:rPr>
              <a:t>DE</a:t>
            </a:r>
            <a:endParaRPr sz="2400">
              <a:latin typeface="Arial MT"/>
              <a:cs typeface="Arial MT"/>
            </a:endParaRPr>
          </a:p>
          <a:p>
            <a:pPr marR="7620" algn="r">
              <a:lnSpc>
                <a:spcPts val="2545"/>
              </a:lnSpc>
            </a:pPr>
            <a:r>
              <a:rPr sz="2400" spc="140" dirty="0">
                <a:latin typeface="Arial MT"/>
                <a:cs typeface="Arial MT"/>
              </a:rPr>
              <a:t>INVENTARIOS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660" y="881380"/>
            <a:ext cx="11549634" cy="6835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0047" y="962659"/>
            <a:ext cx="11164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CÁLCULO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PARÁMETROS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CLAVES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GESTIÓN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INVENTARIOS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8379" y="1849119"/>
            <a:ext cx="8082280" cy="500887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14.</a:t>
            </a:r>
            <a:r>
              <a:rPr sz="2050" u="sng" spc="-10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Planificación</a:t>
            </a:r>
            <a:r>
              <a:rPr sz="2050" u="sng" spc="-4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1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Materiales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</a:t>
            </a:r>
            <a:r>
              <a:rPr sz="2050" u="sng" spc="-12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Mantenimiento</a:t>
            </a:r>
            <a:endParaRPr sz="205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6020" y="2011678"/>
            <a:ext cx="7299959" cy="48336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660" y="881380"/>
            <a:ext cx="11549634" cy="68351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0047" y="962659"/>
            <a:ext cx="11164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CÁLCULO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PARÁMETROS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CLAVES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GESTIÓN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INVENTARIOS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8739" y="1704339"/>
            <a:ext cx="6261100" cy="48996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15.</a:t>
            </a:r>
            <a:r>
              <a:rPr sz="2050" u="sng" spc="-7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Cantidad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económica</a:t>
            </a:r>
            <a:r>
              <a:rPr sz="2050" u="sng" spc="-7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8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pedido</a:t>
            </a:r>
            <a:endParaRPr sz="20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8019" y="744219"/>
            <a:ext cx="5631815" cy="683895"/>
            <a:chOff x="668019" y="744219"/>
            <a:chExt cx="5631815" cy="6838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019" y="744219"/>
              <a:ext cx="1206754" cy="683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9400" y="744219"/>
              <a:ext cx="833374" cy="68351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73580" y="744219"/>
              <a:ext cx="2413254" cy="68351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58919" y="744219"/>
              <a:ext cx="818134" cy="6835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51679" y="744219"/>
              <a:ext cx="1747774" cy="68351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48677" y="826770"/>
            <a:ext cx="5248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Costo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Mantenimiento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Inventario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019" y="736600"/>
            <a:ext cx="3990594" cy="6835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8677" y="819086"/>
            <a:ext cx="36048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Lote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económico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pedido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2939" y="1399539"/>
            <a:ext cx="8326119" cy="505968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15.</a:t>
            </a:r>
            <a:r>
              <a:rPr sz="2050" u="sng" spc="-7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Cantidad</a:t>
            </a:r>
            <a:r>
              <a:rPr sz="2050" u="sng" spc="-5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económica</a:t>
            </a:r>
            <a:r>
              <a:rPr sz="2050" u="sng" spc="-7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de</a:t>
            </a:r>
            <a:r>
              <a:rPr sz="2050" u="sng" spc="-85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</a:t>
            </a:r>
            <a:r>
              <a:rPr sz="2050" u="sng" spc="-10" dirty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pedido</a:t>
            </a:r>
            <a:endParaRPr sz="20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5"/>
          <p:cNvSpPr txBox="1">
            <a:spLocks noGrp="1"/>
          </p:cNvSpPr>
          <p:nvPr>
            <p:ph type="ctrTitle"/>
          </p:nvPr>
        </p:nvSpPr>
        <p:spPr>
          <a:xfrm>
            <a:off x="774858" y="188789"/>
            <a:ext cx="8369142" cy="642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2050" u="sng" dirty="0" smtClean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Cuales son las Etapas para Optimizar el nivel de Inventarios de Mantenimiento en Cualquier Empresa ?</a:t>
            </a:r>
            <a:endParaRPr sz="2050" dirty="0">
              <a:latin typeface="Verdana"/>
              <a:cs typeface="Verdana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29" y="898513"/>
            <a:ext cx="3962400" cy="2971800"/>
          </a:xfrm>
          <a:prstGeom prst="rect">
            <a:avLst/>
          </a:prstGeom>
        </p:spPr>
      </p:pic>
      <p:sp>
        <p:nvSpPr>
          <p:cNvPr id="9" name="object 5"/>
          <p:cNvSpPr txBox="1">
            <a:spLocks/>
          </p:cNvSpPr>
          <p:nvPr/>
        </p:nvSpPr>
        <p:spPr>
          <a:xfrm>
            <a:off x="533400" y="4163291"/>
            <a:ext cx="7899083" cy="3270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s-ES" sz="2050" u="sng" dirty="0" smtClean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Como clasificar Los Materiales en Inventario?</a:t>
            </a:r>
            <a:endParaRPr lang="es-ES" sz="2050" dirty="0">
              <a:latin typeface="Verdana"/>
              <a:cs typeface="Verdana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4191000"/>
            <a:ext cx="41910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64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27" y="209238"/>
            <a:ext cx="6019800" cy="3133441"/>
          </a:xfrm>
          <a:prstGeom prst="rect">
            <a:avLst/>
          </a:prstGeom>
        </p:spPr>
      </p:pic>
      <p:sp>
        <p:nvSpPr>
          <p:cNvPr id="4" name="object 5"/>
          <p:cNvSpPr txBox="1">
            <a:spLocks/>
          </p:cNvSpPr>
          <p:nvPr/>
        </p:nvSpPr>
        <p:spPr>
          <a:xfrm>
            <a:off x="457200" y="3505200"/>
            <a:ext cx="9220200" cy="642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s-ES" sz="2050" u="sng" dirty="0" smtClean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Cuales son los </a:t>
            </a:r>
            <a:r>
              <a:rPr lang="es-ES" sz="2050" u="sng" dirty="0" err="1" smtClean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Parametros</a:t>
            </a:r>
            <a:r>
              <a:rPr lang="es-ES" sz="2050" u="sng" dirty="0" smtClean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Claves que se deben conocer y mantener Vigentes para Mantener </a:t>
            </a:r>
            <a:r>
              <a:rPr lang="es-ES" sz="2050" u="sng" dirty="0" err="1" smtClean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Optiizado</a:t>
            </a:r>
            <a:r>
              <a:rPr lang="es-ES" sz="2050" u="sng" dirty="0" smtClean="0">
                <a:solidFill>
                  <a:srgbClr val="EE532A"/>
                </a:solidFill>
                <a:uFill>
                  <a:solidFill>
                    <a:srgbClr val="EE532A"/>
                  </a:solidFill>
                </a:uFill>
                <a:latin typeface="Verdana"/>
                <a:cs typeface="Verdana"/>
              </a:rPr>
              <a:t> el Nivel de Inventarios?</a:t>
            </a:r>
            <a:endParaRPr lang="es-ES" sz="2050" dirty="0">
              <a:latin typeface="Verdana"/>
              <a:cs typeface="Verdana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472420"/>
            <a:ext cx="283845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816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</TotalTime>
  <Words>292</Words>
  <Application>Microsoft Office PowerPoint</Application>
  <PresentationFormat>Panorámica</PresentationFormat>
  <Paragraphs>58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Arial MT</vt:lpstr>
      <vt:lpstr>Calibri</vt:lpstr>
      <vt:lpstr>Google Sans</vt:lpstr>
      <vt:lpstr>Microsoft Sans Serif</vt:lpstr>
      <vt:lpstr>Verdana</vt:lpstr>
      <vt:lpstr>Office Theme</vt:lpstr>
      <vt:lpstr>Presentación de PowerPoint</vt:lpstr>
      <vt:lpstr>Planner de Mantenimiento</vt:lpstr>
      <vt:lpstr>Módulo 4</vt:lpstr>
      <vt:lpstr>Planificación de Materiales para Mantenimiento</vt:lpstr>
      <vt:lpstr>Planificación de Materiales para Mantenimiento</vt:lpstr>
      <vt:lpstr>Planificación de Materiales para Mantenimiento</vt:lpstr>
      <vt:lpstr>Presentación de PowerPoint</vt:lpstr>
      <vt:lpstr>Presentación de PowerPoint</vt:lpstr>
      <vt:lpstr>Presentación de PowerPoint</vt:lpstr>
      <vt:lpstr>14. Planificación de Materiales para Mantenimiento</vt:lpstr>
      <vt:lpstr>14. Planificación de Materiales para Mantenimiento</vt:lpstr>
      <vt:lpstr>14. Planificación de Materiales para Mantenimiento</vt:lpstr>
      <vt:lpstr>14. Planificación de Materiales para Mantenimiento</vt:lpstr>
      <vt:lpstr>14. Planificación de Materiales para Mantenimiento</vt:lpstr>
      <vt:lpstr>14. Planificación de Materiales para Mantenimiento</vt:lpstr>
      <vt:lpstr>Presentación de PowerPoint</vt:lpstr>
      <vt:lpstr>14. Planificación de Materiales para Mantenimiento</vt:lpstr>
      <vt:lpstr>14. Planificación de Materiales para Mantenimiento</vt:lpstr>
      <vt:lpstr>14. Planificación de Materiales para Mantenimiento</vt:lpstr>
      <vt:lpstr>14. Planificación de Materiales para Mantenimiento</vt:lpstr>
      <vt:lpstr>CÁLCULO  DE LOS PARÁMETROS CLAVES EN LA GESTIÓN DE INVENTARIOS</vt:lpstr>
      <vt:lpstr>CÁLCULO  DE LOS PARÁMETROS CLAVES EN LA GESTIÓN DE INVENTARIOS</vt:lpstr>
      <vt:lpstr>Presentación de PowerPoint</vt:lpstr>
      <vt:lpstr>14. Planificación de Materiales para Mantenimiento</vt:lpstr>
      <vt:lpstr>14. Planificación de Materiales para Mantenimiento</vt:lpstr>
      <vt:lpstr>15. Cantidad económica de pedido</vt:lpstr>
      <vt:lpstr>15. Cantidad económica de pedido</vt:lpstr>
      <vt:lpstr>Cuales son las Etapas para Optimizar el nivel de Inventarios de Mantenimiento en Cualquier Empresa ?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Ci5D2</dc:creator>
  <cp:lastModifiedBy>lenovo</cp:lastModifiedBy>
  <cp:revision>7</cp:revision>
  <dcterms:created xsi:type="dcterms:W3CDTF">2024-01-10T03:06:56Z</dcterms:created>
  <dcterms:modified xsi:type="dcterms:W3CDTF">2024-05-19T19:59:33Z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2024-01-10T00:00:00Z</vt:filetime>
  </property>
  <property fmtid="{D5CDD505-2E9C-101B-9397-08002B2CF9AE}" pid="5" name="Producer">
    <vt:lpwstr>Microsoft® PowerPoint® 2019</vt:lpwstr>
  </property>
</Properties>
</file>