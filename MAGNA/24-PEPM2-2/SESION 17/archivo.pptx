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27" r:id="rId4"/>
    <p:sldId id="306" r:id="rId5"/>
    <p:sldId id="308" r:id="rId6"/>
    <p:sldId id="309" r:id="rId7"/>
    <p:sldId id="310" r:id="rId8"/>
    <p:sldId id="258" r:id="rId9"/>
    <p:sldId id="305" r:id="rId10"/>
    <p:sldId id="307" r:id="rId11"/>
    <p:sldId id="311" r:id="rId12"/>
    <p:sldId id="312" r:id="rId13"/>
    <p:sldId id="315" r:id="rId14"/>
    <p:sldId id="314" r:id="rId15"/>
    <p:sldId id="316" r:id="rId16"/>
    <p:sldId id="324" r:id="rId17"/>
    <p:sldId id="325" r:id="rId18"/>
    <p:sldId id="326" r:id="rId19"/>
    <p:sldId id="317" r:id="rId20"/>
    <p:sldId id="313" r:id="rId21"/>
    <p:sldId id="318" r:id="rId22"/>
    <p:sldId id="319" r:id="rId23"/>
    <p:sldId id="320" r:id="rId24"/>
    <p:sldId id="321" r:id="rId25"/>
    <p:sldId id="322" r:id="rId26"/>
    <p:sldId id="323" r:id="rId27"/>
    <p:sldId id="303" r:id="rId28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66895" y="2347912"/>
            <a:ext cx="3458209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8350" y="1932939"/>
            <a:ext cx="10998835" cy="4015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5304" y="1690306"/>
            <a:ext cx="6038850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90850">
              <a:lnSpc>
                <a:spcPct val="100000"/>
              </a:lnSpc>
              <a:spcBef>
                <a:spcPts val="100"/>
              </a:spcBef>
            </a:pPr>
            <a:r>
              <a:rPr spc="5" dirty="0">
                <a:solidFill>
                  <a:srgbClr val="00F3B5"/>
                </a:solidFill>
                <a:latin typeface="Lucida Sans Unicode"/>
                <a:cs typeface="Lucida Sans Unicode"/>
              </a:rPr>
              <a:t>Planner  </a:t>
            </a:r>
            <a:r>
              <a:rPr spc="270" dirty="0">
                <a:solidFill>
                  <a:srgbClr val="00F3B5"/>
                </a:solidFill>
                <a:latin typeface="Lucida Sans Unicode"/>
                <a:cs typeface="Lucida Sans Unicode"/>
              </a:rPr>
              <a:t>de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0" dirty="0">
                <a:solidFill>
                  <a:srgbClr val="00F3B5"/>
                </a:solidFill>
                <a:latin typeface="Lucida Sans Unicode"/>
                <a:cs typeface="Lucida Sans Unicode"/>
              </a:rPr>
              <a:t>Mantenimiento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05304" y="1404620"/>
            <a:ext cx="2643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CURSO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FORMACIÓN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5304" y="1690306"/>
            <a:ext cx="8176896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90850">
              <a:lnSpc>
                <a:spcPct val="100000"/>
              </a:lnSpc>
              <a:spcBef>
                <a:spcPts val="100"/>
              </a:spcBef>
            </a:pPr>
            <a:r>
              <a:rPr lang="es-ES" spc="5" dirty="0" smtClean="0">
                <a:solidFill>
                  <a:srgbClr val="00F3B5"/>
                </a:solidFill>
                <a:latin typeface="Lucida Sans Unicode"/>
                <a:cs typeface="Lucida Sans Unicode"/>
              </a:rPr>
              <a:t>Gestión de Paradas de Planta </a:t>
            </a:r>
            <a:r>
              <a:rPr spc="5" dirty="0" smtClean="0">
                <a:solidFill>
                  <a:srgbClr val="00F3B5"/>
                </a:solidFill>
                <a:latin typeface="Lucida Sans Unicode"/>
                <a:cs typeface="Lucida Sans Unicode"/>
              </a:rPr>
              <a:t>  </a:t>
            </a:r>
            <a:r>
              <a:rPr spc="270" dirty="0">
                <a:solidFill>
                  <a:srgbClr val="00F3B5"/>
                </a:solidFill>
                <a:latin typeface="Lucida Sans Unicode"/>
                <a:cs typeface="Lucida Sans Unicode"/>
              </a:rPr>
              <a:t>de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0" dirty="0">
                <a:solidFill>
                  <a:srgbClr val="00F3B5"/>
                </a:solidFill>
                <a:latin typeface="Lucida Sans Unicode"/>
                <a:cs typeface="Lucida Sans Unicode"/>
              </a:rPr>
              <a:t>Mantenimiento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5000" y="1295400"/>
            <a:ext cx="26435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000" b="1" spc="25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MODULO 6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68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1039091" y="228600"/>
            <a:ext cx="7931784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>
              <a:spcBef>
                <a:spcPts val="100"/>
              </a:spcBef>
            </a:pPr>
            <a:r>
              <a:rPr lang="es-ES" sz="3200" b="1" kern="0" spc="-20" dirty="0" smtClean="0">
                <a:solidFill>
                  <a:srgbClr val="0033CC"/>
                </a:solidFill>
                <a:latin typeface="Calibri"/>
                <a:cs typeface="Calibri"/>
              </a:rPr>
              <a:t>PLANIFICACION Y PROGRAMACIÓN DE PROYECTOS</a:t>
            </a:r>
            <a:endParaRPr lang="es-ES" sz="3200" kern="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247091"/>
            <a:ext cx="5867400" cy="537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399"/>
            <a:ext cx="8763000" cy="178686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258862"/>
            <a:ext cx="6504762" cy="4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1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457200"/>
            <a:ext cx="9115049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8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5800"/>
            <a:ext cx="8839200" cy="57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0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444115"/>
            <a:ext cx="6102984" cy="5502690"/>
          </a:xfrm>
          <a:prstGeom prst="rect">
            <a:avLst/>
          </a:prstGeom>
        </p:spPr>
      </p:pic>
      <p:sp>
        <p:nvSpPr>
          <p:cNvPr id="4" name="object 2"/>
          <p:cNvSpPr txBox="1">
            <a:spLocks/>
          </p:cNvSpPr>
          <p:nvPr/>
        </p:nvSpPr>
        <p:spPr>
          <a:xfrm>
            <a:off x="1039091" y="228600"/>
            <a:ext cx="7931784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>
              <a:spcBef>
                <a:spcPts val="100"/>
              </a:spcBef>
            </a:pPr>
            <a:r>
              <a:rPr lang="es-ES" sz="3200" b="1" kern="0" spc="-20" dirty="0" smtClean="0">
                <a:solidFill>
                  <a:sysClr val="windowText" lastClr="000000"/>
                </a:solidFill>
                <a:latin typeface="Calibri"/>
                <a:cs typeface="Calibri"/>
              </a:rPr>
              <a:t>PMBOK – PROJET MANAGEMENT BODY OF KNOWLEDGE</a:t>
            </a:r>
            <a:endParaRPr lang="es-ES" sz="32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92" y="685800"/>
            <a:ext cx="6441908" cy="467384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174871"/>
            <a:ext cx="2885684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8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609600"/>
            <a:ext cx="817732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914400"/>
            <a:ext cx="7879391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5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33400"/>
            <a:ext cx="8534400" cy="628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1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762000"/>
            <a:ext cx="8267699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8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38" y="685800"/>
            <a:ext cx="8244374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5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10162418" cy="411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6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36039" y="0"/>
            <a:ext cx="10855960" cy="6543040"/>
            <a:chOff x="1336039" y="0"/>
            <a:chExt cx="10855960" cy="6543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6039" y="1295400"/>
              <a:ext cx="9415780" cy="52476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51820" y="0"/>
              <a:ext cx="1440179" cy="14401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3213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7339" y="152400"/>
            <a:ext cx="5969000" cy="642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31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980" y="601980"/>
            <a:ext cx="9685020" cy="565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40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8350728" cy="606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9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838200"/>
            <a:ext cx="7799261" cy="550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9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85800"/>
            <a:ext cx="8900788" cy="505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8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55" y="1066800"/>
            <a:ext cx="9190476" cy="3638095"/>
          </a:xfrm>
          <a:prstGeom prst="rect">
            <a:avLst/>
          </a:prstGeom>
        </p:spPr>
      </p:pic>
      <p:sp>
        <p:nvSpPr>
          <p:cNvPr id="3" name="object 2"/>
          <p:cNvSpPr txBox="1">
            <a:spLocks/>
          </p:cNvSpPr>
          <p:nvPr/>
        </p:nvSpPr>
        <p:spPr>
          <a:xfrm>
            <a:off x="838200" y="381000"/>
            <a:ext cx="557974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ES" sz="2800" b="1" kern="0" spc="-10" dirty="0" smtClean="0">
                <a:solidFill>
                  <a:srgbClr val="0033CC"/>
                </a:solidFill>
                <a:latin typeface="Calibri"/>
                <a:cs typeface="Calibri"/>
              </a:rPr>
              <a:t>RUTA CRITICA</a:t>
            </a:r>
            <a:endParaRPr lang="es-ES" sz="2800" kern="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36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609600"/>
            <a:ext cx="7857143" cy="5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2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066800"/>
            <a:ext cx="8904762" cy="5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8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03" y="1524000"/>
            <a:ext cx="1149069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6240" y="381000"/>
            <a:ext cx="5197475" cy="917575"/>
            <a:chOff x="396240" y="381000"/>
            <a:chExt cx="5197475" cy="9175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" y="381000"/>
              <a:ext cx="3175254" cy="9171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0060" y="381000"/>
              <a:ext cx="754634" cy="9171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4700" y="381000"/>
              <a:ext cx="2278633" cy="91719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5794" y="484504"/>
            <a:ext cx="697420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</a:t>
            </a:r>
            <a:r>
              <a:rPr sz="2400" b="1" spc="10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sz="2400" b="1" spc="-25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400" b="1" spc="-15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40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CURVA </a:t>
            </a:r>
            <a:r>
              <a:rPr sz="2400" b="1" spc="-10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“S”</a:t>
            </a:r>
            <a:endParaRPr sz="2400" b="1" dirty="0">
              <a:solidFill>
                <a:srgbClr val="00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240" y="970164"/>
            <a:ext cx="11103610" cy="5038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90"/>
              </a:spcBef>
            </a:pPr>
            <a:r>
              <a:rPr sz="1800" spc="-15" dirty="0">
                <a:latin typeface="Calibri"/>
                <a:cs typeface="Calibri"/>
              </a:rPr>
              <a:t>Representa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5" dirty="0">
                <a:latin typeface="Calibri"/>
                <a:cs typeface="Calibri"/>
              </a:rPr>
              <a:t>un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5" dirty="0">
                <a:latin typeface="Calibri"/>
                <a:cs typeface="Calibri"/>
              </a:rPr>
              <a:t>avance </a:t>
            </a:r>
            <a:r>
              <a:rPr sz="1800" spc="-10" dirty="0">
                <a:latin typeface="Calibri"/>
                <a:cs typeface="Calibri"/>
              </a:rPr>
              <a:t>real respecto </a:t>
            </a:r>
            <a:r>
              <a:rPr sz="1800" spc="-5" dirty="0">
                <a:latin typeface="Calibri"/>
                <a:cs typeface="Calibri"/>
              </a:rPr>
              <a:t>al planificado </a:t>
            </a:r>
            <a:r>
              <a:rPr sz="1800" spc="10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un </a:t>
            </a:r>
            <a:r>
              <a:rPr sz="1800" dirty="0">
                <a:latin typeface="Calibri"/>
                <a:cs typeface="Calibri"/>
              </a:rPr>
              <a:t>período acumulado </a:t>
            </a:r>
            <a:r>
              <a:rPr sz="1800" spc="-15" dirty="0">
                <a:latin typeface="Calibri"/>
                <a:cs typeface="Calibri"/>
              </a:rPr>
              <a:t>hasta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fecha.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curva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recibe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nombre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“S” </a:t>
            </a:r>
            <a:r>
              <a:rPr sz="1800" spc="-5" dirty="0">
                <a:latin typeface="Calibri"/>
                <a:cs typeface="Calibri"/>
              </a:rPr>
              <a:t>por su </a:t>
            </a:r>
            <a:r>
              <a:rPr sz="1800" spc="-10" dirty="0">
                <a:latin typeface="Calibri"/>
                <a:cs typeface="Calibri"/>
              </a:rPr>
              <a:t>forma: </a:t>
            </a:r>
            <a:r>
              <a:rPr sz="1800" spc="-5" dirty="0">
                <a:latin typeface="Calibri"/>
                <a:cs typeface="Calibri"/>
              </a:rPr>
              <a:t>al principio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spc="-20" dirty="0">
                <a:latin typeface="Calibri"/>
                <a:cs typeface="Calibri"/>
              </a:rPr>
              <a:t>hay </a:t>
            </a:r>
            <a:r>
              <a:rPr sz="1800" spc="-10" dirty="0">
                <a:latin typeface="Calibri"/>
                <a:cs typeface="Calibri"/>
              </a:rPr>
              <a:t>una </a:t>
            </a:r>
            <a:r>
              <a:rPr sz="1800" dirty="0">
                <a:latin typeface="Calibri"/>
                <a:cs typeface="Calibri"/>
              </a:rPr>
              <a:t>tendencia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5" dirty="0">
                <a:latin typeface="Calibri"/>
                <a:cs typeface="Calibri"/>
              </a:rPr>
              <a:t>costos </a:t>
            </a:r>
            <a:r>
              <a:rPr sz="1800" spc="-5" dirty="0">
                <a:latin typeface="Calibri"/>
                <a:cs typeface="Calibri"/>
              </a:rPr>
              <a:t>acumulados crecientes,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mientras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éstos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costos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acumulados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decrecen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hacia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final.</a:t>
            </a:r>
            <a:endParaRPr sz="18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alibri"/>
                <a:cs typeface="Calibri"/>
              </a:rPr>
              <a:t>La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primera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versión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Curva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partir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cronograma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vigente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presupuesto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inicial.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Posteriormente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endParaRPr sz="18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85"/>
              </a:spcBef>
            </a:pPr>
            <a:r>
              <a:rPr sz="1800" spc="-5" dirty="0">
                <a:latin typeface="Calibri"/>
                <a:cs typeface="Calibri"/>
              </a:rPr>
              <a:t>puede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actualizar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conforme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crean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nuevas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versiones.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objetivo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detectar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desviaciones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existentes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tomar</a:t>
            </a:r>
            <a:endParaRPr sz="18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Calibri"/>
                <a:cs typeface="Calibri"/>
              </a:rPr>
              <a:t>medidas </a:t>
            </a:r>
            <a:r>
              <a:rPr sz="1800" spc="-20" dirty="0">
                <a:latin typeface="Calibri"/>
                <a:cs typeface="Calibri"/>
              </a:rPr>
              <a:t>para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corregirlas.</a:t>
            </a:r>
            <a:endParaRPr sz="1800" dirty="0">
              <a:latin typeface="Calibri"/>
              <a:cs typeface="Calibri"/>
            </a:endParaRPr>
          </a:p>
          <a:p>
            <a:pPr marL="12700" marR="5170805" algn="just">
              <a:lnSpc>
                <a:spcPct val="150100"/>
              </a:lnSpc>
              <a:spcBef>
                <a:spcPts val="575"/>
              </a:spcBef>
            </a:pPr>
            <a:r>
              <a:rPr sz="1800" spc="-15" dirty="0">
                <a:latin typeface="Calibri"/>
                <a:cs typeface="Calibri"/>
              </a:rPr>
              <a:t>Esta </a:t>
            </a:r>
            <a:r>
              <a:rPr sz="1800" spc="-5" dirty="0">
                <a:latin typeface="Calibri"/>
                <a:cs typeface="Calibri"/>
              </a:rPr>
              <a:t>curva indica </a:t>
            </a:r>
            <a:r>
              <a:rPr sz="1800" dirty="0">
                <a:latin typeface="Calibri"/>
                <a:cs typeface="Calibri"/>
              </a:rPr>
              <a:t>qué </a:t>
            </a:r>
            <a:r>
              <a:rPr sz="1800" spc="-10" dirty="0">
                <a:latin typeface="Calibri"/>
                <a:cs typeface="Calibri"/>
              </a:rPr>
              <a:t>porcentaje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avance físico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trabajo </a:t>
            </a:r>
            <a:r>
              <a:rPr sz="1800" dirty="0">
                <a:latin typeface="Calibri"/>
                <a:cs typeface="Calibri"/>
              </a:rPr>
              <a:t>es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5" dirty="0">
                <a:latin typeface="Calibri"/>
                <a:cs typeface="Calibri"/>
              </a:rPr>
              <a:t>bajo </a:t>
            </a:r>
            <a:r>
              <a:rPr sz="1800" dirty="0">
                <a:latin typeface="Calibri"/>
                <a:cs typeface="Calibri"/>
              </a:rPr>
              <a:t>al </a:t>
            </a:r>
            <a:r>
              <a:rPr sz="1800" spc="-5" dirty="0">
                <a:latin typeface="Calibri"/>
                <a:cs typeface="Calibri"/>
              </a:rPr>
              <a:t>inicio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al </a:t>
            </a:r>
            <a:r>
              <a:rPr sz="1800" dirty="0">
                <a:latin typeface="Calibri"/>
                <a:cs typeface="Calibri"/>
              </a:rPr>
              <a:t>final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actividad. </a:t>
            </a:r>
            <a:r>
              <a:rPr sz="1800" spc="-15" dirty="0">
                <a:latin typeface="Calibri"/>
                <a:cs typeface="Calibri"/>
              </a:rPr>
              <a:t>Este </a:t>
            </a:r>
            <a:r>
              <a:rPr sz="1800" dirty="0">
                <a:latin typeface="Calibri"/>
                <a:cs typeface="Calibri"/>
              </a:rPr>
              <a:t>hecho </a:t>
            </a:r>
            <a:r>
              <a:rPr sz="1800" spc="-5" dirty="0">
                <a:latin typeface="Calibri"/>
                <a:cs typeface="Calibri"/>
              </a:rPr>
              <a:t>se debe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inicio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trabajo,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requiere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para </a:t>
            </a:r>
            <a:r>
              <a:rPr sz="1800" spc="-15" dirty="0">
                <a:latin typeface="Calibri"/>
                <a:cs typeface="Calibri"/>
              </a:rPr>
              <a:t> familiarizarse </a:t>
            </a:r>
            <a:r>
              <a:rPr sz="1800" spc="-5" dirty="0">
                <a:latin typeface="Calibri"/>
                <a:cs typeface="Calibri"/>
              </a:rPr>
              <a:t>con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documentación, necesidades del </a:t>
            </a:r>
            <a:r>
              <a:rPr sz="1800" spc="-10" dirty="0">
                <a:latin typeface="Calibri"/>
                <a:cs typeface="Calibri"/>
              </a:rPr>
              <a:t>cliente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crear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ambiente </a:t>
            </a:r>
            <a:r>
              <a:rPr sz="1800" spc="-5" dirty="0">
                <a:latin typeface="Calibri"/>
                <a:cs typeface="Calibri"/>
              </a:rPr>
              <a:t>motivacional </a:t>
            </a:r>
            <a:r>
              <a:rPr sz="1800" spc="-10" dirty="0">
                <a:latin typeface="Calibri"/>
                <a:cs typeface="Calibri"/>
              </a:rPr>
              <a:t>sobre </a:t>
            </a:r>
            <a:r>
              <a:rPr sz="1800" dirty="0">
                <a:latin typeface="Calibri"/>
                <a:cs typeface="Calibri"/>
              </a:rPr>
              <a:t>el cual </a:t>
            </a:r>
            <a:r>
              <a:rPr sz="1800" spc="-5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desarrollará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proyecto.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3305694"/>
            <a:ext cx="4503420" cy="27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62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6"/>
          <p:cNvSpPr txBox="1">
            <a:spLocks/>
          </p:cNvSpPr>
          <p:nvPr/>
        </p:nvSpPr>
        <p:spPr>
          <a:xfrm>
            <a:off x="5219699" y="1828800"/>
            <a:ext cx="1752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ES" sz="2400" b="1" kern="0" spc="-10" dirty="0" smtClean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 !</a:t>
            </a:r>
            <a:endParaRPr lang="es-PE" sz="2400" b="1" kern="0" dirty="0">
              <a:solidFill>
                <a:srgbClr val="00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</TotalTime>
  <Words>193</Words>
  <Application>Microsoft Office PowerPoint</Application>
  <PresentationFormat>Panorámica</PresentationFormat>
  <Paragraphs>16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Lucida Sans Unicode</vt:lpstr>
      <vt:lpstr>Office Theme</vt:lpstr>
      <vt:lpstr>Presentación de PowerPoint</vt:lpstr>
      <vt:lpstr>Planner  de Mantenimiento</vt:lpstr>
      <vt:lpstr>Gestión de Paradas de Planta   de Mantenimiento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REPORTE FINAL – CURVA “S”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lenovo</cp:lastModifiedBy>
  <cp:revision>14</cp:revision>
  <dcterms:created xsi:type="dcterms:W3CDTF">2024-01-10T03:08:39Z</dcterms:created>
  <dcterms:modified xsi:type="dcterms:W3CDTF">2024-05-26T23:34:34Z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2024-01-10T00:00:00Z</vt:filetime>
  </property>
</Properties>
</file>