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0" r:id="rId2"/>
    <p:sldId id="262" r:id="rId3"/>
    <p:sldId id="271" r:id="rId4"/>
    <p:sldId id="256" r:id="rId5"/>
    <p:sldId id="257" r:id="rId6"/>
    <p:sldId id="258" r:id="rId7"/>
    <p:sldId id="259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38" d="100"/>
          <a:sy n="38" d="100"/>
        </p:scale>
        <p:origin x="60" y="72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717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443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698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169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008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999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213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496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62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513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258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557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3CA07C3-4DBE-31F4-E495-081F58246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802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1219696" y="2818108"/>
            <a:ext cx="10153742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4500" b="1" dirty="0">
                <a:solidFill>
                  <a:srgbClr val="00F3B5"/>
                </a:solidFill>
                <a:latin typeface="Prompt" panose="00000800000000000000" pitchFamily="2" charset="-34"/>
                <a:cs typeface="Prompt" panose="00000800000000000000" pitchFamily="2" charset="-34"/>
              </a:rPr>
              <a:t>ANÁLISIS DE SISTEMAS ELÉCTRICOS</a:t>
            </a:r>
          </a:p>
          <a:p>
            <a:r>
              <a:rPr lang="es-ES" sz="4500" b="1" dirty="0">
                <a:solidFill>
                  <a:schemeClr val="bg1"/>
                </a:solidFill>
                <a:latin typeface="Prompt" panose="00000800000000000000" pitchFamily="2" charset="-34"/>
                <a:cs typeface="Prompt" panose="00000800000000000000" pitchFamily="2" charset="-34"/>
              </a:rPr>
              <a:t>CON ETAP Y DIGSILENT</a:t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1726249" y="1401509"/>
            <a:ext cx="3811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  <a:latin typeface="Prompt" panose="00000800000000000000" pitchFamily="2" charset="-34"/>
                <a:cs typeface="Prompt" panose="00000800000000000000" pitchFamily="2" charset="-34"/>
              </a:rPr>
              <a:t>Programa de especialización:</a:t>
            </a:r>
          </a:p>
        </p:txBody>
      </p:sp>
    </p:spTree>
    <p:extLst>
      <p:ext uri="{BB962C8B-B14F-4D97-AF65-F5344CB8AC3E}">
        <p14:creationId xmlns:p14="http://schemas.microsoft.com/office/powerpoint/2010/main" val="1825619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9D13CB31-26BF-7382-C0F7-D7844B92A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719" y="2766940"/>
            <a:ext cx="6667500" cy="844550"/>
          </a:xfrm>
        </p:spPr>
        <p:txBody>
          <a:bodyPr/>
          <a:lstStyle/>
          <a:p>
            <a:r>
              <a:rPr lang="es-ES" dirty="0">
                <a:solidFill>
                  <a:srgbClr val="00F3B5"/>
                </a:solidFill>
                <a:latin typeface="Prompt" panose="00000800000000000000" pitchFamily="2" charset="-34"/>
                <a:cs typeface="Prompt" panose="00000800000000000000" pitchFamily="2" charset="-34"/>
              </a:rPr>
              <a:t>Módulo 1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8D0F25F-D4D3-799E-A82B-4C30835E26A2}"/>
              </a:ext>
            </a:extLst>
          </p:cNvPr>
          <p:cNvSpPr txBox="1"/>
          <p:nvPr/>
        </p:nvSpPr>
        <p:spPr>
          <a:xfrm>
            <a:off x="1087719" y="3611490"/>
            <a:ext cx="6691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  <a:latin typeface="Prompt" panose="00000800000000000000" pitchFamily="2" charset="-34"/>
                <a:cs typeface="Prompt" panose="00000800000000000000" pitchFamily="2" charset="-34"/>
              </a:rPr>
              <a:t>Fundamentos de Sistemas Eléctricos de Potencia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59097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927834"/>
            <a:ext cx="7886700" cy="1325563"/>
          </a:xfrm>
        </p:spPr>
        <p:txBody>
          <a:bodyPr>
            <a:normAutofit/>
          </a:bodyPr>
          <a:lstStyle/>
          <a:p>
            <a:r>
              <a:rPr b="1" dirty="0" err="1"/>
              <a:t>Módulo</a:t>
            </a:r>
            <a:r>
              <a:rPr b="1" dirty="0"/>
              <a:t> I – </a:t>
            </a:r>
            <a:r>
              <a:rPr lang="es-ES" b="1" dirty="0"/>
              <a:t>Elementos básicos de un circuito en sistemas de potencia</a:t>
            </a:r>
            <a:endParaRPr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1A76F25-6819-4773-B08D-583FEA0F1CB6}"/>
              </a:ext>
            </a:extLst>
          </p:cNvPr>
          <p:cNvSpPr txBox="1"/>
          <p:nvPr/>
        </p:nvSpPr>
        <p:spPr>
          <a:xfrm>
            <a:off x="2060713" y="2292116"/>
            <a:ext cx="79612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/>
              <a:t> 1. Resistencia (R)</a:t>
            </a:r>
          </a:p>
          <a:p>
            <a:pPr marL="357188">
              <a:buFont typeface="Arial" panose="020B0604020202020204" pitchFamily="34" charset="0"/>
              <a:buChar char="•"/>
            </a:pPr>
            <a:r>
              <a:rPr lang="es-ES" sz="2400" dirty="0"/>
              <a:t>Oposición al flujo de corriente </a:t>
            </a:r>
            <a:r>
              <a:rPr lang="es-ES" sz="2400" b="1" dirty="0"/>
              <a:t>tanto en CC como en CA</a:t>
            </a:r>
            <a:r>
              <a:rPr lang="es-ES" sz="2400" dirty="0"/>
              <a:t>.</a:t>
            </a:r>
          </a:p>
          <a:p>
            <a:pPr marL="357188">
              <a:buFont typeface="Arial" panose="020B0604020202020204" pitchFamily="34" charset="0"/>
              <a:buChar char="•"/>
            </a:pPr>
            <a:r>
              <a:rPr lang="es-ES" sz="2400" dirty="0"/>
              <a:t>Genera pérdidas en forma de calor (</a:t>
            </a:r>
            <a:r>
              <a:rPr lang="es-ES" sz="2400" b="1" dirty="0"/>
              <a:t>efecto Joule</a:t>
            </a:r>
            <a:r>
              <a:rPr lang="es-ES" sz="2400" dirty="0"/>
              <a:t>).</a:t>
            </a:r>
          </a:p>
          <a:p>
            <a:pPr marL="357188">
              <a:buFont typeface="Arial" panose="020B0604020202020204" pitchFamily="34" charset="0"/>
              <a:buChar char="•"/>
            </a:pPr>
            <a:r>
              <a:rPr lang="es-ES" sz="2400" dirty="0"/>
              <a:t>Unidad: Ohm (Ω).</a:t>
            </a:r>
          </a:p>
          <a:p>
            <a:pPr marL="357188">
              <a:buFont typeface="Arial" panose="020B0604020202020204" pitchFamily="34" charset="0"/>
              <a:buChar char="•"/>
            </a:pPr>
            <a:endParaRPr lang="es-ES" sz="2400" dirty="0"/>
          </a:p>
          <a:p>
            <a:r>
              <a:rPr lang="es-ES" sz="2400" dirty="0"/>
              <a:t>Fórmula:</a:t>
            </a:r>
          </a:p>
          <a:p>
            <a:endParaRPr lang="es-ES" sz="24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FE0B26E-2DEC-4D74-B304-23D68E031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564" y="4969772"/>
            <a:ext cx="1019175" cy="381000"/>
          </a:xfrm>
          <a:prstGeom prst="rect">
            <a:avLst/>
          </a:prstGeom>
        </p:spPr>
      </p:pic>
      <p:pic>
        <p:nvPicPr>
          <p:cNvPr id="1026" name="Picture 2" descr="Introducción ley de Ohm - Electrotecnia Automotrizz - Podcast en iVoox">
            <a:extLst>
              <a:ext uri="{FF2B5EF4-FFF2-40B4-BE49-F238E27FC236}">
                <a16:creationId xmlns:a16="http://schemas.microsoft.com/office/drawing/2014/main" id="{D8EEF0F2-6333-494B-ACDE-A4D2E8E1A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9087" y="4392363"/>
            <a:ext cx="2260435" cy="2260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68552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b="1" dirty="0"/>
              <a:t>2. </a:t>
            </a:r>
            <a:r>
              <a:rPr lang="en-US" sz="1900" b="1" dirty="0" err="1"/>
              <a:t>Reactancia</a:t>
            </a:r>
            <a:r>
              <a:rPr lang="en-US" sz="1900" b="1" dirty="0"/>
              <a:t> (X)</a:t>
            </a:r>
          </a:p>
          <a:p>
            <a:pPr marL="625475" indent="-268288"/>
            <a:r>
              <a:rPr lang="en-US" sz="1900" dirty="0" err="1"/>
              <a:t>Oposición</a:t>
            </a:r>
            <a:r>
              <a:rPr lang="en-US" sz="1900" dirty="0"/>
              <a:t> al </a:t>
            </a:r>
            <a:r>
              <a:rPr lang="en-US" sz="1900" dirty="0" err="1"/>
              <a:t>flujo</a:t>
            </a:r>
            <a:r>
              <a:rPr lang="en-US" sz="1900" dirty="0"/>
              <a:t> de </a:t>
            </a:r>
            <a:r>
              <a:rPr lang="en-US" sz="1900" dirty="0" err="1"/>
              <a:t>corriente</a:t>
            </a:r>
            <a:r>
              <a:rPr lang="en-US" sz="1900" dirty="0"/>
              <a:t> </a:t>
            </a:r>
            <a:r>
              <a:rPr lang="en-US" sz="1900" dirty="0" err="1"/>
              <a:t>en</a:t>
            </a:r>
            <a:r>
              <a:rPr lang="en-US" sz="1900" dirty="0"/>
              <a:t> </a:t>
            </a:r>
            <a:r>
              <a:rPr lang="en-US" sz="1900" b="1" dirty="0" err="1"/>
              <a:t>corriente</a:t>
            </a:r>
            <a:r>
              <a:rPr lang="en-US" sz="1900" b="1" dirty="0"/>
              <a:t> </a:t>
            </a:r>
            <a:r>
              <a:rPr lang="en-US" sz="1900" b="1" dirty="0" err="1"/>
              <a:t>alterna</a:t>
            </a:r>
            <a:r>
              <a:rPr lang="en-US" sz="1900" b="1" dirty="0"/>
              <a:t> (CA)</a:t>
            </a:r>
            <a:r>
              <a:rPr lang="en-US" sz="1900" dirty="0"/>
              <a:t> </a:t>
            </a:r>
            <a:r>
              <a:rPr lang="en-US" sz="1900" dirty="0" err="1"/>
              <a:t>debido</a:t>
            </a:r>
            <a:r>
              <a:rPr lang="en-US" sz="1900" dirty="0"/>
              <a:t> al </a:t>
            </a:r>
            <a:r>
              <a:rPr lang="en-US" sz="1900" b="1" dirty="0" err="1"/>
              <a:t>almacenamiento</a:t>
            </a:r>
            <a:r>
              <a:rPr lang="en-US" sz="1900" b="1" dirty="0"/>
              <a:t> de </a:t>
            </a:r>
            <a:r>
              <a:rPr lang="en-US" sz="1900" b="1" dirty="0" err="1"/>
              <a:t>energía</a:t>
            </a:r>
            <a:r>
              <a:rPr lang="en-US" sz="1900" dirty="0"/>
              <a:t> </a:t>
            </a:r>
            <a:r>
              <a:rPr lang="en-US" sz="1900" dirty="0" err="1"/>
              <a:t>en</a:t>
            </a:r>
            <a:r>
              <a:rPr lang="en-US" sz="1900" dirty="0"/>
              <a:t> </a:t>
            </a:r>
            <a:r>
              <a:rPr lang="en-US" sz="1900" dirty="0" err="1"/>
              <a:t>campos</a:t>
            </a:r>
            <a:r>
              <a:rPr lang="en-US" sz="1900" dirty="0"/>
              <a:t> </a:t>
            </a:r>
            <a:r>
              <a:rPr lang="en-US" sz="1900" dirty="0" err="1"/>
              <a:t>magnéticos</a:t>
            </a:r>
            <a:r>
              <a:rPr lang="en-US" sz="1900" dirty="0"/>
              <a:t> o </a:t>
            </a:r>
            <a:r>
              <a:rPr lang="en-US" sz="1900" dirty="0" err="1"/>
              <a:t>eléctricos</a:t>
            </a:r>
            <a:r>
              <a:rPr lang="en-US" sz="1900" dirty="0"/>
              <a:t>.</a:t>
            </a:r>
          </a:p>
          <a:p>
            <a:pPr marL="625475" indent="-268288"/>
            <a:r>
              <a:rPr lang="en-US" sz="1900" dirty="0"/>
              <a:t>Unidad: Ohm (</a:t>
            </a:r>
            <a:r>
              <a:rPr lang="el-GR" sz="1900" dirty="0"/>
              <a:t>Ω).</a:t>
            </a:r>
          </a:p>
          <a:p>
            <a:pPr marL="357187" indent="0">
              <a:buNone/>
            </a:pPr>
            <a:r>
              <a:rPr lang="en-US" sz="1900" dirty="0"/>
              <a:t>Dos </a:t>
            </a:r>
            <a:r>
              <a:rPr lang="en-US" sz="1900" dirty="0" err="1"/>
              <a:t>tipos</a:t>
            </a:r>
            <a:r>
              <a:rPr lang="en-US" sz="1900" dirty="0"/>
              <a:t>:</a:t>
            </a:r>
          </a:p>
          <a:p>
            <a:pPr marL="457200" lvl="1" indent="0">
              <a:buNone/>
            </a:pPr>
            <a:r>
              <a:rPr lang="en-US" sz="1900" b="1" dirty="0"/>
              <a:t>2.1 </a:t>
            </a:r>
            <a:r>
              <a:rPr lang="en-US" sz="1900" b="1" dirty="0" err="1"/>
              <a:t>Inductiva</a:t>
            </a:r>
            <a:r>
              <a:rPr lang="en-US" sz="1900" b="1" dirty="0"/>
              <a:t> (XL):</a:t>
            </a:r>
          </a:p>
          <a:p>
            <a:pPr marL="715963" lvl="1" indent="0">
              <a:buNone/>
            </a:pPr>
            <a:r>
              <a:rPr lang="es-ES" sz="1900" dirty="0"/>
              <a:t>Es la oposición que ofrece un inductor (bobina) al paso de la corriente alterna, debido a la generación de un campo magnético variable.</a:t>
            </a:r>
            <a:endParaRPr lang="en-US" sz="1900" dirty="0"/>
          </a:p>
          <a:p>
            <a:pPr marL="742950" lvl="1" indent="-285750"/>
            <a:endParaRPr lang="en-US" sz="2400" dirty="0"/>
          </a:p>
          <a:p>
            <a:pPr marL="457200" lvl="1" indent="0">
              <a:buNone/>
            </a:pPr>
            <a:r>
              <a:rPr lang="en-US" b="1" dirty="0"/>
              <a:t>2.2 </a:t>
            </a:r>
            <a:r>
              <a:rPr lang="en-US" b="1" dirty="0" err="1"/>
              <a:t>Capacitiva</a:t>
            </a:r>
            <a:r>
              <a:rPr lang="en-US" b="1" dirty="0"/>
              <a:t> (XC):</a:t>
            </a:r>
          </a:p>
          <a:p>
            <a:pPr marL="625475" lvl="1" indent="0">
              <a:buNone/>
            </a:pPr>
            <a:r>
              <a:rPr lang="es-ES" dirty="0"/>
              <a:t>Es la oposición que ofrece un condensador (capacitor) al paso de la corriente alterna, debido al almacenamiento y liberación de carga eléctrica en sus placas.</a:t>
            </a:r>
            <a:endParaRPr lang="en-US" dirty="0"/>
          </a:p>
          <a:p>
            <a:pPr>
              <a:defRPr sz="1400"/>
            </a:pPr>
            <a:endParaRPr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6A91437-F227-4877-87DE-BF3F29ADF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512" y="3915396"/>
            <a:ext cx="1914525" cy="52387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28586D5-DBAA-4D4A-B263-78AC5C7CA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1233" y="5480189"/>
            <a:ext cx="2057400" cy="6286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FB9D41F-2E41-4DA2-AF19-191D6A6BCE5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7903" b="50156"/>
          <a:stretch/>
        </p:blipFill>
        <p:spPr>
          <a:xfrm>
            <a:off x="7722497" y="5265186"/>
            <a:ext cx="1242391" cy="1081132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3B0AED9B-CBD1-4A2F-80A0-7771275269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621" b="47719"/>
          <a:stretch/>
        </p:blipFill>
        <p:spPr bwMode="auto">
          <a:xfrm>
            <a:off x="7722496" y="3715992"/>
            <a:ext cx="1206156" cy="1046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2506662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s-ES" sz="2400" b="1" dirty="0"/>
              <a:t>3. Impedancia (Z)</a:t>
            </a:r>
          </a:p>
          <a:p>
            <a:pPr indent="14288"/>
            <a:r>
              <a:rPr lang="es-ES" sz="2400" dirty="0"/>
              <a:t>Oposición </a:t>
            </a:r>
            <a:r>
              <a:rPr lang="es-ES" sz="2400" b="1" dirty="0"/>
              <a:t>total</a:t>
            </a:r>
            <a:r>
              <a:rPr lang="es-ES" sz="2400" dirty="0"/>
              <a:t> al flujo de corriente en CA.</a:t>
            </a:r>
          </a:p>
          <a:p>
            <a:pPr indent="14288"/>
            <a:r>
              <a:rPr lang="es-ES" sz="2400" dirty="0"/>
              <a:t>Combinación de resistencia y reactancia:</a:t>
            </a:r>
          </a:p>
          <a:p>
            <a:pPr>
              <a:defRPr sz="1400"/>
            </a:pPr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2E8A852-0F00-456B-9264-51F206963E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02"/>
          <a:stretch/>
        </p:blipFill>
        <p:spPr>
          <a:xfrm>
            <a:off x="2958141" y="4065104"/>
            <a:ext cx="6577633" cy="180022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1BC50AE-A585-4860-955D-21E6F14521DE}"/>
              </a:ext>
            </a:extLst>
          </p:cNvPr>
          <p:cNvSpPr txBox="1">
            <a:spLocks/>
          </p:cNvSpPr>
          <p:nvPr/>
        </p:nvSpPr>
        <p:spPr>
          <a:xfrm>
            <a:off x="1981200" y="127877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/>
              <a:t>Módulo</a:t>
            </a:r>
            <a:r>
              <a:rPr lang="en-US" b="1" dirty="0"/>
              <a:t> I – </a:t>
            </a:r>
            <a:r>
              <a:rPr lang="en-US" b="1" dirty="0" err="1"/>
              <a:t>Elementos</a:t>
            </a:r>
            <a:r>
              <a:rPr lang="en-US" b="1" dirty="0"/>
              <a:t> </a:t>
            </a:r>
            <a:r>
              <a:rPr lang="en-US" b="1" dirty="0" err="1"/>
              <a:t>básicos</a:t>
            </a:r>
            <a:r>
              <a:rPr lang="en-US" b="1" dirty="0"/>
              <a:t> de un </a:t>
            </a:r>
            <a:r>
              <a:rPr lang="en-US" b="1" dirty="0" err="1"/>
              <a:t>circuito</a:t>
            </a:r>
            <a:r>
              <a:rPr lang="en-US" b="1" dirty="0"/>
              <a:t> </a:t>
            </a:r>
            <a:r>
              <a:rPr lang="en-US" b="1" dirty="0" err="1"/>
              <a:t>en</a:t>
            </a:r>
            <a:r>
              <a:rPr lang="en-US" b="1" dirty="0"/>
              <a:t> </a:t>
            </a:r>
            <a:r>
              <a:rPr lang="en-US" b="1" dirty="0" err="1"/>
              <a:t>sistemas</a:t>
            </a:r>
            <a:r>
              <a:rPr lang="en-US" b="1" dirty="0"/>
              <a:t> de </a:t>
            </a:r>
            <a:r>
              <a:rPr lang="en-US" b="1" dirty="0" err="1"/>
              <a:t>potencia</a:t>
            </a:r>
            <a:endParaRPr lang="en-US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305117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s-ES" sz="2400" b="1" dirty="0"/>
              <a:t> Admitancia (Y)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dirty="0"/>
              <a:t>Definición general:</a:t>
            </a:r>
            <a:br>
              <a:rPr lang="es-ES" sz="2400" dirty="0"/>
            </a:br>
            <a:r>
              <a:rPr lang="es-ES" sz="2400" dirty="0"/>
              <a:t>La </a:t>
            </a:r>
            <a:r>
              <a:rPr lang="es-ES" sz="2400" b="1" dirty="0"/>
              <a:t>admitancia</a:t>
            </a:r>
            <a:r>
              <a:rPr lang="es-ES" sz="2400" dirty="0"/>
              <a:t> es la </a:t>
            </a:r>
            <a:r>
              <a:rPr lang="es-ES" sz="2400" b="1" dirty="0"/>
              <a:t>facilidad</a:t>
            </a:r>
            <a:r>
              <a:rPr lang="es-ES" sz="2400" dirty="0"/>
              <a:t> que presenta un circuito eléctrico al paso de la </a:t>
            </a:r>
            <a:r>
              <a:rPr lang="es-ES" sz="2400" b="1" dirty="0"/>
              <a:t>corriente alterna (CA)</a:t>
            </a:r>
            <a:r>
              <a:rPr lang="es-ES" sz="2400" dirty="0"/>
              <a:t>.</a:t>
            </a:r>
            <a:br>
              <a:rPr lang="es-ES" sz="2400" dirty="0"/>
            </a:br>
            <a:r>
              <a:rPr lang="es-ES" sz="2400" dirty="0"/>
              <a:t>Es la </a:t>
            </a:r>
            <a:r>
              <a:rPr lang="es-ES" sz="2400" b="1" dirty="0"/>
              <a:t>inversa de la impedancia (Z)</a:t>
            </a:r>
            <a:r>
              <a:rPr lang="es-ES" sz="2400" dirty="0"/>
              <a:t>, y por eso se expresa como:</a:t>
            </a:r>
          </a:p>
          <a:p>
            <a:pPr marL="0" indent="0">
              <a:buNone/>
              <a:defRPr sz="1400"/>
            </a:pPr>
            <a:endParaRPr lang="es-ES" dirty="0"/>
          </a:p>
          <a:p>
            <a:pPr marL="0" indent="0">
              <a:buNone/>
              <a:defRPr sz="1400"/>
            </a:pPr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547B78A-6179-4F42-8F14-E756B72C5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0443" y="3276297"/>
            <a:ext cx="914400" cy="69532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29A2D98-A327-4248-9A5F-555A99B00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388" y="4098230"/>
            <a:ext cx="1724025" cy="485775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24E90217-6484-4BA7-B948-BBB5BB3D8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8149" y="4684164"/>
            <a:ext cx="805338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G = </a:t>
            </a:r>
            <a:r>
              <a:rPr lang="en-US" altLang="en-US" b="1" dirty="0" err="1">
                <a:latin typeface="Arial" panose="020B0604020202020204" pitchFamily="34" charset="0"/>
              </a:rPr>
              <a:t>Conductancia</a:t>
            </a:r>
            <a:r>
              <a:rPr lang="en-US" altLang="en-US" dirty="0">
                <a:latin typeface="Arial" panose="020B0604020202020204" pitchFamily="34" charset="0"/>
              </a:rPr>
              <a:t> → </a:t>
            </a:r>
            <a:r>
              <a:rPr lang="en-US" altLang="en-US" dirty="0" err="1">
                <a:latin typeface="Arial" panose="020B0604020202020204" pitchFamily="34" charset="0"/>
              </a:rPr>
              <a:t>parte</a:t>
            </a:r>
            <a:r>
              <a:rPr lang="en-US" altLang="en-US" dirty="0">
                <a:latin typeface="Arial" panose="020B0604020202020204" pitchFamily="34" charset="0"/>
              </a:rPr>
              <a:t> real de la </a:t>
            </a:r>
            <a:r>
              <a:rPr lang="en-US" altLang="en-US" dirty="0" err="1">
                <a:latin typeface="Arial" panose="020B0604020202020204" pitchFamily="34" charset="0"/>
              </a:rPr>
              <a:t>admitancia</a:t>
            </a:r>
            <a:r>
              <a:rPr lang="en-US" altLang="en-US" dirty="0">
                <a:latin typeface="Arial" panose="020B0604020202020204" pitchFamily="34" charset="0"/>
              </a:rPr>
              <a:t> (</a:t>
            </a:r>
            <a:r>
              <a:rPr lang="en-US" altLang="en-US" dirty="0" err="1">
                <a:latin typeface="Arial" panose="020B0604020202020204" pitchFamily="34" charset="0"/>
              </a:rPr>
              <a:t>capacidad</a:t>
            </a:r>
            <a:r>
              <a:rPr lang="en-US" altLang="en-US" dirty="0">
                <a:latin typeface="Arial" panose="020B0604020202020204" pitchFamily="34" charset="0"/>
              </a:rPr>
              <a:t> de </a:t>
            </a:r>
            <a:r>
              <a:rPr lang="en-US" altLang="en-US" dirty="0" err="1">
                <a:latin typeface="Arial" panose="020B0604020202020204" pitchFamily="34" charset="0"/>
              </a:rPr>
              <a:t>conducir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potencia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activa</a:t>
            </a:r>
            <a:r>
              <a:rPr lang="en-US" altLang="en-US" dirty="0">
                <a:latin typeface="Arial" panose="020B0604020202020204" pitchFamily="34" charset="0"/>
              </a:rPr>
              <a:t>).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B = </a:t>
            </a:r>
            <a:r>
              <a:rPr lang="en-US" altLang="en-US" b="1" dirty="0" err="1">
                <a:latin typeface="Arial" panose="020B0604020202020204" pitchFamily="34" charset="0"/>
              </a:rPr>
              <a:t>Susceptancia</a:t>
            </a:r>
            <a:r>
              <a:rPr lang="en-US" altLang="en-US" dirty="0">
                <a:latin typeface="Arial" panose="020B0604020202020204" pitchFamily="34" charset="0"/>
              </a:rPr>
              <a:t> → </a:t>
            </a:r>
            <a:r>
              <a:rPr lang="en-US" altLang="en-US" dirty="0" err="1">
                <a:latin typeface="Arial" panose="020B0604020202020204" pitchFamily="34" charset="0"/>
              </a:rPr>
              <a:t>parte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imaginaria</a:t>
            </a:r>
            <a:r>
              <a:rPr lang="en-US" altLang="en-US" dirty="0">
                <a:latin typeface="Arial" panose="020B0604020202020204" pitchFamily="34" charset="0"/>
              </a:rPr>
              <a:t> de la </a:t>
            </a:r>
            <a:r>
              <a:rPr lang="en-US" altLang="en-US" dirty="0" err="1">
                <a:latin typeface="Arial" panose="020B0604020202020204" pitchFamily="34" charset="0"/>
              </a:rPr>
              <a:t>admitancia</a:t>
            </a:r>
            <a:r>
              <a:rPr lang="en-US" altLang="en-US" dirty="0">
                <a:latin typeface="Arial" panose="020B0604020202020204" pitchFamily="34" charset="0"/>
              </a:rPr>
              <a:t> (</a:t>
            </a:r>
            <a:r>
              <a:rPr lang="en-US" altLang="en-US" dirty="0" err="1">
                <a:latin typeface="Arial" panose="020B0604020202020204" pitchFamily="34" charset="0"/>
              </a:rPr>
              <a:t>capacidad</a:t>
            </a:r>
            <a:r>
              <a:rPr lang="en-US" altLang="en-US" dirty="0">
                <a:latin typeface="Arial" panose="020B0604020202020204" pitchFamily="34" charset="0"/>
              </a:rPr>
              <a:t> de </a:t>
            </a:r>
            <a:r>
              <a:rPr lang="en-US" altLang="en-US" dirty="0" err="1">
                <a:latin typeface="Arial" panose="020B0604020202020204" pitchFamily="34" charset="0"/>
              </a:rPr>
              <a:t>conducir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potencia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reactiva</a:t>
            </a:r>
            <a:r>
              <a:rPr lang="en-US" altLang="en-US" dirty="0">
                <a:latin typeface="Arial" panose="020B0604020202020204" pitchFamily="34" charset="0"/>
              </a:rPr>
              <a:t>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430DAF-AC17-433F-9270-0F6B1315E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0" y="1253331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b="1" dirty="0" err="1"/>
              <a:t>Triángulo</a:t>
            </a:r>
            <a:r>
              <a:rPr lang="pt-BR" sz="2400" b="1" dirty="0"/>
              <a:t> de Potencias (P–Q–S)</a:t>
            </a:r>
          </a:p>
          <a:p>
            <a:pPr marL="0" indent="0">
              <a:buNone/>
            </a:pPr>
            <a:endParaRPr lang="es-PE" sz="24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56625F0-9353-4BD6-B1F1-02C0FBD5B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0835" y="1859340"/>
            <a:ext cx="811033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P (</a:t>
            </a:r>
            <a:r>
              <a:rPr lang="en-US" altLang="en-US" b="1" dirty="0" err="1">
                <a:latin typeface="Arial" panose="020B0604020202020204" pitchFamily="34" charset="0"/>
              </a:rPr>
              <a:t>Potencia</a:t>
            </a: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lang="en-US" altLang="en-US" b="1" dirty="0" err="1">
                <a:latin typeface="Arial" panose="020B0604020202020204" pitchFamily="34" charset="0"/>
              </a:rPr>
              <a:t>activa</a:t>
            </a:r>
            <a:r>
              <a:rPr lang="en-US" altLang="en-US" b="1" dirty="0">
                <a:latin typeface="Arial" panose="020B0604020202020204" pitchFamily="34" charset="0"/>
              </a:rPr>
              <a:t>, kW)</a:t>
            </a:r>
            <a:r>
              <a:rPr lang="en-US" altLang="en-US" dirty="0">
                <a:latin typeface="Arial" panose="020B0604020202020204" pitchFamily="34" charset="0"/>
              </a:rPr>
              <a:t>: </a:t>
            </a:r>
            <a:r>
              <a:rPr lang="en-US" altLang="en-US" dirty="0" err="1">
                <a:latin typeface="Arial" panose="020B0604020202020204" pitchFamily="34" charset="0"/>
              </a:rPr>
              <a:t>energía</a:t>
            </a:r>
            <a:r>
              <a:rPr lang="en-US" altLang="en-US" dirty="0">
                <a:latin typeface="Arial" panose="020B0604020202020204" pitchFamily="34" charset="0"/>
              </a:rPr>
              <a:t> que </a:t>
            </a:r>
            <a:r>
              <a:rPr lang="en-US" altLang="en-US" b="1" dirty="0">
                <a:latin typeface="Arial" panose="020B0604020202020204" pitchFamily="34" charset="0"/>
              </a:rPr>
              <a:t>se </a:t>
            </a:r>
            <a:r>
              <a:rPr lang="en-US" altLang="en-US" b="1" dirty="0" err="1">
                <a:latin typeface="Arial" panose="020B0604020202020204" pitchFamily="34" charset="0"/>
              </a:rPr>
              <a:t>convierte</a:t>
            </a: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lang="en-US" altLang="en-US" b="1" dirty="0" err="1">
                <a:latin typeface="Arial" panose="020B0604020202020204" pitchFamily="34" charset="0"/>
              </a:rPr>
              <a:t>en</a:t>
            </a: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lang="en-US" altLang="en-US" b="1" dirty="0" err="1">
                <a:latin typeface="Arial" panose="020B0604020202020204" pitchFamily="34" charset="0"/>
              </a:rPr>
              <a:t>trabajo</a:t>
            </a:r>
            <a:r>
              <a:rPr lang="en-US" altLang="en-US" b="1" dirty="0">
                <a:latin typeface="Arial" panose="020B0604020202020204" pitchFamily="34" charset="0"/>
              </a:rPr>
              <a:t>/ </a:t>
            </a:r>
            <a:r>
              <a:rPr lang="en-US" altLang="en-US" b="1" dirty="0" err="1">
                <a:latin typeface="Arial" panose="020B0604020202020204" pitchFamily="34" charset="0"/>
              </a:rPr>
              <a:t>calor</a:t>
            </a: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lang="en-US" altLang="en-US" b="1" dirty="0" err="1">
                <a:latin typeface="Arial" panose="020B0604020202020204" pitchFamily="34" charset="0"/>
              </a:rPr>
              <a:t>útil</a:t>
            </a:r>
            <a:r>
              <a:rPr lang="en-US" altLang="en-US" dirty="0">
                <a:latin typeface="Arial" panose="020B0604020202020204" pitchFamily="34" charset="0"/>
              </a:rPr>
              <a:t>. </a:t>
            </a:r>
            <a:r>
              <a:rPr lang="en-US" altLang="en-US" dirty="0" err="1">
                <a:latin typeface="Arial" panose="020B0604020202020204" pitchFamily="34" charset="0"/>
              </a:rPr>
              <a:t>Eje</a:t>
            </a:r>
            <a:r>
              <a:rPr lang="en-US" altLang="en-US" dirty="0">
                <a:latin typeface="Arial" panose="020B0604020202020204" pitchFamily="34" charset="0"/>
              </a:rPr>
              <a:t> horizontal </a:t>
            </a:r>
            <a:r>
              <a:rPr lang="en-US" altLang="en-US" b="1" dirty="0">
                <a:latin typeface="Arial" panose="020B0604020202020204" pitchFamily="34" charset="0"/>
              </a:rPr>
              <a:t>+X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Q (</a:t>
            </a:r>
            <a:r>
              <a:rPr lang="en-US" altLang="en-US" b="1" dirty="0" err="1">
                <a:latin typeface="Arial" panose="020B0604020202020204" pitchFamily="34" charset="0"/>
              </a:rPr>
              <a:t>Potencia</a:t>
            </a: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lang="en-US" altLang="en-US" b="1" dirty="0" err="1">
                <a:latin typeface="Arial" panose="020B0604020202020204" pitchFamily="34" charset="0"/>
              </a:rPr>
              <a:t>reactiva</a:t>
            </a:r>
            <a:r>
              <a:rPr lang="en-US" altLang="en-US" b="1" dirty="0">
                <a:latin typeface="Arial" panose="020B0604020202020204" pitchFamily="34" charset="0"/>
              </a:rPr>
              <a:t>, </a:t>
            </a:r>
            <a:r>
              <a:rPr lang="en-US" altLang="en-US" b="1" dirty="0" err="1">
                <a:latin typeface="Arial" panose="020B0604020202020204" pitchFamily="34" charset="0"/>
              </a:rPr>
              <a:t>kVAr</a:t>
            </a:r>
            <a:r>
              <a:rPr lang="en-US" altLang="en-US" b="1" dirty="0">
                <a:latin typeface="Arial" panose="020B0604020202020204" pitchFamily="34" charset="0"/>
              </a:rPr>
              <a:t>)</a:t>
            </a:r>
            <a:r>
              <a:rPr lang="en-US" altLang="en-US" dirty="0">
                <a:latin typeface="Arial" panose="020B0604020202020204" pitchFamily="34" charset="0"/>
              </a:rPr>
              <a:t>: </a:t>
            </a:r>
            <a:r>
              <a:rPr lang="en-US" altLang="en-US" dirty="0" err="1">
                <a:latin typeface="Arial" panose="020B0604020202020204" pitchFamily="34" charset="0"/>
              </a:rPr>
              <a:t>energía</a:t>
            </a:r>
            <a:r>
              <a:rPr lang="en-US" altLang="en-US" dirty="0">
                <a:latin typeface="Arial" panose="020B0604020202020204" pitchFamily="34" charset="0"/>
              </a:rPr>
              <a:t> que </a:t>
            </a:r>
            <a:r>
              <a:rPr lang="en-US" altLang="en-US" b="1" dirty="0" err="1">
                <a:latin typeface="Arial" panose="020B0604020202020204" pitchFamily="34" charset="0"/>
              </a:rPr>
              <a:t>oscila</a:t>
            </a:r>
            <a:r>
              <a:rPr lang="en-US" altLang="en-US" dirty="0">
                <a:latin typeface="Arial" panose="020B0604020202020204" pitchFamily="34" charset="0"/>
              </a:rPr>
              <a:t> entre la red y los </a:t>
            </a:r>
            <a:r>
              <a:rPr lang="en-US" altLang="en-US" dirty="0" err="1">
                <a:latin typeface="Arial" panose="020B0604020202020204" pitchFamily="34" charset="0"/>
              </a:rPr>
              <a:t>campos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magnéticos</a:t>
            </a:r>
            <a:r>
              <a:rPr lang="en-US" altLang="en-US" dirty="0">
                <a:latin typeface="Arial" panose="020B0604020202020204" pitchFamily="34" charset="0"/>
              </a:rPr>
              <a:t>/</a:t>
            </a:r>
            <a:r>
              <a:rPr lang="en-US" altLang="en-US" dirty="0" err="1">
                <a:latin typeface="Arial" panose="020B0604020202020204" pitchFamily="34" charset="0"/>
              </a:rPr>
              <a:t>eléctricos</a:t>
            </a:r>
            <a:r>
              <a:rPr lang="en-US" altLang="en-US" dirty="0">
                <a:latin typeface="Arial" panose="020B0604020202020204" pitchFamily="34" charset="0"/>
              </a:rPr>
              <a:t> (</a:t>
            </a:r>
            <a:r>
              <a:rPr lang="en-US" altLang="en-US" dirty="0" err="1">
                <a:latin typeface="Arial" panose="020B0604020202020204" pitchFamily="34" charset="0"/>
              </a:rPr>
              <a:t>inductores</a:t>
            </a:r>
            <a:r>
              <a:rPr lang="en-US" altLang="en-US" dirty="0">
                <a:latin typeface="Arial" panose="020B0604020202020204" pitchFamily="34" charset="0"/>
              </a:rPr>
              <a:t> y </a:t>
            </a:r>
            <a:r>
              <a:rPr lang="en-US" altLang="en-US" dirty="0" err="1">
                <a:latin typeface="Arial" panose="020B0604020202020204" pitchFamily="34" charset="0"/>
              </a:rPr>
              <a:t>capacitores</a:t>
            </a:r>
            <a:r>
              <a:rPr lang="en-US" altLang="en-US" dirty="0">
                <a:latin typeface="Arial" panose="020B0604020202020204" pitchFamily="34" charset="0"/>
              </a:rPr>
              <a:t>). </a:t>
            </a:r>
            <a:r>
              <a:rPr lang="en-US" altLang="en-US" dirty="0" err="1">
                <a:latin typeface="Arial" panose="020B0604020202020204" pitchFamily="34" charset="0"/>
              </a:rPr>
              <a:t>Eje</a:t>
            </a:r>
            <a:r>
              <a:rPr lang="en-US" altLang="en-US" dirty="0">
                <a:latin typeface="Arial" panose="020B0604020202020204" pitchFamily="34" charset="0"/>
              </a:rPr>
              <a:t> vertical </a:t>
            </a:r>
            <a:r>
              <a:rPr lang="en-US" altLang="en-US" b="1" dirty="0">
                <a:latin typeface="Arial" panose="020B0604020202020204" pitchFamily="34" charset="0"/>
              </a:rPr>
              <a:t>Y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Q &gt; 0</a:t>
            </a:r>
            <a:r>
              <a:rPr lang="en-US" altLang="en-US" dirty="0">
                <a:latin typeface="Arial" panose="020B0604020202020204" pitchFamily="34" charset="0"/>
              </a:rPr>
              <a:t>: carga </a:t>
            </a:r>
            <a:r>
              <a:rPr lang="en-US" altLang="en-US" b="1" dirty="0" err="1">
                <a:latin typeface="Arial" panose="020B0604020202020204" pitchFamily="34" charset="0"/>
              </a:rPr>
              <a:t>inductiva</a:t>
            </a:r>
            <a:r>
              <a:rPr lang="en-US" altLang="en-US" dirty="0">
                <a:latin typeface="Arial" panose="020B0604020202020204" pitchFamily="34" charset="0"/>
              </a:rPr>
              <a:t> (</a:t>
            </a:r>
            <a:r>
              <a:rPr lang="en-US" altLang="en-US" dirty="0" err="1">
                <a:latin typeface="Arial" panose="020B0604020202020204" pitchFamily="34" charset="0"/>
              </a:rPr>
              <a:t>corriente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i="1" dirty="0" err="1">
                <a:latin typeface="Arial" panose="020B0604020202020204" pitchFamily="34" charset="0"/>
              </a:rPr>
              <a:t>atrasada</a:t>
            </a:r>
            <a:r>
              <a:rPr lang="en-US" altLang="en-US" dirty="0">
                <a:latin typeface="Arial" panose="020B0604020202020204" pitchFamily="34" charset="0"/>
              </a:rPr>
              <a:t>).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Q &lt; 0</a:t>
            </a:r>
            <a:r>
              <a:rPr lang="en-US" altLang="en-US" dirty="0">
                <a:latin typeface="Arial" panose="020B0604020202020204" pitchFamily="34" charset="0"/>
              </a:rPr>
              <a:t>: carga </a:t>
            </a:r>
            <a:r>
              <a:rPr lang="en-US" altLang="en-US" b="1" dirty="0" err="1">
                <a:latin typeface="Arial" panose="020B0604020202020204" pitchFamily="34" charset="0"/>
              </a:rPr>
              <a:t>capacitiva</a:t>
            </a:r>
            <a:r>
              <a:rPr lang="en-US" altLang="en-US" dirty="0">
                <a:latin typeface="Arial" panose="020B0604020202020204" pitchFamily="34" charset="0"/>
              </a:rPr>
              <a:t> (</a:t>
            </a:r>
            <a:r>
              <a:rPr lang="en-US" altLang="en-US" dirty="0" err="1">
                <a:latin typeface="Arial" panose="020B0604020202020204" pitchFamily="34" charset="0"/>
              </a:rPr>
              <a:t>corriente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i="1" dirty="0" err="1">
                <a:latin typeface="Arial" panose="020B0604020202020204" pitchFamily="34" charset="0"/>
              </a:rPr>
              <a:t>adelantada</a:t>
            </a:r>
            <a:r>
              <a:rPr lang="en-US" altLang="en-US" dirty="0">
                <a:latin typeface="Arial" panose="020B0604020202020204" pitchFamily="34" charset="0"/>
              </a:rPr>
              <a:t>).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S (</a:t>
            </a:r>
            <a:r>
              <a:rPr lang="en-US" altLang="en-US" b="1" dirty="0" err="1">
                <a:latin typeface="Arial" panose="020B0604020202020204" pitchFamily="34" charset="0"/>
              </a:rPr>
              <a:t>Potencia</a:t>
            </a: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lang="en-US" altLang="en-US" b="1" dirty="0" err="1">
                <a:latin typeface="Arial" panose="020B0604020202020204" pitchFamily="34" charset="0"/>
              </a:rPr>
              <a:t>aparente</a:t>
            </a:r>
            <a:r>
              <a:rPr lang="en-US" altLang="en-US" b="1" dirty="0">
                <a:latin typeface="Arial" panose="020B0604020202020204" pitchFamily="34" charset="0"/>
              </a:rPr>
              <a:t>, kVA)</a:t>
            </a:r>
            <a:r>
              <a:rPr lang="en-US" altLang="en-US" dirty="0">
                <a:latin typeface="Arial" panose="020B0604020202020204" pitchFamily="34" charset="0"/>
              </a:rPr>
              <a:t>: “</a:t>
            </a:r>
            <a:r>
              <a:rPr lang="en-US" altLang="en-US" dirty="0" err="1">
                <a:latin typeface="Arial" panose="020B0604020202020204" pitchFamily="34" charset="0"/>
              </a:rPr>
              <a:t>tamaño</a:t>
            </a:r>
            <a:r>
              <a:rPr lang="en-US" altLang="en-US" dirty="0">
                <a:latin typeface="Arial" panose="020B0604020202020204" pitchFamily="34" charset="0"/>
              </a:rPr>
              <a:t>” total de la carga. Es la </a:t>
            </a:r>
            <a:r>
              <a:rPr lang="en-US" altLang="en-US" b="1" dirty="0" err="1">
                <a:latin typeface="Arial" panose="020B0604020202020204" pitchFamily="34" charset="0"/>
              </a:rPr>
              <a:t>hipotenusa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θ (</a:t>
            </a:r>
            <a:r>
              <a:rPr lang="en-US" altLang="en-US" b="1" dirty="0" err="1">
                <a:latin typeface="Arial" panose="020B0604020202020204" pitchFamily="34" charset="0"/>
              </a:rPr>
              <a:t>ángulo</a:t>
            </a:r>
            <a:r>
              <a:rPr lang="en-US" altLang="en-US" b="1" dirty="0">
                <a:latin typeface="Arial" panose="020B0604020202020204" pitchFamily="34" charset="0"/>
              </a:rPr>
              <a:t> de carga)</a:t>
            </a:r>
            <a:r>
              <a:rPr lang="en-US" altLang="en-US" dirty="0">
                <a:latin typeface="Arial" panose="020B0604020202020204" pitchFamily="34" charset="0"/>
              </a:rPr>
              <a:t>: </a:t>
            </a:r>
            <a:r>
              <a:rPr lang="en-US" altLang="en-US" dirty="0" err="1">
                <a:latin typeface="Arial" panose="020B0604020202020204" pitchFamily="34" charset="0"/>
              </a:rPr>
              <a:t>desfase</a:t>
            </a:r>
            <a:r>
              <a:rPr lang="en-US" altLang="en-US" dirty="0">
                <a:latin typeface="Arial" panose="020B0604020202020204" pitchFamily="34" charset="0"/>
              </a:rPr>
              <a:t> entre </a:t>
            </a:r>
            <a:r>
              <a:rPr lang="en-US" altLang="en-US" dirty="0" err="1">
                <a:latin typeface="Arial" panose="020B0604020202020204" pitchFamily="34" charset="0"/>
              </a:rPr>
              <a:t>corriente</a:t>
            </a:r>
            <a:r>
              <a:rPr lang="en-US" altLang="en-US" dirty="0">
                <a:latin typeface="Arial" panose="020B0604020202020204" pitchFamily="34" charset="0"/>
              </a:rPr>
              <a:t> y </a:t>
            </a:r>
            <a:r>
              <a:rPr lang="en-US" altLang="en-US" dirty="0" err="1">
                <a:latin typeface="Arial" panose="020B0604020202020204" pitchFamily="34" charset="0"/>
              </a:rPr>
              <a:t>tensión</a:t>
            </a:r>
            <a:r>
              <a:rPr lang="en-US" altLang="en-US" dirty="0">
                <a:latin typeface="Arial" panose="020B0604020202020204" pitchFamily="34" charset="0"/>
              </a:rPr>
              <a:t>; </a:t>
            </a:r>
            <a:r>
              <a:rPr lang="en-US" altLang="en-US" dirty="0" err="1">
                <a:latin typeface="Arial" panose="020B0604020202020204" pitchFamily="34" charset="0"/>
              </a:rPr>
              <a:t>también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ángulo</a:t>
            </a:r>
            <a:r>
              <a:rPr lang="en-US" altLang="en-US" dirty="0">
                <a:latin typeface="Arial" panose="020B0604020202020204" pitchFamily="34" charset="0"/>
              </a:rPr>
              <a:t> de </a:t>
            </a:r>
            <a:r>
              <a:rPr lang="en-US" altLang="en-US" b="1" dirty="0">
                <a:latin typeface="Arial" panose="020B0604020202020204" pitchFamily="34" charset="0"/>
              </a:rPr>
              <a:t>Z</a:t>
            </a:r>
            <a:r>
              <a:rPr lang="en-US" altLang="en-US" dirty="0">
                <a:latin typeface="Arial" panose="020B0604020202020204" pitchFamily="34" charset="0"/>
              </a:rPr>
              <a:t> para cargas </a:t>
            </a:r>
            <a:r>
              <a:rPr lang="en-US" altLang="en-US" dirty="0" err="1">
                <a:latin typeface="Arial" panose="020B0604020202020204" pitchFamily="34" charset="0"/>
              </a:rPr>
              <a:t>lineales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>
                <a:latin typeface="Arial" panose="020B0604020202020204" pitchFamily="34" charset="0"/>
              </a:rPr>
              <a:t>fp</a:t>
            </a:r>
            <a:r>
              <a:rPr lang="en-US" altLang="en-US" b="1" dirty="0">
                <a:latin typeface="Arial" panose="020B0604020202020204" pitchFamily="34" charset="0"/>
              </a:rPr>
              <a:t> (factor de </a:t>
            </a:r>
            <a:r>
              <a:rPr lang="en-US" altLang="en-US" b="1" dirty="0" err="1">
                <a:latin typeface="Arial" panose="020B0604020202020204" pitchFamily="34" charset="0"/>
              </a:rPr>
              <a:t>potencia</a:t>
            </a:r>
            <a:r>
              <a:rPr lang="en-US" altLang="en-US" b="1" dirty="0">
                <a:latin typeface="Arial" panose="020B0604020202020204" pitchFamily="34" charset="0"/>
              </a:rPr>
              <a:t>)</a:t>
            </a:r>
            <a:r>
              <a:rPr lang="en-US" altLang="en-US" dirty="0">
                <a:latin typeface="Arial" panose="020B0604020202020204" pitchFamily="34" charset="0"/>
              </a:rPr>
              <a:t>: </a:t>
            </a:r>
            <a:r>
              <a:rPr lang="en-US" altLang="en-US" dirty="0" err="1">
                <a:latin typeface="Arial" panose="020B0604020202020204" pitchFamily="34" charset="0"/>
              </a:rPr>
              <a:t>cos⁡θ</a:t>
            </a:r>
            <a:r>
              <a:rPr lang="en-US" altLang="en-US" dirty="0">
                <a:latin typeface="Arial" panose="020B0604020202020204" pitchFamily="34" charset="0"/>
              </a:rPr>
              <a:t> , </a:t>
            </a:r>
            <a:r>
              <a:rPr lang="en-US" altLang="en-US" b="1" dirty="0" err="1">
                <a:latin typeface="Arial" panose="020B0604020202020204" pitchFamily="34" charset="0"/>
              </a:rPr>
              <a:t>En</a:t>
            </a: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lang="en-US" altLang="en-US" b="1" dirty="0" err="1">
                <a:latin typeface="Arial" panose="020B0604020202020204" pitchFamily="34" charset="0"/>
              </a:rPr>
              <a:t>atraso</a:t>
            </a: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inductivo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lang="en-US" altLang="en-US" b="1" dirty="0" err="1">
                <a:latin typeface="Arial" panose="020B0604020202020204" pitchFamily="34" charset="0"/>
              </a:rPr>
              <a:t>en</a:t>
            </a:r>
            <a:r>
              <a:rPr lang="en-US" altLang="en-US" b="1" dirty="0">
                <a:latin typeface="Arial" panose="020B0604020202020204" pitchFamily="34" charset="0"/>
              </a:rPr>
              <a:t> Adelanto  </a:t>
            </a:r>
            <a:r>
              <a:rPr lang="en-US" altLang="en-US" dirty="0" err="1">
                <a:latin typeface="Arial" panose="020B0604020202020204" pitchFamily="34" charset="0"/>
              </a:rPr>
              <a:t>capacitivo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9854C1A-73FD-4E7E-B86A-9125FBCE8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119" y="4968486"/>
            <a:ext cx="5934075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592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714DA8-351A-4DE1-88D4-4709C75A3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829365"/>
            <a:ext cx="7886700" cy="1325563"/>
          </a:xfrm>
        </p:spPr>
        <p:txBody>
          <a:bodyPr>
            <a:normAutofit/>
          </a:bodyPr>
          <a:lstStyle/>
          <a:p>
            <a:r>
              <a:rPr lang="en-US" b="1" dirty="0" err="1"/>
              <a:t>Módulo</a:t>
            </a:r>
            <a:r>
              <a:rPr lang="en-US" b="1" dirty="0"/>
              <a:t> I – </a:t>
            </a:r>
            <a:r>
              <a:rPr lang="en-US" b="1" dirty="0" err="1"/>
              <a:t>Elementos</a:t>
            </a:r>
            <a:r>
              <a:rPr lang="en-US" b="1" dirty="0"/>
              <a:t> </a:t>
            </a:r>
            <a:r>
              <a:rPr lang="en-US" b="1" dirty="0" err="1"/>
              <a:t>básicos</a:t>
            </a:r>
            <a:r>
              <a:rPr lang="en-US" b="1" dirty="0"/>
              <a:t> de un </a:t>
            </a:r>
            <a:r>
              <a:rPr lang="en-US" b="1" dirty="0" err="1"/>
              <a:t>circuito</a:t>
            </a:r>
            <a:r>
              <a:rPr lang="en-US" b="1" dirty="0"/>
              <a:t> </a:t>
            </a:r>
            <a:r>
              <a:rPr lang="en-US" b="1" dirty="0" err="1"/>
              <a:t>en</a:t>
            </a:r>
            <a:r>
              <a:rPr lang="en-US" b="1" dirty="0"/>
              <a:t> </a:t>
            </a:r>
            <a:r>
              <a:rPr lang="en-US" b="1" dirty="0" err="1"/>
              <a:t>sistemas</a:t>
            </a:r>
            <a:r>
              <a:rPr lang="en-US" b="1" dirty="0"/>
              <a:t> de </a:t>
            </a:r>
            <a:r>
              <a:rPr lang="en-US" b="1" dirty="0" err="1"/>
              <a:t>potencia</a:t>
            </a:r>
            <a:endParaRPr lang="es-PE" b="1" dirty="0"/>
          </a:p>
        </p:txBody>
      </p:sp>
      <p:pic>
        <p:nvPicPr>
          <p:cNvPr id="6146" name="Picture 2" descr="4.7 El factor de potencia – Circuitos Electricos">
            <a:extLst>
              <a:ext uri="{FF2B5EF4-FFF2-40B4-BE49-F238E27FC236}">
                <a16:creationId xmlns:a16="http://schemas.microsoft.com/office/drawing/2014/main" id="{44DC7D86-8375-4962-8B7B-0ABBB3A037A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1811" y="2093706"/>
            <a:ext cx="3676650" cy="202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Artículo de Exclusivas Energéticas: Penalizaciones por exceso de Reactiva  Capacitiva – Asociación Española de la Franquicia">
            <a:extLst>
              <a:ext uri="{FF2B5EF4-FFF2-40B4-BE49-F238E27FC236}">
                <a16:creationId xmlns:a16="http://schemas.microsoft.com/office/drawing/2014/main" id="{9E5A3F86-2C78-458F-AF08-A2F37E937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766" y="4152570"/>
            <a:ext cx="3810000" cy="2714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Factor de potencia y Triangulo de potencia – Máquinas Eléctricas">
            <a:extLst>
              <a:ext uri="{FF2B5EF4-FFF2-40B4-BE49-F238E27FC236}">
                <a16:creationId xmlns:a16="http://schemas.microsoft.com/office/drawing/2014/main" id="{0B934BF7-969D-4E40-8193-BDB504A259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8" t="6523" r="5133" b="19854"/>
          <a:stretch/>
        </p:blipFill>
        <p:spPr bwMode="auto">
          <a:xfrm>
            <a:off x="6439947" y="2616851"/>
            <a:ext cx="3552192" cy="3476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4069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5CAC67-79D3-4A84-9726-2B4FD6FF8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1027908"/>
            <a:ext cx="7886700" cy="1325563"/>
          </a:xfrm>
        </p:spPr>
        <p:txBody>
          <a:bodyPr>
            <a:normAutofit/>
          </a:bodyPr>
          <a:lstStyle/>
          <a:p>
            <a:r>
              <a:rPr lang="en-US" b="1" dirty="0" err="1"/>
              <a:t>Módulo</a:t>
            </a:r>
            <a:r>
              <a:rPr lang="en-US" b="1" dirty="0"/>
              <a:t> I – </a:t>
            </a:r>
            <a:r>
              <a:rPr lang="en-US" b="1" dirty="0" err="1"/>
              <a:t>Elementos</a:t>
            </a:r>
            <a:r>
              <a:rPr lang="en-US" b="1" dirty="0"/>
              <a:t> </a:t>
            </a:r>
            <a:r>
              <a:rPr lang="en-US" b="1" dirty="0" err="1"/>
              <a:t>básicos</a:t>
            </a:r>
            <a:r>
              <a:rPr lang="en-US" b="1" dirty="0"/>
              <a:t> de un </a:t>
            </a:r>
            <a:r>
              <a:rPr lang="en-US" b="1" dirty="0" err="1"/>
              <a:t>circuito</a:t>
            </a:r>
            <a:r>
              <a:rPr lang="en-US" b="1" dirty="0"/>
              <a:t> </a:t>
            </a:r>
            <a:r>
              <a:rPr lang="en-US" b="1" dirty="0" err="1"/>
              <a:t>en</a:t>
            </a:r>
            <a:r>
              <a:rPr lang="en-US" b="1" dirty="0"/>
              <a:t> </a:t>
            </a:r>
            <a:r>
              <a:rPr lang="en-US" b="1" dirty="0" err="1"/>
              <a:t>sistemas</a:t>
            </a:r>
            <a:r>
              <a:rPr lang="en-US" b="1" dirty="0"/>
              <a:t> de </a:t>
            </a:r>
            <a:r>
              <a:rPr lang="en-US" b="1" dirty="0" err="1"/>
              <a:t>potencia</a:t>
            </a:r>
            <a:endParaRPr lang="es-PE" b="1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72B351F-44D5-4AAE-ACD9-003FC3EBF0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9557" y="3114263"/>
            <a:ext cx="7215809" cy="3248156"/>
          </a:xfrm>
        </p:spPr>
      </p:pic>
    </p:spTree>
    <p:extLst>
      <p:ext uri="{BB962C8B-B14F-4D97-AF65-F5344CB8AC3E}">
        <p14:creationId xmlns:p14="http://schemas.microsoft.com/office/powerpoint/2010/main" val="4197432589"/>
      </p:ext>
    </p:extLst>
  </p:cSld>
  <p:clrMapOvr>
    <a:masterClrMapping/>
  </p:clrMapOvr>
</p:sld>
</file>

<file path=ppt/theme/theme1.xml><?xml version="1.0" encoding="utf-8"?>
<a:theme xmlns:a="http://schemas.openxmlformats.org/drawingml/2006/main" name="mag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gna" id="{0A174B59-3738-4C8E-84BE-A8AC368CFDFF}" vid="{CF629974-DB5B-409E-8FD5-BB7C61636E6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magna</Template>
  <TotalTime>94</TotalTime>
  <Words>443</Words>
  <Application>Microsoft Office PowerPoint</Application>
  <PresentationFormat>Panorámica</PresentationFormat>
  <Paragraphs>39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Prompt</vt:lpstr>
      <vt:lpstr>magna</vt:lpstr>
      <vt:lpstr>Presentación de PowerPoint</vt:lpstr>
      <vt:lpstr>Presentación de PowerPoint</vt:lpstr>
      <vt:lpstr>Módulo 1</vt:lpstr>
      <vt:lpstr>Módulo I – Elementos básicos de un circuito en sistemas de potencia</vt:lpstr>
      <vt:lpstr>Presentación de PowerPoint</vt:lpstr>
      <vt:lpstr>Presentación de PowerPoint</vt:lpstr>
      <vt:lpstr>Presentación de PowerPoint</vt:lpstr>
      <vt:lpstr>Presentación de PowerPoint</vt:lpstr>
      <vt:lpstr>Módulo I – Elementos básicos de un circuito en sistemas de potencia</vt:lpstr>
      <vt:lpstr>Módulo I – Elementos básicos de un circuito en sistemas de potencia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I – Introducción a los Sistemas de Potencia</dc:title>
  <dc:subject/>
  <dc:creator>ALAIN ALVARADO</dc:creator>
  <cp:keywords/>
  <dc:description>generated using python-pptx</dc:description>
  <cp:lastModifiedBy>User</cp:lastModifiedBy>
  <cp:revision>11</cp:revision>
  <dcterms:created xsi:type="dcterms:W3CDTF">2013-01-27T09:14:16Z</dcterms:created>
  <dcterms:modified xsi:type="dcterms:W3CDTF">2025-08-26T16:17:34Z</dcterms:modified>
  <cp:category/>
</cp:coreProperties>
</file>