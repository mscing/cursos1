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2" r:id="rId1"/>
  </p:sldMasterIdLst>
  <p:notesMasterIdLst>
    <p:notesMasterId r:id="rId8"/>
  </p:notesMasterIdLst>
  <p:handoutMasterIdLst>
    <p:handoutMasterId r:id="rId9"/>
  </p:handoutMasterIdLst>
  <p:sldIdLst>
    <p:sldId id="376" r:id="rId2"/>
    <p:sldId id="377" r:id="rId3"/>
    <p:sldId id="378" r:id="rId4"/>
    <p:sldId id="294" r:id="rId5"/>
    <p:sldId id="379" r:id="rId6"/>
    <p:sldId id="38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9FD"/>
    <a:srgbClr val="003300"/>
    <a:srgbClr val="009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9C806DE-A0B6-4538-BFFE-1C4510676E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FF47FE-E871-4AFA-A33D-F8139BE1AE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E2547-C9A0-4885-A9CF-766792D9932F}" type="datetime1">
              <a:rPr lang="es-PE" smtClean="0"/>
              <a:t>29/11/2023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D45AC82-F961-40DC-A889-8EF271197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B13A43-237A-4891-BB2B-79BF65381B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C056C-4A20-4449-8561-B64AA3F37E2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4784321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74691-45A2-4333-926B-968A79144090}" type="datetime1">
              <a:rPr lang="es-PE" smtClean="0"/>
              <a:t>29/11/2023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E00A3-C5E8-448D-B0F7-2294841770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9652261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51484E3-C118-42F5-BEE6-2912B1871398}" type="datetime1">
              <a:rPr lang="es-PE" smtClean="0"/>
              <a:t>29/11/2023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78754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5B5A-4010-458B-893F-999875AE8472}" type="datetime1">
              <a:rPr lang="es-PE" smtClean="0"/>
              <a:t>29/11/2023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919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EF39698-09D1-462D-9661-6B4D1A79788A}" type="datetime1">
              <a:rPr lang="es-PE" smtClean="0"/>
              <a:t>29/11/2023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091582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AF100-43AB-4E02-9E57-B5A99374EA49}" type="datetime1">
              <a:rPr lang="es-PE" smtClean="0"/>
              <a:t>29/11/2023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21204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D5CBE-8E1B-4867-B6F1-C87D39664585}" type="datetime1">
              <a:rPr lang="es-PE" smtClean="0"/>
              <a:t>29/11/2023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0919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A17C8-64F9-412E-807E-BD1E3758F1F9}" type="datetime1">
              <a:rPr lang="es-PE" smtClean="0"/>
              <a:t>29/11/2023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2716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6A5F8-8521-4270-90AA-F751A9CE3EBF}" type="datetime1">
              <a:rPr lang="es-PE" smtClean="0"/>
              <a:t>29/11/2023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975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D66F1222-D720-4C12-932C-8BCF76771BE0}" type="datetime1">
              <a:rPr lang="es-PE" smtClean="0"/>
              <a:t>29/11/2023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80557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C5EBA6EF-E2B7-4D1A-92F8-E33808B0C80A}" type="datetime1">
              <a:rPr lang="es-PE" smtClean="0"/>
              <a:t>29/11/2023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38818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270C8-0C0E-4726-B935-0938280A388A}" type="datetime1">
              <a:rPr lang="es-PE" smtClean="0"/>
              <a:t>29/11/2023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481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95A59-0525-4A89-AEC3-8B7ECE8A92D1}" type="datetime1">
              <a:rPr lang="es-PE" smtClean="0"/>
              <a:t>29/11/2023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957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sz="quarter"/>
          </p:nvPr>
        </p:nvSpPr>
        <p:spPr>
          <a:xfrm>
            <a:off x="304800" y="228600"/>
            <a:ext cx="10058400" cy="762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1600" y="1295400"/>
            <a:ext cx="5943600" cy="2438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6248400" y="1295400"/>
            <a:ext cx="5943600" cy="2438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101600" y="3886200"/>
            <a:ext cx="5943600" cy="2438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248400" y="3886200"/>
            <a:ext cx="5943600" cy="2438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B9C0A10-2796-4832-82DB-143FA2E9FE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30E6C-6C85-4FD5-92AF-5C890D1D3A35}" type="datetime1">
              <a:rPr lang="es-PE" smtClean="0"/>
              <a:t>29/11/2023</a:t>
            </a:fld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6FDB2B7-FE88-45AF-B66E-067E781AC7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E39475E-76E2-40C7-B82F-8015AEE6B1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F36EAA-F4DD-4BDC-8C9A-1CF47A01F357}" type="slidenum">
              <a:rPr lang="en-US" altLang="es-PE"/>
              <a:pPr/>
              <a:t>‹Nº›</a:t>
            </a:fld>
            <a:endParaRPr lang="en-US" altLang="es-PE"/>
          </a:p>
        </p:txBody>
      </p:sp>
    </p:spTree>
    <p:extLst>
      <p:ext uri="{BB962C8B-B14F-4D97-AF65-F5344CB8AC3E}">
        <p14:creationId xmlns:p14="http://schemas.microsoft.com/office/powerpoint/2010/main" val="4025138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ítulo, 1 obje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4800" y="228600"/>
            <a:ext cx="10058400" cy="762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1600" y="1295400"/>
            <a:ext cx="5943600" cy="50292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6248400" y="1295400"/>
            <a:ext cx="5943600" cy="2438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6248400" y="3886200"/>
            <a:ext cx="5943600" cy="24384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F7D4593-3C9C-4629-9D4C-15AFD781F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4C7E29-CF57-4DE3-B1CF-C7CE2D41639C}" type="datetime1">
              <a:rPr lang="es-PE" smtClean="0"/>
              <a:t>29/11/2023</a:t>
            </a:fld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E1E98CE-D0A3-4202-9813-C32A81341D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B5EFAE7-6CAA-4F1A-A3AF-EB5394E802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4D13A7-3AB1-4608-AB21-63789A3E2669}" type="slidenum">
              <a:rPr lang="en-US" altLang="es-PE"/>
              <a:pPr/>
              <a:t>‹Nº›</a:t>
            </a:fld>
            <a:endParaRPr lang="en-US" altLang="es-PE"/>
          </a:p>
        </p:txBody>
      </p:sp>
    </p:spTree>
    <p:extLst>
      <p:ext uri="{BB962C8B-B14F-4D97-AF65-F5344CB8AC3E}">
        <p14:creationId xmlns:p14="http://schemas.microsoft.com/office/powerpoint/2010/main" val="263283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00F5007-EF11-418A-9416-BBC6F227C7C1}" type="datetime1">
              <a:rPr lang="es-PE" smtClean="0"/>
              <a:t>29/11/2023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981010B-86DA-4ADF-9F27-44166A92FBA2}" type="slidenum">
              <a:rPr lang="es-PE" smtClean="0"/>
              <a:t>‹Nº›</a:t>
            </a:fld>
            <a:endParaRPr lang="es-PE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34857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5" r:id="rId12"/>
    <p:sldLayoutId id="2147483776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3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1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B2248BB-F302-46CE-9632-3C89C3EE7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2CAA3-C15E-4E7C-B2E4-FD7563A2ADD8}" type="datetime1">
              <a:rPr lang="es-PE" smtClean="0"/>
              <a:t>29/11/2023</a:t>
            </a:fld>
            <a:endParaRPr lang="es-PE"/>
          </a:p>
        </p:txBody>
      </p:sp>
      <p:sp>
        <p:nvSpPr>
          <p:cNvPr id="111618" name="5 Marcador de número de diapositiva">
            <a:extLst>
              <a:ext uri="{FF2B5EF4-FFF2-40B4-BE49-F238E27FC236}">
                <a16:creationId xmlns:a16="http://schemas.microsoft.com/office/drawing/2014/main" id="{804DB4A3-2778-4B77-8DDB-40BE9006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A20C52-3375-4146-A522-561737E74E80}" type="slidenum">
              <a:rPr lang="en-US" altLang="es-P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</a:t>
            </a:fld>
            <a:endParaRPr lang="en-US" altLang="es-P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19" name="Text Box 4">
            <a:extLst>
              <a:ext uri="{FF2B5EF4-FFF2-40B4-BE49-F238E27FC236}">
                <a16:creationId xmlns:a16="http://schemas.microsoft.com/office/drawing/2014/main" id="{EBF5B200-59D5-4DD3-B994-2CC842F1C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1" y="404813"/>
            <a:ext cx="6481763" cy="5232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PE" sz="2800" b="1" dirty="0">
                <a:solidFill>
                  <a:srgbClr val="0309FD"/>
                </a:solidFill>
              </a:rPr>
              <a:t>Practica 01:</a:t>
            </a:r>
          </a:p>
        </p:txBody>
      </p:sp>
      <p:sp>
        <p:nvSpPr>
          <p:cNvPr id="111620" name="Text Box 5">
            <a:extLst>
              <a:ext uri="{FF2B5EF4-FFF2-40B4-BE49-F238E27FC236}">
                <a16:creationId xmlns:a16="http://schemas.microsoft.com/office/drawing/2014/main" id="{5C3E74FD-6009-4709-80CD-F6C902535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412876"/>
            <a:ext cx="8496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s-ES" altLang="es-PE" dirty="0"/>
              <a:t>Una MEC ha sido formulada, con los siguientes porcentajes.</a:t>
            </a:r>
          </a:p>
        </p:txBody>
      </p:sp>
      <p:sp>
        <p:nvSpPr>
          <p:cNvPr id="111621" name="Text Box 6">
            <a:extLst>
              <a:ext uri="{FF2B5EF4-FFF2-40B4-BE49-F238E27FC236}">
                <a16:creationId xmlns:a16="http://schemas.microsoft.com/office/drawing/2014/main" id="{3C08E89F-344C-4260-AC12-68E892999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2420938"/>
            <a:ext cx="38893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s-ES" altLang="es-PE"/>
              <a:t>AN = 87%</a:t>
            </a: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s-ES" altLang="es-PE"/>
              <a:t>FO = 7%</a:t>
            </a: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s-ES" altLang="es-PE"/>
              <a:t>Al = 6%</a:t>
            </a:r>
          </a:p>
        </p:txBody>
      </p:sp>
      <p:sp>
        <p:nvSpPr>
          <p:cNvPr id="111622" name="Text Box 7">
            <a:extLst>
              <a:ext uri="{FF2B5EF4-FFF2-40B4-BE49-F238E27FC236}">
                <a16:creationId xmlns:a16="http://schemas.microsoft.com/office/drawing/2014/main" id="{D91C311B-E08A-434F-8BCD-C5552F0BB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292600"/>
            <a:ext cx="8064500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95300" indent="-4953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</a:pPr>
            <a:r>
              <a:rPr lang="es-ES" altLang="es-PE" sz="2000" dirty="0"/>
              <a:t>Se pide calcular:</a:t>
            </a: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Tx/>
              <a:buChar char="•"/>
            </a:pPr>
            <a:r>
              <a:rPr lang="es-ES" altLang="es-PE" sz="2000" dirty="0"/>
              <a:t>El balance de oxigeno (O</a:t>
            </a:r>
            <a:r>
              <a:rPr lang="es-ES" altLang="es-PE" sz="2000" baseline="-25000" dirty="0"/>
              <a:t>B</a:t>
            </a:r>
            <a:r>
              <a:rPr lang="es-ES" altLang="es-PE" sz="2000" dirty="0"/>
              <a:t>)</a:t>
            </a: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Tx/>
              <a:buChar char="•"/>
            </a:pPr>
            <a:r>
              <a:rPr lang="es-ES" altLang="es-PE" sz="2000" dirty="0"/>
              <a:t>El calor de explosión (Q</a:t>
            </a:r>
            <a:r>
              <a:rPr lang="es-ES" altLang="es-PE" sz="2000" baseline="-25000" dirty="0"/>
              <a:t>3</a:t>
            </a:r>
            <a:r>
              <a:rPr lang="es-ES" altLang="es-PE" sz="2000" dirty="0"/>
              <a:t>)</a:t>
            </a:r>
          </a:p>
          <a:p>
            <a:pPr eaLnBrk="1" hangingPunct="1">
              <a:spcBef>
                <a:spcPct val="50000"/>
              </a:spcBef>
              <a:buClr>
                <a:srgbClr val="FF0000"/>
              </a:buClr>
              <a:buFontTx/>
              <a:buChar char="•"/>
            </a:pPr>
            <a:r>
              <a:rPr lang="es-ES" altLang="es-PE" sz="2000" dirty="0"/>
              <a:t>Discutir los resultados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989" name="Group 133">
            <a:extLst>
              <a:ext uri="{FF2B5EF4-FFF2-40B4-BE49-F238E27FC236}">
                <a16:creationId xmlns:a16="http://schemas.microsoft.com/office/drawing/2014/main" id="{0A0CDB39-DE9C-4A4C-BA04-5331C2F700F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12115523"/>
              </p:ext>
            </p:extLst>
          </p:nvPr>
        </p:nvGraphicFramePr>
        <p:xfrm>
          <a:off x="1770868" y="2689549"/>
          <a:ext cx="9009039" cy="3579810"/>
        </p:xfrm>
        <a:graphic>
          <a:graphicData uri="http://schemas.openxmlformats.org/drawingml/2006/table">
            <a:tbl>
              <a:tblPr/>
              <a:tblGrid>
                <a:gridCol w="1740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6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9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5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46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97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83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Ingredientes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P.M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</a:t>
                      </a:r>
                      <a:r>
                        <a:rPr kumimoji="0" lang="es-ES" sz="16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</a:t>
                      </a:r>
                      <a:r>
                        <a:rPr kumimoji="0" lang="es-ES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</a:t>
                      </a:r>
                      <a:r>
                        <a:rPr kumimoji="0" lang="es-ES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r>
                        <a:rPr kumimoji="0" lang="es-ES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</a:t>
                      </a:r>
                      <a:r>
                        <a:rPr kumimoji="0" lang="es-ES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9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AN: NH</a:t>
                      </a:r>
                      <a:r>
                        <a:rPr kumimoji="0" lang="es-ES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</a:t>
                      </a:r>
                      <a:r>
                        <a:rPr kumimoji="0" lang="es-ES" sz="16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3.2625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2.175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-.-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-.-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3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FO: CH2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-.-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-.-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9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Al: 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-.-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-.-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-.-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-.-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3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Base 100gr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3.2625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2.175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96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l-G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Σ</a:t>
                      </a: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a</a:t>
                      </a: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tgr/kg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32.625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53.5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2.222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146" name="Object 111">
            <a:extLst>
              <a:ext uri="{FF2B5EF4-FFF2-40B4-BE49-F238E27FC236}">
                <a16:creationId xmlns:a16="http://schemas.microsoft.com/office/drawing/2014/main" id="{1758121C-BF12-4763-9C2D-E03DFE7F54F6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8081270"/>
              </p:ext>
            </p:extLst>
          </p:nvPr>
        </p:nvGraphicFramePr>
        <p:xfrm>
          <a:off x="2416175" y="1355725"/>
          <a:ext cx="6911975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2" name="Ecuación" r:id="rId3" imgW="4317840" imgH="228600" progId="Equation.3">
                  <p:embed/>
                </p:oleObj>
              </mc:Choice>
              <mc:Fallback>
                <p:oleObj name="Ecuación" r:id="rId3" imgW="4317840" imgH="228600" progId="Equation.3">
                  <p:embed/>
                  <p:pic>
                    <p:nvPicPr>
                      <p:cNvPr id="6146" name="Object 111">
                        <a:extLst>
                          <a:ext uri="{FF2B5EF4-FFF2-40B4-BE49-F238E27FC236}">
                            <a16:creationId xmlns:a16="http://schemas.microsoft.com/office/drawing/2014/main" id="{1758121C-BF12-4763-9C2D-E03DFE7F54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1355725"/>
                        <a:ext cx="6911975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319A4FB-39EB-4CB0-B5AD-37ECA77E3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6F4AC-4A35-4E02-AA8A-950E071B24CF}" type="datetime1">
              <a:rPr lang="es-PE" smtClean="0"/>
              <a:t>29/11/2023</a:t>
            </a:fld>
            <a:endParaRPr lang="es-PE"/>
          </a:p>
        </p:txBody>
      </p:sp>
      <p:sp>
        <p:nvSpPr>
          <p:cNvPr id="6147" name="6 Marcador de número de diapositiva">
            <a:extLst>
              <a:ext uri="{FF2B5EF4-FFF2-40B4-BE49-F238E27FC236}">
                <a16:creationId xmlns:a16="http://schemas.microsoft.com/office/drawing/2014/main" id="{0356C53A-DAFD-4017-9DA6-12064C26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95C48DA-2DE5-476C-97F4-AF015577E478}" type="slidenum">
              <a:rPr lang="en-US" altLang="es-P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</a:t>
            </a:fld>
            <a:endParaRPr lang="en-US" altLang="es-P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D3DF0448-1CB8-4B85-BFD0-C9A606A94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404813"/>
            <a:ext cx="698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ES" altLang="es-PE" b="1" dirty="0">
                <a:solidFill>
                  <a:srgbClr val="FF0000"/>
                </a:solidFill>
              </a:rPr>
              <a:t>Solución.</a:t>
            </a:r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9B400184-AEFA-4D9E-901E-AE99CBD12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5938" y="1875343"/>
            <a:ext cx="88931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rgbClr val="FF0000"/>
              </a:buClr>
              <a:buFontTx/>
              <a:buAutoNum type="alphaLcPeriod" startAt="2"/>
            </a:pPr>
            <a:r>
              <a:rPr lang="es-ES" altLang="es-PE" sz="2000" b="1" dirty="0"/>
              <a:t>Construir la tabla siguiente para calcular  los átomos gramos de los ingredientes de la MEC.</a:t>
            </a:r>
          </a:p>
        </p:txBody>
      </p:sp>
      <p:sp>
        <p:nvSpPr>
          <p:cNvPr id="6215" name="Text Box 110">
            <a:extLst>
              <a:ext uri="{FF2B5EF4-FFF2-40B4-BE49-F238E27FC236}">
                <a16:creationId xmlns:a16="http://schemas.microsoft.com/office/drawing/2014/main" id="{E7337277-509C-4408-A651-2FD0D9A52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901410"/>
            <a:ext cx="842486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Tx/>
              <a:buAutoNum type="alphaLcPeriod"/>
            </a:pPr>
            <a:r>
              <a:rPr lang="es-ES" altLang="es-PE" sz="2100" b="1" dirty="0"/>
              <a:t>Balancear la ecuación de la MEC.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6">
            <a:extLst>
              <a:ext uri="{FF2B5EF4-FFF2-40B4-BE49-F238E27FC236}">
                <a16:creationId xmlns:a16="http://schemas.microsoft.com/office/drawing/2014/main" id="{DB973419-2020-4823-B26D-881C76344317}"/>
              </a:ext>
            </a:extLst>
          </p:cNvPr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768935343"/>
              </p:ext>
            </p:extLst>
          </p:nvPr>
        </p:nvGraphicFramePr>
        <p:xfrm>
          <a:off x="1638300" y="2260600"/>
          <a:ext cx="2870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6" name="Ecuación" r:id="rId3" imgW="2869920" imgH="507960" progId="Equation.3">
                  <p:embed/>
                </p:oleObj>
              </mc:Choice>
              <mc:Fallback>
                <p:oleObj name="Ecuación" r:id="rId3" imgW="2869920" imgH="507960" progId="Equation.3">
                  <p:embed/>
                  <p:pic>
                    <p:nvPicPr>
                      <p:cNvPr id="7170" name="Object 6">
                        <a:extLst>
                          <a:ext uri="{FF2B5EF4-FFF2-40B4-BE49-F238E27FC236}">
                            <a16:creationId xmlns:a16="http://schemas.microsoft.com/office/drawing/2014/main" id="{DB973419-2020-4823-B26D-881C763443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8300" y="2260600"/>
                        <a:ext cx="2870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8">
            <a:extLst>
              <a:ext uri="{FF2B5EF4-FFF2-40B4-BE49-F238E27FC236}">
                <a16:creationId xmlns:a16="http://schemas.microsoft.com/office/drawing/2014/main" id="{0D6060C3-5B9D-4461-8F76-CF6A8991E521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148185541"/>
              </p:ext>
            </p:extLst>
          </p:nvPr>
        </p:nvGraphicFramePr>
        <p:xfrm>
          <a:off x="1847850" y="2581275"/>
          <a:ext cx="3886200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7" name="Ecuación" r:id="rId5" imgW="2819160" imgH="507960" progId="Equation.3">
                  <p:embed/>
                </p:oleObj>
              </mc:Choice>
              <mc:Fallback>
                <p:oleObj name="Ecuación" r:id="rId5" imgW="2819160" imgH="507960" progId="Equation.3">
                  <p:embed/>
                  <p:pic>
                    <p:nvPicPr>
                      <p:cNvPr id="7171" name="Object 8">
                        <a:extLst>
                          <a:ext uri="{FF2B5EF4-FFF2-40B4-BE49-F238E27FC236}">
                            <a16:creationId xmlns:a16="http://schemas.microsoft.com/office/drawing/2014/main" id="{0D6060C3-5B9D-4461-8F76-CF6A8991E5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2581275"/>
                        <a:ext cx="3886200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1">
            <a:extLst>
              <a:ext uri="{FF2B5EF4-FFF2-40B4-BE49-F238E27FC236}">
                <a16:creationId xmlns:a16="http://schemas.microsoft.com/office/drawing/2014/main" id="{B75BFFDF-23AA-4662-BFD2-7C3DE9552D63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560785922"/>
              </p:ext>
            </p:extLst>
          </p:nvPr>
        </p:nvGraphicFramePr>
        <p:xfrm>
          <a:off x="6527800" y="3494088"/>
          <a:ext cx="35274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8" name="Ecuación" r:id="rId7" imgW="2565360" imgH="507960" progId="Equation.3">
                  <p:embed/>
                </p:oleObj>
              </mc:Choice>
              <mc:Fallback>
                <p:oleObj name="Ecuación" r:id="rId7" imgW="2565360" imgH="507960" progId="Equation.3">
                  <p:embed/>
                  <p:pic>
                    <p:nvPicPr>
                      <p:cNvPr id="7172" name="Object 11">
                        <a:extLst>
                          <a:ext uri="{FF2B5EF4-FFF2-40B4-BE49-F238E27FC236}">
                            <a16:creationId xmlns:a16="http://schemas.microsoft.com/office/drawing/2014/main" id="{B75BFFDF-23AA-4662-BFD2-7C3DE9552D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3494088"/>
                        <a:ext cx="35274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4">
            <a:extLst>
              <a:ext uri="{FF2B5EF4-FFF2-40B4-BE49-F238E27FC236}">
                <a16:creationId xmlns:a16="http://schemas.microsoft.com/office/drawing/2014/main" id="{9873E67D-D003-497A-8F4B-4048C812D4D7}"/>
              </a:ext>
            </a:extLst>
          </p:cNvPr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700825642"/>
              </p:ext>
            </p:extLst>
          </p:nvPr>
        </p:nvGraphicFramePr>
        <p:xfrm>
          <a:off x="6527800" y="5378450"/>
          <a:ext cx="3311525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9" name="Ecuación" r:id="rId9" imgW="2654280" imgH="736560" progId="Equation.3">
                  <p:embed/>
                </p:oleObj>
              </mc:Choice>
              <mc:Fallback>
                <p:oleObj name="Ecuación" r:id="rId9" imgW="2654280" imgH="736560" progId="Equation.3">
                  <p:embed/>
                  <p:pic>
                    <p:nvPicPr>
                      <p:cNvPr id="7173" name="Object 14">
                        <a:extLst>
                          <a:ext uri="{FF2B5EF4-FFF2-40B4-BE49-F238E27FC236}">
                            <a16:creationId xmlns:a16="http://schemas.microsoft.com/office/drawing/2014/main" id="{9873E67D-D003-497A-8F4B-4048C812D4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5378450"/>
                        <a:ext cx="3311525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E55AB94-54EF-4A57-BF37-D5C8EB92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559560-E9DE-467C-ABD4-BCEBCFA96A19}" type="datetime1">
              <a:rPr lang="es-PE" smtClean="0"/>
              <a:t>29/11/2023</a:t>
            </a:fld>
            <a:endParaRPr lang="en-US"/>
          </a:p>
        </p:txBody>
      </p:sp>
      <p:sp>
        <p:nvSpPr>
          <p:cNvPr id="7176" name="8 Marcador de número de diapositiva">
            <a:extLst>
              <a:ext uri="{FF2B5EF4-FFF2-40B4-BE49-F238E27FC236}">
                <a16:creationId xmlns:a16="http://schemas.microsoft.com/office/drawing/2014/main" id="{C1E0E857-71CA-4507-BDD5-A900308A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88E75EF-8DE4-45D4-AFBB-BCB31889E5B0}" type="slidenum">
              <a:rPr lang="en-US" altLang="es-P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3</a:t>
            </a:fld>
            <a:endParaRPr lang="en-US" altLang="es-P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7" name="Text Box 4">
            <a:extLst>
              <a:ext uri="{FF2B5EF4-FFF2-40B4-BE49-F238E27FC236}">
                <a16:creationId xmlns:a16="http://schemas.microsoft.com/office/drawing/2014/main" id="{87E807FE-DFCA-4DAB-978F-16B0CDD50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5" y="1268413"/>
            <a:ext cx="849630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rgbClr val="FF0000"/>
              </a:buClr>
              <a:buFontTx/>
              <a:buAutoNum type="alphaLcPeriod" startAt="3"/>
            </a:pPr>
            <a:r>
              <a:rPr lang="es-ES" altLang="es-PE" sz="2100" b="1" dirty="0"/>
              <a:t>Calcular los átomos gramos y llevarlos a la tabla</a:t>
            </a:r>
          </a:p>
        </p:txBody>
      </p:sp>
      <p:sp>
        <p:nvSpPr>
          <p:cNvPr id="7178" name="Text Box 5">
            <a:extLst>
              <a:ext uri="{FF2B5EF4-FFF2-40B4-BE49-F238E27FC236}">
                <a16:creationId xmlns:a16="http://schemas.microsoft.com/office/drawing/2014/main" id="{0D9A47F2-81E5-44A8-A57E-A77DD30A2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1844676"/>
            <a:ext cx="4032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PE" sz="2000" b="1" dirty="0">
                <a:solidFill>
                  <a:srgbClr val="FF0000"/>
                </a:solidFill>
              </a:rPr>
              <a:t>1.</a:t>
            </a:r>
            <a:r>
              <a:rPr lang="es-ES" altLang="es-PE" sz="2000" b="1" dirty="0"/>
              <a:t> Calculo de los at.gr NH</a:t>
            </a:r>
            <a:r>
              <a:rPr lang="es-ES" altLang="es-PE" sz="2000" b="1" baseline="-25000" dirty="0"/>
              <a:t>4</a:t>
            </a:r>
            <a:r>
              <a:rPr lang="es-ES" altLang="es-PE" sz="2000" b="1" dirty="0"/>
              <a:t>NO</a:t>
            </a:r>
            <a:r>
              <a:rPr lang="es-ES" altLang="es-PE" sz="2000" b="1" baseline="-25000" dirty="0"/>
              <a:t>3</a:t>
            </a:r>
          </a:p>
        </p:txBody>
      </p:sp>
      <p:graphicFrame>
        <p:nvGraphicFramePr>
          <p:cNvPr id="7174" name="Object 17">
            <a:extLst>
              <a:ext uri="{FF2B5EF4-FFF2-40B4-BE49-F238E27FC236}">
                <a16:creationId xmlns:a16="http://schemas.microsoft.com/office/drawing/2014/main" id="{431A5001-18B4-4881-B47E-57324F072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480060"/>
              </p:ext>
            </p:extLst>
          </p:nvPr>
        </p:nvGraphicFramePr>
        <p:xfrm>
          <a:off x="6456363" y="2420938"/>
          <a:ext cx="3600450" cy="85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0" name="Ecuación" r:id="rId11" imgW="2552400" imgH="507960" progId="Equation.3">
                  <p:embed/>
                </p:oleObj>
              </mc:Choice>
              <mc:Fallback>
                <p:oleObj name="Ecuación" r:id="rId11" imgW="2552400" imgH="507960" progId="Equation.3">
                  <p:embed/>
                  <p:pic>
                    <p:nvPicPr>
                      <p:cNvPr id="7174" name="Object 17">
                        <a:extLst>
                          <a:ext uri="{FF2B5EF4-FFF2-40B4-BE49-F238E27FC236}">
                            <a16:creationId xmlns:a16="http://schemas.microsoft.com/office/drawing/2014/main" id="{431A5001-18B4-4881-B47E-57324F0727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3" y="2420938"/>
                        <a:ext cx="3600450" cy="8522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18">
            <a:extLst>
              <a:ext uri="{FF2B5EF4-FFF2-40B4-BE49-F238E27FC236}">
                <a16:creationId xmlns:a16="http://schemas.microsoft.com/office/drawing/2014/main" id="{E03CDE34-95D7-44EE-B105-631901FD83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8958647"/>
              </p:ext>
            </p:extLst>
          </p:nvPr>
        </p:nvGraphicFramePr>
        <p:xfrm>
          <a:off x="1774825" y="4724401"/>
          <a:ext cx="3887788" cy="897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1" name="Ecuación" r:id="rId13" imgW="2755800" imgH="507960" progId="Equation.3">
                  <p:embed/>
                </p:oleObj>
              </mc:Choice>
              <mc:Fallback>
                <p:oleObj name="Ecuación" r:id="rId13" imgW="2755800" imgH="507960" progId="Equation.3">
                  <p:embed/>
                  <p:pic>
                    <p:nvPicPr>
                      <p:cNvPr id="7175" name="Object 18">
                        <a:extLst>
                          <a:ext uri="{FF2B5EF4-FFF2-40B4-BE49-F238E27FC236}">
                            <a16:creationId xmlns:a16="http://schemas.microsoft.com/office/drawing/2014/main" id="{E03CDE34-95D7-44EE-B105-631901FD83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4724401"/>
                        <a:ext cx="3887788" cy="897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Line 19">
            <a:extLst>
              <a:ext uri="{FF2B5EF4-FFF2-40B4-BE49-F238E27FC236}">
                <a16:creationId xmlns:a16="http://schemas.microsoft.com/office/drawing/2014/main" id="{DF479FA8-56BC-46E6-9229-6A031C8990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1773238"/>
            <a:ext cx="0" cy="4248150"/>
          </a:xfrm>
          <a:prstGeom prst="line">
            <a:avLst/>
          </a:prstGeom>
          <a:noFill/>
          <a:ln w="57150" cmpd="thickThin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PE"/>
          </a:p>
        </p:txBody>
      </p:sp>
      <p:sp>
        <p:nvSpPr>
          <p:cNvPr id="7180" name="Text Box 20">
            <a:extLst>
              <a:ext uri="{FF2B5EF4-FFF2-40B4-BE49-F238E27FC236}">
                <a16:creationId xmlns:a16="http://schemas.microsoft.com/office/drawing/2014/main" id="{945D7BFD-30CC-48C4-A3D2-93551AEB6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1" y="1844676"/>
            <a:ext cx="3529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PE" sz="2000" b="1">
                <a:solidFill>
                  <a:srgbClr val="FF0000"/>
                </a:solidFill>
              </a:rPr>
              <a:t>2.</a:t>
            </a:r>
            <a:r>
              <a:rPr lang="es-ES" altLang="es-PE" sz="2000" b="1"/>
              <a:t> Calculo de los at.gr CH</a:t>
            </a:r>
            <a:r>
              <a:rPr lang="es-ES" altLang="es-PE" sz="2000" b="1" baseline="-25000"/>
              <a:t>2</a:t>
            </a:r>
          </a:p>
        </p:txBody>
      </p:sp>
      <p:sp>
        <p:nvSpPr>
          <p:cNvPr id="7181" name="Text Box 21">
            <a:extLst>
              <a:ext uri="{FF2B5EF4-FFF2-40B4-BE49-F238E27FC236}">
                <a16:creationId xmlns:a16="http://schemas.microsoft.com/office/drawing/2014/main" id="{44BD43C6-ED2C-4D4B-99AE-A7707AEB4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338" y="4581526"/>
            <a:ext cx="33131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PE" sz="2000" b="1" dirty="0">
                <a:solidFill>
                  <a:srgbClr val="FF0000"/>
                </a:solidFill>
              </a:rPr>
              <a:t>3.</a:t>
            </a:r>
            <a:r>
              <a:rPr lang="es-ES" altLang="es-PE" sz="2000" b="1" dirty="0"/>
              <a:t> Calculo de los at.gr Al</a:t>
            </a:r>
            <a:endParaRPr lang="es-ES" altLang="es-PE" sz="2000" b="1" baseline="-2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5">
            <a:extLst>
              <a:ext uri="{FF2B5EF4-FFF2-40B4-BE49-F238E27FC236}">
                <a16:creationId xmlns:a16="http://schemas.microsoft.com/office/drawing/2014/main" id="{B940124A-4161-40B2-88F3-025536A1CF44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81482910"/>
              </p:ext>
            </p:extLst>
          </p:nvPr>
        </p:nvGraphicFramePr>
        <p:xfrm>
          <a:off x="3792538" y="2205038"/>
          <a:ext cx="417671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0" name="Ecuación" r:id="rId3" imgW="1765080" imgH="393480" progId="Equation.3">
                  <p:embed/>
                </p:oleObj>
              </mc:Choice>
              <mc:Fallback>
                <p:oleObj name="Ecuación" r:id="rId3" imgW="1765080" imgH="393480" progId="Equation.3">
                  <p:embed/>
                  <p:pic>
                    <p:nvPicPr>
                      <p:cNvPr id="8194" name="Object 5">
                        <a:extLst>
                          <a:ext uri="{FF2B5EF4-FFF2-40B4-BE49-F238E27FC236}">
                            <a16:creationId xmlns:a16="http://schemas.microsoft.com/office/drawing/2014/main" id="{B940124A-4161-40B2-88F3-025536A1CF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2205038"/>
                        <a:ext cx="4176712" cy="93186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B05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7">
            <a:extLst>
              <a:ext uri="{FF2B5EF4-FFF2-40B4-BE49-F238E27FC236}">
                <a16:creationId xmlns:a16="http://schemas.microsoft.com/office/drawing/2014/main" id="{6B31D81B-BB07-4D91-96E7-E84B6E28B994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06392815"/>
              </p:ext>
            </p:extLst>
          </p:nvPr>
        </p:nvGraphicFramePr>
        <p:xfrm>
          <a:off x="3143250" y="4005263"/>
          <a:ext cx="561657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Ecuación" r:id="rId5" imgW="2654280" imgH="393480" progId="Equation.3">
                  <p:embed/>
                </p:oleObj>
              </mc:Choice>
              <mc:Fallback>
                <p:oleObj name="Ecuación" r:id="rId5" imgW="2654280" imgH="393480" progId="Equation.3">
                  <p:embed/>
                  <p:pic>
                    <p:nvPicPr>
                      <p:cNvPr id="8195" name="Object 7">
                        <a:extLst>
                          <a:ext uri="{FF2B5EF4-FFF2-40B4-BE49-F238E27FC236}">
                            <a16:creationId xmlns:a16="http://schemas.microsoft.com/office/drawing/2014/main" id="{6B31D81B-BB07-4D91-96E7-E84B6E28B9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0" y="4005263"/>
                        <a:ext cx="5616575" cy="83343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B05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0">
            <a:extLst>
              <a:ext uri="{FF2B5EF4-FFF2-40B4-BE49-F238E27FC236}">
                <a16:creationId xmlns:a16="http://schemas.microsoft.com/office/drawing/2014/main" id="{3279C10A-CBB4-4CEB-B622-14DE24D834CB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846716681"/>
              </p:ext>
            </p:extLst>
          </p:nvPr>
        </p:nvGraphicFramePr>
        <p:xfrm>
          <a:off x="4440238" y="5300663"/>
          <a:ext cx="302418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2" name="Ecuación" r:id="rId7" imgW="1002960" imgH="215640" progId="Equation.3">
                  <p:embed/>
                </p:oleObj>
              </mc:Choice>
              <mc:Fallback>
                <p:oleObj name="Ecuación" r:id="rId7" imgW="1002960" imgH="215640" progId="Equation.3">
                  <p:embed/>
                  <p:pic>
                    <p:nvPicPr>
                      <p:cNvPr id="8196" name="Object 10">
                        <a:extLst>
                          <a:ext uri="{FF2B5EF4-FFF2-40B4-BE49-F238E27FC236}">
                            <a16:creationId xmlns:a16="http://schemas.microsoft.com/office/drawing/2014/main" id="{3279C10A-CBB4-4CEB-B622-14DE24D834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8" y="5300663"/>
                        <a:ext cx="3024187" cy="6508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B05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DA9985C-259E-42D0-83DC-765B412A1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E75E57-4EB1-4842-8451-EC195AE7FB63}" type="datetime1">
              <a:rPr lang="es-PE" smtClean="0"/>
              <a:t>29/11/2023</a:t>
            </a:fld>
            <a:endParaRPr lang="en-US"/>
          </a:p>
        </p:txBody>
      </p:sp>
      <p:sp>
        <p:nvSpPr>
          <p:cNvPr id="8197" name="7 Marcador de número de diapositiva">
            <a:extLst>
              <a:ext uri="{FF2B5EF4-FFF2-40B4-BE49-F238E27FC236}">
                <a16:creationId xmlns:a16="http://schemas.microsoft.com/office/drawing/2014/main" id="{01F36AB0-1527-44D4-8DB8-5A69B9A4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C12244B-324C-4721-9295-F03A53387685}" type="slidenum">
              <a:rPr lang="en-US" altLang="es-P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4</a:t>
            </a:fld>
            <a:endParaRPr lang="en-US" altLang="es-P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9" name="Text Box 4">
            <a:extLst>
              <a:ext uri="{FF2B5EF4-FFF2-40B4-BE49-F238E27FC236}">
                <a16:creationId xmlns:a16="http://schemas.microsoft.com/office/drawing/2014/main" id="{7CC94EB0-0676-4A83-BFD4-940923B394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1268414"/>
            <a:ext cx="856932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>
                <a:srgbClr val="FF0000"/>
              </a:buClr>
              <a:buFontTx/>
              <a:buAutoNum type="alphaLcPeriod" startAt="4"/>
            </a:pPr>
            <a:r>
              <a:rPr lang="es-ES" altLang="es-PE" sz="2100" b="1" dirty="0"/>
              <a:t>Calcular el balance de oxigeno, usando la formula mencionada anteriormente:</a:t>
            </a:r>
          </a:p>
        </p:txBody>
      </p:sp>
      <p:sp>
        <p:nvSpPr>
          <p:cNvPr id="8200" name="Text Box 13">
            <a:extLst>
              <a:ext uri="{FF2B5EF4-FFF2-40B4-BE49-F238E27FC236}">
                <a16:creationId xmlns:a16="http://schemas.microsoft.com/office/drawing/2014/main" id="{EFA9214D-4825-4447-A5E6-039A73FBF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3284538"/>
            <a:ext cx="813593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PE" sz="2100" b="1" dirty="0"/>
              <a:t>Reemplazando valores, se tiene: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8" name="Object 13">
            <a:extLst>
              <a:ext uri="{FF2B5EF4-FFF2-40B4-BE49-F238E27FC236}">
                <a16:creationId xmlns:a16="http://schemas.microsoft.com/office/drawing/2014/main" id="{20382749-916D-4D32-B0E1-9791CE9EFFB9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2279650" y="1773238"/>
          <a:ext cx="79930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4" name="Ecuación" r:id="rId3" imgW="4317840" imgH="228600" progId="Equation.3">
                  <p:embed/>
                </p:oleObj>
              </mc:Choice>
              <mc:Fallback>
                <p:oleObj name="Ecuación" r:id="rId3" imgW="4317840" imgH="228600" progId="Equation.3">
                  <p:embed/>
                  <p:pic>
                    <p:nvPicPr>
                      <p:cNvPr id="9218" name="Object 13">
                        <a:extLst>
                          <a:ext uri="{FF2B5EF4-FFF2-40B4-BE49-F238E27FC236}">
                            <a16:creationId xmlns:a16="http://schemas.microsoft.com/office/drawing/2014/main" id="{20382749-916D-4D32-B0E1-9791CE9EFF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1773238"/>
                        <a:ext cx="7993063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7">
            <a:extLst>
              <a:ext uri="{FF2B5EF4-FFF2-40B4-BE49-F238E27FC236}">
                <a16:creationId xmlns:a16="http://schemas.microsoft.com/office/drawing/2014/main" id="{A3B0EEFB-3B89-45B0-AD0A-D31C343312CC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773419103"/>
              </p:ext>
            </p:extLst>
          </p:nvPr>
        </p:nvGraphicFramePr>
        <p:xfrm>
          <a:off x="4997450" y="2281238"/>
          <a:ext cx="1549400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5" name="Ecuación" r:id="rId5" imgW="888840" imgH="228600" progId="Equation.3">
                  <p:embed/>
                </p:oleObj>
              </mc:Choice>
              <mc:Fallback>
                <p:oleObj name="Ecuación" r:id="rId5" imgW="888840" imgH="228600" progId="Equation.3">
                  <p:embed/>
                  <p:pic>
                    <p:nvPicPr>
                      <p:cNvPr id="9219" name="Object 7">
                        <a:extLst>
                          <a:ext uri="{FF2B5EF4-FFF2-40B4-BE49-F238E27FC236}">
                            <a16:creationId xmlns:a16="http://schemas.microsoft.com/office/drawing/2014/main" id="{A3B0EEFB-3B89-45B0-AD0A-D31C343312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7450" y="2281238"/>
                        <a:ext cx="1549400" cy="39846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B05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21">
            <a:extLst>
              <a:ext uri="{FF2B5EF4-FFF2-40B4-BE49-F238E27FC236}">
                <a16:creationId xmlns:a16="http://schemas.microsoft.com/office/drawing/2014/main" id="{68A26388-97DD-40CD-AA08-33483829D451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191326264"/>
              </p:ext>
            </p:extLst>
          </p:nvPr>
        </p:nvGraphicFramePr>
        <p:xfrm>
          <a:off x="2381250" y="4991100"/>
          <a:ext cx="138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6" name="Ecuación" r:id="rId7" imgW="1384200" imgH="228600" progId="Equation.3">
                  <p:embed/>
                </p:oleObj>
              </mc:Choice>
              <mc:Fallback>
                <p:oleObj name="Ecuación" r:id="rId7" imgW="1384200" imgH="228600" progId="Equation.3">
                  <p:embed/>
                  <p:pic>
                    <p:nvPicPr>
                      <p:cNvPr id="9220" name="Object 21">
                        <a:extLst>
                          <a:ext uri="{FF2B5EF4-FFF2-40B4-BE49-F238E27FC236}">
                            <a16:creationId xmlns:a16="http://schemas.microsoft.com/office/drawing/2014/main" id="{68A26388-97DD-40CD-AA08-33483829D4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4991100"/>
                        <a:ext cx="1384300" cy="228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B05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24">
            <a:extLst>
              <a:ext uri="{FF2B5EF4-FFF2-40B4-BE49-F238E27FC236}">
                <a16:creationId xmlns:a16="http://schemas.microsoft.com/office/drawing/2014/main" id="{4260ED18-EBC5-4E3F-B636-7BF13ACAC554}"/>
              </a:ext>
            </a:extLst>
          </p:cNvPr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026252540"/>
              </p:ext>
            </p:extLst>
          </p:nvPr>
        </p:nvGraphicFramePr>
        <p:xfrm>
          <a:off x="5375275" y="5949950"/>
          <a:ext cx="20161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7" name="Ecuación" r:id="rId9" imgW="888840" imgH="228600" progId="Equation.3">
                  <p:embed/>
                </p:oleObj>
              </mc:Choice>
              <mc:Fallback>
                <p:oleObj name="Ecuación" r:id="rId9" imgW="888840" imgH="228600" progId="Equation.3">
                  <p:embed/>
                  <p:pic>
                    <p:nvPicPr>
                      <p:cNvPr id="9221" name="Object 24">
                        <a:extLst>
                          <a:ext uri="{FF2B5EF4-FFF2-40B4-BE49-F238E27FC236}">
                            <a16:creationId xmlns:a16="http://schemas.microsoft.com/office/drawing/2014/main" id="{4260ED18-EBC5-4E3F-B636-7BF13ACAC5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5949950"/>
                        <a:ext cx="2016125" cy="519113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B05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ACAEFB-542C-41C9-BA80-98A69D961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D665C44-53E9-4167-91B0-C520456FD13F}" type="datetime1">
              <a:rPr lang="es-PE" smtClean="0"/>
              <a:t>29/11/2023</a:t>
            </a:fld>
            <a:endParaRPr lang="en-US"/>
          </a:p>
        </p:txBody>
      </p:sp>
      <p:sp>
        <p:nvSpPr>
          <p:cNvPr id="9222" name="8 Marcador de número de diapositiva">
            <a:extLst>
              <a:ext uri="{FF2B5EF4-FFF2-40B4-BE49-F238E27FC236}">
                <a16:creationId xmlns:a16="http://schemas.microsoft.com/office/drawing/2014/main" id="{9CB2F7E4-1F78-4E40-8845-CD66C0BE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5C99CB8-D48D-41F1-B7FE-1A47C51210F2}" type="slidenum">
              <a:rPr lang="en-US" altLang="es-P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5</a:t>
            </a:fld>
            <a:endParaRPr lang="en-US" altLang="es-P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3" name="Text Box 4">
            <a:extLst>
              <a:ext uri="{FF2B5EF4-FFF2-40B4-BE49-F238E27FC236}">
                <a16:creationId xmlns:a16="http://schemas.microsoft.com/office/drawing/2014/main" id="{287AAAD0-0049-4DAC-839E-AADCC3350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1196975"/>
            <a:ext cx="81375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Tx/>
              <a:buAutoNum type="alphaLcPeriod" startAt="5"/>
            </a:pPr>
            <a:r>
              <a:rPr lang="es-ES" altLang="es-PE" sz="2200" b="1" dirty="0"/>
              <a:t>Calculo del calor de explosión (Q</a:t>
            </a:r>
            <a:r>
              <a:rPr lang="es-ES" altLang="es-PE" sz="2200" b="1" baseline="-25000" dirty="0"/>
              <a:t>3</a:t>
            </a:r>
            <a:r>
              <a:rPr lang="es-ES" altLang="es-PE" sz="2200" b="1" dirty="0"/>
              <a:t>)</a:t>
            </a:r>
          </a:p>
        </p:txBody>
      </p:sp>
      <p:sp>
        <p:nvSpPr>
          <p:cNvPr id="9224" name="Text Box 11">
            <a:extLst>
              <a:ext uri="{FF2B5EF4-FFF2-40B4-BE49-F238E27FC236}">
                <a16:creationId xmlns:a16="http://schemas.microsoft.com/office/drawing/2014/main" id="{DFA6CFF6-0729-440C-BF13-8FF1A8A2D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5337" y="2636839"/>
            <a:ext cx="2376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PE" sz="2000" b="1" dirty="0"/>
              <a:t>HP: Productos</a:t>
            </a:r>
          </a:p>
        </p:txBody>
      </p:sp>
      <p:sp>
        <p:nvSpPr>
          <p:cNvPr id="9225" name="Text Box 12">
            <a:extLst>
              <a:ext uri="{FF2B5EF4-FFF2-40B4-BE49-F238E27FC236}">
                <a16:creationId xmlns:a16="http://schemas.microsoft.com/office/drawing/2014/main" id="{F0345526-6839-429C-BB20-C53FC049A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6" y="2636839"/>
            <a:ext cx="2232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PE" sz="2000" b="1"/>
              <a:t>HR: Reactantes</a:t>
            </a:r>
          </a:p>
        </p:txBody>
      </p:sp>
      <p:sp>
        <p:nvSpPr>
          <p:cNvPr id="9226" name="Text Box 16">
            <a:extLst>
              <a:ext uri="{FF2B5EF4-FFF2-40B4-BE49-F238E27FC236}">
                <a16:creationId xmlns:a16="http://schemas.microsoft.com/office/drawing/2014/main" id="{81369062-353A-426B-8E2A-3174FE86C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3068639"/>
            <a:ext cx="3887787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PE" sz="2000" b="1" dirty="0"/>
              <a:t>13H</a:t>
            </a:r>
            <a:r>
              <a:rPr lang="es-ES" altLang="es-PE" sz="2000" b="1" baseline="-25000" dirty="0"/>
              <a:t>2</a:t>
            </a:r>
            <a:r>
              <a:rPr lang="es-ES" altLang="es-PE" sz="2000" b="1" dirty="0"/>
              <a:t>O = 13 x 57.80 = 	751.40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s-PE" sz="2000" b="1" dirty="0"/>
              <a:t>6N</a:t>
            </a:r>
            <a:r>
              <a:rPr lang="es-ES" altLang="es-PE" sz="2000" b="1" baseline="-25000" dirty="0"/>
              <a:t>2</a:t>
            </a:r>
            <a:r>
              <a:rPr lang="es-ES" altLang="es-PE" sz="2000" b="1" dirty="0"/>
              <a:t> = 6x 0 	       =        0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s-PE" sz="2000" b="1" dirty="0"/>
              <a:t>CO</a:t>
            </a:r>
            <a:r>
              <a:rPr lang="es-ES" altLang="es-PE" sz="2000" b="1" baseline="-25000" dirty="0"/>
              <a:t>2</a:t>
            </a:r>
            <a:r>
              <a:rPr lang="es-ES" altLang="es-PE" sz="2000" b="1" dirty="0"/>
              <a:t> = 1 x 94.05       =      94.05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s-PE" sz="2000" b="1" dirty="0"/>
              <a:t>Al</a:t>
            </a:r>
            <a:r>
              <a:rPr lang="es-ES" altLang="es-PE" sz="2000" b="1" baseline="-25000" dirty="0"/>
              <a:t>2</a:t>
            </a:r>
            <a:r>
              <a:rPr lang="es-ES" altLang="es-PE" sz="2000" b="1" dirty="0"/>
              <a:t>O</a:t>
            </a:r>
            <a:r>
              <a:rPr lang="es-ES" altLang="es-PE" sz="2000" b="1" baseline="-25000" dirty="0"/>
              <a:t>3</a:t>
            </a:r>
            <a:r>
              <a:rPr lang="es-ES" altLang="es-PE" sz="2000" b="1" dirty="0"/>
              <a:t> = 1 x 392        =    392.0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s-PE" sz="2000" b="1" dirty="0"/>
              <a:t>                           HP = 1237.45</a:t>
            </a:r>
          </a:p>
        </p:txBody>
      </p:sp>
      <p:sp>
        <p:nvSpPr>
          <p:cNvPr id="9227" name="Text Box 17">
            <a:extLst>
              <a:ext uri="{FF2B5EF4-FFF2-40B4-BE49-F238E27FC236}">
                <a16:creationId xmlns:a16="http://schemas.microsoft.com/office/drawing/2014/main" id="{E67536BF-7006-4491-87CF-294E8A067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4" y="3213101"/>
            <a:ext cx="3959225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s-ES" altLang="es-PE" sz="2000" b="1" dirty="0"/>
              <a:t>6NH4NO3 = 6 x 87.93 	= 527.58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s-PE" sz="2000" b="1" dirty="0"/>
              <a:t>CH</a:t>
            </a:r>
            <a:r>
              <a:rPr lang="es-ES" altLang="es-PE" sz="2000" b="1" baseline="-25000" dirty="0"/>
              <a:t>2</a:t>
            </a:r>
            <a:r>
              <a:rPr lang="es-ES" altLang="es-PE" sz="2000" b="1" dirty="0"/>
              <a:t> = 1 x 7.02 		=     7.02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s-PE" sz="2000" b="1" dirty="0"/>
              <a:t>2Al = 2 x 0 		=     0</a:t>
            </a:r>
          </a:p>
          <a:p>
            <a:pPr eaLnBrk="1" hangingPunct="1">
              <a:spcBef>
                <a:spcPct val="50000"/>
              </a:spcBef>
            </a:pPr>
            <a:r>
              <a:rPr lang="es-ES" altLang="es-PE" sz="2000" b="1" dirty="0"/>
              <a:t>                                 HR = 534.60</a:t>
            </a:r>
          </a:p>
        </p:txBody>
      </p:sp>
      <p:sp>
        <p:nvSpPr>
          <p:cNvPr id="9228" name="Line 18">
            <a:extLst>
              <a:ext uri="{FF2B5EF4-FFF2-40B4-BE49-F238E27FC236}">
                <a16:creationId xmlns:a16="http://schemas.microsoft.com/office/drawing/2014/main" id="{32F7FB4B-06E4-48A2-897D-4904C510D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7575" y="4868863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PE"/>
          </a:p>
        </p:txBody>
      </p:sp>
      <p:sp>
        <p:nvSpPr>
          <p:cNvPr id="9229" name="Line 19">
            <a:extLst>
              <a:ext uri="{FF2B5EF4-FFF2-40B4-BE49-F238E27FC236}">
                <a16:creationId xmlns:a16="http://schemas.microsoft.com/office/drawing/2014/main" id="{DFF54F5A-98C3-4BE2-ADF1-122DE4406EA5}"/>
              </a:ext>
            </a:extLst>
          </p:cNvPr>
          <p:cNvSpPr>
            <a:spLocks noChangeShapeType="1"/>
          </p:cNvSpPr>
          <p:nvPr/>
        </p:nvSpPr>
        <p:spPr bwMode="auto">
          <a:xfrm>
            <a:off x="9336089" y="4581525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PE"/>
          </a:p>
        </p:txBody>
      </p:sp>
      <p:sp>
        <p:nvSpPr>
          <p:cNvPr id="9230" name="Line 20">
            <a:extLst>
              <a:ext uri="{FF2B5EF4-FFF2-40B4-BE49-F238E27FC236}">
                <a16:creationId xmlns:a16="http://schemas.microsoft.com/office/drawing/2014/main" id="{BD8D1FF5-1766-4705-A80D-B2B2570906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8" y="2781301"/>
            <a:ext cx="0" cy="2447925"/>
          </a:xfrm>
          <a:prstGeom prst="line">
            <a:avLst/>
          </a:prstGeom>
          <a:noFill/>
          <a:ln w="57150" cmpd="thinThick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P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8">
            <a:extLst>
              <a:ext uri="{FF2B5EF4-FFF2-40B4-BE49-F238E27FC236}">
                <a16:creationId xmlns:a16="http://schemas.microsoft.com/office/drawing/2014/main" id="{ADE4C4BE-23BE-44B1-819F-162907F97A14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397000" y="3695700"/>
          <a:ext cx="3352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8" name="Ecuación" r:id="rId3" imgW="3352680" imgH="228600" progId="Equation.3">
                  <p:embed/>
                </p:oleObj>
              </mc:Choice>
              <mc:Fallback>
                <p:oleObj name="Ecuación" r:id="rId3" imgW="3352680" imgH="228600" progId="Equation.3">
                  <p:embed/>
                  <p:pic>
                    <p:nvPicPr>
                      <p:cNvPr id="10242" name="Object 8">
                        <a:extLst>
                          <a:ext uri="{FF2B5EF4-FFF2-40B4-BE49-F238E27FC236}">
                            <a16:creationId xmlns:a16="http://schemas.microsoft.com/office/drawing/2014/main" id="{ADE4C4BE-23BE-44B1-819F-162907F97A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7000" y="3695700"/>
                        <a:ext cx="335280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10">
            <a:extLst>
              <a:ext uri="{FF2B5EF4-FFF2-40B4-BE49-F238E27FC236}">
                <a16:creationId xmlns:a16="http://schemas.microsoft.com/office/drawing/2014/main" id="{797BA842-E892-4F52-BEA4-E3719EC65169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93900" y="1916113"/>
          <a:ext cx="8202613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9" name="Ecuación" r:id="rId5" imgW="3327120" imgH="228600" progId="Equation.3">
                  <p:embed/>
                </p:oleObj>
              </mc:Choice>
              <mc:Fallback>
                <p:oleObj name="Ecuación" r:id="rId5" imgW="3327120" imgH="228600" progId="Equation.3">
                  <p:embed/>
                  <p:pic>
                    <p:nvPicPr>
                      <p:cNvPr id="10243" name="Object 10">
                        <a:extLst>
                          <a:ext uri="{FF2B5EF4-FFF2-40B4-BE49-F238E27FC236}">
                            <a16:creationId xmlns:a16="http://schemas.microsoft.com/office/drawing/2014/main" id="{797BA842-E892-4F52-BEA4-E3719EC651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1916113"/>
                        <a:ext cx="8202613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13">
            <a:extLst>
              <a:ext uri="{FF2B5EF4-FFF2-40B4-BE49-F238E27FC236}">
                <a16:creationId xmlns:a16="http://schemas.microsoft.com/office/drawing/2014/main" id="{38976EC3-04BE-4FCD-9AF9-5C3D5D4EEBE7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066925" y="5229225"/>
          <a:ext cx="795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0" name="Ecuación" r:id="rId7" imgW="3974760" imgH="228600" progId="Equation.3">
                  <p:embed/>
                </p:oleObj>
              </mc:Choice>
              <mc:Fallback>
                <p:oleObj name="Ecuación" r:id="rId7" imgW="3974760" imgH="228600" progId="Equation.3">
                  <p:embed/>
                  <p:pic>
                    <p:nvPicPr>
                      <p:cNvPr id="10244" name="Object 13">
                        <a:extLst>
                          <a:ext uri="{FF2B5EF4-FFF2-40B4-BE49-F238E27FC236}">
                            <a16:creationId xmlns:a16="http://schemas.microsoft.com/office/drawing/2014/main" id="{38976EC3-04BE-4FCD-9AF9-5C3D5D4EEB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25" y="5229225"/>
                        <a:ext cx="795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1DDBE33-D41A-44E3-87E0-01D089249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9F086D8-634E-4E60-BC90-477F412C5D8A}" type="datetime1">
              <a:rPr lang="es-PE" smtClean="0"/>
              <a:t>29/11/2023</a:t>
            </a:fld>
            <a:endParaRPr lang="en-US"/>
          </a:p>
        </p:txBody>
      </p:sp>
      <p:sp>
        <p:nvSpPr>
          <p:cNvPr id="10245" name="7 Marcador de número de diapositiva">
            <a:extLst>
              <a:ext uri="{FF2B5EF4-FFF2-40B4-BE49-F238E27FC236}">
                <a16:creationId xmlns:a16="http://schemas.microsoft.com/office/drawing/2014/main" id="{67349BE2-AA67-4EF8-9BB7-23B33413A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25EAB52-4B3A-4988-89CA-F55A9140B815}" type="slidenum">
              <a:rPr lang="en-US" altLang="es-P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s-P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6" name="Text Box 4">
            <a:extLst>
              <a:ext uri="{FF2B5EF4-FFF2-40B4-BE49-F238E27FC236}">
                <a16:creationId xmlns:a16="http://schemas.microsoft.com/office/drawing/2014/main" id="{9B8A6B37-7E2A-4AB1-8BAA-EEC7D8DC7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1268413"/>
            <a:ext cx="3889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s-ES" altLang="es-PE" b="1" dirty="0"/>
              <a:t>AN = 94.4% y FO = 5.6%</a:t>
            </a:r>
          </a:p>
        </p:txBody>
      </p:sp>
      <p:sp>
        <p:nvSpPr>
          <p:cNvPr id="10247" name="Text Box 6">
            <a:extLst>
              <a:ext uri="{FF2B5EF4-FFF2-40B4-BE49-F238E27FC236}">
                <a16:creationId xmlns:a16="http://schemas.microsoft.com/office/drawing/2014/main" id="{12ACA928-D2A1-41E6-B769-98B5BE14B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3068638"/>
            <a:ext cx="3889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s-ES" altLang="es-PE" b="1"/>
              <a:t>AN = 92% y FO = 8%</a:t>
            </a:r>
          </a:p>
        </p:txBody>
      </p:sp>
      <p:sp>
        <p:nvSpPr>
          <p:cNvPr id="10248" name="Text Box 7">
            <a:extLst>
              <a:ext uri="{FF2B5EF4-FFF2-40B4-BE49-F238E27FC236}">
                <a16:creationId xmlns:a16="http://schemas.microsoft.com/office/drawing/2014/main" id="{80A0B99B-6B1E-4C4B-8E03-0DEA02324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4652963"/>
            <a:ext cx="3889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s-ES" altLang="es-PE" b="1"/>
              <a:t>AN = 96.6% y FO = 3.4%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TM10001106[[fn=Distintivo]]</Template>
  <TotalTime>1712</TotalTime>
  <Words>300</Words>
  <Application>Microsoft Office PowerPoint</Application>
  <PresentationFormat>Panorámica</PresentationFormat>
  <Paragraphs>90</Paragraphs>
  <Slides>6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Arial</vt:lpstr>
      <vt:lpstr>Calibri</vt:lpstr>
      <vt:lpstr>Gill Sans MT</vt:lpstr>
      <vt:lpstr>Impact</vt:lpstr>
      <vt:lpstr>Times New Roman</vt:lpstr>
      <vt:lpstr>Wingdings</vt:lpstr>
      <vt:lpstr>Distintivo</vt:lpstr>
      <vt:lpstr>Ecuación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PERFORACION Y VOLADURA EN MINERIA SUPERFICIAL</dc:title>
  <dc:creator>Santiago L. Robert</dc:creator>
  <cp:lastModifiedBy>ROBERT GODOFREDO SANTIAGO LUCAS</cp:lastModifiedBy>
  <cp:revision>72</cp:revision>
  <dcterms:created xsi:type="dcterms:W3CDTF">2021-02-05T03:22:17Z</dcterms:created>
  <dcterms:modified xsi:type="dcterms:W3CDTF">2023-11-30T02:22:32Z</dcterms:modified>
</cp:coreProperties>
</file>