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391" r:id="rId5"/>
    <p:sldId id="402" r:id="rId6"/>
    <p:sldId id="404" r:id="rId7"/>
    <p:sldId id="403" r:id="rId8"/>
    <p:sldId id="407" r:id="rId9"/>
    <p:sldId id="406" r:id="rId10"/>
    <p:sldId id="408" r:id="rId11"/>
    <p:sldId id="409" r:id="rId12"/>
    <p:sldId id="410" r:id="rId13"/>
    <p:sldId id="411" r:id="rId14"/>
    <p:sldId id="412" r:id="rId15"/>
    <p:sldId id="413" r:id="rId16"/>
    <p:sldId id="414" r:id="rId17"/>
    <p:sldId id="415" r:id="rId18"/>
    <p:sldId id="416" r:id="rId19"/>
    <p:sldId id="417" r:id="rId20"/>
    <p:sldId id="418" r:id="rId21"/>
    <p:sldId id="419" r:id="rId22"/>
    <p:sldId id="420" r:id="rId23"/>
    <p:sldId id="421" r:id="rId24"/>
    <p:sldId id="294" r:id="rId25"/>
    <p:sldId id="260" r:id="rId26"/>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a:srgbClr val="F7F7F7"/>
    <a:srgbClr val="02BA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029" autoAdjust="0"/>
    <p:restoredTop sz="94660"/>
  </p:normalViewPr>
  <p:slideViewPr>
    <p:cSldViewPr snapToGrid="0">
      <p:cViewPr varScale="1">
        <p:scale>
          <a:sx n="68" d="100"/>
          <a:sy n="68" d="100"/>
        </p:scale>
        <p:origin x="49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25/06/2024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25/06/2024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25/06/2024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25/06/2024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25/06/2024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25/06/2024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25/06/2024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25/06/2024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25/06/2024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25/06/2024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25/06/2024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25/06/2024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1904948" y="2423937"/>
            <a:ext cx="8701421" cy="2123658"/>
          </a:xfrm>
          <a:prstGeom prst="rect">
            <a:avLst/>
          </a:prstGeom>
        </p:spPr>
        <p:txBody>
          <a:bodyPr wrap="none">
            <a:spAutoFit/>
          </a:bodyPr>
          <a:lstStyle/>
          <a:p>
            <a:r>
              <a:rPr lang="es-ES" sz="6600" dirty="0">
                <a:solidFill>
                  <a:srgbClr val="00F3B5"/>
                </a:solidFill>
                <a:latin typeface="Prompt" panose="00000800000000000000" pitchFamily="2" charset="-34"/>
                <a:cs typeface="Prompt" panose="00000800000000000000" pitchFamily="2" charset="-34"/>
              </a:rPr>
              <a:t>Resultado Operativo</a:t>
            </a:r>
          </a:p>
          <a:p>
            <a:pPr algn="ctr"/>
            <a:r>
              <a:rPr lang="es-ES" sz="6600" dirty="0">
                <a:solidFill>
                  <a:schemeClr val="bg1"/>
                </a:solidFill>
                <a:latin typeface="Prompt" panose="00000800000000000000" pitchFamily="2" charset="-34"/>
                <a:cs typeface="Prompt" panose="00000800000000000000" pitchFamily="2" charset="-34"/>
              </a:rPr>
              <a:t>de Obra</a:t>
            </a:r>
          </a:p>
        </p:txBody>
      </p:sp>
      <p:sp>
        <p:nvSpPr>
          <p:cNvPr id="7" name="CuadroTexto 6"/>
          <p:cNvSpPr txBox="1"/>
          <p:nvPr/>
        </p:nvSpPr>
        <p:spPr>
          <a:xfrm>
            <a:off x="1726249" y="1401509"/>
            <a:ext cx="3811425" cy="369332"/>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CURSO DE FORMACIÓN</a:t>
            </a:r>
          </a:p>
        </p:txBody>
      </p:sp>
      <p:sp>
        <p:nvSpPr>
          <p:cNvPr id="4" name="CuadroTexto 3">
            <a:extLst>
              <a:ext uri="{FF2B5EF4-FFF2-40B4-BE49-F238E27FC236}">
                <a16:creationId xmlns:a16="http://schemas.microsoft.com/office/drawing/2014/main" id="{CE78CD8B-B406-4F21-B6A0-85217AF25A26}"/>
              </a:ext>
            </a:extLst>
          </p:cNvPr>
          <p:cNvSpPr txBox="1"/>
          <p:nvPr/>
        </p:nvSpPr>
        <p:spPr>
          <a:xfrm>
            <a:off x="4684542" y="5271825"/>
            <a:ext cx="6991643" cy="646331"/>
          </a:xfrm>
          <a:prstGeom prst="rect">
            <a:avLst/>
          </a:prstGeom>
          <a:noFill/>
        </p:spPr>
        <p:txBody>
          <a:bodyPr wrap="square" rtlCol="0">
            <a:spAutoFit/>
          </a:bodyPr>
          <a:lstStyle/>
          <a:p>
            <a:r>
              <a:rPr lang="es-ES" dirty="0">
                <a:solidFill>
                  <a:schemeClr val="bg1"/>
                </a:solidFill>
                <a:latin typeface="Prompt" panose="00000800000000000000" pitchFamily="2" charset="-34"/>
                <a:cs typeface="Prompt" panose="00000800000000000000" pitchFamily="2" charset="-34"/>
              </a:rPr>
              <a:t>DOCENTE: MG. ING. CHRISTIAN ENRIQUE TENORIO MESONES</a:t>
            </a:r>
          </a:p>
          <a:p>
            <a:r>
              <a:rPr lang="es-ES" dirty="0">
                <a:solidFill>
                  <a:schemeClr val="bg1"/>
                </a:solidFill>
                <a:latin typeface="Prompt" panose="00000800000000000000" pitchFamily="2" charset="-34"/>
                <a:cs typeface="Prompt" panose="00000800000000000000" pitchFamily="2" charset="-34"/>
              </a:rPr>
              <a:t>		xtianoperu@gmail.com</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1087719" y="2766940"/>
            <a:ext cx="6667500" cy="844550"/>
          </a:xfrm>
        </p:spPr>
        <p:txBody>
          <a:bodyPr/>
          <a:lstStyle/>
          <a:p>
            <a:r>
              <a:rPr lang="es-ES" dirty="0">
                <a:solidFill>
                  <a:srgbClr val="00F3B5"/>
                </a:solidFill>
                <a:latin typeface="Prompt" panose="00000800000000000000" pitchFamily="2" charset="-34"/>
                <a:cs typeface="Prompt" panose="00000800000000000000" pitchFamily="2" charset="-34"/>
              </a:rPr>
              <a:t>Módulo 3</a:t>
            </a:r>
          </a:p>
        </p:txBody>
      </p:sp>
      <p:sp>
        <p:nvSpPr>
          <p:cNvPr id="5" name="CuadroTexto 4"/>
          <p:cNvSpPr txBox="1"/>
          <p:nvPr/>
        </p:nvSpPr>
        <p:spPr>
          <a:xfrm>
            <a:off x="1087719" y="3611490"/>
            <a:ext cx="9793641" cy="553998"/>
          </a:xfrm>
          <a:prstGeom prst="rect">
            <a:avLst/>
          </a:prstGeom>
          <a:noFill/>
        </p:spPr>
        <p:txBody>
          <a:bodyPr wrap="square" rtlCol="0">
            <a:spAutoFit/>
          </a:bodyPr>
          <a:lstStyle/>
          <a:p>
            <a:r>
              <a:rPr lang="es-ES" sz="3000" dirty="0">
                <a:solidFill>
                  <a:schemeClr val="bg1"/>
                </a:solidFill>
                <a:latin typeface="Prompt" panose="00000800000000000000" pitchFamily="2" charset="-34"/>
                <a:cs typeface="Prompt" panose="00000800000000000000" pitchFamily="2" charset="-34"/>
              </a:rPr>
              <a:t>Venta y Costo en un Contrato de Construcción </a:t>
            </a:r>
          </a:p>
        </p:txBody>
      </p:sp>
    </p:spTree>
    <p:extLst>
      <p:ext uri="{BB962C8B-B14F-4D97-AF65-F5344CB8AC3E}">
        <p14:creationId xmlns:p14="http://schemas.microsoft.com/office/powerpoint/2010/main" val="10713368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136"/>
          <p:cNvSpPr txBox="1">
            <a:spLocks/>
          </p:cNvSpPr>
          <p:nvPr/>
        </p:nvSpPr>
        <p:spPr>
          <a:xfrm>
            <a:off x="1936161" y="1585686"/>
            <a:ext cx="8319678" cy="3011379"/>
          </a:xfrm>
          <a:prstGeom prst="rect">
            <a:avLst/>
          </a:prstGeom>
        </p:spPr>
        <p:txBody>
          <a:bodyPr vert="horz" lIns="91425" tIns="91425" rIns="91425" bIns="91425" rtlCol="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spcBef>
                <a:spcPts val="0"/>
              </a:spcBef>
              <a:buClr>
                <a:srgbClr val="FFFFFF"/>
              </a:buClr>
              <a:buSzPct val="100000"/>
            </a:pPr>
            <a:r>
              <a:rPr lang="en" sz="5000" b="1" dirty="0">
                <a:latin typeface="+mn-lt"/>
              </a:rPr>
              <a:t>COMPONENTES Y DESARROLLO DEL RESULTADO OPERATIVO</a:t>
            </a:r>
          </a:p>
          <a:p>
            <a:pPr algn="ctr">
              <a:spcBef>
                <a:spcPts val="0"/>
              </a:spcBef>
              <a:buClr>
                <a:srgbClr val="FFFFFF"/>
              </a:buClr>
              <a:buSzPct val="100000"/>
            </a:pPr>
            <a:endParaRPr lang="en" sz="1000" b="1" dirty="0">
              <a:latin typeface="+mn-lt"/>
            </a:endParaRPr>
          </a:p>
          <a:p>
            <a:pPr algn="ctr">
              <a:spcBef>
                <a:spcPts val="0"/>
              </a:spcBef>
              <a:buClr>
                <a:srgbClr val="FFFFFF"/>
              </a:buClr>
              <a:buSzPct val="100000"/>
            </a:pPr>
            <a:r>
              <a:rPr lang="en" sz="5500" b="1" dirty="0">
                <a:latin typeface="+mn-lt"/>
              </a:rPr>
              <a:t>RESULTADO OPERATIVO</a:t>
            </a:r>
          </a:p>
        </p:txBody>
      </p:sp>
    </p:spTree>
    <p:extLst>
      <p:ext uri="{BB962C8B-B14F-4D97-AF65-F5344CB8AC3E}">
        <p14:creationId xmlns:p14="http://schemas.microsoft.com/office/powerpoint/2010/main" val="4048170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3863237"/>
          </a:xfrm>
          <a:prstGeom prst="rect">
            <a:avLst/>
          </a:prstGeom>
          <a:noFill/>
        </p:spPr>
        <p:txBody>
          <a:bodyPr wrap="square" rtlCol="0">
            <a:spAutoFit/>
          </a:bodyPr>
          <a:lstStyle/>
          <a:p>
            <a:pPr algn="just">
              <a:lnSpc>
                <a:spcPct val="150000"/>
              </a:lnSpc>
              <a:spcAft>
                <a:spcPts val="1200"/>
              </a:spcAft>
            </a:pPr>
            <a:r>
              <a:rPr lang="es-MX" sz="3200" b="1" dirty="0"/>
              <a:t>Control de Precios Unitarios reales diarios: </a:t>
            </a:r>
          </a:p>
          <a:p>
            <a:pPr algn="just">
              <a:lnSpc>
                <a:spcPct val="150000"/>
              </a:lnSpc>
            </a:pPr>
            <a:r>
              <a:rPr lang="es-MX" sz="3200" dirty="0"/>
              <a:t>Se refiere a la realización de un seguimiento constante, es decir debemos calcular los precios unitarios reales diarios o </a:t>
            </a:r>
            <a:r>
              <a:rPr lang="es-MX" sz="3200" dirty="0" err="1"/>
              <a:t>interdiarios</a:t>
            </a:r>
            <a:r>
              <a:rPr lang="es-MX" sz="3200" dirty="0"/>
              <a:t>, lo que nos permitirá corregir los costos meta mediante esta herramienta.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4260130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2970685"/>
          </a:xfrm>
          <a:prstGeom prst="rect">
            <a:avLst/>
          </a:prstGeom>
          <a:noFill/>
        </p:spPr>
        <p:txBody>
          <a:bodyPr wrap="square" rtlCol="0">
            <a:spAutoFit/>
          </a:bodyPr>
          <a:lstStyle/>
          <a:p>
            <a:pPr algn="just">
              <a:lnSpc>
                <a:spcPct val="150000"/>
              </a:lnSpc>
            </a:pPr>
            <a:r>
              <a:rPr lang="es-MX" sz="3200" dirty="0"/>
              <a:t>Es el sistema de planeamiento y control inicial referente a la programación del Presupuesto Oferta (Venta) y del Presupuesto Meta (Costo) en los formatos del RO, lo que nos permitirá hacer un análisis más profundo y detallado.</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3399532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4017125"/>
          </a:xfrm>
          <a:prstGeom prst="rect">
            <a:avLst/>
          </a:prstGeom>
          <a:noFill/>
        </p:spPr>
        <p:txBody>
          <a:bodyPr wrap="square" rtlCol="0">
            <a:spAutoFit/>
          </a:bodyPr>
          <a:lstStyle/>
          <a:p>
            <a:pPr algn="just">
              <a:lnSpc>
                <a:spcPct val="150000"/>
              </a:lnSpc>
              <a:spcAft>
                <a:spcPts val="1200"/>
              </a:spcAft>
            </a:pPr>
            <a:r>
              <a:rPr lang="es-MX" sz="3200" b="1" dirty="0"/>
              <a:t>Venta Meta o Previsión Original de la Venta: </a:t>
            </a:r>
          </a:p>
          <a:p>
            <a:pPr algn="just">
              <a:lnSpc>
                <a:spcPct val="125000"/>
              </a:lnSpc>
            </a:pPr>
            <a:r>
              <a:rPr lang="es-MX" sz="3200" dirty="0"/>
              <a:t>La Venta propiamente dicha es la producción ejecutada y/o por ejecutar, expresada en </a:t>
            </a:r>
            <a:r>
              <a:rPr lang="es-MX" sz="3200" dirty="0" err="1"/>
              <a:t>metrados</a:t>
            </a:r>
            <a:r>
              <a:rPr lang="es-MX" sz="3200" dirty="0"/>
              <a:t> multiplicados por los precios unitarios correspondientes.</a:t>
            </a:r>
          </a:p>
          <a:p>
            <a:pPr algn="just">
              <a:lnSpc>
                <a:spcPct val="125000"/>
              </a:lnSpc>
            </a:pPr>
            <a:r>
              <a:rPr lang="es-MX" sz="3200" dirty="0"/>
              <a:t>La Venta que compone el “RO”, no contempla los anticipos ni tampoco las retenciones por garantías.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781607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4632678"/>
          </a:xfrm>
          <a:prstGeom prst="rect">
            <a:avLst/>
          </a:prstGeom>
          <a:noFill/>
        </p:spPr>
        <p:txBody>
          <a:bodyPr wrap="square" rtlCol="0">
            <a:spAutoFit/>
          </a:bodyPr>
          <a:lstStyle/>
          <a:p>
            <a:pPr algn="just">
              <a:lnSpc>
                <a:spcPct val="150000"/>
              </a:lnSpc>
              <a:spcAft>
                <a:spcPts val="1200"/>
              </a:spcAft>
            </a:pPr>
            <a:r>
              <a:rPr lang="es-MX" sz="3200" b="1" dirty="0"/>
              <a:t>Venta Meta o Previsión Original de la Venta: </a:t>
            </a:r>
          </a:p>
          <a:p>
            <a:pPr algn="just">
              <a:lnSpc>
                <a:spcPct val="125000"/>
              </a:lnSpc>
            </a:pPr>
            <a:r>
              <a:rPr lang="es-MX" sz="3200" dirty="0"/>
              <a:t>La Venta Meta es la estimación de la venta más probable a fin de proyecto, la cual no será necesariamente igual al monto contratado. Su cálculo incluye la actualización de las cantidades, estimado por adicionales y trabajos nuevos no considerados en el presupuesto inicial pero que están dentro del alcance contractual.</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22156294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5248232"/>
          </a:xfrm>
          <a:prstGeom prst="rect">
            <a:avLst/>
          </a:prstGeom>
          <a:noFill/>
        </p:spPr>
        <p:txBody>
          <a:bodyPr wrap="square" rtlCol="0">
            <a:spAutoFit/>
          </a:bodyPr>
          <a:lstStyle/>
          <a:p>
            <a:pPr algn="just">
              <a:lnSpc>
                <a:spcPct val="150000"/>
              </a:lnSpc>
              <a:spcAft>
                <a:spcPts val="1200"/>
              </a:spcAft>
            </a:pPr>
            <a:r>
              <a:rPr lang="es-MX" sz="3200" b="1" dirty="0"/>
              <a:t>Control Meta o Previsión Original del Costo: </a:t>
            </a:r>
          </a:p>
          <a:p>
            <a:pPr algn="just">
              <a:lnSpc>
                <a:spcPct val="125000"/>
              </a:lnSpc>
            </a:pPr>
            <a:r>
              <a:rPr lang="es-MX" sz="3200" dirty="0"/>
              <a:t>El costo propiamente dicho es la estimación por todos los recursos, materiales y no materiales necesarios para la ejecución de la obra, por otro lado el costo meta es la estimación del costo más probable a fin de proyecto, el cual no será necesariamente igual al costo original calculado por el área de presupuestos, es decir es el costo correspondiente a la venta meta.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10370755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56603" y="1236559"/>
            <a:ext cx="10297552" cy="5248232"/>
          </a:xfrm>
          <a:prstGeom prst="rect">
            <a:avLst/>
          </a:prstGeom>
          <a:noFill/>
        </p:spPr>
        <p:txBody>
          <a:bodyPr wrap="square" rtlCol="0">
            <a:spAutoFit/>
          </a:bodyPr>
          <a:lstStyle/>
          <a:p>
            <a:pPr algn="just">
              <a:lnSpc>
                <a:spcPct val="150000"/>
              </a:lnSpc>
              <a:spcAft>
                <a:spcPts val="1200"/>
              </a:spcAft>
            </a:pPr>
            <a:r>
              <a:rPr lang="es-MX" sz="3200" b="1" dirty="0"/>
              <a:t>Control Meta o Previsión Original del Costo: </a:t>
            </a:r>
          </a:p>
          <a:p>
            <a:pPr algn="just">
              <a:lnSpc>
                <a:spcPct val="125000"/>
              </a:lnSpc>
            </a:pPr>
            <a:r>
              <a:rPr lang="es-MX" sz="3200" dirty="0"/>
              <a:t>Para su cálculo se realiza la revisión de cantidades, procesos constructivos, rendimientos, productividades, tarifas, cuadrillas y en general la cuantificación en términos monetarios del uso de todos los recursos necesarios para cumplir con el alcance, de acuerdo a las condiciones reales encontradas en el proyecto, como resultado obtenemos el Presupuesto Meta.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16828591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4017125"/>
          </a:xfrm>
          <a:prstGeom prst="rect">
            <a:avLst/>
          </a:prstGeom>
          <a:noFill/>
        </p:spPr>
        <p:txBody>
          <a:bodyPr wrap="square" rtlCol="0">
            <a:spAutoFit/>
          </a:bodyPr>
          <a:lstStyle/>
          <a:p>
            <a:pPr algn="just">
              <a:lnSpc>
                <a:spcPct val="150000"/>
              </a:lnSpc>
              <a:spcAft>
                <a:spcPts val="1200"/>
              </a:spcAft>
            </a:pPr>
            <a:r>
              <a:rPr lang="es-MX" sz="3200" b="1" dirty="0"/>
              <a:t>Resultado Meta: </a:t>
            </a:r>
          </a:p>
          <a:p>
            <a:pPr algn="just">
              <a:lnSpc>
                <a:spcPct val="125000"/>
              </a:lnSpc>
            </a:pPr>
            <a:r>
              <a:rPr lang="es-MX" sz="3200" dirty="0"/>
              <a:t>El resultado meta es el monto resultante de la diferencia entre la venta meta y el costo meta. </a:t>
            </a:r>
          </a:p>
          <a:p>
            <a:pPr algn="just">
              <a:lnSpc>
                <a:spcPct val="125000"/>
              </a:lnSpc>
            </a:pPr>
            <a:r>
              <a:rPr lang="es-MX" sz="3200" dirty="0"/>
              <a:t>El resultado expresado como porcentaje de la venta es el Margen Meta, cabe resaltar que el objetivo económico del proyecto se fija en términos del Margen Meta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9493207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4825937"/>
          </a:xfrm>
          <a:prstGeom prst="rect">
            <a:avLst/>
          </a:prstGeom>
          <a:noFill/>
        </p:spPr>
        <p:txBody>
          <a:bodyPr wrap="square" rtlCol="0">
            <a:spAutoFit/>
          </a:bodyPr>
          <a:lstStyle/>
          <a:p>
            <a:pPr algn="just">
              <a:lnSpc>
                <a:spcPct val="150000"/>
              </a:lnSpc>
              <a:spcAft>
                <a:spcPts val="1200"/>
              </a:spcAft>
            </a:pPr>
            <a:r>
              <a:rPr lang="es-MX" sz="3200" b="1" dirty="0"/>
              <a:t>Resultado Meta: </a:t>
            </a:r>
          </a:p>
          <a:p>
            <a:pPr algn="just">
              <a:lnSpc>
                <a:spcPct val="120000"/>
              </a:lnSpc>
            </a:pPr>
            <a:r>
              <a:rPr lang="es-MX" sz="3000" dirty="0"/>
              <a:t>El responsable de elaborar el Resultado Original es el gerente de proyecto en conjunto con la oficina técnica y el área de producción y será aprobado en las reuniones de compromiso </a:t>
            </a:r>
          </a:p>
          <a:p>
            <a:pPr algn="just">
              <a:lnSpc>
                <a:spcPct val="120000"/>
              </a:lnSpc>
            </a:pPr>
            <a:r>
              <a:rPr lang="es-MX" sz="3000" dirty="0"/>
              <a:t>con la sede central y/o el directorio de la empresa, y lo más importante es que se fija el margen meta como objetivo económico del proyecto, por lo que los esfuerzos del proyecto se orientarán a obtener un resultado real, igual o mejor.</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35926918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4981748"/>
          </a:xfrm>
          <a:prstGeom prst="rect">
            <a:avLst/>
          </a:prstGeom>
          <a:noFill/>
        </p:spPr>
        <p:txBody>
          <a:bodyPr wrap="square" rtlCol="0">
            <a:spAutoFit/>
          </a:bodyPr>
          <a:lstStyle/>
          <a:p>
            <a:pPr algn="just">
              <a:lnSpc>
                <a:spcPct val="150000"/>
              </a:lnSpc>
              <a:spcAft>
                <a:spcPts val="1200"/>
              </a:spcAft>
            </a:pPr>
            <a:r>
              <a:rPr lang="es-MX" sz="3200" b="1" dirty="0"/>
              <a:t>Resultado Meta: </a:t>
            </a:r>
          </a:p>
          <a:p>
            <a:pPr algn="just">
              <a:lnSpc>
                <a:spcPct val="125000"/>
              </a:lnSpc>
            </a:pPr>
            <a:r>
              <a:rPr lang="es-MX" sz="3000" dirty="0"/>
              <a:t>Esta herramienta es también un soporte para el área de finanzas ya que proporciona los datos necesarios para el flujo de caja de la empresa a futuro, pues podrán saber cuánto es lo que cobraremos mensualmente (Ingresos) y cuánto es lo que gastaremos mensualmente (Egresos), de esta manera pueden programar posibles préstamos y el pago de las deudas de la empresa. </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Operativo</a:t>
            </a:r>
            <a:r>
              <a:rPr lang="en-US" sz="4800" b="1" dirty="0">
                <a:latin typeface="+mj-lt"/>
                <a:cs typeface="Times New Roman" panose="02020603050405020304" pitchFamily="18" charset="0"/>
              </a:rPr>
              <a:t> Cero</a:t>
            </a:r>
          </a:p>
        </p:txBody>
      </p:sp>
    </p:spTree>
    <p:extLst>
      <p:ext uri="{BB962C8B-B14F-4D97-AF65-F5344CB8AC3E}">
        <p14:creationId xmlns:p14="http://schemas.microsoft.com/office/powerpoint/2010/main" val="1150001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2935034"/>
          </a:xfrm>
          <a:prstGeom prst="rect">
            <a:avLst/>
          </a:prstGeom>
          <a:noFill/>
        </p:spPr>
        <p:txBody>
          <a:bodyPr wrap="square" rtlCol="0">
            <a:spAutoFit/>
          </a:bodyPr>
          <a:lstStyle/>
          <a:p>
            <a:pPr algn="just">
              <a:lnSpc>
                <a:spcPct val="125000"/>
              </a:lnSpc>
            </a:pPr>
            <a:r>
              <a:rPr lang="es-MX" sz="3000" dirty="0"/>
              <a:t>La información mensual, ingresa de las planillas de ventas (control de valorizaciones) y costos en forma automática ya que las planillas del </a:t>
            </a:r>
            <a:r>
              <a:rPr lang="es-MX" sz="3000" b="1" dirty="0"/>
              <a:t>RO-05 Resultado Económico </a:t>
            </a:r>
            <a:r>
              <a:rPr lang="es-MX" sz="3000" dirty="0"/>
              <a:t>deben estar vinculadas con las planillas de recursos del </a:t>
            </a:r>
            <a:r>
              <a:rPr lang="es-MX" sz="3000" b="1" dirty="0"/>
              <a:t>RO-07 Formato de control de recursos</a:t>
            </a:r>
            <a:r>
              <a:rPr lang="es-MX" sz="3000" dirty="0"/>
              <a:t>.</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4226918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3512115"/>
          </a:xfrm>
          <a:prstGeom prst="rect">
            <a:avLst/>
          </a:prstGeom>
          <a:noFill/>
        </p:spPr>
        <p:txBody>
          <a:bodyPr wrap="square" rtlCol="0">
            <a:spAutoFit/>
          </a:bodyPr>
          <a:lstStyle/>
          <a:p>
            <a:pPr algn="just">
              <a:lnSpc>
                <a:spcPct val="125000"/>
              </a:lnSpc>
            </a:pPr>
            <a:r>
              <a:rPr lang="es-MX" sz="3000" dirty="0"/>
              <a:t>Todo este flujo de información nos permite determinar el  resultado general del mes, el cual se suma al acumulado anterior y se obtiene el nuevo acumulado.</a:t>
            </a:r>
          </a:p>
          <a:p>
            <a:pPr algn="just">
              <a:lnSpc>
                <a:spcPct val="125000"/>
              </a:lnSpc>
            </a:pPr>
            <a:r>
              <a:rPr lang="es-MX" sz="3000" dirty="0"/>
              <a:t>Luego, las proyecciones ingresan también automáticamente tanto de venta como de costos las cuales se van actualizando cada mes.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4003031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2990819"/>
          </a:xfrm>
          <a:prstGeom prst="rect">
            <a:avLst/>
          </a:prstGeom>
          <a:noFill/>
        </p:spPr>
        <p:txBody>
          <a:bodyPr wrap="square" rtlCol="0">
            <a:spAutoFit/>
          </a:bodyPr>
          <a:lstStyle/>
          <a:p>
            <a:pPr algn="just">
              <a:lnSpc>
                <a:spcPct val="150000"/>
              </a:lnSpc>
              <a:spcAft>
                <a:spcPts val="1200"/>
              </a:spcAft>
            </a:pPr>
            <a:r>
              <a:rPr lang="es-MX" sz="3200" b="1" dirty="0"/>
              <a:t>Cálculo de la Venta Real y Proyección del saldo: </a:t>
            </a:r>
          </a:p>
          <a:p>
            <a:pPr algn="just">
              <a:lnSpc>
                <a:spcPct val="150000"/>
              </a:lnSpc>
            </a:pPr>
            <a:r>
              <a:rPr lang="es-MX" sz="3000" b="1" dirty="0"/>
              <a:t>Valorización Contractual: </a:t>
            </a:r>
          </a:p>
          <a:p>
            <a:pPr algn="just">
              <a:lnSpc>
                <a:spcPct val="150000"/>
              </a:lnSpc>
              <a:spcAft>
                <a:spcPts val="1200"/>
              </a:spcAft>
            </a:pPr>
            <a:r>
              <a:rPr lang="es-MX" sz="3000" dirty="0"/>
              <a:t>Se debe tomar en cuenta para poder hacer las comparaciones necesarias con la evaluación que se realizará.</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30329299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420437"/>
            <a:ext cx="10297552" cy="3683316"/>
          </a:xfrm>
          <a:prstGeom prst="rect">
            <a:avLst/>
          </a:prstGeom>
          <a:noFill/>
        </p:spPr>
        <p:txBody>
          <a:bodyPr wrap="square" rtlCol="0">
            <a:spAutoFit/>
          </a:bodyPr>
          <a:lstStyle/>
          <a:p>
            <a:pPr algn="just">
              <a:lnSpc>
                <a:spcPct val="150000"/>
              </a:lnSpc>
              <a:spcAft>
                <a:spcPts val="1200"/>
              </a:spcAft>
            </a:pPr>
            <a:r>
              <a:rPr lang="es-MX" sz="3200" b="1" dirty="0"/>
              <a:t>Cálculo de la Venta Real y Proyección del saldo: </a:t>
            </a:r>
          </a:p>
          <a:p>
            <a:pPr algn="just">
              <a:lnSpc>
                <a:spcPct val="150000"/>
              </a:lnSpc>
            </a:pPr>
            <a:r>
              <a:rPr lang="es-MX" sz="3000" b="1" dirty="0"/>
              <a:t>Periodo de evaluación: </a:t>
            </a:r>
          </a:p>
          <a:p>
            <a:pPr algn="just">
              <a:lnSpc>
                <a:spcPct val="150000"/>
              </a:lnSpc>
              <a:spcAft>
                <a:spcPts val="1200"/>
              </a:spcAft>
            </a:pPr>
            <a:r>
              <a:rPr lang="es-MX" sz="3000" dirty="0"/>
              <a:t>El objetivo es calcular la venta ejecutada a la fecha de corte del Resultado Operativo, recordemos que la fecha de corte para presentar los resultados del mes es el 25 de cada mes.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696852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236559"/>
            <a:ext cx="10297552" cy="5364545"/>
          </a:xfrm>
          <a:prstGeom prst="rect">
            <a:avLst/>
          </a:prstGeom>
          <a:noFill/>
        </p:spPr>
        <p:txBody>
          <a:bodyPr wrap="square" rtlCol="0">
            <a:spAutoFit/>
          </a:bodyPr>
          <a:lstStyle/>
          <a:p>
            <a:pPr algn="just">
              <a:lnSpc>
                <a:spcPct val="150000"/>
              </a:lnSpc>
            </a:pPr>
            <a:r>
              <a:rPr lang="es-MX" sz="3200" b="1" dirty="0"/>
              <a:t>Cálculo de la Venta Real y Proyección del saldo: </a:t>
            </a:r>
          </a:p>
          <a:p>
            <a:pPr algn="just">
              <a:lnSpc>
                <a:spcPct val="150000"/>
              </a:lnSpc>
            </a:pPr>
            <a:r>
              <a:rPr lang="es-MX" sz="3000" b="1" dirty="0"/>
              <a:t>Análisis de la Venta Total: </a:t>
            </a:r>
          </a:p>
          <a:p>
            <a:pPr algn="just">
              <a:lnSpc>
                <a:spcPct val="120000"/>
              </a:lnSpc>
            </a:pPr>
            <a:r>
              <a:rPr lang="es-MX" sz="3000" dirty="0"/>
              <a:t>Con este análisis podemos determinar lo valorizado, lo ejecutado, los trabajos valorizados no ejecutados (TENV) y el saldo por ejecutar de todas las fases y partidas del proyecto.</a:t>
            </a:r>
          </a:p>
          <a:p>
            <a:pPr algn="just">
              <a:lnSpc>
                <a:spcPct val="120000"/>
              </a:lnSpc>
            </a:pPr>
            <a:r>
              <a:rPr lang="es-MX" sz="3000" dirty="0"/>
              <a:t>La venta ejecutada a la fecha de corte estará básicamente conformada por los trabajos ejecutados y valorizados (TEV) al cliente más los trabajos ejecutados no valorizados al cliente (TENV).</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9681385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236559"/>
            <a:ext cx="10297552" cy="5364545"/>
          </a:xfrm>
          <a:prstGeom prst="rect">
            <a:avLst/>
          </a:prstGeom>
          <a:noFill/>
        </p:spPr>
        <p:txBody>
          <a:bodyPr wrap="square" rtlCol="0">
            <a:spAutoFit/>
          </a:bodyPr>
          <a:lstStyle/>
          <a:p>
            <a:pPr algn="just">
              <a:lnSpc>
                <a:spcPct val="150000"/>
              </a:lnSpc>
            </a:pPr>
            <a:r>
              <a:rPr lang="es-MX" sz="3200" b="1" dirty="0"/>
              <a:t>Cálculo de la Venta Real y Proyección del saldo: </a:t>
            </a:r>
          </a:p>
          <a:p>
            <a:pPr algn="just">
              <a:lnSpc>
                <a:spcPct val="150000"/>
              </a:lnSpc>
            </a:pPr>
            <a:r>
              <a:rPr lang="es-MX" sz="3000" b="1" dirty="0"/>
              <a:t>Análisis de la Venta Total: </a:t>
            </a:r>
          </a:p>
          <a:p>
            <a:pPr algn="just">
              <a:lnSpc>
                <a:spcPct val="120000"/>
              </a:lnSpc>
            </a:pPr>
            <a:r>
              <a:rPr lang="es-MX" sz="3000" dirty="0"/>
              <a:t>Todos los TENV se convierten en un activo para el proyecto que deberán ser cobrados en la siguiente valorización, tal como lo veremos más adelante en el análisis de Resultado Pendiente.</a:t>
            </a:r>
          </a:p>
          <a:p>
            <a:pPr algn="just">
              <a:lnSpc>
                <a:spcPct val="120000"/>
              </a:lnSpc>
            </a:pPr>
            <a:r>
              <a:rPr lang="es-MX" sz="3000" dirty="0"/>
              <a:t>Para finalizar nuestro análisis tenemos que calcular el saldo a ejecutar, es decir en base a lo ejecutado reprogramamos los saldos. La venta total puede cambiar mes a mes, debido a muchos factores.</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3427017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236559"/>
            <a:ext cx="10297552" cy="5364545"/>
          </a:xfrm>
          <a:prstGeom prst="rect">
            <a:avLst/>
          </a:prstGeom>
          <a:noFill/>
        </p:spPr>
        <p:txBody>
          <a:bodyPr wrap="square" rtlCol="0">
            <a:spAutoFit/>
          </a:bodyPr>
          <a:lstStyle/>
          <a:p>
            <a:pPr algn="just">
              <a:lnSpc>
                <a:spcPct val="150000"/>
              </a:lnSpc>
            </a:pPr>
            <a:r>
              <a:rPr lang="es-MX" sz="3200" b="1" dirty="0"/>
              <a:t>Cálculo de la Venta Real y Proyección del saldo: </a:t>
            </a:r>
          </a:p>
          <a:p>
            <a:pPr algn="just">
              <a:lnSpc>
                <a:spcPct val="150000"/>
              </a:lnSpc>
            </a:pPr>
            <a:r>
              <a:rPr lang="es-MX" sz="3000" b="1" dirty="0"/>
              <a:t>Cálculo del Avance Físico Semanal: </a:t>
            </a:r>
          </a:p>
          <a:p>
            <a:pPr algn="just">
              <a:lnSpc>
                <a:spcPct val="120000"/>
              </a:lnSpc>
            </a:pPr>
            <a:r>
              <a:rPr lang="es-MX" sz="3000" dirty="0"/>
              <a:t>El avance real es igual al programado debido a que las fases ejecutadas son partidas globales y se valorizan por día transcurrido.</a:t>
            </a:r>
          </a:p>
          <a:p>
            <a:pPr algn="just">
              <a:lnSpc>
                <a:spcPct val="120000"/>
              </a:lnSpc>
            </a:pPr>
            <a:r>
              <a:rPr lang="es-MX" sz="3000" dirty="0"/>
              <a:t>Es importante también hacer el seguimiento mediante la Curva “S” para cada una de las fases del proyecto para poder identificar las desviaciones por fase o actividad de acuerdo al nivel de control establecido inicialmente.</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564381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236559"/>
            <a:ext cx="10297552" cy="4810548"/>
          </a:xfrm>
          <a:prstGeom prst="rect">
            <a:avLst/>
          </a:prstGeom>
          <a:noFill/>
        </p:spPr>
        <p:txBody>
          <a:bodyPr wrap="square" rtlCol="0">
            <a:spAutoFit/>
          </a:bodyPr>
          <a:lstStyle/>
          <a:p>
            <a:pPr algn="just">
              <a:lnSpc>
                <a:spcPct val="150000"/>
              </a:lnSpc>
            </a:pPr>
            <a:r>
              <a:rPr lang="es-MX" sz="3200" b="1" dirty="0"/>
              <a:t>Cálculo de la Venta Real y Proyección del saldo: </a:t>
            </a:r>
          </a:p>
          <a:p>
            <a:pPr algn="just">
              <a:lnSpc>
                <a:spcPct val="150000"/>
              </a:lnSpc>
            </a:pPr>
            <a:r>
              <a:rPr lang="es-MX" sz="3000" b="1" dirty="0"/>
              <a:t>Cronograma Valorizado de Obra Faseado: </a:t>
            </a:r>
          </a:p>
          <a:p>
            <a:pPr algn="just">
              <a:lnSpc>
                <a:spcPct val="120000"/>
              </a:lnSpc>
            </a:pPr>
            <a:r>
              <a:rPr lang="es-MX" sz="3000" dirty="0"/>
              <a:t>Se debe realizar el análisis de cada fase, para llevar el control de los cambios de la venta en cada uno de los periodos analizados.</a:t>
            </a:r>
          </a:p>
          <a:p>
            <a:pPr algn="just">
              <a:lnSpc>
                <a:spcPct val="120000"/>
              </a:lnSpc>
            </a:pPr>
            <a:r>
              <a:rPr lang="es-MX" sz="3000" dirty="0"/>
              <a:t>En la proyección se mantienen los mismos montos planteados en el Resultado Original, pero este puede variar en el siguiente mes de acuerdo a los avances y rendimientos alcanzados.</a:t>
            </a:r>
          </a:p>
          <a:p>
            <a:pPr algn="just">
              <a:lnSpc>
                <a:spcPct val="120000"/>
              </a:lnSpc>
            </a:pPr>
            <a:endParaRPr lang="es-MX" sz="3000" dirty="0"/>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4155678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236559"/>
            <a:ext cx="10297552" cy="4672048"/>
          </a:xfrm>
          <a:prstGeom prst="rect">
            <a:avLst/>
          </a:prstGeom>
          <a:noFill/>
        </p:spPr>
        <p:txBody>
          <a:bodyPr wrap="square" rtlCol="0">
            <a:spAutoFit/>
          </a:bodyPr>
          <a:lstStyle/>
          <a:p>
            <a:pPr algn="just">
              <a:lnSpc>
                <a:spcPct val="150000"/>
              </a:lnSpc>
            </a:pPr>
            <a:r>
              <a:rPr lang="es-MX" sz="3200" b="1" dirty="0"/>
              <a:t>Cálculo del Costo Real y Proyección del costo: </a:t>
            </a:r>
          </a:p>
          <a:p>
            <a:pPr algn="just">
              <a:lnSpc>
                <a:spcPct val="120000"/>
              </a:lnSpc>
            </a:pPr>
            <a:r>
              <a:rPr lang="es-MX" sz="3000" dirty="0"/>
              <a:t>El objetivo es calcular todos los costos incurridos a la fecha de corte estipulada, es importante que el costo esté acorde a la venta calculada. Para el cálculo del costo real mes a mes es necesaria la interacción con todas las áreas de soporte del proyecto, algunas de ellas emitirán reportes mensuales para el Resultado Operativo detallando y sustentando los gastos del mes de acuerdo a su competencia.</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Tree>
    <p:extLst>
      <p:ext uri="{BB962C8B-B14F-4D97-AF65-F5344CB8AC3E}">
        <p14:creationId xmlns:p14="http://schemas.microsoft.com/office/powerpoint/2010/main" val="20329236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8E672BD-FC18-41EC-B23B-2828ECEA8ED9}"/>
              </a:ext>
            </a:extLst>
          </p:cNvPr>
          <p:cNvSpPr txBox="1"/>
          <p:nvPr/>
        </p:nvSpPr>
        <p:spPr>
          <a:xfrm>
            <a:off x="947224" y="1236559"/>
            <a:ext cx="10297552" cy="1902059"/>
          </a:xfrm>
          <a:prstGeom prst="rect">
            <a:avLst/>
          </a:prstGeom>
          <a:noFill/>
        </p:spPr>
        <p:txBody>
          <a:bodyPr wrap="square" rtlCol="0">
            <a:spAutoFit/>
          </a:bodyPr>
          <a:lstStyle/>
          <a:p>
            <a:pPr algn="just">
              <a:lnSpc>
                <a:spcPct val="150000"/>
              </a:lnSpc>
            </a:pPr>
            <a:r>
              <a:rPr lang="es-MX" sz="3200" b="1" dirty="0"/>
              <a:t>Cálculo del Costo Real y Proyección del costo: </a:t>
            </a:r>
          </a:p>
          <a:p>
            <a:pPr algn="just">
              <a:lnSpc>
                <a:spcPct val="120000"/>
              </a:lnSpc>
            </a:pPr>
            <a:r>
              <a:rPr lang="es-MX" sz="3000" dirty="0"/>
              <a:t>Para calcular el Costo Real, se debe trabajar los costos en rubros separados los que pueden comprender:</a:t>
            </a:r>
          </a:p>
        </p:txBody>
      </p:sp>
      <p:sp>
        <p:nvSpPr>
          <p:cNvPr id="4" name="Rectángulo 3">
            <a:extLst>
              <a:ext uri="{FF2B5EF4-FFF2-40B4-BE49-F238E27FC236}">
                <a16:creationId xmlns:a16="http://schemas.microsoft.com/office/drawing/2014/main" id="{3D0FEA98-ECB5-4AD8-AB6D-8A6072778AE1}"/>
              </a:ext>
            </a:extLst>
          </p:cNvPr>
          <p:cNvSpPr/>
          <p:nvPr/>
        </p:nvSpPr>
        <p:spPr>
          <a:xfrm>
            <a:off x="780686" y="405562"/>
            <a:ext cx="7730268" cy="830997"/>
          </a:xfrm>
          <a:prstGeom prst="rect">
            <a:avLst/>
          </a:prstGeom>
        </p:spPr>
        <p:txBody>
          <a:bodyPr wrap="square">
            <a:spAutoFit/>
          </a:bodyPr>
          <a:lstStyle/>
          <a:p>
            <a:pPr marL="109728" indent="0">
              <a:buFont typeface="Arial" panose="020B0604020202020204" pitchFamily="34" charset="0"/>
              <a:buNone/>
            </a:pPr>
            <a:r>
              <a:rPr lang="en-US" sz="4800" b="1" dirty="0" err="1">
                <a:latin typeface="+mj-lt"/>
                <a:cs typeface="Times New Roman" panose="02020603050405020304" pitchFamily="18" charset="0"/>
              </a:rPr>
              <a:t>Resultado</a:t>
            </a:r>
            <a:r>
              <a:rPr lang="en-US" sz="4800" b="1" dirty="0">
                <a:latin typeface="+mj-lt"/>
                <a:cs typeface="Times New Roman" panose="02020603050405020304" pitchFamily="18" charset="0"/>
              </a:rPr>
              <a:t> </a:t>
            </a:r>
            <a:r>
              <a:rPr lang="en-US" sz="4800" b="1" dirty="0" err="1">
                <a:latin typeface="+mj-lt"/>
                <a:cs typeface="Times New Roman" panose="02020603050405020304" pitchFamily="18" charset="0"/>
              </a:rPr>
              <a:t>Mensual</a:t>
            </a:r>
            <a:endParaRPr lang="en-US" sz="4800" b="1" dirty="0">
              <a:latin typeface="+mj-lt"/>
              <a:cs typeface="Times New Roman" panose="02020603050405020304" pitchFamily="18" charset="0"/>
            </a:endParaRPr>
          </a:p>
        </p:txBody>
      </p:sp>
      <p:sp>
        <p:nvSpPr>
          <p:cNvPr id="5" name="CuadroTexto 4">
            <a:extLst>
              <a:ext uri="{FF2B5EF4-FFF2-40B4-BE49-F238E27FC236}">
                <a16:creationId xmlns:a16="http://schemas.microsoft.com/office/drawing/2014/main" id="{F666326C-1B8D-4C69-A09B-5C2BE06167FB}"/>
              </a:ext>
            </a:extLst>
          </p:cNvPr>
          <p:cNvSpPr txBox="1"/>
          <p:nvPr/>
        </p:nvSpPr>
        <p:spPr>
          <a:xfrm>
            <a:off x="1814732" y="3320505"/>
            <a:ext cx="8834511" cy="3412409"/>
          </a:xfrm>
          <a:prstGeom prst="rect">
            <a:avLst/>
          </a:prstGeom>
          <a:noFill/>
        </p:spPr>
        <p:txBody>
          <a:bodyPr wrap="square" numCol="2" rtlCol="0">
            <a:spAutoFit/>
          </a:bodyPr>
          <a:lstStyle/>
          <a:p>
            <a:pPr marL="457200" indent="-457200" algn="just">
              <a:lnSpc>
                <a:spcPct val="120000"/>
              </a:lnSpc>
              <a:buFont typeface="Arial" panose="020B0604020202020204" pitchFamily="34" charset="0"/>
              <a:buChar char="•"/>
            </a:pPr>
            <a:r>
              <a:rPr lang="es-MX" sz="3000" dirty="0"/>
              <a:t>Materiales</a:t>
            </a:r>
          </a:p>
          <a:p>
            <a:pPr marL="457200" indent="-457200" algn="just">
              <a:lnSpc>
                <a:spcPct val="120000"/>
              </a:lnSpc>
              <a:buFont typeface="Arial" panose="020B0604020202020204" pitchFamily="34" charset="0"/>
              <a:buChar char="•"/>
            </a:pPr>
            <a:r>
              <a:rPr lang="es-MX" sz="3000" dirty="0"/>
              <a:t>Mano de Obra</a:t>
            </a:r>
          </a:p>
          <a:p>
            <a:pPr marL="457200" indent="-457200" algn="just">
              <a:lnSpc>
                <a:spcPct val="120000"/>
              </a:lnSpc>
              <a:buFont typeface="Arial" panose="020B0604020202020204" pitchFamily="34" charset="0"/>
              <a:buChar char="•"/>
            </a:pPr>
            <a:r>
              <a:rPr lang="es-MX" sz="3000" dirty="0"/>
              <a:t>Subcontratos</a:t>
            </a:r>
          </a:p>
          <a:p>
            <a:pPr marL="457200" indent="-457200" algn="just">
              <a:lnSpc>
                <a:spcPct val="120000"/>
              </a:lnSpc>
              <a:buFont typeface="Arial" panose="020B0604020202020204" pitchFamily="34" charset="0"/>
              <a:buChar char="•"/>
            </a:pPr>
            <a:r>
              <a:rPr lang="es-MX" sz="3000" dirty="0"/>
              <a:t>Equipos</a:t>
            </a:r>
          </a:p>
          <a:p>
            <a:pPr marL="457200" indent="-457200" algn="just">
              <a:lnSpc>
                <a:spcPct val="120000"/>
              </a:lnSpc>
              <a:buFont typeface="Arial" panose="020B0604020202020204" pitchFamily="34" charset="0"/>
              <a:buChar char="•"/>
            </a:pPr>
            <a:r>
              <a:rPr lang="es-MX" sz="3000" dirty="0"/>
              <a:t>Fletes</a:t>
            </a:r>
          </a:p>
          <a:p>
            <a:pPr marL="457200" indent="-457200" algn="just">
              <a:lnSpc>
                <a:spcPct val="120000"/>
              </a:lnSpc>
              <a:buFont typeface="Arial" panose="020B0604020202020204" pitchFamily="34" charset="0"/>
              <a:buChar char="•"/>
            </a:pPr>
            <a:endParaRPr lang="es-MX" sz="3000" dirty="0"/>
          </a:p>
          <a:p>
            <a:pPr marL="457200" indent="-457200" algn="just">
              <a:lnSpc>
                <a:spcPct val="120000"/>
              </a:lnSpc>
              <a:buFont typeface="Arial" panose="020B0604020202020204" pitchFamily="34" charset="0"/>
              <a:buChar char="•"/>
            </a:pPr>
            <a:r>
              <a:rPr lang="es-MX" sz="3000" dirty="0"/>
              <a:t>Staff</a:t>
            </a:r>
          </a:p>
          <a:p>
            <a:pPr marL="457200" indent="-457200" algn="just">
              <a:lnSpc>
                <a:spcPct val="120000"/>
              </a:lnSpc>
              <a:buFont typeface="Arial" panose="020B0604020202020204" pitchFamily="34" charset="0"/>
              <a:buChar char="•"/>
            </a:pPr>
            <a:r>
              <a:rPr lang="es-MX" sz="3000" dirty="0"/>
              <a:t>Gastos Generales</a:t>
            </a:r>
          </a:p>
          <a:p>
            <a:pPr marL="457200" indent="-457200" algn="just">
              <a:lnSpc>
                <a:spcPct val="120000"/>
              </a:lnSpc>
              <a:buFont typeface="Arial" panose="020B0604020202020204" pitchFamily="34" charset="0"/>
              <a:buChar char="•"/>
            </a:pPr>
            <a:r>
              <a:rPr lang="es-MX" sz="3000" dirty="0"/>
              <a:t>Otros / Gastos Financieros</a:t>
            </a:r>
          </a:p>
          <a:p>
            <a:pPr marL="457200" indent="-457200" algn="just">
              <a:lnSpc>
                <a:spcPct val="120000"/>
              </a:lnSpc>
              <a:buFont typeface="Arial" panose="020B0604020202020204" pitchFamily="34" charset="0"/>
              <a:buChar char="•"/>
            </a:pPr>
            <a:r>
              <a:rPr lang="es-MX" sz="3000" dirty="0"/>
              <a:t>Sede Central</a:t>
            </a:r>
          </a:p>
        </p:txBody>
      </p:sp>
    </p:spTree>
    <p:extLst>
      <p:ext uri="{BB962C8B-B14F-4D97-AF65-F5344CB8AC3E}">
        <p14:creationId xmlns:p14="http://schemas.microsoft.com/office/powerpoint/2010/main" val="2304076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7243B4-0970-4262-9AA5-972361800BFE}"/>
              </a:ext>
            </a:extLst>
          </p:cNvPr>
          <p:cNvSpPr>
            <a:spLocks noGrp="1"/>
          </p:cNvSpPr>
          <p:nvPr>
            <p:ph type="ctrTitle"/>
          </p:nvPr>
        </p:nvSpPr>
        <p:spPr>
          <a:xfrm>
            <a:off x="1524000" y="1998718"/>
            <a:ext cx="9144000" cy="2387600"/>
          </a:xfrm>
        </p:spPr>
        <p:txBody>
          <a:bodyPr>
            <a:normAutofit/>
          </a:bodyPr>
          <a:lstStyle/>
          <a:p>
            <a:r>
              <a:rPr lang="es-MX" sz="6400" b="1" dirty="0">
                <a:effectLst>
                  <a:outerShdw blurRad="50800" dist="101600" dir="2700000" algn="tl" rotWithShape="0">
                    <a:srgbClr val="00F3B5"/>
                  </a:outerShdw>
                </a:effectLst>
                <a:latin typeface="Prompt" panose="00000500000000000000" pitchFamily="2" charset="-34"/>
                <a:cs typeface="Prompt" panose="00000500000000000000" pitchFamily="2" charset="-34"/>
              </a:rPr>
              <a:t>MUCHAS GRACIAS POR SU ATENCIÓN</a:t>
            </a:r>
            <a:endParaRPr lang="es-PE" sz="6400" b="1" dirty="0">
              <a:effectLst>
                <a:outerShdw blurRad="50800" dist="101600" dir="2700000" algn="tl" rotWithShape="0">
                  <a:srgbClr val="00F3B5"/>
                </a:outerShdw>
              </a:effectLst>
              <a:latin typeface="Prompt" panose="00000500000000000000" pitchFamily="2" charset="-34"/>
              <a:cs typeface="Prompt" panose="00000500000000000000" pitchFamily="2" charset="-34"/>
            </a:endParaRPr>
          </a:p>
        </p:txBody>
      </p:sp>
    </p:spTree>
    <p:extLst>
      <p:ext uri="{BB962C8B-B14F-4D97-AF65-F5344CB8AC3E}">
        <p14:creationId xmlns:p14="http://schemas.microsoft.com/office/powerpoint/2010/main" val="29070530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2273</TotalTime>
  <Words>1257</Words>
  <Application>Microsoft Office PowerPoint</Application>
  <PresentationFormat>Panorámica</PresentationFormat>
  <Paragraphs>89</Paragraphs>
  <Slides>25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25</vt:i4>
      </vt:variant>
    </vt:vector>
  </HeadingPairs>
  <TitlesOfParts>
    <vt:vector size="30" baseType="lpstr">
      <vt:lpstr>Arial</vt:lpstr>
      <vt:lpstr>Calibri</vt:lpstr>
      <vt:lpstr>Calibri Light</vt:lpstr>
      <vt:lpstr>Prompt</vt:lpstr>
      <vt:lpstr>Tema de Office</vt:lpstr>
      <vt:lpstr>Presentación de PowerPoint</vt:lpstr>
      <vt:lpstr>Presentación de PowerPoint</vt:lpstr>
      <vt:lpstr>Módulo 3</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MUCHAS GRACIAS POR SU ATENCIÓN</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Usuario</cp:lastModifiedBy>
  <cp:revision>154</cp:revision>
  <dcterms:created xsi:type="dcterms:W3CDTF">2022-04-19T18:02:09Z</dcterms:created>
  <dcterms:modified xsi:type="dcterms:W3CDTF">2024-06-25T22:34:24Z</dcterms:modified>
</cp:coreProperties>
</file>