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62" r:id="rId3"/>
    <p:sldId id="263" r:id="rId4"/>
    <p:sldId id="1681" r:id="rId5"/>
    <p:sldId id="1661" r:id="rId6"/>
    <p:sldId id="1642" r:id="rId7"/>
    <p:sldId id="1662" r:id="rId8"/>
    <p:sldId id="1663" r:id="rId9"/>
    <p:sldId id="1664" r:id="rId10"/>
    <p:sldId id="1665" r:id="rId11"/>
    <p:sldId id="1670" r:id="rId12"/>
    <p:sldId id="1671" r:id="rId13"/>
    <p:sldId id="1672" r:id="rId14"/>
    <p:sldId id="1673" r:id="rId15"/>
    <p:sldId id="1674" r:id="rId16"/>
    <p:sldId id="1675" r:id="rId17"/>
    <p:sldId id="1676" r:id="rId18"/>
    <p:sldId id="1677" r:id="rId19"/>
    <p:sldId id="1678" r:id="rId20"/>
    <p:sldId id="1679" r:id="rId21"/>
    <p:sldId id="1680" r:id="rId22"/>
    <p:sldId id="294" r:id="rId23"/>
    <p:sldId id="260" r:id="rId2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a:srgbClr val="F7F7F7"/>
    <a:srgbClr val="02BA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029" autoAdjust="0"/>
    <p:restoredTop sz="94660"/>
  </p:normalViewPr>
  <p:slideViewPr>
    <p:cSldViewPr snapToGrid="0">
      <p:cViewPr varScale="1">
        <p:scale>
          <a:sx n="68" d="100"/>
          <a:sy n="68" d="100"/>
        </p:scale>
        <p:origin x="4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B409FB-7E6B-4B60-9B06-8DF7644DC902}" type="datetimeFigureOut">
              <a:rPr lang="es-PE" smtClean="0"/>
              <a:t>18/07/2024</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F4E1C9-A0C2-484B-AD06-47908F7D028C}" type="slidenum">
              <a:rPr lang="es-PE" smtClean="0"/>
              <a:t>‹Nº›</a:t>
            </a:fld>
            <a:endParaRPr lang="es-PE"/>
          </a:p>
        </p:txBody>
      </p:sp>
    </p:spTree>
    <p:extLst>
      <p:ext uri="{BB962C8B-B14F-4D97-AF65-F5344CB8AC3E}">
        <p14:creationId xmlns:p14="http://schemas.microsoft.com/office/powerpoint/2010/main" val="861392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8080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3173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7593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4763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2231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3146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3670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5834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1461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7637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76482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55776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8903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5295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27328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0006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05403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2896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18/07/2024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18/07/2024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18/07/2024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18/07/2024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18/07/2024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18/07/2024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18/07/2024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18/07/2024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18/07/2024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18/07/2024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18/07/2024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pic>
        <p:nvPicPr>
          <p:cNvPr id="9" name="Imagen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99185" y="348699"/>
            <a:ext cx="1757214" cy="684971"/>
          </a:xfrm>
          <a:prstGeom prst="rect">
            <a:avLst/>
          </a:prstGeom>
        </p:spPr>
      </p:pic>
      <p:pic>
        <p:nvPicPr>
          <p:cNvPr id="10" name="Imagen 9"/>
          <p:cNvPicPr>
            <a:picLocks noChangeAspect="1"/>
          </p:cNvPicPr>
          <p:nvPr userDrawn="1"/>
        </p:nvPicPr>
        <p:blipFill>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06017" y="3114260"/>
            <a:ext cx="3402417" cy="3624470"/>
          </a:xfrm>
          <a:prstGeom prst="rect">
            <a:avLst/>
          </a:prstGeom>
        </p:spPr>
      </p:pic>
      <p:sp>
        <p:nvSpPr>
          <p:cNvPr id="12" name="Rectángulo redondeado 11"/>
          <p:cNvSpPr/>
          <p:nvPr userDrawn="1"/>
        </p:nvSpPr>
        <p:spPr>
          <a:xfrm>
            <a:off x="141667" y="141670"/>
            <a:ext cx="421881" cy="1100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PE"/>
          </a:p>
        </p:txBody>
      </p:sp>
      <p:sp>
        <p:nvSpPr>
          <p:cNvPr id="13" name="Rectángulo redondeado 12"/>
          <p:cNvSpPr/>
          <p:nvPr userDrawn="1"/>
        </p:nvSpPr>
        <p:spPr>
          <a:xfrm>
            <a:off x="141667" y="296216"/>
            <a:ext cx="605307" cy="119227"/>
          </a:xfrm>
          <a:prstGeom prst="roundRect">
            <a:avLst/>
          </a:prstGeom>
          <a:solidFill>
            <a:srgbClr val="6DB9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PE"/>
          </a:p>
        </p:txBody>
      </p:sp>
      <p:sp>
        <p:nvSpPr>
          <p:cNvPr id="16" name="Rectángulo redondeado 15"/>
          <p:cNvSpPr/>
          <p:nvPr userDrawn="1"/>
        </p:nvSpPr>
        <p:spPr>
          <a:xfrm>
            <a:off x="11622572" y="6437081"/>
            <a:ext cx="421881" cy="1100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PE"/>
          </a:p>
        </p:txBody>
      </p:sp>
      <p:sp>
        <p:nvSpPr>
          <p:cNvPr id="17" name="Rectángulo redondeado 16"/>
          <p:cNvSpPr/>
          <p:nvPr userDrawn="1"/>
        </p:nvSpPr>
        <p:spPr>
          <a:xfrm>
            <a:off x="11439146" y="6584372"/>
            <a:ext cx="605307" cy="119227"/>
          </a:xfrm>
          <a:prstGeom prst="roundRect">
            <a:avLst/>
          </a:prstGeom>
          <a:solidFill>
            <a:srgbClr val="6DB9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PE"/>
          </a:p>
        </p:txBody>
      </p:sp>
    </p:spTree>
    <p:extLst>
      <p:ext uri="{BB962C8B-B14F-4D97-AF65-F5344CB8AC3E}">
        <p14:creationId xmlns:p14="http://schemas.microsoft.com/office/powerpoint/2010/main" val="3410161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18/07/2024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1904948" y="2423937"/>
            <a:ext cx="8701421" cy="2123658"/>
          </a:xfrm>
          <a:prstGeom prst="rect">
            <a:avLst/>
          </a:prstGeom>
        </p:spPr>
        <p:txBody>
          <a:bodyPr wrap="none">
            <a:spAutoFit/>
          </a:bodyPr>
          <a:lstStyle/>
          <a:p>
            <a:r>
              <a:rPr lang="es-ES" sz="6600" dirty="0">
                <a:solidFill>
                  <a:srgbClr val="00F3B5"/>
                </a:solidFill>
                <a:latin typeface="Prompt" panose="00000800000000000000" pitchFamily="2" charset="-34"/>
                <a:cs typeface="Prompt" panose="00000800000000000000" pitchFamily="2" charset="-34"/>
              </a:rPr>
              <a:t>Resultado Operativo</a:t>
            </a:r>
          </a:p>
          <a:p>
            <a:pPr algn="ctr"/>
            <a:r>
              <a:rPr lang="es-ES" sz="6600" dirty="0">
                <a:solidFill>
                  <a:schemeClr val="bg1"/>
                </a:solidFill>
                <a:latin typeface="Prompt" panose="00000800000000000000" pitchFamily="2" charset="-34"/>
                <a:cs typeface="Prompt" panose="00000800000000000000" pitchFamily="2" charset="-34"/>
              </a:rPr>
              <a:t>de Obra</a:t>
            </a:r>
          </a:p>
        </p:txBody>
      </p:sp>
      <p:sp>
        <p:nvSpPr>
          <p:cNvPr id="7" name="CuadroTexto 6"/>
          <p:cNvSpPr txBox="1"/>
          <p:nvPr/>
        </p:nvSpPr>
        <p:spPr>
          <a:xfrm>
            <a:off x="1726249" y="1401509"/>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
        <p:nvSpPr>
          <p:cNvPr id="4" name="CuadroTexto 3">
            <a:extLst>
              <a:ext uri="{FF2B5EF4-FFF2-40B4-BE49-F238E27FC236}">
                <a16:creationId xmlns:a16="http://schemas.microsoft.com/office/drawing/2014/main" id="{CE78CD8B-B406-4F21-B6A0-85217AF25A26}"/>
              </a:ext>
            </a:extLst>
          </p:cNvPr>
          <p:cNvSpPr txBox="1"/>
          <p:nvPr/>
        </p:nvSpPr>
        <p:spPr>
          <a:xfrm>
            <a:off x="4684542" y="5271825"/>
            <a:ext cx="6991643" cy="646331"/>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DOCENTE: MG. ING. CHRISTIAN ENRIQUE TENORIO MESONES</a:t>
            </a:r>
          </a:p>
          <a:p>
            <a:r>
              <a:rPr lang="es-ES" dirty="0">
                <a:solidFill>
                  <a:schemeClr val="bg1"/>
                </a:solidFill>
                <a:latin typeface="Prompt" panose="00000800000000000000" pitchFamily="2" charset="-34"/>
                <a:cs typeface="Prompt" panose="00000800000000000000" pitchFamily="2" charset="-34"/>
              </a:rPr>
              <a:t>		xtianoperu@gmail.com</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9" y="2766940"/>
            <a:ext cx="6667500" cy="844550"/>
          </a:xfrm>
        </p:spPr>
        <p:txBody>
          <a:bodyPr/>
          <a:lstStyle/>
          <a:p>
            <a:r>
              <a:rPr lang="es-ES" dirty="0">
                <a:solidFill>
                  <a:srgbClr val="00F3B5"/>
                </a:solidFill>
                <a:latin typeface="Prompt" panose="00000800000000000000" pitchFamily="2" charset="-34"/>
                <a:cs typeface="Prompt" panose="00000800000000000000" pitchFamily="2" charset="-34"/>
              </a:rPr>
              <a:t>Módulo 6</a:t>
            </a:r>
          </a:p>
        </p:txBody>
      </p:sp>
      <p:sp>
        <p:nvSpPr>
          <p:cNvPr id="5" name="CuadroTexto 4"/>
          <p:cNvSpPr txBox="1"/>
          <p:nvPr/>
        </p:nvSpPr>
        <p:spPr>
          <a:xfrm>
            <a:off x="1087719" y="3611490"/>
            <a:ext cx="9793641" cy="553998"/>
          </a:xfrm>
          <a:prstGeom prst="rect">
            <a:avLst/>
          </a:prstGeom>
          <a:noFill/>
        </p:spPr>
        <p:txBody>
          <a:bodyPr wrap="square" rtlCol="0">
            <a:spAutoFit/>
          </a:bodyPr>
          <a:lstStyle/>
          <a:p>
            <a:r>
              <a:rPr lang="es-ES" sz="3000" dirty="0">
                <a:solidFill>
                  <a:schemeClr val="bg1"/>
                </a:solidFill>
                <a:latin typeface="Prompt" panose="00000800000000000000" pitchFamily="2" charset="-34"/>
                <a:cs typeface="Prompt" panose="00000800000000000000" pitchFamily="2" charset="-34"/>
              </a:rPr>
              <a:t>Venta, Costo y Análisis de Resultado Pendiente </a:t>
            </a:r>
          </a:p>
        </p:txBody>
      </p:sp>
    </p:spTree>
    <p:extLst>
      <p:ext uri="{BB962C8B-B14F-4D97-AF65-F5344CB8AC3E}">
        <p14:creationId xmlns:p14="http://schemas.microsoft.com/office/powerpoint/2010/main" val="107133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PE" b="1" dirty="0"/>
              <a:t>Definiciones Generales</a:t>
            </a:r>
          </a:p>
        </p:txBody>
      </p:sp>
      <p:sp>
        <p:nvSpPr>
          <p:cNvPr id="562" name="Google Shape;562;p56"/>
          <p:cNvSpPr txBox="1">
            <a:spLocks noGrp="1"/>
          </p:cNvSpPr>
          <p:nvPr>
            <p:ph idx="1"/>
          </p:nvPr>
        </p:nvSpPr>
        <p:spPr>
          <a:xfrm>
            <a:off x="838199" y="1825625"/>
            <a:ext cx="10415955" cy="4351338"/>
          </a:xfrm>
          <a:prstGeom prst="rect">
            <a:avLst/>
          </a:prstGeom>
        </p:spPr>
        <p:txBody>
          <a:bodyPr spcFirstLastPara="1" vert="horz" wrap="square" lIns="121900" tIns="121900" rIns="121900" bIns="121900" rtlCol="0" anchor="t" anchorCtr="0">
            <a:noAutofit/>
          </a:bodyPr>
          <a:lstStyle/>
          <a:p>
            <a:pPr algn="just">
              <a:lnSpc>
                <a:spcPct val="100000"/>
              </a:lnSpc>
              <a:spcBef>
                <a:spcPts val="0"/>
              </a:spcBef>
              <a:spcAft>
                <a:spcPts val="1200"/>
              </a:spcAft>
              <a:buClr>
                <a:schemeClr val="accent1"/>
              </a:buClr>
              <a:buSzPct val="100000"/>
            </a:pPr>
            <a:r>
              <a:rPr lang="es-MX" sz="3400" b="1" dirty="0">
                <a:ea typeface="Roboto regular" pitchFamily="2" charset="0"/>
              </a:rPr>
              <a:t>Costo Aplicado: </a:t>
            </a:r>
            <a:r>
              <a:rPr lang="es-MX" sz="3400" dirty="0">
                <a:ea typeface="Roboto regular" pitchFamily="2" charset="0"/>
              </a:rPr>
              <a:t>Costo correspondiente al avance aprobado por el cliente.</a:t>
            </a:r>
          </a:p>
          <a:p>
            <a:pPr algn="just">
              <a:lnSpc>
                <a:spcPct val="100000"/>
              </a:lnSpc>
              <a:spcBef>
                <a:spcPts val="0"/>
              </a:spcBef>
              <a:spcAft>
                <a:spcPts val="1200"/>
              </a:spcAft>
              <a:buClr>
                <a:schemeClr val="accent1"/>
              </a:buClr>
              <a:buSzPct val="100000"/>
            </a:pPr>
            <a:r>
              <a:rPr lang="es-MX" sz="3400" b="1" dirty="0">
                <a:ea typeface="Roboto regular" pitchFamily="2" charset="0"/>
              </a:rPr>
              <a:t>Resultado pendiente: </a:t>
            </a:r>
            <a:r>
              <a:rPr lang="es-MX" sz="3400" dirty="0">
                <a:ea typeface="Roboto regular" pitchFamily="2" charset="0"/>
              </a:rPr>
              <a:t>Margen pendiente por conseguir.</a:t>
            </a:r>
          </a:p>
          <a:p>
            <a:pPr algn="just">
              <a:lnSpc>
                <a:spcPct val="100000"/>
              </a:lnSpc>
              <a:spcBef>
                <a:spcPts val="0"/>
              </a:spcBef>
              <a:spcAft>
                <a:spcPts val="1200"/>
              </a:spcAft>
              <a:buClr>
                <a:schemeClr val="accent1"/>
              </a:buClr>
              <a:buSzPct val="100000"/>
            </a:pPr>
            <a:r>
              <a:rPr lang="es-MX" sz="3400" b="1" dirty="0">
                <a:ea typeface="Roboto regular" pitchFamily="2" charset="0"/>
              </a:rPr>
              <a:t>Activo: </a:t>
            </a:r>
            <a:r>
              <a:rPr lang="es-MX" sz="3400" dirty="0">
                <a:ea typeface="Roboto regular" pitchFamily="2" charset="0"/>
              </a:rPr>
              <a:t>Cualquier beneficio económico que se tiene ganado en el acumulado del proyecto y se espera concretar en el futuro.</a:t>
            </a:r>
          </a:p>
        </p:txBody>
      </p:sp>
    </p:spTree>
    <p:extLst>
      <p:ext uri="{BB962C8B-B14F-4D97-AF65-F5344CB8AC3E}">
        <p14:creationId xmlns:p14="http://schemas.microsoft.com/office/powerpoint/2010/main" val="1125354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PE" b="1" dirty="0"/>
              <a:t>Definiciones Generales</a:t>
            </a:r>
          </a:p>
        </p:txBody>
      </p:sp>
      <p:sp>
        <p:nvSpPr>
          <p:cNvPr id="562" name="Google Shape;562;p56"/>
          <p:cNvSpPr txBox="1">
            <a:spLocks noGrp="1"/>
          </p:cNvSpPr>
          <p:nvPr>
            <p:ph idx="1"/>
          </p:nvPr>
        </p:nvSpPr>
        <p:spPr>
          <a:xfrm>
            <a:off x="838199" y="1825625"/>
            <a:ext cx="10415955" cy="4351338"/>
          </a:xfrm>
          <a:prstGeom prst="rect">
            <a:avLst/>
          </a:prstGeom>
        </p:spPr>
        <p:txBody>
          <a:bodyPr spcFirstLastPara="1" vert="horz" wrap="square" lIns="121900" tIns="121900" rIns="121900" bIns="121900" rtlCol="0" anchor="t" anchorCtr="0">
            <a:noAutofit/>
          </a:bodyPr>
          <a:lstStyle/>
          <a:p>
            <a:pPr algn="just">
              <a:lnSpc>
                <a:spcPct val="100000"/>
              </a:lnSpc>
              <a:spcBef>
                <a:spcPts val="0"/>
              </a:spcBef>
              <a:spcAft>
                <a:spcPts val="1200"/>
              </a:spcAft>
              <a:buClr>
                <a:schemeClr val="accent1"/>
              </a:buClr>
              <a:buSzPct val="100000"/>
            </a:pPr>
            <a:r>
              <a:rPr lang="es-MX" sz="3400" b="1" dirty="0">
                <a:ea typeface="Roboto regular" pitchFamily="2" charset="0"/>
              </a:rPr>
              <a:t>Pasivo: </a:t>
            </a:r>
            <a:r>
              <a:rPr lang="es-MX" sz="3400" dirty="0">
                <a:ea typeface="Roboto regular" pitchFamily="2" charset="0"/>
              </a:rPr>
              <a:t>Cualquier compromiso económico que se tiene adquirido en el acumulado del proyecto y se espero concretar en el futuro.</a:t>
            </a:r>
          </a:p>
          <a:p>
            <a:pPr algn="just">
              <a:lnSpc>
                <a:spcPct val="100000"/>
              </a:lnSpc>
              <a:spcBef>
                <a:spcPts val="0"/>
              </a:spcBef>
              <a:spcAft>
                <a:spcPts val="1200"/>
              </a:spcAft>
              <a:buClr>
                <a:schemeClr val="accent1"/>
              </a:buClr>
              <a:buSzPct val="100000"/>
            </a:pPr>
            <a:r>
              <a:rPr lang="es-MX" sz="3400" b="1" dirty="0">
                <a:ea typeface="Roboto regular" pitchFamily="2" charset="0"/>
              </a:rPr>
              <a:t>Compatibilización: </a:t>
            </a:r>
            <a:r>
              <a:rPr lang="es-MX" sz="3400" dirty="0">
                <a:ea typeface="Roboto regular" pitchFamily="2" charset="0"/>
              </a:rPr>
              <a:t>Comparación entre el costo contable y el costo del Resultado Operativo.</a:t>
            </a:r>
          </a:p>
        </p:txBody>
      </p:sp>
    </p:spTree>
    <p:extLst>
      <p:ext uri="{BB962C8B-B14F-4D97-AF65-F5344CB8AC3E}">
        <p14:creationId xmlns:p14="http://schemas.microsoft.com/office/powerpoint/2010/main" val="2107842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Costo Aplicado</a:t>
            </a:r>
            <a:endParaRPr lang="es-PE" dirty="0"/>
          </a:p>
        </p:txBody>
      </p:sp>
      <p:sp>
        <p:nvSpPr>
          <p:cNvPr id="562" name="Google Shape;562;p56"/>
          <p:cNvSpPr txBox="1">
            <a:spLocks noGrp="1"/>
          </p:cNvSpPr>
          <p:nvPr>
            <p:ph idx="1"/>
          </p:nvPr>
        </p:nvSpPr>
        <p:spPr>
          <a:xfrm>
            <a:off x="838199" y="1519311"/>
            <a:ext cx="10415955" cy="4656406"/>
          </a:xfrm>
          <a:prstGeom prst="rect">
            <a:avLst/>
          </a:prstGeom>
        </p:spPr>
        <p:txBody>
          <a:bodyPr spcFirstLastPara="1" vert="horz" wrap="square" lIns="121900" tIns="121900" rIns="121900" bIns="121900" rtlCol="0" anchor="t" anchorCtr="0">
            <a:noAutofit/>
          </a:bodyPr>
          <a:lstStyle/>
          <a:p>
            <a:pPr algn="just">
              <a:lnSpc>
                <a:spcPct val="100000"/>
              </a:lnSpc>
              <a:spcBef>
                <a:spcPts val="0"/>
              </a:spcBef>
              <a:spcAft>
                <a:spcPts val="600"/>
              </a:spcAft>
              <a:buClr>
                <a:schemeClr val="accent1"/>
              </a:buClr>
              <a:buSzPct val="100000"/>
            </a:pPr>
            <a:r>
              <a:rPr lang="es-MX" sz="3500" dirty="0">
                <a:ea typeface="Roboto regular" pitchFamily="2" charset="0"/>
              </a:rPr>
              <a:t>Costo teórico</a:t>
            </a:r>
          </a:p>
          <a:p>
            <a:pPr algn="just">
              <a:lnSpc>
                <a:spcPct val="100000"/>
              </a:lnSpc>
              <a:spcBef>
                <a:spcPts val="0"/>
              </a:spcBef>
              <a:spcAft>
                <a:spcPts val="600"/>
              </a:spcAft>
              <a:buClr>
                <a:schemeClr val="accent1"/>
              </a:buClr>
              <a:buSzPct val="100000"/>
            </a:pPr>
            <a:r>
              <a:rPr lang="es-MX" sz="3500" dirty="0">
                <a:ea typeface="Roboto regular" pitchFamily="2" charset="0"/>
              </a:rPr>
              <a:t>Representa el costo que se debería haber incurrido para el avance alcanzado.</a:t>
            </a:r>
          </a:p>
          <a:p>
            <a:pPr algn="just">
              <a:lnSpc>
                <a:spcPct val="100000"/>
              </a:lnSpc>
              <a:spcBef>
                <a:spcPts val="0"/>
              </a:spcBef>
              <a:spcAft>
                <a:spcPts val="600"/>
              </a:spcAft>
              <a:buClr>
                <a:schemeClr val="accent1"/>
              </a:buClr>
              <a:buSzPct val="100000"/>
            </a:pPr>
            <a:r>
              <a:rPr lang="es-MX" sz="3500" dirty="0">
                <a:ea typeface="Roboto regular" pitchFamily="2" charset="0"/>
              </a:rPr>
              <a:t>La comparación entre el costo realmente incurrido y el costo aplicado no representa necesariamente mayor eficiencia o ineficiencia.</a:t>
            </a:r>
          </a:p>
        </p:txBody>
      </p:sp>
    </p:spTree>
    <p:extLst>
      <p:ext uri="{BB962C8B-B14F-4D97-AF65-F5344CB8AC3E}">
        <p14:creationId xmlns:p14="http://schemas.microsoft.com/office/powerpoint/2010/main" val="31980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Costo Aplicado</a:t>
            </a:r>
            <a:endParaRPr lang="es-PE" dirty="0"/>
          </a:p>
        </p:txBody>
      </p:sp>
      <mc:AlternateContent xmlns:mc="http://schemas.openxmlformats.org/markup-compatibility/2006">
        <mc:Choice xmlns:a14="http://schemas.microsoft.com/office/drawing/2010/main" Requires="a14">
          <p:sp>
            <p:nvSpPr>
              <p:cNvPr id="562" name="Google Shape;562;p56"/>
              <p:cNvSpPr txBox="1">
                <a:spLocks noGrp="1"/>
              </p:cNvSpPr>
              <p:nvPr>
                <p:ph idx="1"/>
              </p:nvPr>
            </p:nvSpPr>
            <p:spPr>
              <a:xfrm>
                <a:off x="351692" y="1758461"/>
                <a:ext cx="11479237" cy="2883877"/>
              </a:xfrm>
              <a:prstGeom prst="rect">
                <a:avLst/>
              </a:prstGeom>
            </p:spPr>
            <p:txBody>
              <a:bodyPr spcFirstLastPara="1" vert="horz" wrap="square" lIns="121900" tIns="121900" rIns="121900" bIns="121900" rtlCol="0" anchor="t" anchorCtr="0">
                <a:noAutofit/>
              </a:bodyPr>
              <a:lstStyle/>
              <a:p>
                <a:pPr marL="0" indent="0" algn="just">
                  <a:lnSpc>
                    <a:spcPct val="100000"/>
                  </a:lnSpc>
                  <a:spcBef>
                    <a:spcPts val="0"/>
                  </a:spcBef>
                  <a:spcAft>
                    <a:spcPts val="600"/>
                  </a:spcAft>
                  <a:buClr>
                    <a:schemeClr val="accent1"/>
                  </a:buClr>
                  <a:buSzPct val="100000"/>
                  <a:buNone/>
                </a:pPr>
                <a14:m>
                  <m:oMathPara xmlns:m="http://schemas.openxmlformats.org/officeDocument/2006/math">
                    <m:oMathParaPr>
                      <m:jc m:val="centerGroup"/>
                    </m:oMathParaPr>
                    <m:oMath xmlns:m="http://schemas.openxmlformats.org/officeDocument/2006/math">
                      <m:r>
                        <a:rPr lang="es-MX" b="1" i="1" smtClean="0">
                          <a:latin typeface="Cambria Math" panose="02040503050406030204" pitchFamily="18" charset="0"/>
                          <a:ea typeface="Roboto regular" pitchFamily="2" charset="0"/>
                        </a:rPr>
                        <m:t>𝑪𝒐𝒔𝒕𝒐</m:t>
                      </m:r>
                      <m:r>
                        <a:rPr lang="es-MX" b="1" i="1" smtClean="0">
                          <a:latin typeface="Cambria Math" panose="02040503050406030204" pitchFamily="18" charset="0"/>
                          <a:ea typeface="Roboto regular" pitchFamily="2" charset="0"/>
                        </a:rPr>
                        <m:t> </m:t>
                      </m:r>
                      <m:r>
                        <a:rPr lang="es-MX" b="1" i="1" smtClean="0">
                          <a:latin typeface="Cambria Math" panose="02040503050406030204" pitchFamily="18" charset="0"/>
                          <a:ea typeface="Roboto regular" pitchFamily="2" charset="0"/>
                        </a:rPr>
                        <m:t>𝑨𝒑𝒍𝒊𝒄𝒂𝒅𝒐</m:t>
                      </m:r>
                      <m:r>
                        <a:rPr lang="es-MX" b="1" i="1" smtClean="0">
                          <a:latin typeface="Cambria Math" panose="02040503050406030204" pitchFamily="18" charset="0"/>
                          <a:ea typeface="Roboto regular" pitchFamily="2" charset="0"/>
                        </a:rPr>
                        <m:t>=</m:t>
                      </m:r>
                      <m:r>
                        <a:rPr lang="es-MX" b="1" i="1" smtClean="0">
                          <a:latin typeface="Cambria Math" panose="02040503050406030204" pitchFamily="18" charset="0"/>
                          <a:ea typeface="Roboto regular" pitchFamily="2" charset="0"/>
                        </a:rPr>
                        <m:t>𝑽𝒆𝒏𝒕𝒂</m:t>
                      </m:r>
                      <m:r>
                        <a:rPr lang="es-MX" b="1" i="1" smtClean="0">
                          <a:latin typeface="Cambria Math" panose="02040503050406030204" pitchFamily="18" charset="0"/>
                          <a:ea typeface="Roboto regular" pitchFamily="2" charset="0"/>
                        </a:rPr>
                        <m:t> </m:t>
                      </m:r>
                      <m:r>
                        <a:rPr lang="es-MX" b="1" i="1" smtClean="0">
                          <a:latin typeface="Cambria Math" panose="02040503050406030204" pitchFamily="18" charset="0"/>
                          <a:ea typeface="Roboto regular" pitchFamily="2" charset="0"/>
                        </a:rPr>
                        <m:t>𝒂𝒄𝒖𝒎𝒖𝒍𝒂𝒅𝒂</m:t>
                      </m:r>
                      <m:r>
                        <a:rPr lang="es-MX" b="1" i="1" smtClean="0">
                          <a:latin typeface="Cambria Math" panose="02040503050406030204" pitchFamily="18" charset="0"/>
                          <a:ea typeface="Roboto regular" pitchFamily="2" charset="0"/>
                        </a:rPr>
                        <m:t> </m:t>
                      </m:r>
                      <m:r>
                        <a:rPr lang="es-MX" b="1" i="1" smtClean="0">
                          <a:latin typeface="Cambria Math" panose="02040503050406030204" pitchFamily="18" charset="0"/>
                          <a:ea typeface="Roboto regular" pitchFamily="2" charset="0"/>
                        </a:rPr>
                        <m:t>𝒙</m:t>
                      </m:r>
                      <m:r>
                        <a:rPr lang="es-MX" b="1" i="1" smtClean="0">
                          <a:latin typeface="Cambria Math" panose="02040503050406030204" pitchFamily="18" charset="0"/>
                          <a:ea typeface="Roboto regular" pitchFamily="2" charset="0"/>
                        </a:rPr>
                        <m:t> (</m:t>
                      </m:r>
                      <m:r>
                        <a:rPr lang="es-MX" b="1" i="1" smtClean="0">
                          <a:latin typeface="Cambria Math" panose="02040503050406030204" pitchFamily="18" charset="0"/>
                          <a:ea typeface="Roboto regular" pitchFamily="2" charset="0"/>
                        </a:rPr>
                        <m:t>𝟏𝟎𝟎</m:t>
                      </m:r>
                      <m:r>
                        <a:rPr lang="es-MX" b="1" i="1" smtClean="0">
                          <a:latin typeface="Cambria Math" panose="02040503050406030204" pitchFamily="18" charset="0"/>
                          <a:ea typeface="Roboto regular" pitchFamily="2" charset="0"/>
                        </a:rPr>
                        <m:t>%−</m:t>
                      </m:r>
                      <m:r>
                        <a:rPr lang="es-MX" b="1" i="1" smtClean="0">
                          <a:latin typeface="Cambria Math" panose="02040503050406030204" pitchFamily="18" charset="0"/>
                          <a:ea typeface="Roboto regular" pitchFamily="2" charset="0"/>
                        </a:rPr>
                        <m:t>𝑴𝒂𝒓𝒈𝒆𝒏</m:t>
                      </m:r>
                      <m:r>
                        <a:rPr lang="es-MX" b="1" i="1" smtClean="0">
                          <a:latin typeface="Cambria Math" panose="02040503050406030204" pitchFamily="18" charset="0"/>
                          <a:ea typeface="Roboto regular" pitchFamily="2" charset="0"/>
                        </a:rPr>
                        <m:t> </m:t>
                      </m:r>
                      <m:r>
                        <a:rPr lang="es-MX" b="1" i="1" smtClean="0">
                          <a:latin typeface="Cambria Math" panose="02040503050406030204" pitchFamily="18" charset="0"/>
                          <a:ea typeface="Roboto regular" pitchFamily="2" charset="0"/>
                        </a:rPr>
                        <m:t>𝑻𝒐𝒕𝒂𝒍</m:t>
                      </m:r>
                      <m:r>
                        <a:rPr lang="es-MX" b="1" i="1" smtClean="0">
                          <a:latin typeface="Cambria Math" panose="02040503050406030204" pitchFamily="18" charset="0"/>
                          <a:ea typeface="Roboto regular" pitchFamily="2" charset="0"/>
                        </a:rPr>
                        <m:t>%)</m:t>
                      </m:r>
                    </m:oMath>
                  </m:oMathPara>
                </a14:m>
                <a:endParaRPr lang="es-MX" b="1" dirty="0">
                  <a:ea typeface="Roboto regular" pitchFamily="2" charset="0"/>
                </a:endParaRPr>
              </a:p>
              <a:p>
                <a:pPr marL="0" indent="0" algn="just">
                  <a:lnSpc>
                    <a:spcPct val="100000"/>
                  </a:lnSpc>
                  <a:spcBef>
                    <a:spcPts val="0"/>
                  </a:spcBef>
                  <a:spcAft>
                    <a:spcPts val="600"/>
                  </a:spcAft>
                  <a:buClr>
                    <a:schemeClr val="accent1"/>
                  </a:buClr>
                  <a:buSzPct val="100000"/>
                  <a:buNone/>
                </a:pPr>
                <a:endParaRPr lang="es-MX" b="1" dirty="0">
                  <a:ea typeface="Roboto regular" pitchFamily="2" charset="0"/>
                </a:endParaRPr>
              </a:p>
              <a:p>
                <a:pPr marL="0" indent="0" algn="just">
                  <a:lnSpc>
                    <a:spcPct val="100000"/>
                  </a:lnSpc>
                  <a:spcBef>
                    <a:spcPts val="0"/>
                  </a:spcBef>
                  <a:spcAft>
                    <a:spcPts val="600"/>
                  </a:spcAft>
                  <a:buClr>
                    <a:schemeClr val="accent1"/>
                  </a:buClr>
                  <a:buSzPct val="100000"/>
                  <a:buNone/>
                </a:pPr>
                <a:endParaRPr lang="es-MX" b="1" dirty="0">
                  <a:ea typeface="Roboto regular" pitchFamily="2" charset="0"/>
                </a:endParaRPr>
              </a:p>
              <a:p>
                <a:pPr marL="0" indent="0" algn="just">
                  <a:lnSpc>
                    <a:spcPct val="100000"/>
                  </a:lnSpc>
                  <a:spcBef>
                    <a:spcPts val="0"/>
                  </a:spcBef>
                  <a:spcAft>
                    <a:spcPts val="600"/>
                  </a:spcAft>
                  <a:buClr>
                    <a:schemeClr val="accent1"/>
                  </a:buClr>
                  <a:buSzPct val="100000"/>
                  <a:buNone/>
                </a:pPr>
                <a14:m>
                  <m:oMathPara xmlns:m="http://schemas.openxmlformats.org/officeDocument/2006/math">
                    <m:oMathParaPr>
                      <m:jc m:val="centerGroup"/>
                    </m:oMathParaPr>
                    <m:oMath xmlns:m="http://schemas.openxmlformats.org/officeDocument/2006/math">
                      <m:r>
                        <a:rPr lang="es-MX" b="1" i="1" smtClean="0">
                          <a:latin typeface="Cambria Math" panose="02040503050406030204" pitchFamily="18" charset="0"/>
                          <a:ea typeface="Roboto regular" pitchFamily="2" charset="0"/>
                        </a:rPr>
                        <m:t>𝑪𝒐𝒔𝒕𝒐</m:t>
                      </m:r>
                      <m:r>
                        <a:rPr lang="es-MX" b="1" i="1" smtClean="0">
                          <a:latin typeface="Cambria Math" panose="02040503050406030204" pitchFamily="18" charset="0"/>
                          <a:ea typeface="Roboto regular" pitchFamily="2" charset="0"/>
                        </a:rPr>
                        <m:t> </m:t>
                      </m:r>
                      <m:r>
                        <a:rPr lang="es-MX" b="1" i="1" smtClean="0">
                          <a:latin typeface="Cambria Math" panose="02040503050406030204" pitchFamily="18" charset="0"/>
                          <a:ea typeface="Roboto regular" pitchFamily="2" charset="0"/>
                        </a:rPr>
                        <m:t>𝑨𝒑𝒍𝒊𝒄𝒂𝒅𝒐</m:t>
                      </m:r>
                      <m:r>
                        <a:rPr lang="es-MX" b="1" i="1" smtClean="0">
                          <a:latin typeface="Cambria Math" panose="02040503050406030204" pitchFamily="18" charset="0"/>
                          <a:ea typeface="Roboto regular" pitchFamily="2" charset="0"/>
                        </a:rPr>
                        <m:t>=</m:t>
                      </m:r>
                      <m:r>
                        <a:rPr lang="es-MX" b="1" i="1" smtClean="0">
                          <a:latin typeface="Cambria Math" panose="02040503050406030204" pitchFamily="18" charset="0"/>
                          <a:ea typeface="Roboto regular" pitchFamily="2" charset="0"/>
                        </a:rPr>
                        <m:t>𝑪𝒐𝒔𝒕𝒐</m:t>
                      </m:r>
                      <m:r>
                        <a:rPr lang="es-MX" b="1" i="1" smtClean="0">
                          <a:latin typeface="Cambria Math" panose="02040503050406030204" pitchFamily="18" charset="0"/>
                          <a:ea typeface="Roboto regular" pitchFamily="2" charset="0"/>
                        </a:rPr>
                        <m:t> </m:t>
                      </m:r>
                      <m:r>
                        <a:rPr lang="es-MX" b="1" i="1" smtClean="0">
                          <a:latin typeface="Cambria Math" panose="02040503050406030204" pitchFamily="18" charset="0"/>
                          <a:ea typeface="Roboto regular" pitchFamily="2" charset="0"/>
                        </a:rPr>
                        <m:t>𝑻𝒐𝒕𝒂𝒍</m:t>
                      </m:r>
                      <m:r>
                        <a:rPr lang="es-MX" b="1" i="1" smtClean="0">
                          <a:latin typeface="Cambria Math" panose="02040503050406030204" pitchFamily="18" charset="0"/>
                          <a:ea typeface="Roboto regular" pitchFamily="2" charset="0"/>
                        </a:rPr>
                        <m:t> </m:t>
                      </m:r>
                      <m:r>
                        <a:rPr lang="es-MX" b="1" i="1" smtClean="0">
                          <a:latin typeface="Cambria Math" panose="02040503050406030204" pitchFamily="18" charset="0"/>
                          <a:ea typeface="Roboto regular" pitchFamily="2" charset="0"/>
                        </a:rPr>
                        <m:t>𝒙</m:t>
                      </m:r>
                      <m:r>
                        <a:rPr lang="es-MX" b="1" i="1" smtClean="0">
                          <a:latin typeface="Cambria Math" panose="02040503050406030204" pitchFamily="18" charset="0"/>
                          <a:ea typeface="Roboto regular" pitchFamily="2" charset="0"/>
                        </a:rPr>
                        <m:t> </m:t>
                      </m:r>
                      <m:f>
                        <m:fPr>
                          <m:ctrlPr>
                            <a:rPr lang="es-MX" b="1" i="1" smtClean="0">
                              <a:latin typeface="Cambria Math" panose="02040503050406030204" pitchFamily="18" charset="0"/>
                            </a:rPr>
                          </m:ctrlPr>
                        </m:fPr>
                        <m:num>
                          <m:r>
                            <a:rPr lang="es-MX" b="1" i="1" smtClean="0">
                              <a:latin typeface="Cambria Math" panose="02040503050406030204" pitchFamily="18" charset="0"/>
                            </a:rPr>
                            <m:t>𝑽𝒆𝒏𝒕𝒂</m:t>
                          </m:r>
                          <m:r>
                            <a:rPr lang="es-MX" b="1" i="1" smtClean="0">
                              <a:latin typeface="Cambria Math" panose="02040503050406030204" pitchFamily="18" charset="0"/>
                            </a:rPr>
                            <m:t> </m:t>
                          </m:r>
                          <m:r>
                            <a:rPr lang="es-MX" b="1" i="1" smtClean="0">
                              <a:latin typeface="Cambria Math" panose="02040503050406030204" pitchFamily="18" charset="0"/>
                            </a:rPr>
                            <m:t>𝒂𝒄𝒖𝒎𝒖𝒍𝒂𝒅𝒂</m:t>
                          </m:r>
                        </m:num>
                        <m:den>
                          <m:r>
                            <a:rPr lang="es-MX" b="1" i="1" smtClean="0">
                              <a:latin typeface="Cambria Math" panose="02040503050406030204" pitchFamily="18" charset="0"/>
                            </a:rPr>
                            <m:t>𝑽𝒆𝒏𝒕𝒂</m:t>
                          </m:r>
                          <m:r>
                            <a:rPr lang="es-MX" b="1" i="1" smtClean="0">
                              <a:latin typeface="Cambria Math" panose="02040503050406030204" pitchFamily="18" charset="0"/>
                            </a:rPr>
                            <m:t> </m:t>
                          </m:r>
                          <m:r>
                            <a:rPr lang="es-MX" b="1" i="1" smtClean="0">
                              <a:latin typeface="Cambria Math" panose="02040503050406030204" pitchFamily="18" charset="0"/>
                            </a:rPr>
                            <m:t>𝒕𝒐𝒕𝒂𝒍</m:t>
                          </m:r>
                        </m:den>
                      </m:f>
                    </m:oMath>
                  </m:oMathPara>
                </a14:m>
                <a:endParaRPr lang="es-MX" b="1" dirty="0">
                  <a:ea typeface="Roboto regular" pitchFamily="2" charset="0"/>
                </a:endParaRPr>
              </a:p>
            </p:txBody>
          </p:sp>
        </mc:Choice>
        <mc:Fallback>
          <p:sp>
            <p:nvSpPr>
              <p:cNvPr id="562" name="Google Shape;562;p56"/>
              <p:cNvSpPr txBox="1">
                <a:spLocks noGrp="1" noRot="1" noChangeAspect="1" noMove="1" noResize="1" noEditPoints="1" noAdjustHandles="1" noChangeArrowheads="1" noChangeShapeType="1" noTextEdit="1"/>
              </p:cNvSpPr>
              <p:nvPr>
                <p:ph idx="1"/>
              </p:nvPr>
            </p:nvSpPr>
            <p:spPr>
              <a:xfrm>
                <a:off x="351692" y="1758461"/>
                <a:ext cx="11479237" cy="2883877"/>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3709016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Margen Aplicado</a:t>
            </a:r>
            <a:endParaRPr lang="es-PE" dirty="0"/>
          </a:p>
        </p:txBody>
      </p:sp>
      <p:sp>
        <p:nvSpPr>
          <p:cNvPr id="4" name="Marcador de contenido 3">
            <a:extLst>
              <a:ext uri="{FF2B5EF4-FFF2-40B4-BE49-F238E27FC236}">
                <a16:creationId xmlns:a16="http://schemas.microsoft.com/office/drawing/2014/main" id="{C77ADACB-C2B1-456B-9294-B9790B70493B}"/>
              </a:ext>
            </a:extLst>
          </p:cNvPr>
          <p:cNvSpPr>
            <a:spLocks noGrp="1"/>
          </p:cNvSpPr>
          <p:nvPr>
            <p:ph idx="1"/>
          </p:nvPr>
        </p:nvSpPr>
        <p:spPr>
          <a:xfrm>
            <a:off x="838200" y="1394009"/>
            <a:ext cx="10515600" cy="3754767"/>
          </a:xfrm>
        </p:spPr>
        <p:txBody>
          <a:bodyPr>
            <a:noAutofit/>
          </a:bodyPr>
          <a:lstStyle/>
          <a:p>
            <a:pPr algn="just"/>
            <a:r>
              <a:rPr lang="es-MX" sz="2600" dirty="0"/>
              <a:t>Es el margen que corresponde al porcentaje de avance de la obra.</a:t>
            </a:r>
          </a:p>
          <a:p>
            <a:pPr algn="just"/>
            <a:r>
              <a:rPr lang="es-PE" sz="2600" dirty="0"/>
              <a:t>No necesariamente es igual al margen real obtenido.</a:t>
            </a:r>
          </a:p>
          <a:p>
            <a:pPr algn="just"/>
            <a:r>
              <a:rPr lang="es-PE" sz="2600" dirty="0"/>
              <a:t>El margen aplicado nos permite declarar el margen del proyecto en forma proporcional al avance, dejando sin efecto las distorsiones contractuales que se podrían generar a lo largo de la ejecución del contrato de construcción.</a:t>
            </a:r>
          </a:p>
          <a:p>
            <a:pPr algn="just"/>
            <a:r>
              <a:rPr lang="es-PE" sz="2600" dirty="0"/>
              <a:t>Al mantener un margen estable (en porcentaje) a lo largo del proyecto nos permite evaluar sus desviaciones. Asimismo, facilita la proyección de resultados y elaboración de presupuestos.</a:t>
            </a:r>
          </a:p>
        </p:txBody>
      </p:sp>
      <mc:AlternateContent xmlns:mc="http://schemas.openxmlformats.org/markup-compatibility/2006">
        <mc:Choice xmlns:a14="http://schemas.microsoft.com/office/drawing/2010/main" Requires="a14">
          <p:sp>
            <p:nvSpPr>
              <p:cNvPr id="6" name="Google Shape;562;p56">
                <a:extLst>
                  <a:ext uri="{FF2B5EF4-FFF2-40B4-BE49-F238E27FC236}">
                    <a16:creationId xmlns:a16="http://schemas.microsoft.com/office/drawing/2014/main" id="{C049144D-1A41-474E-9C40-CF9B60C68D6A}"/>
                  </a:ext>
                </a:extLst>
              </p:cNvPr>
              <p:cNvSpPr txBox="1">
                <a:spLocks/>
              </p:cNvSpPr>
              <p:nvPr/>
            </p:nvSpPr>
            <p:spPr>
              <a:xfrm>
                <a:off x="1533379" y="5463991"/>
                <a:ext cx="9439421" cy="787791"/>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600"/>
                  </a:spcAft>
                  <a:buClr>
                    <a:schemeClr val="accent1"/>
                  </a:buClr>
                  <a:buSzPct val="10000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s-MX" sz="3200" b="1" i="1" smtClean="0">
                          <a:latin typeface="Cambria Math" panose="02040503050406030204" pitchFamily="18" charset="0"/>
                          <a:ea typeface="Roboto regular" pitchFamily="2" charset="0"/>
                        </a:rPr>
                        <m:t>𝑴𝒂𝒓𝒈𝒆𝒏</m:t>
                      </m:r>
                      <m:r>
                        <a:rPr lang="es-MX" sz="3200" b="1" i="1" smtClean="0">
                          <a:latin typeface="Cambria Math" panose="02040503050406030204" pitchFamily="18" charset="0"/>
                          <a:ea typeface="Roboto regular" pitchFamily="2" charset="0"/>
                        </a:rPr>
                        <m:t> </m:t>
                      </m:r>
                      <m:r>
                        <a:rPr lang="es-MX" sz="3200" b="1" i="1" smtClean="0">
                          <a:latin typeface="Cambria Math" panose="02040503050406030204" pitchFamily="18" charset="0"/>
                          <a:ea typeface="Roboto regular" pitchFamily="2" charset="0"/>
                        </a:rPr>
                        <m:t>𝑨𝒑𝒍𝒊𝒄𝒂𝒅𝒐</m:t>
                      </m:r>
                      <m:r>
                        <a:rPr lang="es-MX" sz="3200" b="1" i="1" smtClean="0">
                          <a:latin typeface="Cambria Math" panose="02040503050406030204" pitchFamily="18" charset="0"/>
                          <a:ea typeface="Roboto regular" pitchFamily="2" charset="0"/>
                        </a:rPr>
                        <m:t>=</m:t>
                      </m:r>
                      <m:r>
                        <a:rPr lang="es-MX" sz="3200" b="1" i="1" smtClean="0">
                          <a:latin typeface="Cambria Math" panose="02040503050406030204" pitchFamily="18" charset="0"/>
                          <a:ea typeface="Roboto regular" pitchFamily="2" charset="0"/>
                        </a:rPr>
                        <m:t>𝑽𝒆𝒏𝒕𝒂</m:t>
                      </m:r>
                      <m:r>
                        <a:rPr lang="es-MX" sz="3200" b="1" i="1" smtClean="0">
                          <a:latin typeface="Cambria Math" panose="02040503050406030204" pitchFamily="18" charset="0"/>
                          <a:ea typeface="Roboto regular" pitchFamily="2" charset="0"/>
                        </a:rPr>
                        <m:t> −</m:t>
                      </m:r>
                      <m:r>
                        <a:rPr lang="es-MX" sz="3200" b="1" i="1" smtClean="0">
                          <a:latin typeface="Cambria Math" panose="02040503050406030204" pitchFamily="18" charset="0"/>
                          <a:ea typeface="Roboto regular" pitchFamily="2" charset="0"/>
                        </a:rPr>
                        <m:t>𝑪𝒐𝒔𝒕𝒐</m:t>
                      </m:r>
                      <m:r>
                        <a:rPr lang="es-MX" sz="3200" b="1" i="1" smtClean="0">
                          <a:latin typeface="Cambria Math" panose="02040503050406030204" pitchFamily="18" charset="0"/>
                          <a:ea typeface="Roboto regular" pitchFamily="2" charset="0"/>
                        </a:rPr>
                        <m:t> </m:t>
                      </m:r>
                      <m:r>
                        <a:rPr lang="es-MX" sz="3200" b="1" i="1" smtClean="0">
                          <a:latin typeface="Cambria Math" panose="02040503050406030204" pitchFamily="18" charset="0"/>
                          <a:ea typeface="Roboto regular" pitchFamily="2" charset="0"/>
                        </a:rPr>
                        <m:t>𝑨𝒑𝒍𝒊𝒄𝒂𝒅𝒐</m:t>
                      </m:r>
                    </m:oMath>
                  </m:oMathPara>
                </a14:m>
                <a:endParaRPr lang="es-MX" sz="3200" b="1" dirty="0">
                  <a:ea typeface="Roboto regular" pitchFamily="2" charset="0"/>
                </a:endParaRPr>
              </a:p>
            </p:txBody>
          </p:sp>
        </mc:Choice>
        <mc:Fallback>
          <p:sp>
            <p:nvSpPr>
              <p:cNvPr id="6" name="Google Shape;562;p56">
                <a:extLst>
                  <a:ext uri="{FF2B5EF4-FFF2-40B4-BE49-F238E27FC236}">
                    <a16:creationId xmlns:a16="http://schemas.microsoft.com/office/drawing/2014/main" id="{C049144D-1A41-474E-9C40-CF9B60C68D6A}"/>
                  </a:ext>
                </a:extLst>
              </p:cNvPr>
              <p:cNvSpPr txBox="1">
                <a:spLocks noRot="1" noChangeAspect="1" noMove="1" noResize="1" noEditPoints="1" noAdjustHandles="1" noChangeArrowheads="1" noChangeShapeType="1" noTextEdit="1"/>
              </p:cNvSpPr>
              <p:nvPr/>
            </p:nvSpPr>
            <p:spPr>
              <a:xfrm>
                <a:off x="1533379" y="5463991"/>
                <a:ext cx="9439421" cy="787791"/>
              </a:xfrm>
              <a:prstGeom prst="rect">
                <a:avLst/>
              </a:prstGeom>
              <a:blipFill>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3148308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196314"/>
            <a:ext cx="8671560" cy="918440"/>
          </a:xfrm>
        </p:spPr>
        <p:txBody>
          <a:bodyPr>
            <a:normAutofit/>
          </a:bodyPr>
          <a:lstStyle/>
          <a:p>
            <a:r>
              <a:rPr lang="es-ES" b="1" dirty="0"/>
              <a:t>Resultado Pendiente</a:t>
            </a:r>
            <a:endParaRPr lang="es-PE" dirty="0"/>
          </a:p>
        </p:txBody>
      </p:sp>
      <p:sp>
        <p:nvSpPr>
          <p:cNvPr id="4" name="Marcador de contenido 3">
            <a:extLst>
              <a:ext uri="{FF2B5EF4-FFF2-40B4-BE49-F238E27FC236}">
                <a16:creationId xmlns:a16="http://schemas.microsoft.com/office/drawing/2014/main" id="{C77ADACB-C2B1-456B-9294-B9790B70493B}"/>
              </a:ext>
            </a:extLst>
          </p:cNvPr>
          <p:cNvSpPr>
            <a:spLocks noGrp="1"/>
          </p:cNvSpPr>
          <p:nvPr>
            <p:ph idx="1"/>
          </p:nvPr>
        </p:nvSpPr>
        <p:spPr>
          <a:xfrm>
            <a:off x="838200" y="1114754"/>
            <a:ext cx="10515600" cy="2314246"/>
          </a:xfrm>
        </p:spPr>
        <p:txBody>
          <a:bodyPr>
            <a:noAutofit/>
          </a:bodyPr>
          <a:lstStyle/>
          <a:p>
            <a:pPr algn="just"/>
            <a:r>
              <a:rPr lang="es-MX" dirty="0"/>
              <a:t>Es la diferencia entre el costo real acumulado y el costo aplicado acumulado.</a:t>
            </a:r>
          </a:p>
          <a:p>
            <a:pPr algn="just"/>
            <a:r>
              <a:rPr lang="es-MX" dirty="0"/>
              <a:t>Es el margen real que se tiene pendiente por conseguir o concretar.</a:t>
            </a:r>
          </a:p>
          <a:p>
            <a:pPr algn="just"/>
            <a:r>
              <a:rPr lang="es-MX" dirty="0"/>
              <a:t>El resultado pendiente es una variable acumulativa, por lo que al final del proyecto necesariamente debe ser cero.</a:t>
            </a:r>
          </a:p>
        </p:txBody>
      </p:sp>
      <mc:AlternateContent xmlns:mc="http://schemas.openxmlformats.org/markup-compatibility/2006">
        <mc:Choice xmlns:a14="http://schemas.microsoft.com/office/drawing/2010/main" Requires="a14">
          <p:sp>
            <p:nvSpPr>
              <p:cNvPr id="6" name="Google Shape;562;p56">
                <a:extLst>
                  <a:ext uri="{FF2B5EF4-FFF2-40B4-BE49-F238E27FC236}">
                    <a16:creationId xmlns:a16="http://schemas.microsoft.com/office/drawing/2014/main" id="{C049144D-1A41-474E-9C40-CF9B60C68D6A}"/>
                  </a:ext>
                </a:extLst>
              </p:cNvPr>
              <p:cNvSpPr txBox="1">
                <a:spLocks/>
              </p:cNvSpPr>
              <p:nvPr/>
            </p:nvSpPr>
            <p:spPr>
              <a:xfrm>
                <a:off x="1376289" y="3573194"/>
                <a:ext cx="9439421" cy="3088491"/>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600"/>
                  </a:spcAft>
                  <a:buClr>
                    <a:schemeClr val="accent1"/>
                  </a:buClr>
                  <a:buSzPct val="10000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s-MX" sz="3400" b="1" i="1" smtClean="0">
                              <a:latin typeface="Cambria Math" panose="02040503050406030204" pitchFamily="18" charset="0"/>
                            </a:rPr>
                          </m:ctrlPr>
                        </m:sSubPr>
                        <m:e>
                          <m:r>
                            <a:rPr lang="es-MX" sz="3400" b="1" i="1" smtClean="0">
                              <a:latin typeface="Cambria Math" panose="02040503050406030204" pitchFamily="18" charset="0"/>
                            </a:rPr>
                            <m:t>𝑹𝑷</m:t>
                          </m:r>
                        </m:e>
                        <m:sub>
                          <m:r>
                            <a:rPr lang="es-MX" sz="3400" b="1" i="1" smtClean="0">
                              <a:latin typeface="Cambria Math" panose="02040503050406030204" pitchFamily="18" charset="0"/>
                            </a:rPr>
                            <m:t>𝒏</m:t>
                          </m:r>
                        </m:sub>
                      </m:sSub>
                      <m:r>
                        <a:rPr lang="es-MX" sz="3400" b="1" i="1" smtClean="0">
                          <a:latin typeface="Cambria Math" panose="02040503050406030204" pitchFamily="18" charset="0"/>
                        </a:rPr>
                        <m:t>= </m:t>
                      </m:r>
                      <m:sSub>
                        <m:sSubPr>
                          <m:ctrlPr>
                            <a:rPr lang="es-MX" sz="3400" b="1" i="1" smtClean="0">
                              <a:latin typeface="Cambria Math" panose="02040503050406030204" pitchFamily="18" charset="0"/>
                            </a:rPr>
                          </m:ctrlPr>
                        </m:sSubPr>
                        <m:e>
                          <m:r>
                            <a:rPr lang="es-MX" sz="3400" b="1" i="1" smtClean="0">
                              <a:latin typeface="Cambria Math" panose="02040503050406030204" pitchFamily="18" charset="0"/>
                            </a:rPr>
                            <m:t>𝑪𝑹</m:t>
                          </m:r>
                        </m:e>
                        <m:sub>
                          <m:r>
                            <a:rPr lang="es-MX" sz="3400" b="1" i="1" smtClean="0">
                              <a:latin typeface="Cambria Math" panose="02040503050406030204" pitchFamily="18" charset="0"/>
                            </a:rPr>
                            <m:t>𝒏</m:t>
                          </m:r>
                        </m:sub>
                      </m:sSub>
                      <m:r>
                        <a:rPr lang="es-MX" sz="3400" b="1" i="1" smtClean="0">
                          <a:latin typeface="Cambria Math" panose="02040503050406030204" pitchFamily="18" charset="0"/>
                        </a:rPr>
                        <m:t>− </m:t>
                      </m:r>
                      <m:sSub>
                        <m:sSubPr>
                          <m:ctrlPr>
                            <a:rPr lang="es-MX" sz="3400" b="1" i="1" smtClean="0">
                              <a:latin typeface="Cambria Math" panose="02040503050406030204" pitchFamily="18" charset="0"/>
                            </a:rPr>
                          </m:ctrlPr>
                        </m:sSubPr>
                        <m:e>
                          <m:r>
                            <a:rPr lang="es-MX" sz="3400" b="1" i="1" smtClean="0">
                              <a:latin typeface="Cambria Math" panose="02040503050406030204" pitchFamily="18" charset="0"/>
                            </a:rPr>
                            <m:t>𝑪𝑨</m:t>
                          </m:r>
                        </m:e>
                        <m:sub>
                          <m:r>
                            <a:rPr lang="es-MX" sz="3400" b="1" i="1" smtClean="0">
                              <a:latin typeface="Cambria Math" panose="02040503050406030204" pitchFamily="18" charset="0"/>
                            </a:rPr>
                            <m:t>𝒏</m:t>
                          </m:r>
                        </m:sub>
                      </m:sSub>
                      <m:r>
                        <a:rPr lang="es-MX" sz="3400" b="1" i="1" smtClean="0">
                          <a:latin typeface="Cambria Math" panose="02040503050406030204" pitchFamily="18" charset="0"/>
                        </a:rPr>
                        <m:t>−</m:t>
                      </m:r>
                      <m:sSub>
                        <m:sSubPr>
                          <m:ctrlPr>
                            <a:rPr lang="es-MX" sz="3400" b="1" i="1" smtClean="0">
                              <a:latin typeface="Cambria Math" panose="02040503050406030204" pitchFamily="18" charset="0"/>
                            </a:rPr>
                          </m:ctrlPr>
                        </m:sSubPr>
                        <m:e>
                          <m:r>
                            <a:rPr lang="es-MX" sz="3400" b="1" i="1" smtClean="0">
                              <a:latin typeface="Cambria Math" panose="02040503050406030204" pitchFamily="18" charset="0"/>
                            </a:rPr>
                            <m:t>𝑹𝑷</m:t>
                          </m:r>
                        </m:e>
                        <m:sub>
                          <m:r>
                            <a:rPr lang="es-MX" sz="3400" b="1" i="1" smtClean="0">
                              <a:latin typeface="Cambria Math" panose="02040503050406030204" pitchFamily="18" charset="0"/>
                            </a:rPr>
                            <m:t>𝒏</m:t>
                          </m:r>
                          <m:r>
                            <a:rPr lang="es-MX" sz="3400" b="1" i="1" smtClean="0">
                              <a:latin typeface="Cambria Math" panose="02040503050406030204" pitchFamily="18" charset="0"/>
                            </a:rPr>
                            <m:t>−</m:t>
                          </m:r>
                          <m:r>
                            <a:rPr lang="es-MX" sz="3400" b="1" i="1" smtClean="0">
                              <a:latin typeface="Cambria Math" panose="02040503050406030204" pitchFamily="18" charset="0"/>
                            </a:rPr>
                            <m:t>𝟏</m:t>
                          </m:r>
                        </m:sub>
                      </m:sSub>
                    </m:oMath>
                  </m:oMathPara>
                </a14:m>
                <a:endParaRPr lang="es-MX" sz="3400" b="1" dirty="0">
                  <a:ea typeface="Roboto regular" pitchFamily="2" charset="0"/>
                </a:endParaRPr>
              </a:p>
              <a:p>
                <a:pPr marL="0" indent="0" algn="just">
                  <a:lnSpc>
                    <a:spcPct val="100000"/>
                  </a:lnSpc>
                  <a:spcBef>
                    <a:spcPts val="0"/>
                  </a:spcBef>
                  <a:spcAft>
                    <a:spcPts val="600"/>
                  </a:spcAft>
                  <a:buClr>
                    <a:schemeClr val="accent1"/>
                  </a:buClr>
                  <a:buSzPct val="100000"/>
                  <a:buFont typeface="Arial" panose="020B0604020202020204" pitchFamily="34" charset="0"/>
                  <a:buNone/>
                </a:pPr>
                <a:r>
                  <a:rPr lang="es-MX" sz="2600" dirty="0">
                    <a:ea typeface="Roboto regular" pitchFamily="2" charset="0"/>
                  </a:rPr>
                  <a:t>Donde:</a:t>
                </a:r>
              </a:p>
              <a:p>
                <a:pPr marL="0" indent="0" algn="just">
                  <a:lnSpc>
                    <a:spcPct val="100000"/>
                  </a:lnSpc>
                  <a:spcBef>
                    <a:spcPts val="0"/>
                  </a:spcBef>
                  <a:spcAft>
                    <a:spcPts val="600"/>
                  </a:spcAft>
                  <a:buClr>
                    <a:schemeClr val="accent1"/>
                  </a:buClr>
                  <a:buSzPct val="100000"/>
                  <a:buFont typeface="Arial" panose="020B0604020202020204" pitchFamily="34" charset="0"/>
                  <a:buNone/>
                </a:pPr>
                <a:r>
                  <a:rPr lang="es-MX" sz="2600" dirty="0">
                    <a:ea typeface="Roboto regular" pitchFamily="2" charset="0"/>
                  </a:rPr>
                  <a:t>RP	= Resultado Pendiente</a:t>
                </a:r>
              </a:p>
              <a:p>
                <a:pPr marL="0" indent="0" algn="just">
                  <a:lnSpc>
                    <a:spcPct val="100000"/>
                  </a:lnSpc>
                  <a:spcBef>
                    <a:spcPts val="0"/>
                  </a:spcBef>
                  <a:spcAft>
                    <a:spcPts val="600"/>
                  </a:spcAft>
                  <a:buClr>
                    <a:schemeClr val="accent1"/>
                  </a:buClr>
                  <a:buSzPct val="100000"/>
                  <a:buFont typeface="Arial" panose="020B0604020202020204" pitchFamily="34" charset="0"/>
                  <a:buNone/>
                </a:pPr>
                <a:r>
                  <a:rPr lang="es-MX" sz="2600" dirty="0">
                    <a:ea typeface="Roboto regular" pitchFamily="2" charset="0"/>
                  </a:rPr>
                  <a:t>CR	= Costo Real</a:t>
                </a:r>
              </a:p>
              <a:p>
                <a:pPr marL="0" indent="0" algn="just">
                  <a:lnSpc>
                    <a:spcPct val="100000"/>
                  </a:lnSpc>
                  <a:spcBef>
                    <a:spcPts val="0"/>
                  </a:spcBef>
                  <a:spcAft>
                    <a:spcPts val="600"/>
                  </a:spcAft>
                  <a:buClr>
                    <a:schemeClr val="accent1"/>
                  </a:buClr>
                  <a:buSzPct val="100000"/>
                  <a:buFont typeface="Arial" panose="020B0604020202020204" pitchFamily="34" charset="0"/>
                  <a:buNone/>
                </a:pPr>
                <a:r>
                  <a:rPr lang="es-MX" sz="2600" dirty="0">
                    <a:ea typeface="Roboto regular" pitchFamily="2" charset="0"/>
                  </a:rPr>
                  <a:t>CA	= Costo Aplicado</a:t>
                </a:r>
              </a:p>
              <a:p>
                <a:pPr marL="0" indent="0" algn="just">
                  <a:lnSpc>
                    <a:spcPct val="100000"/>
                  </a:lnSpc>
                  <a:spcBef>
                    <a:spcPts val="0"/>
                  </a:spcBef>
                  <a:spcAft>
                    <a:spcPts val="600"/>
                  </a:spcAft>
                  <a:buClr>
                    <a:schemeClr val="accent1"/>
                  </a:buClr>
                  <a:buSzPct val="100000"/>
                  <a:buFont typeface="Arial" panose="020B0604020202020204" pitchFamily="34" charset="0"/>
                  <a:buNone/>
                </a:pPr>
                <a:r>
                  <a:rPr lang="es-MX" sz="2600" dirty="0">
                    <a:ea typeface="Roboto regular" pitchFamily="2" charset="0"/>
                  </a:rPr>
                  <a:t>n	= Periodo</a:t>
                </a:r>
              </a:p>
              <a:p>
                <a:pPr marL="0" indent="0" algn="just">
                  <a:lnSpc>
                    <a:spcPct val="100000"/>
                  </a:lnSpc>
                  <a:spcBef>
                    <a:spcPts val="0"/>
                  </a:spcBef>
                  <a:spcAft>
                    <a:spcPts val="600"/>
                  </a:spcAft>
                  <a:buClr>
                    <a:schemeClr val="accent1"/>
                  </a:buClr>
                  <a:buSzPct val="100000"/>
                  <a:buFont typeface="Arial" panose="020B0604020202020204" pitchFamily="34" charset="0"/>
                  <a:buNone/>
                </a:pPr>
                <a:endParaRPr lang="es-MX" sz="2600" dirty="0">
                  <a:ea typeface="Roboto regular" pitchFamily="2" charset="0"/>
                </a:endParaRPr>
              </a:p>
              <a:p>
                <a:pPr marL="0" indent="0" algn="just">
                  <a:lnSpc>
                    <a:spcPct val="100000"/>
                  </a:lnSpc>
                  <a:spcBef>
                    <a:spcPts val="0"/>
                  </a:spcBef>
                  <a:spcAft>
                    <a:spcPts val="600"/>
                  </a:spcAft>
                  <a:buClr>
                    <a:schemeClr val="accent1"/>
                  </a:buClr>
                  <a:buSzPct val="100000"/>
                  <a:buFont typeface="Arial" panose="020B0604020202020204" pitchFamily="34" charset="0"/>
                  <a:buNone/>
                </a:pPr>
                <a:endParaRPr lang="es-MX" sz="3200" b="1" dirty="0">
                  <a:ea typeface="Roboto regular" pitchFamily="2" charset="0"/>
                </a:endParaRPr>
              </a:p>
            </p:txBody>
          </p:sp>
        </mc:Choice>
        <mc:Fallback>
          <p:sp>
            <p:nvSpPr>
              <p:cNvPr id="6" name="Google Shape;562;p56">
                <a:extLst>
                  <a:ext uri="{FF2B5EF4-FFF2-40B4-BE49-F238E27FC236}">
                    <a16:creationId xmlns:a16="http://schemas.microsoft.com/office/drawing/2014/main" id="{C049144D-1A41-474E-9C40-CF9B60C68D6A}"/>
                  </a:ext>
                </a:extLst>
              </p:cNvPr>
              <p:cNvSpPr txBox="1">
                <a:spLocks noRot="1" noChangeAspect="1" noMove="1" noResize="1" noEditPoints="1" noAdjustHandles="1" noChangeArrowheads="1" noChangeShapeType="1" noTextEdit="1"/>
              </p:cNvSpPr>
              <p:nvPr/>
            </p:nvSpPr>
            <p:spPr>
              <a:xfrm>
                <a:off x="1376289" y="3573194"/>
                <a:ext cx="9439421" cy="3088491"/>
              </a:xfrm>
              <a:prstGeom prst="rect">
                <a:avLst/>
              </a:prstGeom>
              <a:blipFill>
                <a:blip r:embed="rId3"/>
                <a:stretch>
                  <a:fillRect l="-840" b="-3748"/>
                </a:stretch>
              </a:blipFill>
            </p:spPr>
            <p:txBody>
              <a:bodyPr/>
              <a:lstStyle/>
              <a:p>
                <a:r>
                  <a:rPr lang="es-PE">
                    <a:noFill/>
                  </a:rPr>
                  <a:t> </a:t>
                </a:r>
              </a:p>
            </p:txBody>
          </p:sp>
        </mc:Fallback>
      </mc:AlternateContent>
    </p:spTree>
    <p:extLst>
      <p:ext uri="{BB962C8B-B14F-4D97-AF65-F5344CB8AC3E}">
        <p14:creationId xmlns:p14="http://schemas.microsoft.com/office/powerpoint/2010/main" val="712282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5"/>
            <a:ext cx="8671560" cy="1322997"/>
          </a:xfrm>
        </p:spPr>
        <p:txBody>
          <a:bodyPr>
            <a:normAutofit/>
          </a:bodyPr>
          <a:lstStyle/>
          <a:p>
            <a:r>
              <a:rPr lang="es-ES" b="1" dirty="0"/>
              <a:t>¿Por qué el costo aplicado puede ser distinto al costo real?</a:t>
            </a:r>
            <a:endParaRPr lang="es-PE" dirty="0"/>
          </a:p>
        </p:txBody>
      </p:sp>
      <p:sp>
        <p:nvSpPr>
          <p:cNvPr id="4" name="Marcador de contenido 3">
            <a:extLst>
              <a:ext uri="{FF2B5EF4-FFF2-40B4-BE49-F238E27FC236}">
                <a16:creationId xmlns:a16="http://schemas.microsoft.com/office/drawing/2014/main" id="{C77ADACB-C2B1-456B-9294-B9790B70493B}"/>
              </a:ext>
            </a:extLst>
          </p:cNvPr>
          <p:cNvSpPr>
            <a:spLocks noGrp="1"/>
          </p:cNvSpPr>
          <p:nvPr>
            <p:ph idx="1"/>
          </p:nvPr>
        </p:nvSpPr>
        <p:spPr>
          <a:xfrm>
            <a:off x="1350498" y="2027055"/>
            <a:ext cx="6611815" cy="4247136"/>
          </a:xfrm>
        </p:spPr>
        <p:txBody>
          <a:bodyPr>
            <a:noAutofit/>
          </a:bodyPr>
          <a:lstStyle/>
          <a:p>
            <a:pPr algn="just"/>
            <a:r>
              <a:rPr lang="es-MX" sz="2600" dirty="0"/>
              <a:t>Trabajos ejecutados no valorizados (TENV).</a:t>
            </a:r>
          </a:p>
          <a:p>
            <a:pPr algn="just"/>
            <a:r>
              <a:rPr lang="es-MX" sz="2600" dirty="0"/>
              <a:t>Material en cancha.</a:t>
            </a:r>
          </a:p>
          <a:p>
            <a:pPr algn="just"/>
            <a:r>
              <a:rPr lang="es-MX" sz="2600" dirty="0"/>
              <a:t>Indirecto.</a:t>
            </a:r>
          </a:p>
          <a:p>
            <a:pPr algn="just"/>
            <a:r>
              <a:rPr lang="es-MX" sz="2600" dirty="0"/>
              <a:t>Diferencia de márgenes por fases (DMF).</a:t>
            </a:r>
          </a:p>
          <a:p>
            <a:pPr algn="just"/>
            <a:endParaRPr lang="es-MX" sz="2600" dirty="0"/>
          </a:p>
          <a:p>
            <a:pPr algn="just"/>
            <a:r>
              <a:rPr lang="es-MX" sz="2600" dirty="0"/>
              <a:t>Trabajos valorizados no ejecutados (TVNE).</a:t>
            </a:r>
          </a:p>
          <a:p>
            <a:pPr algn="just"/>
            <a:r>
              <a:rPr lang="es-MX" sz="2600" dirty="0"/>
              <a:t>Costos de desmovilización.</a:t>
            </a:r>
          </a:p>
          <a:p>
            <a:pPr algn="just"/>
            <a:r>
              <a:rPr lang="es-MX" sz="2600" dirty="0"/>
              <a:t>Provisiones por posibles reclamos.</a:t>
            </a:r>
          </a:p>
          <a:p>
            <a:pPr algn="just"/>
            <a:r>
              <a:rPr lang="es-MX" sz="2600" dirty="0"/>
              <a:t>Diferencia de márgenes por fases (DMF).</a:t>
            </a:r>
            <a:endParaRPr lang="es-PE" sz="2600" dirty="0"/>
          </a:p>
        </p:txBody>
      </p:sp>
      <p:sp>
        <p:nvSpPr>
          <p:cNvPr id="3" name="Cerrar llave 2">
            <a:extLst>
              <a:ext uri="{FF2B5EF4-FFF2-40B4-BE49-F238E27FC236}">
                <a16:creationId xmlns:a16="http://schemas.microsoft.com/office/drawing/2014/main" id="{B2691001-0957-46B8-835B-663882811F3A}"/>
              </a:ext>
            </a:extLst>
          </p:cNvPr>
          <p:cNvSpPr/>
          <p:nvPr/>
        </p:nvSpPr>
        <p:spPr>
          <a:xfrm>
            <a:off x="7680959" y="2027055"/>
            <a:ext cx="422032" cy="1925967"/>
          </a:xfrm>
          <a:prstGeom prst="rightBrace">
            <a:avLst>
              <a:gd name="adj1" fmla="val 29089"/>
              <a:gd name="adj2" fmla="val 50000"/>
            </a:avLst>
          </a:prstGeom>
          <a:ln w="38100"/>
        </p:spPr>
        <p:style>
          <a:lnRef idx="3">
            <a:schemeClr val="accent6"/>
          </a:lnRef>
          <a:fillRef idx="0">
            <a:schemeClr val="accent6"/>
          </a:fillRef>
          <a:effectRef idx="2">
            <a:schemeClr val="accent6"/>
          </a:effectRef>
          <a:fontRef idx="minor">
            <a:schemeClr val="tx1"/>
          </a:fontRef>
        </p:style>
        <p:txBody>
          <a:bodyPr rtlCol="0" anchor="ctr"/>
          <a:lstStyle/>
          <a:p>
            <a:pPr algn="ctr"/>
            <a:endParaRPr lang="es-PE"/>
          </a:p>
        </p:txBody>
      </p:sp>
      <p:sp>
        <p:nvSpPr>
          <p:cNvPr id="7" name="Cerrar llave 6">
            <a:extLst>
              <a:ext uri="{FF2B5EF4-FFF2-40B4-BE49-F238E27FC236}">
                <a16:creationId xmlns:a16="http://schemas.microsoft.com/office/drawing/2014/main" id="{1639B31A-866B-42A9-804B-AA9E300E527F}"/>
              </a:ext>
            </a:extLst>
          </p:cNvPr>
          <p:cNvSpPr/>
          <p:nvPr/>
        </p:nvSpPr>
        <p:spPr>
          <a:xfrm>
            <a:off x="7751297" y="4348224"/>
            <a:ext cx="422032" cy="1925967"/>
          </a:xfrm>
          <a:prstGeom prst="rightBrace">
            <a:avLst>
              <a:gd name="adj1" fmla="val 29089"/>
              <a:gd name="adj2" fmla="val 50000"/>
            </a:avLst>
          </a:prstGeom>
          <a:ln w="38100"/>
        </p:spPr>
        <p:style>
          <a:lnRef idx="3">
            <a:schemeClr val="accent6"/>
          </a:lnRef>
          <a:fillRef idx="0">
            <a:schemeClr val="accent6"/>
          </a:fillRef>
          <a:effectRef idx="2">
            <a:schemeClr val="accent6"/>
          </a:effectRef>
          <a:fontRef idx="minor">
            <a:schemeClr val="tx1"/>
          </a:fontRef>
        </p:style>
        <p:txBody>
          <a:bodyPr rtlCol="0" anchor="ctr"/>
          <a:lstStyle/>
          <a:p>
            <a:pPr algn="ctr"/>
            <a:endParaRPr lang="es-PE"/>
          </a:p>
        </p:txBody>
      </p:sp>
      <p:sp>
        <p:nvSpPr>
          <p:cNvPr id="8" name="Marcador de contenido 3">
            <a:extLst>
              <a:ext uri="{FF2B5EF4-FFF2-40B4-BE49-F238E27FC236}">
                <a16:creationId xmlns:a16="http://schemas.microsoft.com/office/drawing/2014/main" id="{5047B62D-8E40-40C1-AEC0-C52A7BCD3B73}"/>
              </a:ext>
            </a:extLst>
          </p:cNvPr>
          <p:cNvSpPr txBox="1">
            <a:spLocks/>
          </p:cNvSpPr>
          <p:nvPr/>
        </p:nvSpPr>
        <p:spPr>
          <a:xfrm>
            <a:off x="8508610" y="2760650"/>
            <a:ext cx="1718603" cy="4587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MX" sz="2600" dirty="0"/>
              <a:t>Activos</a:t>
            </a:r>
            <a:endParaRPr lang="es-PE" sz="2600" dirty="0"/>
          </a:p>
        </p:txBody>
      </p:sp>
      <p:sp>
        <p:nvSpPr>
          <p:cNvPr id="9" name="Marcador de contenido 3">
            <a:extLst>
              <a:ext uri="{FF2B5EF4-FFF2-40B4-BE49-F238E27FC236}">
                <a16:creationId xmlns:a16="http://schemas.microsoft.com/office/drawing/2014/main" id="{DAEF2F8C-779A-4BDF-8F8B-0986F167A90A}"/>
              </a:ext>
            </a:extLst>
          </p:cNvPr>
          <p:cNvSpPr txBox="1">
            <a:spLocks/>
          </p:cNvSpPr>
          <p:nvPr/>
        </p:nvSpPr>
        <p:spPr>
          <a:xfrm>
            <a:off x="8508609" y="5081819"/>
            <a:ext cx="1718603" cy="4587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MX" sz="2600" dirty="0"/>
              <a:t>Pasivos</a:t>
            </a:r>
            <a:endParaRPr lang="es-PE" sz="2600" dirty="0"/>
          </a:p>
        </p:txBody>
      </p:sp>
    </p:spTree>
    <p:extLst>
      <p:ext uri="{BB962C8B-B14F-4D97-AF65-F5344CB8AC3E}">
        <p14:creationId xmlns:p14="http://schemas.microsoft.com/office/powerpoint/2010/main" val="3394552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Análisis del Resultado Pendiente</a:t>
            </a:r>
            <a:endParaRPr lang="es-PE" dirty="0"/>
          </a:p>
        </p:txBody>
      </p:sp>
      <p:graphicFrame>
        <p:nvGraphicFramePr>
          <p:cNvPr id="3" name="Tabla 4">
            <a:extLst>
              <a:ext uri="{FF2B5EF4-FFF2-40B4-BE49-F238E27FC236}">
                <a16:creationId xmlns:a16="http://schemas.microsoft.com/office/drawing/2014/main" id="{F83A7C9C-D245-4288-9342-78D16E5EE82A}"/>
              </a:ext>
            </a:extLst>
          </p:cNvPr>
          <p:cNvGraphicFramePr>
            <a:graphicFrameLocks noGrp="1"/>
          </p:cNvGraphicFramePr>
          <p:nvPr>
            <p:ph idx="1"/>
            <p:extLst>
              <p:ext uri="{D42A27DB-BD31-4B8C-83A1-F6EECF244321}">
                <p14:modId xmlns:p14="http://schemas.microsoft.com/office/powerpoint/2010/main" val="1074409033"/>
              </p:ext>
            </p:extLst>
          </p:nvPr>
        </p:nvGraphicFramePr>
        <p:xfrm>
          <a:off x="838200" y="1825625"/>
          <a:ext cx="10515600" cy="4693920"/>
        </p:xfrm>
        <a:graphic>
          <a:graphicData uri="http://schemas.openxmlformats.org/drawingml/2006/table">
            <a:tbl>
              <a:tblPr firstRow="1" bandRow="1">
                <a:tableStyleId>{2D5ABB26-0587-4C30-8999-92F81FD0307C}</a:tableStyleId>
              </a:tblPr>
              <a:tblGrid>
                <a:gridCol w="2580249">
                  <a:extLst>
                    <a:ext uri="{9D8B030D-6E8A-4147-A177-3AD203B41FA5}">
                      <a16:colId xmlns:a16="http://schemas.microsoft.com/office/drawing/2014/main" val="1404928824"/>
                    </a:ext>
                  </a:extLst>
                </a:gridCol>
                <a:gridCol w="7935351">
                  <a:extLst>
                    <a:ext uri="{9D8B030D-6E8A-4147-A177-3AD203B41FA5}">
                      <a16:colId xmlns:a16="http://schemas.microsoft.com/office/drawing/2014/main" val="4106865281"/>
                    </a:ext>
                  </a:extLst>
                </a:gridCol>
              </a:tblGrid>
              <a:tr h="878352">
                <a:tc>
                  <a:txBody>
                    <a:bodyPr/>
                    <a:lstStyle/>
                    <a:p>
                      <a:pPr algn="ctr"/>
                      <a:r>
                        <a:rPr lang="es-MX" sz="2800" dirty="0"/>
                        <a:t>TENV</a:t>
                      </a:r>
                      <a:endParaRPr lang="es-PE"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MX" sz="2800" dirty="0"/>
                        <a:t>“Valor al costo” de los trabajos ejecutados no valorizados</a:t>
                      </a:r>
                      <a:endParaRPr lang="es-PE"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9894594"/>
                  </a:ext>
                </a:extLst>
              </a:tr>
              <a:tr h="858125">
                <a:tc>
                  <a:txBody>
                    <a:bodyPr/>
                    <a:lstStyle/>
                    <a:p>
                      <a:pPr algn="ctr"/>
                      <a:r>
                        <a:rPr lang="es-MX" sz="2800" dirty="0"/>
                        <a:t>TVEN</a:t>
                      </a:r>
                      <a:endParaRPr lang="es-PE"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MX" sz="2800" dirty="0"/>
                        <a:t>“Valor al costo” de los trabajos valorizados no ejecutados</a:t>
                      </a:r>
                      <a:endParaRPr lang="es-PE"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7998011"/>
                  </a:ext>
                </a:extLst>
              </a:tr>
              <a:tr h="940636">
                <a:tc>
                  <a:txBody>
                    <a:bodyPr/>
                    <a:lstStyle/>
                    <a:p>
                      <a:pPr algn="ctr"/>
                      <a:r>
                        <a:rPr lang="es-MX" sz="2800" dirty="0"/>
                        <a:t>Indirectos</a:t>
                      </a:r>
                      <a:endParaRPr lang="es-PE"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MX" sz="2800" dirty="0"/>
                        <a:t>“Valor al costo” de los indirectos por amortizar</a:t>
                      </a:r>
                    </a:p>
                    <a:p>
                      <a:pPr algn="ctr"/>
                      <a:r>
                        <a:rPr lang="es-MX" sz="2200" dirty="0"/>
                        <a:t>Costo indirecto acumulado – Venta indirecta acumulada / Venta indirecta total x Costo indirecta total</a:t>
                      </a:r>
                      <a:endParaRPr lang="es-PE"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8264636"/>
                  </a:ext>
                </a:extLst>
              </a:tr>
              <a:tr h="913324">
                <a:tc>
                  <a:txBody>
                    <a:bodyPr/>
                    <a:lstStyle/>
                    <a:p>
                      <a:pPr algn="ctr"/>
                      <a:r>
                        <a:rPr lang="es-MX" sz="2800" dirty="0"/>
                        <a:t>Provisión por reclamos</a:t>
                      </a:r>
                      <a:endParaRPr lang="es-PE"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MX" sz="2800" dirty="0"/>
                        <a:t>Proporción correspondiente al avance de la fase de probable reclamo</a:t>
                      </a:r>
                    </a:p>
                    <a:p>
                      <a:pPr algn="ctr"/>
                      <a:r>
                        <a:rPr lang="es-PE" sz="2200" dirty="0"/>
                        <a:t>(Venta acumulada de la fase / Valor total de la fase) x provisión de costos por reclamo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6761501"/>
                  </a:ext>
                </a:extLst>
              </a:tr>
            </a:tbl>
          </a:graphicData>
        </a:graphic>
      </p:graphicFrame>
    </p:spTree>
    <p:extLst>
      <p:ext uri="{BB962C8B-B14F-4D97-AF65-F5344CB8AC3E}">
        <p14:creationId xmlns:p14="http://schemas.microsoft.com/office/powerpoint/2010/main" val="1624071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Activo o Pasivo auxiliar</a:t>
            </a:r>
            <a:endParaRPr lang="es-PE" dirty="0"/>
          </a:p>
        </p:txBody>
      </p:sp>
      <p:sp>
        <p:nvSpPr>
          <p:cNvPr id="5" name="Marcador de contenido 4">
            <a:extLst>
              <a:ext uri="{FF2B5EF4-FFF2-40B4-BE49-F238E27FC236}">
                <a16:creationId xmlns:a16="http://schemas.microsoft.com/office/drawing/2014/main" id="{74229EE2-2D35-4A52-B7B2-6767DBD3ACE2}"/>
              </a:ext>
            </a:extLst>
          </p:cNvPr>
          <p:cNvSpPr>
            <a:spLocks noGrp="1"/>
          </p:cNvSpPr>
          <p:nvPr>
            <p:ph idx="1"/>
          </p:nvPr>
        </p:nvSpPr>
        <p:spPr/>
        <p:txBody>
          <a:bodyPr>
            <a:normAutofit lnSpcReduction="10000"/>
          </a:bodyPr>
          <a:lstStyle/>
          <a:p>
            <a:pPr algn="just"/>
            <a:r>
              <a:rPr lang="es-MX" dirty="0"/>
              <a:t>Son distorsiones en el análisis del resultado pendiente que se generan por las variaciones en la productividad de los recursos durante la ejecución del proyecto.</a:t>
            </a:r>
          </a:p>
          <a:p>
            <a:r>
              <a:rPr lang="es-PE" dirty="0"/>
              <a:t>Son de dos tipos:</a:t>
            </a:r>
          </a:p>
          <a:p>
            <a:r>
              <a:rPr lang="es-PE" dirty="0"/>
              <a:t>Tipo I: pequeñas variaciones, tanto por el lado del activo y/o del pasivo, que son generadas por variaciones aleatorias dentro de las partidas que conforman las fases.</a:t>
            </a:r>
          </a:p>
          <a:p>
            <a:r>
              <a:rPr lang="es-PE" dirty="0"/>
              <a:t>Tipo II: grandes variaciones, tanto por el lado del activo y/o del pasivo, que son generadas por la falta de coherencia entre los costos acumulados y los costos proyectados. Generalmente representan ganancias o pérdidas ocultas.</a:t>
            </a:r>
          </a:p>
        </p:txBody>
      </p:sp>
    </p:spTree>
    <p:extLst>
      <p:ext uri="{BB962C8B-B14F-4D97-AF65-F5344CB8AC3E}">
        <p14:creationId xmlns:p14="http://schemas.microsoft.com/office/powerpoint/2010/main" val="3598653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Activo o Pasivo auxiliar</a:t>
            </a:r>
            <a:endParaRPr lang="es-PE" dirty="0"/>
          </a:p>
        </p:txBody>
      </p:sp>
      <p:sp>
        <p:nvSpPr>
          <p:cNvPr id="5" name="Marcador de contenido 4">
            <a:extLst>
              <a:ext uri="{FF2B5EF4-FFF2-40B4-BE49-F238E27FC236}">
                <a16:creationId xmlns:a16="http://schemas.microsoft.com/office/drawing/2014/main" id="{74229EE2-2D35-4A52-B7B2-6767DBD3ACE2}"/>
              </a:ext>
            </a:extLst>
          </p:cNvPr>
          <p:cNvSpPr>
            <a:spLocks noGrp="1"/>
          </p:cNvSpPr>
          <p:nvPr>
            <p:ph idx="1"/>
          </p:nvPr>
        </p:nvSpPr>
        <p:spPr/>
        <p:txBody>
          <a:bodyPr>
            <a:normAutofit/>
          </a:bodyPr>
          <a:lstStyle/>
          <a:p>
            <a:pPr algn="just"/>
            <a:r>
              <a:rPr lang="es-MX" dirty="0"/>
              <a:t>Activo auxiliar: en una proporción importante respecto al margen declarado representa una pérdida oculta. Un activo auxiliar puede ser representado por una “cuenta por cobrar” que probablemente no se cobre.</a:t>
            </a:r>
          </a:p>
          <a:p>
            <a:pPr algn="just"/>
            <a:r>
              <a:rPr lang="es-MX" dirty="0"/>
              <a:t>Pasivo auxiliar: es una proporción importante respecto al margen declarado, representa una ganancia oculta. Un pasivo auxiliar puede ser representado por una “cuenta por pagar” que posiblemente no se pague.</a:t>
            </a:r>
            <a:endParaRPr lang="es-PE" dirty="0"/>
          </a:p>
        </p:txBody>
      </p:sp>
    </p:spTree>
    <p:extLst>
      <p:ext uri="{BB962C8B-B14F-4D97-AF65-F5344CB8AC3E}">
        <p14:creationId xmlns:p14="http://schemas.microsoft.com/office/powerpoint/2010/main" val="2603467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Activo o Pasivo auxiliar</a:t>
            </a:r>
            <a:endParaRPr lang="es-PE" dirty="0"/>
          </a:p>
        </p:txBody>
      </p:sp>
      <p:pic>
        <p:nvPicPr>
          <p:cNvPr id="7" name="Imagen 6">
            <a:extLst>
              <a:ext uri="{FF2B5EF4-FFF2-40B4-BE49-F238E27FC236}">
                <a16:creationId xmlns:a16="http://schemas.microsoft.com/office/drawing/2014/main" id="{483A081F-859E-4936-A5CF-94510D4C936E}"/>
              </a:ext>
            </a:extLst>
          </p:cNvPr>
          <p:cNvPicPr>
            <a:picLocks noChangeAspect="1"/>
          </p:cNvPicPr>
          <p:nvPr/>
        </p:nvPicPr>
        <p:blipFill>
          <a:blip r:embed="rId3"/>
          <a:stretch>
            <a:fillRect/>
          </a:stretch>
        </p:blipFill>
        <p:spPr>
          <a:xfrm>
            <a:off x="1319579" y="1317328"/>
            <a:ext cx="10034221" cy="5175546"/>
          </a:xfrm>
          <a:prstGeom prst="rect">
            <a:avLst/>
          </a:prstGeom>
        </p:spPr>
      </p:pic>
    </p:spTree>
    <p:extLst>
      <p:ext uri="{BB962C8B-B14F-4D97-AF65-F5344CB8AC3E}">
        <p14:creationId xmlns:p14="http://schemas.microsoft.com/office/powerpoint/2010/main" val="2649447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Contingencia</a:t>
            </a:r>
            <a:endParaRPr lang="es-PE" dirty="0"/>
          </a:p>
        </p:txBody>
      </p:sp>
      <p:sp>
        <p:nvSpPr>
          <p:cNvPr id="5" name="Marcador de contenido 4">
            <a:extLst>
              <a:ext uri="{FF2B5EF4-FFF2-40B4-BE49-F238E27FC236}">
                <a16:creationId xmlns:a16="http://schemas.microsoft.com/office/drawing/2014/main" id="{74229EE2-2D35-4A52-B7B2-6767DBD3ACE2}"/>
              </a:ext>
            </a:extLst>
          </p:cNvPr>
          <p:cNvSpPr>
            <a:spLocks noGrp="1"/>
          </p:cNvSpPr>
          <p:nvPr>
            <p:ph idx="1"/>
          </p:nvPr>
        </p:nvSpPr>
        <p:spPr/>
        <p:txBody>
          <a:bodyPr>
            <a:normAutofit/>
          </a:bodyPr>
          <a:lstStyle/>
          <a:p>
            <a:pPr algn="just"/>
            <a:r>
              <a:rPr lang="es-MX" sz="3200" dirty="0"/>
              <a:t>Es el costo del que no se tiene certeza que se realice en el futuro. Sin embargo, dado que en todo proyecto existe incertidumbre, se provisiona este costo en el saldo del proyecto a fin de garantizar un margen determinado.</a:t>
            </a:r>
          </a:p>
          <a:p>
            <a:pPr algn="just"/>
            <a:r>
              <a:rPr lang="es-MX" sz="3200" dirty="0"/>
              <a:t>En caso no se reconozca la proporción de la contingencia correspondiente al avance de la obra en el análisis del resultado pendiente, se tendrá un pasivo auxiliar.</a:t>
            </a:r>
          </a:p>
          <a:p>
            <a:pPr marL="0" indent="0" algn="just">
              <a:buNone/>
            </a:pPr>
            <a:endParaRPr lang="es-PE" dirty="0"/>
          </a:p>
        </p:txBody>
      </p:sp>
    </p:spTree>
    <p:extLst>
      <p:ext uri="{BB962C8B-B14F-4D97-AF65-F5344CB8AC3E}">
        <p14:creationId xmlns:p14="http://schemas.microsoft.com/office/powerpoint/2010/main" val="926852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Contingencia</a:t>
            </a:r>
            <a:endParaRPr lang="es-PE" dirty="0"/>
          </a:p>
        </p:txBody>
      </p:sp>
      <p:sp>
        <p:nvSpPr>
          <p:cNvPr id="5" name="Marcador de contenido 4">
            <a:extLst>
              <a:ext uri="{FF2B5EF4-FFF2-40B4-BE49-F238E27FC236}">
                <a16:creationId xmlns:a16="http://schemas.microsoft.com/office/drawing/2014/main" id="{74229EE2-2D35-4A52-B7B2-6767DBD3ACE2}"/>
              </a:ext>
            </a:extLst>
          </p:cNvPr>
          <p:cNvSpPr>
            <a:spLocks noGrp="1"/>
          </p:cNvSpPr>
          <p:nvPr>
            <p:ph idx="1"/>
          </p:nvPr>
        </p:nvSpPr>
        <p:spPr/>
        <p:txBody>
          <a:bodyPr>
            <a:normAutofit/>
          </a:bodyPr>
          <a:lstStyle/>
          <a:p>
            <a:pPr algn="just"/>
            <a:r>
              <a:rPr lang="es-MX" sz="3200" dirty="0"/>
              <a:t>Si la contingencia no se realiza hasta el término de la obra, esta se convierte en margen.</a:t>
            </a:r>
          </a:p>
          <a:p>
            <a:pPr algn="just"/>
            <a:r>
              <a:rPr lang="es-MX" sz="3200" dirty="0"/>
              <a:t>La contingencia debe estar identificada y declarada junto con el Resultado Operativo.</a:t>
            </a:r>
            <a:endParaRPr lang="es-PE" dirty="0"/>
          </a:p>
        </p:txBody>
      </p:sp>
    </p:spTree>
    <p:extLst>
      <p:ext uri="{BB962C8B-B14F-4D97-AF65-F5344CB8AC3E}">
        <p14:creationId xmlns:p14="http://schemas.microsoft.com/office/powerpoint/2010/main" val="56309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Compatibilización</a:t>
            </a:r>
            <a:endParaRPr lang="es-PE" dirty="0"/>
          </a:p>
        </p:txBody>
      </p:sp>
      <p:sp>
        <p:nvSpPr>
          <p:cNvPr id="5" name="Marcador de contenido 4">
            <a:extLst>
              <a:ext uri="{FF2B5EF4-FFF2-40B4-BE49-F238E27FC236}">
                <a16:creationId xmlns:a16="http://schemas.microsoft.com/office/drawing/2014/main" id="{74229EE2-2D35-4A52-B7B2-6767DBD3ACE2}"/>
              </a:ext>
            </a:extLst>
          </p:cNvPr>
          <p:cNvSpPr>
            <a:spLocks noGrp="1"/>
          </p:cNvSpPr>
          <p:nvPr>
            <p:ph idx="1"/>
          </p:nvPr>
        </p:nvSpPr>
        <p:spPr/>
        <p:txBody>
          <a:bodyPr>
            <a:normAutofit/>
          </a:bodyPr>
          <a:lstStyle/>
          <a:p>
            <a:pPr algn="just"/>
            <a:r>
              <a:rPr lang="es-MX" sz="3200" dirty="0"/>
              <a:t>Es el procedimiento por medio del cual se concilia el costo y la venta del RO con el costo y venta contable.</a:t>
            </a:r>
          </a:p>
          <a:p>
            <a:pPr algn="just"/>
            <a:r>
              <a:rPr lang="es-MX" sz="3200" dirty="0"/>
              <a:t>La compatibilización es un proceso que se debe realizar mensualmente en obra.</a:t>
            </a:r>
            <a:r>
              <a:rPr lang="es-PE" sz="3200" dirty="0"/>
              <a:t> De ser necesario se deberán organizar reuniones entre contabilidad y costos para aclarar aquellas diferencias que no hayan sido resueltas en obra.</a:t>
            </a:r>
          </a:p>
          <a:p>
            <a:pPr algn="just"/>
            <a:r>
              <a:rPr lang="es-PE" sz="3200" dirty="0"/>
              <a:t>La compatibilización debe ser hecha con el mayor nivel de detalle posible, ya que las diferencias se pueden compensar a niveles agregados.</a:t>
            </a:r>
            <a:endParaRPr lang="es-MX" sz="3200" dirty="0"/>
          </a:p>
        </p:txBody>
      </p:sp>
    </p:spTree>
    <p:extLst>
      <p:ext uri="{BB962C8B-B14F-4D97-AF65-F5344CB8AC3E}">
        <p14:creationId xmlns:p14="http://schemas.microsoft.com/office/powerpoint/2010/main" val="1113295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Compatibilización</a:t>
            </a:r>
            <a:endParaRPr lang="es-PE" dirty="0"/>
          </a:p>
        </p:txBody>
      </p:sp>
      <p:sp>
        <p:nvSpPr>
          <p:cNvPr id="5" name="Marcador de contenido 4">
            <a:extLst>
              <a:ext uri="{FF2B5EF4-FFF2-40B4-BE49-F238E27FC236}">
                <a16:creationId xmlns:a16="http://schemas.microsoft.com/office/drawing/2014/main" id="{74229EE2-2D35-4A52-B7B2-6767DBD3ACE2}"/>
              </a:ext>
            </a:extLst>
          </p:cNvPr>
          <p:cNvSpPr>
            <a:spLocks noGrp="1"/>
          </p:cNvSpPr>
          <p:nvPr>
            <p:ph idx="1"/>
          </p:nvPr>
        </p:nvSpPr>
        <p:spPr/>
        <p:txBody>
          <a:bodyPr>
            <a:normAutofit lnSpcReduction="10000"/>
          </a:bodyPr>
          <a:lstStyle/>
          <a:p>
            <a:pPr algn="just"/>
            <a:r>
              <a:rPr lang="es-MX" sz="3200" dirty="0"/>
              <a:t>La compatibilización viene a ser la comparación entre el resultado contable y el RO del mes anterior. Esta compatibilización debe ser enviada los 15 de cada mes.</a:t>
            </a:r>
          </a:p>
          <a:p>
            <a:pPr algn="just"/>
            <a:r>
              <a:rPr lang="es-MX" sz="3200" dirty="0"/>
              <a:t>Las diferencias encontradas deben ser analizadas a fin de encontrar sus causas. En caso la diferencias se deban a un error en el RO, este deberá ser ajustado en el siguiente RO. En caso las diferencias se deban a un error contable, se deberá solicitar el cargo o abono correspondiente.</a:t>
            </a:r>
          </a:p>
          <a:p>
            <a:pPr algn="just"/>
            <a:r>
              <a:rPr lang="es-MX" sz="3200" dirty="0"/>
              <a:t>La compatibilización del mes finaliza al siguiente mes con la verificación de los ajustes solicitados.</a:t>
            </a:r>
          </a:p>
        </p:txBody>
      </p:sp>
    </p:spTree>
    <p:extLst>
      <p:ext uri="{BB962C8B-B14F-4D97-AF65-F5344CB8AC3E}">
        <p14:creationId xmlns:p14="http://schemas.microsoft.com/office/powerpoint/2010/main" val="2869853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fontScale="90000"/>
          </a:bodyPr>
          <a:lstStyle/>
          <a:p>
            <a:r>
              <a:rPr lang="es-ES" b="1" dirty="0"/>
              <a:t>Compatibilización y Resultado Pendiente</a:t>
            </a:r>
            <a:endParaRPr lang="es-PE" dirty="0"/>
          </a:p>
        </p:txBody>
      </p:sp>
      <p:pic>
        <p:nvPicPr>
          <p:cNvPr id="7" name="Imagen 6">
            <a:extLst>
              <a:ext uri="{FF2B5EF4-FFF2-40B4-BE49-F238E27FC236}">
                <a16:creationId xmlns:a16="http://schemas.microsoft.com/office/drawing/2014/main" id="{F6B73FB2-C641-4892-817F-4F624C498236}"/>
              </a:ext>
            </a:extLst>
          </p:cNvPr>
          <p:cNvPicPr>
            <a:picLocks noChangeAspect="1"/>
          </p:cNvPicPr>
          <p:nvPr/>
        </p:nvPicPr>
        <p:blipFill>
          <a:blip r:embed="rId3"/>
          <a:stretch>
            <a:fillRect/>
          </a:stretch>
        </p:blipFill>
        <p:spPr>
          <a:xfrm>
            <a:off x="1559425" y="1587158"/>
            <a:ext cx="9073149" cy="4773026"/>
          </a:xfrm>
          <a:prstGeom prst="rect">
            <a:avLst/>
          </a:prstGeom>
        </p:spPr>
      </p:pic>
    </p:spTree>
    <p:extLst>
      <p:ext uri="{BB962C8B-B14F-4D97-AF65-F5344CB8AC3E}">
        <p14:creationId xmlns:p14="http://schemas.microsoft.com/office/powerpoint/2010/main" val="2784638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Proyecciones – Plan de Ejecución</a:t>
            </a:r>
            <a:endParaRPr lang="es-PE" dirty="0"/>
          </a:p>
        </p:txBody>
      </p:sp>
      <p:sp>
        <p:nvSpPr>
          <p:cNvPr id="5" name="Marcador de contenido 4">
            <a:extLst>
              <a:ext uri="{FF2B5EF4-FFF2-40B4-BE49-F238E27FC236}">
                <a16:creationId xmlns:a16="http://schemas.microsoft.com/office/drawing/2014/main" id="{74229EE2-2D35-4A52-B7B2-6767DBD3ACE2}"/>
              </a:ext>
            </a:extLst>
          </p:cNvPr>
          <p:cNvSpPr>
            <a:spLocks noGrp="1"/>
          </p:cNvSpPr>
          <p:nvPr>
            <p:ph idx="1"/>
          </p:nvPr>
        </p:nvSpPr>
        <p:spPr/>
        <p:txBody>
          <a:bodyPr>
            <a:normAutofit/>
          </a:bodyPr>
          <a:lstStyle/>
          <a:p>
            <a:pPr marL="0" indent="0" algn="just">
              <a:buNone/>
            </a:pPr>
            <a:r>
              <a:rPr lang="es-MX" sz="3200" dirty="0"/>
              <a:t>Consiste en estimar el saldo por ejecutar de la obra tanto en costo como en venta.</a:t>
            </a:r>
          </a:p>
          <a:p>
            <a:pPr algn="just"/>
            <a:endParaRPr lang="es-MX" sz="3200" dirty="0"/>
          </a:p>
          <a:p>
            <a:pPr algn="just"/>
            <a:r>
              <a:rPr lang="es-MX" sz="3200" b="1" dirty="0"/>
              <a:t>Herramientas para proyectar la venta:</a:t>
            </a:r>
          </a:p>
          <a:p>
            <a:pPr lvl="1" algn="just"/>
            <a:r>
              <a:rPr lang="es-MX" sz="2800" dirty="0"/>
              <a:t>Planeamiento de obra: Curva “S”, Cronograma de valorizaciones</a:t>
            </a:r>
          </a:p>
          <a:p>
            <a:pPr lvl="1" algn="just"/>
            <a:r>
              <a:rPr lang="es-MX" sz="2800" dirty="0"/>
              <a:t>Contrato de Obra</a:t>
            </a:r>
          </a:p>
        </p:txBody>
      </p:sp>
    </p:spTree>
    <p:extLst>
      <p:ext uri="{BB962C8B-B14F-4D97-AF65-F5344CB8AC3E}">
        <p14:creationId xmlns:p14="http://schemas.microsoft.com/office/powerpoint/2010/main" val="1078309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Proyecciones – Plan de Ejecución</a:t>
            </a:r>
            <a:endParaRPr lang="es-PE" dirty="0"/>
          </a:p>
        </p:txBody>
      </p:sp>
      <p:sp>
        <p:nvSpPr>
          <p:cNvPr id="5" name="Marcador de contenido 4">
            <a:extLst>
              <a:ext uri="{FF2B5EF4-FFF2-40B4-BE49-F238E27FC236}">
                <a16:creationId xmlns:a16="http://schemas.microsoft.com/office/drawing/2014/main" id="{74229EE2-2D35-4A52-B7B2-6767DBD3ACE2}"/>
              </a:ext>
            </a:extLst>
          </p:cNvPr>
          <p:cNvSpPr>
            <a:spLocks noGrp="1"/>
          </p:cNvSpPr>
          <p:nvPr>
            <p:ph idx="1"/>
          </p:nvPr>
        </p:nvSpPr>
        <p:spPr/>
        <p:txBody>
          <a:bodyPr>
            <a:normAutofit/>
          </a:bodyPr>
          <a:lstStyle/>
          <a:p>
            <a:pPr marL="0" indent="0" algn="just">
              <a:buNone/>
            </a:pPr>
            <a:endParaRPr lang="es-MX" sz="3200" dirty="0"/>
          </a:p>
          <a:p>
            <a:pPr algn="just"/>
            <a:r>
              <a:rPr lang="es-MX" sz="3200" b="1" dirty="0"/>
              <a:t>Herramientas para proyectar el costo:</a:t>
            </a:r>
          </a:p>
          <a:p>
            <a:pPr lvl="1" algn="just"/>
            <a:r>
              <a:rPr lang="es-MX" sz="2800" dirty="0"/>
              <a:t>Presupuesto meta</a:t>
            </a:r>
          </a:p>
          <a:p>
            <a:pPr lvl="1" algn="just"/>
            <a:r>
              <a:rPr lang="es-MX" sz="2800" dirty="0"/>
              <a:t>Informe Semanal de Producción – Rendimientos</a:t>
            </a:r>
          </a:p>
          <a:p>
            <a:pPr lvl="1" algn="just"/>
            <a:r>
              <a:rPr lang="es-MX" sz="2800" dirty="0"/>
              <a:t>Cronogramas de MO, equipos, materiales, subcontratos, dirección</a:t>
            </a:r>
          </a:p>
          <a:p>
            <a:pPr lvl="1" algn="just"/>
            <a:r>
              <a:rPr lang="es-MX" sz="2800" dirty="0"/>
              <a:t>Promedios de consumos de gastos generales</a:t>
            </a:r>
          </a:p>
          <a:p>
            <a:pPr lvl="1" algn="just"/>
            <a:r>
              <a:rPr lang="es-MX" sz="2800" dirty="0"/>
              <a:t>Subcontratos y contratos con terceros</a:t>
            </a:r>
          </a:p>
        </p:txBody>
      </p:sp>
    </p:spTree>
    <p:extLst>
      <p:ext uri="{BB962C8B-B14F-4D97-AF65-F5344CB8AC3E}">
        <p14:creationId xmlns:p14="http://schemas.microsoft.com/office/powerpoint/2010/main" val="1783252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7243B4-0970-4262-9AA5-972361800BFE}"/>
              </a:ext>
            </a:extLst>
          </p:cNvPr>
          <p:cNvSpPr>
            <a:spLocks noGrp="1"/>
          </p:cNvSpPr>
          <p:nvPr>
            <p:ph type="ctrTitle"/>
          </p:nvPr>
        </p:nvSpPr>
        <p:spPr>
          <a:xfrm>
            <a:off x="1524000" y="1998718"/>
            <a:ext cx="9144000" cy="2387600"/>
          </a:xfrm>
        </p:spPr>
        <p:txBody>
          <a:bodyPr>
            <a:normAutofit/>
          </a:bodyPr>
          <a:lstStyle/>
          <a:p>
            <a:r>
              <a:rPr lang="es-MX" sz="6400" b="1" dirty="0">
                <a:effectLst>
                  <a:outerShdw blurRad="50800" dist="101600" dir="2700000" algn="tl" rotWithShape="0">
                    <a:srgbClr val="00F3B5"/>
                  </a:outerShdw>
                </a:effectLst>
                <a:latin typeface="Prompt" panose="00000500000000000000" pitchFamily="2" charset="-34"/>
                <a:cs typeface="Prompt" panose="00000500000000000000" pitchFamily="2" charset="-34"/>
              </a:rPr>
              <a:t>MUCHAS GRACIAS POR SU ATENCIÓN</a:t>
            </a:r>
            <a:endParaRPr lang="es-PE" sz="6400" b="1" dirty="0">
              <a:effectLst>
                <a:outerShdw blurRad="50800" dist="101600" dir="2700000" algn="tl" rotWithShape="0">
                  <a:srgbClr val="00F3B5"/>
                </a:outerShdw>
              </a:effectLst>
              <a:latin typeface="Prompt" panose="00000500000000000000" pitchFamily="2" charset="-34"/>
              <a:cs typeface="Prompt" panose="00000500000000000000" pitchFamily="2" charset="-34"/>
            </a:endParaRPr>
          </a:p>
        </p:txBody>
      </p:sp>
    </p:spTree>
    <p:extLst>
      <p:ext uri="{BB962C8B-B14F-4D97-AF65-F5344CB8AC3E}">
        <p14:creationId xmlns:p14="http://schemas.microsoft.com/office/powerpoint/2010/main" val="2907053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2710</TotalTime>
  <Words>1070</Words>
  <Application>Microsoft Office PowerPoint</Application>
  <PresentationFormat>Panorámica</PresentationFormat>
  <Paragraphs>101</Paragraphs>
  <Slides>23</Slides>
  <Notes>18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23</vt:i4>
      </vt:variant>
    </vt:vector>
  </HeadingPairs>
  <TitlesOfParts>
    <vt:vector size="29" baseType="lpstr">
      <vt:lpstr>Arial</vt:lpstr>
      <vt:lpstr>Calibri</vt:lpstr>
      <vt:lpstr>Calibri Light</vt:lpstr>
      <vt:lpstr>Cambria Math</vt:lpstr>
      <vt:lpstr>Prompt</vt:lpstr>
      <vt:lpstr>Tema de Office</vt:lpstr>
      <vt:lpstr>Presentación de PowerPoint</vt:lpstr>
      <vt:lpstr>Presentación de PowerPoint</vt:lpstr>
      <vt:lpstr>Módulo 6</vt:lpstr>
      <vt:lpstr>Definiciones Generales</vt:lpstr>
      <vt:lpstr>Definiciones Generales</vt:lpstr>
      <vt:lpstr>Costo Aplicado</vt:lpstr>
      <vt:lpstr>Costo Aplicado</vt:lpstr>
      <vt:lpstr>Margen Aplicado</vt:lpstr>
      <vt:lpstr>Resultado Pendiente</vt:lpstr>
      <vt:lpstr>¿Por qué el costo aplicado puede ser distinto al costo real?</vt:lpstr>
      <vt:lpstr>Análisis del Resultado Pendiente</vt:lpstr>
      <vt:lpstr>Activo o Pasivo auxiliar</vt:lpstr>
      <vt:lpstr>Activo o Pasivo auxiliar</vt:lpstr>
      <vt:lpstr>Activo o Pasivo auxiliar</vt:lpstr>
      <vt:lpstr>Contingencia</vt:lpstr>
      <vt:lpstr>Contingencia</vt:lpstr>
      <vt:lpstr>Compatibilización</vt:lpstr>
      <vt:lpstr>Compatibilización</vt:lpstr>
      <vt:lpstr>Compatibilización y Resultado Pendiente</vt:lpstr>
      <vt:lpstr>Proyecciones – Plan de Ejecución</vt:lpstr>
      <vt:lpstr>Proyecciones – Plan de Ejecución</vt:lpstr>
      <vt:lpstr>MUCHAS GRACIAS POR SU ATENCIÓN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Usuario</cp:lastModifiedBy>
  <cp:revision>195</cp:revision>
  <dcterms:created xsi:type="dcterms:W3CDTF">2022-04-19T18:02:09Z</dcterms:created>
  <dcterms:modified xsi:type="dcterms:W3CDTF">2024-07-19T00:29:27Z</dcterms:modified>
</cp:coreProperties>
</file>