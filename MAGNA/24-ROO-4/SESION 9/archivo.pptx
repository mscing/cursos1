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62" r:id="rId3"/>
    <p:sldId id="263" r:id="rId4"/>
    <p:sldId id="391" r:id="rId5"/>
    <p:sldId id="998" r:id="rId6"/>
    <p:sldId id="1642" r:id="rId7"/>
    <p:sldId id="1641" r:id="rId8"/>
    <p:sldId id="1643" r:id="rId9"/>
    <p:sldId id="1644" r:id="rId10"/>
    <p:sldId id="1645" r:id="rId11"/>
    <p:sldId id="1610" r:id="rId12"/>
    <p:sldId id="1646" r:id="rId13"/>
    <p:sldId id="1647" r:id="rId14"/>
    <p:sldId id="1648" r:id="rId15"/>
    <p:sldId id="1649" r:id="rId16"/>
    <p:sldId id="1650" r:id="rId17"/>
    <p:sldId id="1651" r:id="rId18"/>
    <p:sldId id="1652" r:id="rId19"/>
    <p:sldId id="1653" r:id="rId20"/>
    <p:sldId id="1654" r:id="rId21"/>
    <p:sldId id="1655" r:id="rId22"/>
    <p:sldId id="1656" r:id="rId23"/>
    <p:sldId id="1657" r:id="rId24"/>
    <p:sldId id="1658" r:id="rId25"/>
    <p:sldId id="1659" r:id="rId26"/>
    <p:sldId id="1660" r:id="rId27"/>
    <p:sldId id="294" r:id="rId28"/>
    <p:sldId id="260" r:id="rId29"/>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3B5"/>
    <a:srgbClr val="F7F7F7"/>
    <a:srgbClr val="02BA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029" autoAdjust="0"/>
    <p:restoredTop sz="94660"/>
  </p:normalViewPr>
  <p:slideViewPr>
    <p:cSldViewPr snapToGrid="0">
      <p:cViewPr varScale="1">
        <p:scale>
          <a:sx n="68" d="100"/>
          <a:sy n="68" d="100"/>
        </p:scale>
        <p:origin x="49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B409FB-7E6B-4B60-9B06-8DF7644DC902}" type="datetimeFigureOut">
              <a:rPr lang="es-PE" smtClean="0"/>
              <a:t>11/07/2024</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F4E1C9-A0C2-484B-AD06-47908F7D028C}" type="slidenum">
              <a:rPr lang="es-PE" smtClean="0"/>
              <a:t>‹Nº›</a:t>
            </a:fld>
            <a:endParaRPr lang="es-PE"/>
          </a:p>
        </p:txBody>
      </p:sp>
    </p:spTree>
    <p:extLst>
      <p:ext uri="{BB962C8B-B14F-4D97-AF65-F5344CB8AC3E}">
        <p14:creationId xmlns:p14="http://schemas.microsoft.com/office/powerpoint/2010/main" val="8613920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a9fa940987_3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a9fa940987_3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757938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a9fa940987_3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a9fa940987_3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375938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a9fa940987_3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a9fa940987_3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809312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a9fa940987_3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a9fa940987_3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448418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a9fa940987_3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a9fa940987_3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850722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a9fa940987_3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a9fa940987_3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511193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a9fa940987_3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a9fa940987_3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05408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a9fa940987_3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a9fa940987_3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339018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a9fa940987_3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a9fa940987_3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482606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a9fa940987_3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a9fa940987_3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22163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a9fa940987_3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a9fa940987_3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365950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a9fa940987_3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a9fa940987_3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0764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a9fa940987_3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a9fa940987_3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150926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a9fa940987_3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a9fa940987_3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42398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a9fa940987_3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a9fa940987_3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008756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a9fa940987_3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a9fa940987_3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819570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a9fa940987_3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a9fa940987_3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176526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a9fa940987_3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a9fa940987_3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690947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a9fa940987_3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a9fa940987_3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663495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a9fa940987_3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a9fa940987_3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234504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a9fa940987_3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a9fa940987_3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49781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11/07/2024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91815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11/07/2024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894522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11/07/2024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3593730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CC231CB2-8F63-4ACB-AA28-38CB9C3B0788}" type="datetimeFigureOut">
              <a:rPr lang="es-ES" smtClean="0"/>
              <a:t>11/07/2024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3646244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CC231CB2-8F63-4ACB-AA28-38CB9C3B0788}" type="datetimeFigureOut">
              <a:rPr lang="es-ES" smtClean="0"/>
              <a:t>11/07/2024</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496232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CC231CB2-8F63-4ACB-AA28-38CB9C3B0788}" type="datetimeFigureOut">
              <a:rPr lang="es-ES" smtClean="0"/>
              <a:t>11/07/2024</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989915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CC231CB2-8F63-4ACB-AA28-38CB9C3B0788}" type="datetimeFigureOut">
              <a:rPr lang="es-ES" smtClean="0"/>
              <a:t>11/07/2024</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162406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11/07/2024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999809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11/07/2024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19691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11/07/2024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729273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11/07/2024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0731078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ítulo y objetos">
    <p:spTree>
      <p:nvGrpSpPr>
        <p:cNvPr id="1" name=""/>
        <p:cNvGrpSpPr/>
        <p:nvPr/>
      </p:nvGrpSpPr>
      <p:grpSpPr>
        <a:xfrm>
          <a:off x="0" y="0"/>
          <a:ext cx="0" cy="0"/>
          <a:chOff x="0" y="0"/>
          <a:chExt cx="0" cy="0"/>
        </a:xfrm>
      </p:grpSpPr>
      <p:pic>
        <p:nvPicPr>
          <p:cNvPr id="9" name="Imagen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99185" y="348699"/>
            <a:ext cx="1757214" cy="684971"/>
          </a:xfrm>
          <a:prstGeom prst="rect">
            <a:avLst/>
          </a:prstGeom>
        </p:spPr>
      </p:pic>
      <p:pic>
        <p:nvPicPr>
          <p:cNvPr id="10" name="Imagen 9"/>
          <p:cNvPicPr>
            <a:picLocks noChangeAspect="1"/>
          </p:cNvPicPr>
          <p:nvPr userDrawn="1"/>
        </p:nvPicPr>
        <p:blipFill>
          <a:blip r:embed="rId3">
            <a:extLst>
              <a:ext uri="{BEBA8EAE-BF5A-486C-A8C5-ECC9F3942E4B}">
                <a14:imgProps xmlns:a14="http://schemas.microsoft.com/office/drawing/2010/main">
                  <a14:imgLayer r:embed="rId4">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106017" y="3114260"/>
            <a:ext cx="3402417" cy="3624470"/>
          </a:xfrm>
          <a:prstGeom prst="rect">
            <a:avLst/>
          </a:prstGeom>
        </p:spPr>
      </p:pic>
      <p:sp>
        <p:nvSpPr>
          <p:cNvPr id="12" name="Rectángulo redondeado 11"/>
          <p:cNvSpPr/>
          <p:nvPr userDrawn="1"/>
        </p:nvSpPr>
        <p:spPr>
          <a:xfrm>
            <a:off x="141667" y="141670"/>
            <a:ext cx="421881" cy="1100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PE"/>
          </a:p>
        </p:txBody>
      </p:sp>
      <p:sp>
        <p:nvSpPr>
          <p:cNvPr id="13" name="Rectángulo redondeado 12"/>
          <p:cNvSpPr/>
          <p:nvPr userDrawn="1"/>
        </p:nvSpPr>
        <p:spPr>
          <a:xfrm>
            <a:off x="141667" y="296216"/>
            <a:ext cx="605307" cy="119227"/>
          </a:xfrm>
          <a:prstGeom prst="roundRect">
            <a:avLst/>
          </a:prstGeom>
          <a:solidFill>
            <a:srgbClr val="6DB9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PE"/>
          </a:p>
        </p:txBody>
      </p:sp>
      <p:sp>
        <p:nvSpPr>
          <p:cNvPr id="16" name="Rectángulo redondeado 15"/>
          <p:cNvSpPr/>
          <p:nvPr userDrawn="1"/>
        </p:nvSpPr>
        <p:spPr>
          <a:xfrm>
            <a:off x="11622572" y="6437081"/>
            <a:ext cx="421881" cy="1100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PE"/>
          </a:p>
        </p:txBody>
      </p:sp>
      <p:sp>
        <p:nvSpPr>
          <p:cNvPr id="17" name="Rectángulo redondeado 16"/>
          <p:cNvSpPr/>
          <p:nvPr userDrawn="1"/>
        </p:nvSpPr>
        <p:spPr>
          <a:xfrm>
            <a:off x="11439146" y="6584372"/>
            <a:ext cx="605307" cy="119227"/>
          </a:xfrm>
          <a:prstGeom prst="roundRect">
            <a:avLst/>
          </a:prstGeom>
          <a:solidFill>
            <a:srgbClr val="6DB9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PE"/>
          </a:p>
        </p:txBody>
      </p:sp>
    </p:spTree>
    <p:extLst>
      <p:ext uri="{BB962C8B-B14F-4D97-AF65-F5344CB8AC3E}">
        <p14:creationId xmlns:p14="http://schemas.microsoft.com/office/powerpoint/2010/main" val="34101617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231CB2-8F63-4ACB-AA28-38CB9C3B0788}" type="datetimeFigureOut">
              <a:rPr lang="es-ES" smtClean="0"/>
              <a:t>11/07/2024</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A79FA8-4D08-4E50-BBA2-D88CCB263461}" type="slidenum">
              <a:rPr lang="es-ES" smtClean="0"/>
              <a:t>‹Nº›</a:t>
            </a:fld>
            <a:endParaRPr lang="es-ES"/>
          </a:p>
        </p:txBody>
      </p:sp>
    </p:spTree>
    <p:extLst>
      <p:ext uri="{BB962C8B-B14F-4D97-AF65-F5344CB8AC3E}">
        <p14:creationId xmlns:p14="http://schemas.microsoft.com/office/powerpoint/2010/main" val="2980819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5802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Rectángulo 5"/>
          <p:cNvSpPr/>
          <p:nvPr/>
        </p:nvSpPr>
        <p:spPr>
          <a:xfrm>
            <a:off x="1904948" y="2423937"/>
            <a:ext cx="8701421" cy="2123658"/>
          </a:xfrm>
          <a:prstGeom prst="rect">
            <a:avLst/>
          </a:prstGeom>
        </p:spPr>
        <p:txBody>
          <a:bodyPr wrap="none">
            <a:spAutoFit/>
          </a:bodyPr>
          <a:lstStyle/>
          <a:p>
            <a:r>
              <a:rPr lang="es-ES" sz="6600" dirty="0">
                <a:solidFill>
                  <a:srgbClr val="00F3B5"/>
                </a:solidFill>
                <a:latin typeface="Prompt" panose="00000800000000000000" pitchFamily="2" charset="-34"/>
                <a:cs typeface="Prompt" panose="00000800000000000000" pitchFamily="2" charset="-34"/>
              </a:rPr>
              <a:t>Resultado Operativo</a:t>
            </a:r>
          </a:p>
          <a:p>
            <a:pPr algn="ctr"/>
            <a:r>
              <a:rPr lang="es-ES" sz="6600" dirty="0">
                <a:solidFill>
                  <a:schemeClr val="bg1"/>
                </a:solidFill>
                <a:latin typeface="Prompt" panose="00000800000000000000" pitchFamily="2" charset="-34"/>
                <a:cs typeface="Prompt" panose="00000800000000000000" pitchFamily="2" charset="-34"/>
              </a:rPr>
              <a:t>de Obra</a:t>
            </a:r>
          </a:p>
        </p:txBody>
      </p:sp>
      <p:sp>
        <p:nvSpPr>
          <p:cNvPr id="7" name="CuadroTexto 6"/>
          <p:cNvSpPr txBox="1"/>
          <p:nvPr/>
        </p:nvSpPr>
        <p:spPr>
          <a:xfrm>
            <a:off x="1726249" y="1401509"/>
            <a:ext cx="3811425" cy="369332"/>
          </a:xfrm>
          <a:prstGeom prst="rect">
            <a:avLst/>
          </a:prstGeom>
          <a:noFill/>
        </p:spPr>
        <p:txBody>
          <a:bodyPr wrap="square" rtlCol="0">
            <a:spAutoFit/>
          </a:bodyPr>
          <a:lstStyle/>
          <a:p>
            <a:r>
              <a:rPr lang="es-ES" dirty="0">
                <a:solidFill>
                  <a:schemeClr val="bg1"/>
                </a:solidFill>
                <a:latin typeface="Prompt" panose="00000800000000000000" pitchFamily="2" charset="-34"/>
                <a:cs typeface="Prompt" panose="00000800000000000000" pitchFamily="2" charset="-34"/>
              </a:rPr>
              <a:t>CURSO DE FORMACIÓN</a:t>
            </a:r>
          </a:p>
        </p:txBody>
      </p:sp>
      <p:sp>
        <p:nvSpPr>
          <p:cNvPr id="4" name="CuadroTexto 3">
            <a:extLst>
              <a:ext uri="{FF2B5EF4-FFF2-40B4-BE49-F238E27FC236}">
                <a16:creationId xmlns:a16="http://schemas.microsoft.com/office/drawing/2014/main" id="{CE78CD8B-B406-4F21-B6A0-85217AF25A26}"/>
              </a:ext>
            </a:extLst>
          </p:cNvPr>
          <p:cNvSpPr txBox="1"/>
          <p:nvPr/>
        </p:nvSpPr>
        <p:spPr>
          <a:xfrm>
            <a:off x="4684542" y="5271825"/>
            <a:ext cx="6991643" cy="646331"/>
          </a:xfrm>
          <a:prstGeom prst="rect">
            <a:avLst/>
          </a:prstGeom>
          <a:noFill/>
        </p:spPr>
        <p:txBody>
          <a:bodyPr wrap="square" rtlCol="0">
            <a:spAutoFit/>
          </a:bodyPr>
          <a:lstStyle/>
          <a:p>
            <a:r>
              <a:rPr lang="es-ES" dirty="0">
                <a:solidFill>
                  <a:schemeClr val="bg1"/>
                </a:solidFill>
                <a:latin typeface="Prompt" panose="00000800000000000000" pitchFamily="2" charset="-34"/>
                <a:cs typeface="Prompt" panose="00000800000000000000" pitchFamily="2" charset="-34"/>
              </a:rPr>
              <a:t>DOCENTE: MG. ING. CHRISTIAN ENRIQUE TENORIO MESONES</a:t>
            </a:r>
          </a:p>
          <a:p>
            <a:r>
              <a:rPr lang="es-ES" dirty="0">
                <a:solidFill>
                  <a:schemeClr val="bg1"/>
                </a:solidFill>
                <a:latin typeface="Prompt" panose="00000800000000000000" pitchFamily="2" charset="-34"/>
                <a:cs typeface="Prompt" panose="00000800000000000000" pitchFamily="2" charset="-34"/>
              </a:rPr>
              <a:t>		xtianoperu@gmail.com</a:t>
            </a:r>
          </a:p>
        </p:txBody>
      </p:sp>
    </p:spTree>
    <p:extLst>
      <p:ext uri="{BB962C8B-B14F-4D97-AF65-F5344CB8AC3E}">
        <p14:creationId xmlns:p14="http://schemas.microsoft.com/office/powerpoint/2010/main" val="1825619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1087719" y="2766940"/>
            <a:ext cx="6667500" cy="844550"/>
          </a:xfrm>
        </p:spPr>
        <p:txBody>
          <a:bodyPr/>
          <a:lstStyle/>
          <a:p>
            <a:r>
              <a:rPr lang="es-ES" dirty="0">
                <a:solidFill>
                  <a:srgbClr val="00F3B5"/>
                </a:solidFill>
                <a:latin typeface="Prompt" panose="00000800000000000000" pitchFamily="2" charset="-34"/>
                <a:cs typeface="Prompt" panose="00000800000000000000" pitchFamily="2" charset="-34"/>
              </a:rPr>
              <a:t>Módulo 5</a:t>
            </a:r>
          </a:p>
        </p:txBody>
      </p:sp>
      <p:sp>
        <p:nvSpPr>
          <p:cNvPr id="5" name="CuadroTexto 4"/>
          <p:cNvSpPr txBox="1"/>
          <p:nvPr/>
        </p:nvSpPr>
        <p:spPr>
          <a:xfrm>
            <a:off x="1087719" y="3611490"/>
            <a:ext cx="9793641" cy="1015663"/>
          </a:xfrm>
          <a:prstGeom prst="rect">
            <a:avLst/>
          </a:prstGeom>
          <a:noFill/>
        </p:spPr>
        <p:txBody>
          <a:bodyPr wrap="square" rtlCol="0">
            <a:spAutoFit/>
          </a:bodyPr>
          <a:lstStyle/>
          <a:p>
            <a:r>
              <a:rPr lang="es-ES" sz="3000" dirty="0">
                <a:solidFill>
                  <a:schemeClr val="bg1"/>
                </a:solidFill>
                <a:latin typeface="Prompt" panose="00000800000000000000" pitchFamily="2" charset="-34"/>
                <a:cs typeface="Prompt" panose="00000800000000000000" pitchFamily="2" charset="-34"/>
              </a:rPr>
              <a:t>Reporte de Información para la Elaboración del ISP, EV y RO </a:t>
            </a:r>
          </a:p>
        </p:txBody>
      </p:sp>
    </p:spTree>
    <p:extLst>
      <p:ext uri="{BB962C8B-B14F-4D97-AF65-F5344CB8AC3E}">
        <p14:creationId xmlns:p14="http://schemas.microsoft.com/office/powerpoint/2010/main" val="10713368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136"/>
          <p:cNvSpPr txBox="1">
            <a:spLocks/>
          </p:cNvSpPr>
          <p:nvPr/>
        </p:nvSpPr>
        <p:spPr>
          <a:xfrm>
            <a:off x="2293034" y="2358515"/>
            <a:ext cx="8005008" cy="2140969"/>
          </a:xfrm>
          <a:prstGeom prst="rect">
            <a:avLst/>
          </a:prstGeom>
        </p:spPr>
        <p:txBody>
          <a:bodyPr vert="horz" lIns="91425" tIns="91425" rIns="91425" bIns="91425"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buClr>
                <a:srgbClr val="FFFFFF"/>
              </a:buClr>
              <a:buSzPct val="100000"/>
            </a:pPr>
            <a:r>
              <a:rPr lang="en" sz="5000" b="1" dirty="0">
                <a:latin typeface="+mn-lt"/>
              </a:rPr>
              <a:t>INFORME SEMANAL DE PRODUCCIÓN Y ANÁLISIS DE VALOR GANADO</a:t>
            </a:r>
          </a:p>
        </p:txBody>
      </p:sp>
    </p:spTree>
    <p:extLst>
      <p:ext uri="{BB962C8B-B14F-4D97-AF65-F5344CB8AC3E}">
        <p14:creationId xmlns:p14="http://schemas.microsoft.com/office/powerpoint/2010/main" val="40481704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2" name="Título 1">
            <a:extLst>
              <a:ext uri="{FF2B5EF4-FFF2-40B4-BE49-F238E27FC236}">
                <a16:creationId xmlns:a16="http://schemas.microsoft.com/office/drawing/2014/main" id="{E5826D31-AB5C-42F2-A993-C0DD2C87063F}"/>
              </a:ext>
            </a:extLst>
          </p:cNvPr>
          <p:cNvSpPr>
            <a:spLocks noGrp="1"/>
          </p:cNvSpPr>
          <p:nvPr>
            <p:ph type="title"/>
          </p:nvPr>
        </p:nvSpPr>
        <p:spPr>
          <a:xfrm>
            <a:off x="838200" y="365126"/>
            <a:ext cx="8671560" cy="918440"/>
          </a:xfrm>
        </p:spPr>
        <p:txBody>
          <a:bodyPr>
            <a:normAutofit/>
          </a:bodyPr>
          <a:lstStyle/>
          <a:p>
            <a:r>
              <a:rPr lang="es-ES" b="1" dirty="0"/>
              <a:t>Flujo</a:t>
            </a:r>
            <a:r>
              <a:rPr lang="es-ES" sz="4400" b="1" dirty="0">
                <a:latin typeface="+mj-lt"/>
              </a:rPr>
              <a:t> de Información</a:t>
            </a:r>
            <a:endParaRPr lang="es-PE" dirty="0"/>
          </a:p>
        </p:txBody>
      </p:sp>
      <p:sp>
        <p:nvSpPr>
          <p:cNvPr id="562" name="Google Shape;562;p56"/>
          <p:cNvSpPr txBox="1">
            <a:spLocks noGrp="1"/>
          </p:cNvSpPr>
          <p:nvPr>
            <p:ph idx="1"/>
          </p:nvPr>
        </p:nvSpPr>
        <p:spPr>
          <a:xfrm>
            <a:off x="838199" y="1825625"/>
            <a:ext cx="10415955" cy="4351338"/>
          </a:xfrm>
          <a:prstGeom prst="rect">
            <a:avLst/>
          </a:prstGeom>
        </p:spPr>
        <p:txBody>
          <a:bodyPr spcFirstLastPara="1" vert="horz" wrap="square" lIns="121900" tIns="121900" rIns="121900" bIns="121900" rtlCol="0" anchor="t" anchorCtr="0">
            <a:noAutofit/>
          </a:bodyPr>
          <a:lstStyle/>
          <a:p>
            <a:pPr marL="0" indent="0" algn="just">
              <a:lnSpc>
                <a:spcPct val="100000"/>
              </a:lnSpc>
              <a:spcBef>
                <a:spcPts val="0"/>
              </a:spcBef>
              <a:spcAft>
                <a:spcPts val="600"/>
              </a:spcAft>
              <a:buClr>
                <a:schemeClr val="accent1"/>
              </a:buClr>
              <a:buSzPct val="100000"/>
              <a:buNone/>
            </a:pPr>
            <a:r>
              <a:rPr lang="es-MX" b="1" dirty="0">
                <a:ea typeface="Roboto regular" pitchFamily="2" charset="0"/>
              </a:rPr>
              <a:t>Paso 1: Generación</a:t>
            </a:r>
          </a:p>
          <a:p>
            <a:pPr marL="0" indent="0" algn="just">
              <a:lnSpc>
                <a:spcPct val="100000"/>
              </a:lnSpc>
              <a:spcBef>
                <a:spcPts val="0"/>
              </a:spcBef>
              <a:spcAft>
                <a:spcPts val="600"/>
              </a:spcAft>
              <a:buClr>
                <a:schemeClr val="accent1"/>
              </a:buClr>
              <a:buSzPct val="100000"/>
              <a:buNone/>
            </a:pPr>
            <a:r>
              <a:rPr lang="es-MX" dirty="0">
                <a:ea typeface="Roboto regular" pitchFamily="2" charset="0"/>
              </a:rPr>
              <a:t>La información de producción, mano de obra, equipos y materiales (a través de los partes faseados) proviene del personal de campo.</a:t>
            </a:r>
          </a:p>
          <a:p>
            <a:pPr marL="0" indent="0" algn="just">
              <a:lnSpc>
                <a:spcPct val="100000"/>
              </a:lnSpc>
              <a:spcBef>
                <a:spcPts val="0"/>
              </a:spcBef>
              <a:spcAft>
                <a:spcPts val="600"/>
              </a:spcAft>
              <a:buClr>
                <a:schemeClr val="accent1"/>
              </a:buClr>
              <a:buSzPct val="100000"/>
              <a:buNone/>
            </a:pPr>
            <a:endParaRPr lang="es-MX" dirty="0">
              <a:ea typeface="Roboto regular" pitchFamily="2" charset="0"/>
            </a:endParaRPr>
          </a:p>
          <a:p>
            <a:pPr marL="0" indent="0" algn="just">
              <a:lnSpc>
                <a:spcPct val="100000"/>
              </a:lnSpc>
              <a:spcBef>
                <a:spcPts val="0"/>
              </a:spcBef>
              <a:spcAft>
                <a:spcPts val="600"/>
              </a:spcAft>
              <a:buClr>
                <a:schemeClr val="accent1"/>
              </a:buClr>
              <a:buSzPct val="100000"/>
              <a:buNone/>
            </a:pPr>
            <a:r>
              <a:rPr lang="es-MX" b="1" dirty="0">
                <a:ea typeface="Roboto regular" pitchFamily="2" charset="0"/>
              </a:rPr>
              <a:t>Paso 2: Validación</a:t>
            </a:r>
          </a:p>
          <a:p>
            <a:pPr marL="0" indent="0" algn="just">
              <a:lnSpc>
                <a:spcPct val="100000"/>
              </a:lnSpc>
              <a:spcBef>
                <a:spcPts val="0"/>
              </a:spcBef>
              <a:spcAft>
                <a:spcPts val="600"/>
              </a:spcAft>
              <a:buClr>
                <a:schemeClr val="accent1"/>
              </a:buClr>
              <a:buSzPct val="100000"/>
              <a:buNone/>
            </a:pPr>
            <a:r>
              <a:rPr lang="es-MX" dirty="0">
                <a:ea typeface="Roboto regular" pitchFamily="2" charset="0"/>
              </a:rPr>
              <a:t>Los Ingenieros de Producción deben revisar y validar la información proporcionada por los Jefes de Grupo.</a:t>
            </a:r>
          </a:p>
          <a:p>
            <a:pPr marL="0" indent="0" algn="just">
              <a:lnSpc>
                <a:spcPct val="100000"/>
              </a:lnSpc>
              <a:spcBef>
                <a:spcPts val="0"/>
              </a:spcBef>
              <a:spcAft>
                <a:spcPts val="600"/>
              </a:spcAft>
              <a:buClr>
                <a:schemeClr val="accent1"/>
              </a:buClr>
              <a:buSzPct val="100000"/>
              <a:buNone/>
            </a:pPr>
            <a:endParaRPr lang="es-MX" b="1" dirty="0">
              <a:ea typeface="Roboto regular" pitchFamily="2" charset="0"/>
            </a:endParaRPr>
          </a:p>
        </p:txBody>
      </p:sp>
    </p:spTree>
    <p:extLst>
      <p:ext uri="{BB962C8B-B14F-4D97-AF65-F5344CB8AC3E}">
        <p14:creationId xmlns:p14="http://schemas.microsoft.com/office/powerpoint/2010/main" val="3184768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2" name="Título 1">
            <a:extLst>
              <a:ext uri="{FF2B5EF4-FFF2-40B4-BE49-F238E27FC236}">
                <a16:creationId xmlns:a16="http://schemas.microsoft.com/office/drawing/2014/main" id="{E5826D31-AB5C-42F2-A993-C0DD2C87063F}"/>
              </a:ext>
            </a:extLst>
          </p:cNvPr>
          <p:cNvSpPr>
            <a:spLocks noGrp="1"/>
          </p:cNvSpPr>
          <p:nvPr>
            <p:ph type="title"/>
          </p:nvPr>
        </p:nvSpPr>
        <p:spPr>
          <a:xfrm>
            <a:off x="838200" y="365126"/>
            <a:ext cx="8671560" cy="918440"/>
          </a:xfrm>
        </p:spPr>
        <p:txBody>
          <a:bodyPr>
            <a:normAutofit/>
          </a:bodyPr>
          <a:lstStyle/>
          <a:p>
            <a:r>
              <a:rPr lang="es-ES" b="1" dirty="0"/>
              <a:t>Flujo</a:t>
            </a:r>
            <a:r>
              <a:rPr lang="es-ES" sz="4400" b="1" dirty="0">
                <a:latin typeface="+mj-lt"/>
              </a:rPr>
              <a:t> de Información</a:t>
            </a:r>
            <a:endParaRPr lang="es-PE" dirty="0"/>
          </a:p>
        </p:txBody>
      </p:sp>
      <p:sp>
        <p:nvSpPr>
          <p:cNvPr id="562" name="Google Shape;562;p56"/>
          <p:cNvSpPr txBox="1">
            <a:spLocks noGrp="1"/>
          </p:cNvSpPr>
          <p:nvPr>
            <p:ph idx="1"/>
          </p:nvPr>
        </p:nvSpPr>
        <p:spPr>
          <a:xfrm>
            <a:off x="838199" y="1283566"/>
            <a:ext cx="10415955" cy="5209308"/>
          </a:xfrm>
          <a:prstGeom prst="rect">
            <a:avLst/>
          </a:prstGeom>
        </p:spPr>
        <p:txBody>
          <a:bodyPr spcFirstLastPara="1" vert="horz" wrap="square" lIns="121900" tIns="121900" rIns="121900" bIns="121900" rtlCol="0" anchor="t" anchorCtr="0">
            <a:noAutofit/>
          </a:bodyPr>
          <a:lstStyle/>
          <a:p>
            <a:pPr marL="0" indent="0" algn="just">
              <a:lnSpc>
                <a:spcPct val="100000"/>
              </a:lnSpc>
              <a:spcBef>
                <a:spcPts val="0"/>
              </a:spcBef>
              <a:spcAft>
                <a:spcPts val="600"/>
              </a:spcAft>
              <a:buClr>
                <a:schemeClr val="accent1"/>
              </a:buClr>
              <a:buSzPct val="100000"/>
              <a:buNone/>
            </a:pPr>
            <a:r>
              <a:rPr lang="es-MX" sz="2600" b="1" dirty="0">
                <a:ea typeface="Roboto regular" pitchFamily="2" charset="0"/>
              </a:rPr>
              <a:t>Paso 3: Procesamiento</a:t>
            </a:r>
          </a:p>
          <a:p>
            <a:pPr marL="0" indent="0" algn="just">
              <a:lnSpc>
                <a:spcPct val="100000"/>
              </a:lnSpc>
              <a:spcBef>
                <a:spcPts val="0"/>
              </a:spcBef>
              <a:spcAft>
                <a:spcPts val="600"/>
              </a:spcAft>
              <a:buClr>
                <a:schemeClr val="accent1"/>
              </a:buClr>
              <a:buSzPct val="100000"/>
              <a:buNone/>
            </a:pPr>
            <a:r>
              <a:rPr lang="es-MX" sz="2600" dirty="0">
                <a:ea typeface="Roboto regular" pitchFamily="2" charset="0"/>
              </a:rPr>
              <a:t>Una vez que la información que proviene de campo sea validada por Producción, las áreas deberán procesar y reportar a Control de Proyectos la información necesaria para elaborar y consolidar el ISP. Las áreas y sus responsabilidades son las siguientes:</a:t>
            </a:r>
          </a:p>
          <a:p>
            <a:pPr marL="0" indent="0" algn="just">
              <a:lnSpc>
                <a:spcPct val="100000"/>
              </a:lnSpc>
              <a:spcBef>
                <a:spcPts val="0"/>
              </a:spcBef>
              <a:spcAft>
                <a:spcPts val="600"/>
              </a:spcAft>
              <a:buClr>
                <a:schemeClr val="accent1"/>
              </a:buClr>
              <a:buSzPct val="100000"/>
              <a:buNone/>
            </a:pPr>
            <a:r>
              <a:rPr lang="es-MX" sz="2600" dirty="0">
                <a:ea typeface="Roboto regular" pitchFamily="2" charset="0"/>
              </a:rPr>
              <a:t>o Administración de Obra: Es responsable del reporte de mano de obra (HH y/o costo) por fase.</a:t>
            </a:r>
          </a:p>
          <a:p>
            <a:pPr marL="0" indent="0" algn="just">
              <a:lnSpc>
                <a:spcPct val="100000"/>
              </a:lnSpc>
              <a:spcBef>
                <a:spcPts val="0"/>
              </a:spcBef>
              <a:spcAft>
                <a:spcPts val="600"/>
              </a:spcAft>
              <a:buClr>
                <a:schemeClr val="accent1"/>
              </a:buClr>
              <a:buSzPct val="100000"/>
              <a:buNone/>
            </a:pPr>
            <a:r>
              <a:rPr lang="es-MX" sz="2600" dirty="0">
                <a:ea typeface="Roboto regular" pitchFamily="2" charset="0"/>
              </a:rPr>
              <a:t>o Almacén: Es responsable del reporte de materiales (Cantidades y costo) por fase.</a:t>
            </a:r>
          </a:p>
          <a:p>
            <a:pPr marL="0" indent="0" algn="just">
              <a:lnSpc>
                <a:spcPct val="100000"/>
              </a:lnSpc>
              <a:spcBef>
                <a:spcPts val="0"/>
              </a:spcBef>
              <a:spcAft>
                <a:spcPts val="600"/>
              </a:spcAft>
              <a:buClr>
                <a:schemeClr val="accent1"/>
              </a:buClr>
              <a:buSzPct val="100000"/>
              <a:buNone/>
            </a:pPr>
            <a:r>
              <a:rPr lang="es-MX" sz="2600" dirty="0">
                <a:ea typeface="Roboto regular" pitchFamily="2" charset="0"/>
              </a:rPr>
              <a:t>o Oficina Técnica: Es responsable reporte “oficial” de </a:t>
            </a:r>
            <a:r>
              <a:rPr lang="es-MX" sz="2600" dirty="0" err="1">
                <a:ea typeface="Roboto regular" pitchFamily="2" charset="0"/>
              </a:rPr>
              <a:t>metrados</a:t>
            </a:r>
            <a:r>
              <a:rPr lang="es-MX" sz="2600" dirty="0">
                <a:ea typeface="Roboto regular" pitchFamily="2" charset="0"/>
              </a:rPr>
              <a:t> ejecutados acumulados (avance) y totales.</a:t>
            </a:r>
          </a:p>
          <a:p>
            <a:pPr marL="0" indent="0" algn="just">
              <a:lnSpc>
                <a:spcPct val="100000"/>
              </a:lnSpc>
              <a:spcBef>
                <a:spcPts val="0"/>
              </a:spcBef>
              <a:spcAft>
                <a:spcPts val="600"/>
              </a:spcAft>
              <a:buClr>
                <a:schemeClr val="accent1"/>
              </a:buClr>
              <a:buSzPct val="100000"/>
              <a:buNone/>
            </a:pPr>
            <a:endParaRPr lang="es-MX" b="1" dirty="0">
              <a:ea typeface="Roboto regular" pitchFamily="2" charset="0"/>
            </a:endParaRPr>
          </a:p>
        </p:txBody>
      </p:sp>
    </p:spTree>
    <p:extLst>
      <p:ext uri="{BB962C8B-B14F-4D97-AF65-F5344CB8AC3E}">
        <p14:creationId xmlns:p14="http://schemas.microsoft.com/office/powerpoint/2010/main" val="319800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2" name="Título 1">
            <a:extLst>
              <a:ext uri="{FF2B5EF4-FFF2-40B4-BE49-F238E27FC236}">
                <a16:creationId xmlns:a16="http://schemas.microsoft.com/office/drawing/2014/main" id="{E5826D31-AB5C-42F2-A993-C0DD2C87063F}"/>
              </a:ext>
            </a:extLst>
          </p:cNvPr>
          <p:cNvSpPr>
            <a:spLocks noGrp="1"/>
          </p:cNvSpPr>
          <p:nvPr>
            <p:ph type="title"/>
          </p:nvPr>
        </p:nvSpPr>
        <p:spPr>
          <a:xfrm>
            <a:off x="838200" y="365126"/>
            <a:ext cx="8671560" cy="918440"/>
          </a:xfrm>
        </p:spPr>
        <p:txBody>
          <a:bodyPr>
            <a:normAutofit/>
          </a:bodyPr>
          <a:lstStyle/>
          <a:p>
            <a:r>
              <a:rPr lang="es-ES" sz="4400" b="1" dirty="0">
                <a:latin typeface="+mj-lt"/>
              </a:rPr>
              <a:t>Paso 4: Consolidación de Información</a:t>
            </a:r>
            <a:endParaRPr lang="es-PE" dirty="0"/>
          </a:p>
        </p:txBody>
      </p:sp>
      <p:sp>
        <p:nvSpPr>
          <p:cNvPr id="562" name="Google Shape;562;p56"/>
          <p:cNvSpPr txBox="1">
            <a:spLocks noGrp="1"/>
          </p:cNvSpPr>
          <p:nvPr>
            <p:ph idx="1"/>
          </p:nvPr>
        </p:nvSpPr>
        <p:spPr>
          <a:xfrm>
            <a:off x="838199" y="1825625"/>
            <a:ext cx="10415955" cy="4351338"/>
          </a:xfrm>
          <a:prstGeom prst="rect">
            <a:avLst/>
          </a:prstGeom>
        </p:spPr>
        <p:txBody>
          <a:bodyPr spcFirstLastPara="1" vert="horz" wrap="square" lIns="121900" tIns="121900" rIns="121900" bIns="121900" rtlCol="0" anchor="t" anchorCtr="0">
            <a:noAutofit/>
          </a:bodyPr>
          <a:lstStyle/>
          <a:p>
            <a:pPr marL="0" indent="0" algn="just">
              <a:lnSpc>
                <a:spcPct val="100000"/>
              </a:lnSpc>
              <a:spcBef>
                <a:spcPts val="0"/>
              </a:spcBef>
              <a:buClr>
                <a:schemeClr val="accent1"/>
              </a:buClr>
              <a:buSzPct val="100000"/>
              <a:buNone/>
            </a:pPr>
            <a:r>
              <a:rPr lang="es-MX" sz="3000" dirty="0">
                <a:ea typeface="Roboto regular" pitchFamily="2" charset="0"/>
              </a:rPr>
              <a:t>Una vez disponible la información requerida para la elaboración del ISP, ésta debe ser consolidada para poder ser reportada semanalmente.</a:t>
            </a:r>
          </a:p>
          <a:p>
            <a:pPr marL="0" indent="0" algn="just">
              <a:lnSpc>
                <a:spcPct val="100000"/>
              </a:lnSpc>
              <a:spcBef>
                <a:spcPts val="0"/>
              </a:spcBef>
              <a:buClr>
                <a:schemeClr val="accent1"/>
              </a:buClr>
              <a:buSzPct val="100000"/>
              <a:buNone/>
            </a:pPr>
            <a:r>
              <a:rPr lang="es-MX" sz="3000" dirty="0">
                <a:ea typeface="Roboto regular" pitchFamily="2" charset="0"/>
              </a:rPr>
              <a:t>La producción (programada y real) y los recursos utilizados por cada proceso se deben consolidar por semana y acumular a la fecha de corte.</a:t>
            </a:r>
          </a:p>
          <a:p>
            <a:pPr marL="0" indent="0" algn="just">
              <a:lnSpc>
                <a:spcPct val="100000"/>
              </a:lnSpc>
              <a:spcBef>
                <a:spcPts val="0"/>
              </a:spcBef>
              <a:buClr>
                <a:schemeClr val="accent1"/>
              </a:buClr>
              <a:buSzPct val="100000"/>
              <a:buNone/>
            </a:pPr>
            <a:r>
              <a:rPr lang="es-MX" sz="3000" dirty="0">
                <a:ea typeface="Roboto regular" pitchFamily="2" charset="0"/>
              </a:rPr>
              <a:t>Para realizar esta consolidación de información deben utilizarse los formatos destinados para tal fin.</a:t>
            </a:r>
            <a:endParaRPr lang="es-EC" sz="3000" dirty="0">
              <a:ea typeface="Roboto regular" pitchFamily="2" charset="0"/>
            </a:endParaRPr>
          </a:p>
          <a:p>
            <a:pPr marL="361942" indent="0" algn="just">
              <a:lnSpc>
                <a:spcPct val="150000"/>
              </a:lnSpc>
              <a:spcAft>
                <a:spcPts val="1333"/>
              </a:spcAft>
              <a:buClr>
                <a:srgbClr val="F8A323"/>
              </a:buClr>
              <a:buSzPts val="2000"/>
            </a:pPr>
            <a:endParaRPr lang="es-MX" sz="1600" dirty="0">
              <a:solidFill>
                <a:schemeClr val="tx1"/>
              </a:solidFill>
              <a:latin typeface="Montserrat" panose="00000500000000000000" pitchFamily="2" charset="0"/>
              <a:ea typeface="Calibri"/>
              <a:cs typeface="Calibri" panose="020F0502020204030204" pitchFamily="34" charset="0"/>
              <a:sym typeface="Calibri"/>
            </a:endParaRPr>
          </a:p>
        </p:txBody>
      </p:sp>
    </p:spTree>
    <p:extLst>
      <p:ext uri="{BB962C8B-B14F-4D97-AF65-F5344CB8AC3E}">
        <p14:creationId xmlns:p14="http://schemas.microsoft.com/office/powerpoint/2010/main" val="13564837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2" name="Título 1">
            <a:extLst>
              <a:ext uri="{FF2B5EF4-FFF2-40B4-BE49-F238E27FC236}">
                <a16:creationId xmlns:a16="http://schemas.microsoft.com/office/drawing/2014/main" id="{E5826D31-AB5C-42F2-A993-C0DD2C87063F}"/>
              </a:ext>
            </a:extLst>
          </p:cNvPr>
          <p:cNvSpPr>
            <a:spLocks noGrp="1"/>
          </p:cNvSpPr>
          <p:nvPr>
            <p:ph type="title"/>
          </p:nvPr>
        </p:nvSpPr>
        <p:spPr>
          <a:xfrm>
            <a:off x="838200" y="365126"/>
            <a:ext cx="8671560" cy="918440"/>
          </a:xfrm>
        </p:spPr>
        <p:txBody>
          <a:bodyPr>
            <a:normAutofit/>
          </a:bodyPr>
          <a:lstStyle/>
          <a:p>
            <a:r>
              <a:rPr lang="es-ES" sz="4400" b="1" dirty="0">
                <a:latin typeface="+mj-lt"/>
              </a:rPr>
              <a:t>Paso 5: Reporte de Información</a:t>
            </a:r>
            <a:endParaRPr lang="es-PE" dirty="0"/>
          </a:p>
        </p:txBody>
      </p:sp>
      <p:sp>
        <p:nvSpPr>
          <p:cNvPr id="562" name="Google Shape;562;p56"/>
          <p:cNvSpPr txBox="1">
            <a:spLocks noGrp="1"/>
          </p:cNvSpPr>
          <p:nvPr>
            <p:ph idx="1"/>
          </p:nvPr>
        </p:nvSpPr>
        <p:spPr>
          <a:xfrm>
            <a:off x="888023" y="1586475"/>
            <a:ext cx="10415954" cy="4351338"/>
          </a:xfrm>
          <a:prstGeom prst="rect">
            <a:avLst/>
          </a:prstGeom>
        </p:spPr>
        <p:txBody>
          <a:bodyPr spcFirstLastPara="1" vert="horz" wrap="square" lIns="121900" tIns="121900" rIns="121900" bIns="121900" rtlCol="0" anchor="t" anchorCtr="0">
            <a:noAutofit/>
          </a:bodyPr>
          <a:lstStyle/>
          <a:p>
            <a:pPr marL="0" indent="0" algn="just">
              <a:lnSpc>
                <a:spcPct val="150000"/>
              </a:lnSpc>
              <a:spcBef>
                <a:spcPts val="0"/>
              </a:spcBef>
              <a:buClr>
                <a:schemeClr val="accent1"/>
              </a:buClr>
              <a:buSzPct val="100000"/>
              <a:buNone/>
            </a:pPr>
            <a:r>
              <a:rPr lang="es-MX" sz="3200" dirty="0">
                <a:ea typeface="Roboto regular" pitchFamily="2" charset="0"/>
              </a:rPr>
              <a:t>Una vez consolidada la información, ésta debe ser reportada semanalmente, con el objetivo de analizar el desempeño de los principales procesos constructivos del proyecto.</a:t>
            </a:r>
          </a:p>
          <a:p>
            <a:pPr marL="0" indent="0" algn="just">
              <a:lnSpc>
                <a:spcPct val="100000"/>
              </a:lnSpc>
              <a:spcBef>
                <a:spcPts val="0"/>
              </a:spcBef>
              <a:buClr>
                <a:schemeClr val="accent1"/>
              </a:buClr>
              <a:buSzPct val="100000"/>
              <a:buNone/>
            </a:pPr>
            <a:endParaRPr lang="es-MX" sz="1600" dirty="0">
              <a:solidFill>
                <a:schemeClr val="tx1"/>
              </a:solidFill>
              <a:latin typeface="Montserrat" panose="00000500000000000000" pitchFamily="2" charset="0"/>
              <a:ea typeface="Calibri"/>
              <a:cs typeface="Calibri" panose="020F0502020204030204" pitchFamily="34" charset="0"/>
              <a:sym typeface="Calibri"/>
            </a:endParaRPr>
          </a:p>
        </p:txBody>
      </p:sp>
    </p:spTree>
    <p:extLst>
      <p:ext uri="{BB962C8B-B14F-4D97-AF65-F5344CB8AC3E}">
        <p14:creationId xmlns:p14="http://schemas.microsoft.com/office/powerpoint/2010/main" val="31574253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2" name="Título 1">
            <a:extLst>
              <a:ext uri="{FF2B5EF4-FFF2-40B4-BE49-F238E27FC236}">
                <a16:creationId xmlns:a16="http://schemas.microsoft.com/office/drawing/2014/main" id="{E5826D31-AB5C-42F2-A993-C0DD2C87063F}"/>
              </a:ext>
            </a:extLst>
          </p:cNvPr>
          <p:cNvSpPr>
            <a:spLocks noGrp="1"/>
          </p:cNvSpPr>
          <p:nvPr>
            <p:ph type="title"/>
          </p:nvPr>
        </p:nvSpPr>
        <p:spPr>
          <a:xfrm>
            <a:off x="838200" y="365126"/>
            <a:ext cx="8671560" cy="918440"/>
          </a:xfrm>
        </p:spPr>
        <p:txBody>
          <a:bodyPr>
            <a:normAutofit/>
          </a:bodyPr>
          <a:lstStyle/>
          <a:p>
            <a:r>
              <a:rPr lang="es-ES" sz="4400" b="1" dirty="0">
                <a:latin typeface="+mj-lt"/>
              </a:rPr>
              <a:t>Paso 5: Reporte de Información</a:t>
            </a:r>
            <a:endParaRPr lang="es-PE" dirty="0"/>
          </a:p>
        </p:txBody>
      </p:sp>
      <p:sp>
        <p:nvSpPr>
          <p:cNvPr id="562" name="Google Shape;562;p56"/>
          <p:cNvSpPr txBox="1">
            <a:spLocks noGrp="1"/>
          </p:cNvSpPr>
          <p:nvPr>
            <p:ph idx="1"/>
          </p:nvPr>
        </p:nvSpPr>
        <p:spPr>
          <a:xfrm>
            <a:off x="888023" y="1586474"/>
            <a:ext cx="10415954" cy="4645513"/>
          </a:xfrm>
          <a:prstGeom prst="rect">
            <a:avLst/>
          </a:prstGeom>
        </p:spPr>
        <p:txBody>
          <a:bodyPr spcFirstLastPara="1" vert="horz" wrap="square" lIns="121900" tIns="121900" rIns="121900" bIns="121900" rtlCol="0" anchor="t" anchorCtr="0">
            <a:noAutofit/>
          </a:bodyPr>
          <a:lstStyle/>
          <a:p>
            <a:pPr marL="0" indent="0" algn="just">
              <a:lnSpc>
                <a:spcPct val="100000"/>
              </a:lnSpc>
              <a:spcBef>
                <a:spcPts val="0"/>
              </a:spcBef>
              <a:spcAft>
                <a:spcPts val="1200"/>
              </a:spcAft>
              <a:buClr>
                <a:schemeClr val="accent1"/>
              </a:buClr>
              <a:buSzPct val="100000"/>
              <a:buNone/>
            </a:pPr>
            <a:r>
              <a:rPr lang="es-MX" sz="3200" b="1" dirty="0">
                <a:ea typeface="Roboto regular" pitchFamily="2" charset="0"/>
              </a:rPr>
              <a:t>Reporte General</a:t>
            </a:r>
            <a:endParaRPr lang="es-MX" sz="1600" b="1" dirty="0">
              <a:latin typeface="Montserrat" panose="00000500000000000000" pitchFamily="2" charset="0"/>
              <a:ea typeface="Roboto regular" pitchFamily="2" charset="0"/>
              <a:cs typeface="Calibri" panose="020F0502020204030204" pitchFamily="34" charset="0"/>
              <a:sym typeface="Calibri"/>
            </a:endParaRPr>
          </a:p>
          <a:p>
            <a:pPr marL="0" indent="0" algn="just">
              <a:lnSpc>
                <a:spcPct val="100000"/>
              </a:lnSpc>
              <a:spcBef>
                <a:spcPts val="0"/>
              </a:spcBef>
              <a:buClr>
                <a:schemeClr val="accent1"/>
              </a:buClr>
              <a:buSzPct val="100000"/>
              <a:buNone/>
            </a:pPr>
            <a:r>
              <a:rPr lang="es-MX" sz="3200" dirty="0">
                <a:ea typeface="Roboto regular" pitchFamily="2" charset="0"/>
              </a:rPr>
              <a:t>La producción (programada y real) y los recursos utilizados por cada proceso, tanto semanales como acumulados a una fecha de corte, se deben reportar utilizando el formato estándar de la contratista en una hoja resumen que permita analizar el rendimiento de cada proceso respecto a los objetivos de desempeño establecidos y permita también proyectar el total de recursos necesarios para completar cada trabajo.</a:t>
            </a:r>
          </a:p>
          <a:p>
            <a:pPr marL="0" indent="0" algn="just">
              <a:lnSpc>
                <a:spcPct val="100000"/>
              </a:lnSpc>
              <a:spcBef>
                <a:spcPts val="0"/>
              </a:spcBef>
              <a:buClr>
                <a:schemeClr val="accent1"/>
              </a:buClr>
              <a:buSzPct val="100000"/>
              <a:buNone/>
            </a:pPr>
            <a:endParaRPr lang="es-MX" sz="3200" b="1" dirty="0">
              <a:ea typeface="Roboto regular" pitchFamily="2" charset="0"/>
            </a:endParaRPr>
          </a:p>
        </p:txBody>
      </p:sp>
    </p:spTree>
    <p:extLst>
      <p:ext uri="{BB962C8B-B14F-4D97-AF65-F5344CB8AC3E}">
        <p14:creationId xmlns:p14="http://schemas.microsoft.com/office/powerpoint/2010/main" val="2981760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136"/>
          <p:cNvSpPr txBox="1">
            <a:spLocks/>
          </p:cNvSpPr>
          <p:nvPr/>
        </p:nvSpPr>
        <p:spPr>
          <a:xfrm>
            <a:off x="2236763" y="2955303"/>
            <a:ext cx="8005008" cy="947393"/>
          </a:xfrm>
          <a:prstGeom prst="rect">
            <a:avLst/>
          </a:prstGeom>
        </p:spPr>
        <p:txBody>
          <a:bodyPr vert="horz" lIns="91425" tIns="91425" rIns="91425" bIns="91425"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buClr>
                <a:srgbClr val="FFFFFF"/>
              </a:buClr>
              <a:buSzPct val="100000"/>
            </a:pPr>
            <a:r>
              <a:rPr lang="en" sz="5000" b="1" dirty="0">
                <a:latin typeface="+mn-lt"/>
              </a:rPr>
              <a:t>RESULTADO OPERATIVO</a:t>
            </a:r>
          </a:p>
        </p:txBody>
      </p:sp>
    </p:spTree>
    <p:extLst>
      <p:ext uri="{BB962C8B-B14F-4D97-AF65-F5344CB8AC3E}">
        <p14:creationId xmlns:p14="http://schemas.microsoft.com/office/powerpoint/2010/main" val="27744291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2" name="Título 1">
            <a:extLst>
              <a:ext uri="{FF2B5EF4-FFF2-40B4-BE49-F238E27FC236}">
                <a16:creationId xmlns:a16="http://schemas.microsoft.com/office/drawing/2014/main" id="{E3B1A15F-A355-4D60-AF50-13B9017F2DDF}"/>
              </a:ext>
            </a:extLst>
          </p:cNvPr>
          <p:cNvSpPr>
            <a:spLocks noGrp="1"/>
          </p:cNvSpPr>
          <p:nvPr>
            <p:ph type="title"/>
          </p:nvPr>
        </p:nvSpPr>
        <p:spPr>
          <a:xfrm>
            <a:off x="838200" y="365125"/>
            <a:ext cx="8699695" cy="1325563"/>
          </a:xfrm>
        </p:spPr>
        <p:txBody>
          <a:bodyPr>
            <a:normAutofit/>
          </a:bodyPr>
          <a:lstStyle/>
          <a:p>
            <a:pPr algn="just"/>
            <a:r>
              <a:rPr lang="es-ES" sz="4400" b="1" dirty="0">
                <a:latin typeface="+mj-lt"/>
              </a:rPr>
              <a:t>Información Necesaria para la elaboración del Resultado Operativo</a:t>
            </a:r>
            <a:endParaRPr lang="es-PE" dirty="0"/>
          </a:p>
        </p:txBody>
      </p:sp>
      <p:sp>
        <p:nvSpPr>
          <p:cNvPr id="5" name="Google Shape;562;p56"/>
          <p:cNvSpPr txBox="1">
            <a:spLocks/>
          </p:cNvSpPr>
          <p:nvPr/>
        </p:nvSpPr>
        <p:spPr>
          <a:xfrm>
            <a:off x="838201" y="1941341"/>
            <a:ext cx="10683239" cy="4063277"/>
          </a:xfrm>
          <a:prstGeom prst="rect">
            <a:avLst/>
          </a:prstGeom>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Aft>
                <a:spcPts val="1333"/>
              </a:spcAft>
              <a:buClr>
                <a:schemeClr val="accent1"/>
              </a:buClr>
              <a:buSzPct val="100000"/>
              <a:buNone/>
            </a:pPr>
            <a:r>
              <a:rPr lang="es-PE" sz="3000" b="1" dirty="0">
                <a:ea typeface="Calibri"/>
                <a:cs typeface="Calibri" panose="020F0502020204030204" pitchFamily="34" charset="0"/>
                <a:sym typeface="Calibri"/>
              </a:rPr>
              <a:t>Valorización Comercial o ante la Entidad:</a:t>
            </a:r>
            <a:endParaRPr lang="es-MX" sz="3000" b="1" dirty="0">
              <a:ea typeface="Calibri"/>
              <a:cs typeface="Calibri" panose="020F0502020204030204" pitchFamily="34" charset="0"/>
              <a:sym typeface="Calibri"/>
            </a:endParaRPr>
          </a:p>
          <a:p>
            <a:pPr marL="0" indent="0" algn="just">
              <a:lnSpc>
                <a:spcPct val="100000"/>
              </a:lnSpc>
              <a:spcAft>
                <a:spcPts val="1333"/>
              </a:spcAft>
              <a:buClr>
                <a:schemeClr val="accent1"/>
              </a:buClr>
              <a:buSzPct val="100000"/>
              <a:buNone/>
            </a:pPr>
            <a:r>
              <a:rPr lang="es-MX" sz="3000" dirty="0">
                <a:ea typeface="Calibri"/>
                <a:cs typeface="Calibri" panose="020F0502020204030204" pitchFamily="34" charset="0"/>
                <a:sym typeface="Calibri"/>
              </a:rPr>
              <a:t>Se requiere dicha valorización, realizando la respectiva fecha de corte los días 25 de cada mes, debiendo acomodar el detalle de acuerdo a nuestras partidas de control.</a:t>
            </a:r>
            <a:endParaRPr lang="es-PE" sz="3000" dirty="0">
              <a:ea typeface="Calibri"/>
              <a:cs typeface="Calibri" panose="020F0502020204030204" pitchFamily="34" charset="0"/>
              <a:sym typeface="Calibri"/>
            </a:endParaRPr>
          </a:p>
        </p:txBody>
      </p:sp>
    </p:spTree>
    <p:extLst>
      <p:ext uri="{BB962C8B-B14F-4D97-AF65-F5344CB8AC3E}">
        <p14:creationId xmlns:p14="http://schemas.microsoft.com/office/powerpoint/2010/main" val="41389629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2" name="Título 1">
            <a:extLst>
              <a:ext uri="{FF2B5EF4-FFF2-40B4-BE49-F238E27FC236}">
                <a16:creationId xmlns:a16="http://schemas.microsoft.com/office/drawing/2014/main" id="{E3B1A15F-A355-4D60-AF50-13B9017F2DDF}"/>
              </a:ext>
            </a:extLst>
          </p:cNvPr>
          <p:cNvSpPr>
            <a:spLocks noGrp="1"/>
          </p:cNvSpPr>
          <p:nvPr>
            <p:ph type="title"/>
          </p:nvPr>
        </p:nvSpPr>
        <p:spPr>
          <a:xfrm>
            <a:off x="838200" y="365125"/>
            <a:ext cx="8699695" cy="1325563"/>
          </a:xfrm>
        </p:spPr>
        <p:txBody>
          <a:bodyPr>
            <a:normAutofit/>
          </a:bodyPr>
          <a:lstStyle/>
          <a:p>
            <a:pPr algn="just"/>
            <a:r>
              <a:rPr lang="es-ES" sz="4400" b="1" dirty="0">
                <a:latin typeface="+mj-lt"/>
              </a:rPr>
              <a:t>Información Necesaria para la elaboración del Resultado Operativo</a:t>
            </a:r>
            <a:endParaRPr lang="es-PE" dirty="0"/>
          </a:p>
        </p:txBody>
      </p:sp>
      <p:sp>
        <p:nvSpPr>
          <p:cNvPr id="5" name="Google Shape;562;p56"/>
          <p:cNvSpPr txBox="1">
            <a:spLocks/>
          </p:cNvSpPr>
          <p:nvPr/>
        </p:nvSpPr>
        <p:spPr>
          <a:xfrm>
            <a:off x="838201" y="1941341"/>
            <a:ext cx="10683239" cy="4063277"/>
          </a:xfrm>
          <a:prstGeom prst="rect">
            <a:avLst/>
          </a:prstGeom>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Aft>
                <a:spcPts val="1333"/>
              </a:spcAft>
              <a:buClr>
                <a:schemeClr val="accent1"/>
              </a:buClr>
              <a:buSzPct val="100000"/>
              <a:buNone/>
            </a:pPr>
            <a:r>
              <a:rPr lang="es-PE" sz="3000" b="1" dirty="0">
                <a:ea typeface="Calibri"/>
                <a:cs typeface="Calibri" panose="020F0502020204030204" pitchFamily="34" charset="0"/>
                <a:sym typeface="Calibri"/>
              </a:rPr>
              <a:t>Análisis de la Venta Total:</a:t>
            </a:r>
            <a:endParaRPr lang="es-MX" sz="3000" b="1" dirty="0">
              <a:ea typeface="Calibri"/>
              <a:cs typeface="Calibri" panose="020F0502020204030204" pitchFamily="34" charset="0"/>
              <a:sym typeface="Calibri"/>
            </a:endParaRPr>
          </a:p>
          <a:p>
            <a:pPr marL="0" indent="0" algn="just">
              <a:lnSpc>
                <a:spcPct val="100000"/>
              </a:lnSpc>
              <a:spcAft>
                <a:spcPts val="1333"/>
              </a:spcAft>
              <a:buClr>
                <a:schemeClr val="accent1"/>
              </a:buClr>
              <a:buSzPct val="100000"/>
              <a:buNone/>
            </a:pPr>
            <a:r>
              <a:rPr lang="es-MX" sz="3000" dirty="0">
                <a:ea typeface="Calibri"/>
                <a:cs typeface="Calibri" panose="020F0502020204030204" pitchFamily="34" charset="0"/>
                <a:sym typeface="Calibri"/>
              </a:rPr>
              <a:t>La venta ejecutada a la fecha de corte estará básicamente conformada por los trabajos ejecutados y valorizados (TEV) al cliente más los trabajos ejecutados no valorizados al cliente (TENV), estos corresponderían a todos los trabajos que no entraron en la valorización y que se ejecutaron hasta la fecha de corte del Resultado Operativo, incluyendo por ejemplo el acero habilitado, encofrado de unidades prefabricadas, etc.</a:t>
            </a:r>
            <a:endParaRPr lang="es-PE" sz="3000" dirty="0">
              <a:ea typeface="Calibri"/>
              <a:cs typeface="Calibri" panose="020F0502020204030204" pitchFamily="34" charset="0"/>
              <a:sym typeface="Calibri"/>
            </a:endParaRPr>
          </a:p>
        </p:txBody>
      </p:sp>
    </p:spTree>
    <p:extLst>
      <p:ext uri="{BB962C8B-B14F-4D97-AF65-F5344CB8AC3E}">
        <p14:creationId xmlns:p14="http://schemas.microsoft.com/office/powerpoint/2010/main" val="11194722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2" name="Título 1">
            <a:extLst>
              <a:ext uri="{FF2B5EF4-FFF2-40B4-BE49-F238E27FC236}">
                <a16:creationId xmlns:a16="http://schemas.microsoft.com/office/drawing/2014/main" id="{E3B1A15F-A355-4D60-AF50-13B9017F2DDF}"/>
              </a:ext>
            </a:extLst>
          </p:cNvPr>
          <p:cNvSpPr>
            <a:spLocks noGrp="1"/>
          </p:cNvSpPr>
          <p:nvPr>
            <p:ph type="title"/>
          </p:nvPr>
        </p:nvSpPr>
        <p:spPr>
          <a:xfrm>
            <a:off x="838200" y="365125"/>
            <a:ext cx="8699695" cy="1325563"/>
          </a:xfrm>
        </p:spPr>
        <p:txBody>
          <a:bodyPr>
            <a:normAutofit/>
          </a:bodyPr>
          <a:lstStyle/>
          <a:p>
            <a:pPr algn="just"/>
            <a:r>
              <a:rPr lang="es-ES" sz="4400" b="1" dirty="0">
                <a:latin typeface="+mj-lt"/>
              </a:rPr>
              <a:t>Información Necesaria para la elaboración del Resultado Operativo</a:t>
            </a:r>
            <a:endParaRPr lang="es-PE" dirty="0"/>
          </a:p>
        </p:txBody>
      </p:sp>
      <p:sp>
        <p:nvSpPr>
          <p:cNvPr id="5" name="Google Shape;562;p56"/>
          <p:cNvSpPr txBox="1">
            <a:spLocks/>
          </p:cNvSpPr>
          <p:nvPr/>
        </p:nvSpPr>
        <p:spPr>
          <a:xfrm>
            <a:off x="838201" y="1941341"/>
            <a:ext cx="10683239" cy="4063277"/>
          </a:xfrm>
          <a:prstGeom prst="rect">
            <a:avLst/>
          </a:prstGeom>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0"/>
              </a:spcBef>
              <a:spcAft>
                <a:spcPts val="1200"/>
              </a:spcAft>
              <a:buClr>
                <a:schemeClr val="accent1"/>
              </a:buClr>
              <a:buSzPct val="100000"/>
              <a:buNone/>
            </a:pPr>
            <a:r>
              <a:rPr lang="es-PE" sz="3000" b="1" dirty="0">
                <a:ea typeface="Calibri"/>
                <a:cs typeface="Calibri" panose="020F0502020204030204" pitchFamily="34" charset="0"/>
                <a:sym typeface="Calibri"/>
              </a:rPr>
              <a:t>Análisis de la Venta Total:</a:t>
            </a:r>
            <a:endParaRPr lang="es-MX" sz="3000" b="1" dirty="0">
              <a:ea typeface="Calibri"/>
              <a:cs typeface="Calibri" panose="020F0502020204030204" pitchFamily="34" charset="0"/>
              <a:sym typeface="Calibri"/>
            </a:endParaRPr>
          </a:p>
          <a:p>
            <a:pPr marL="0" indent="0" algn="just">
              <a:lnSpc>
                <a:spcPct val="100000"/>
              </a:lnSpc>
              <a:spcBef>
                <a:spcPts val="0"/>
              </a:spcBef>
              <a:spcAft>
                <a:spcPts val="1200"/>
              </a:spcAft>
              <a:buClr>
                <a:schemeClr val="accent1"/>
              </a:buClr>
              <a:buSzPct val="100000"/>
              <a:buNone/>
            </a:pPr>
            <a:r>
              <a:rPr lang="es-MX" sz="3000" dirty="0">
                <a:ea typeface="Calibri"/>
                <a:cs typeface="Calibri" panose="020F0502020204030204" pitchFamily="34" charset="0"/>
                <a:sym typeface="Calibri"/>
              </a:rPr>
              <a:t>También puede darse el caso de que no se consideren algunos trabajos terminados en la valorización debido a que no se liberaron por el área de control de calidad de la supervisión, mientras no tengan su protocolo de aprobación o liberación dichos trabajos no se valorizarán y quedarán como trabajos ejecutados no valorizados (TENV). </a:t>
            </a:r>
          </a:p>
          <a:p>
            <a:pPr marL="0" indent="0" algn="just">
              <a:lnSpc>
                <a:spcPct val="100000"/>
              </a:lnSpc>
              <a:spcAft>
                <a:spcPts val="1333"/>
              </a:spcAft>
              <a:buClr>
                <a:schemeClr val="accent1"/>
              </a:buClr>
              <a:buSzPct val="100000"/>
              <a:buNone/>
            </a:pPr>
            <a:endParaRPr lang="es-PE" sz="3000" dirty="0">
              <a:ea typeface="Calibri"/>
              <a:cs typeface="Calibri" panose="020F0502020204030204" pitchFamily="34" charset="0"/>
              <a:sym typeface="Calibri"/>
            </a:endParaRPr>
          </a:p>
        </p:txBody>
      </p:sp>
    </p:spTree>
    <p:extLst>
      <p:ext uri="{BB962C8B-B14F-4D97-AF65-F5344CB8AC3E}">
        <p14:creationId xmlns:p14="http://schemas.microsoft.com/office/powerpoint/2010/main" val="26790245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2" name="Título 1">
            <a:extLst>
              <a:ext uri="{FF2B5EF4-FFF2-40B4-BE49-F238E27FC236}">
                <a16:creationId xmlns:a16="http://schemas.microsoft.com/office/drawing/2014/main" id="{E3B1A15F-A355-4D60-AF50-13B9017F2DDF}"/>
              </a:ext>
            </a:extLst>
          </p:cNvPr>
          <p:cNvSpPr>
            <a:spLocks noGrp="1"/>
          </p:cNvSpPr>
          <p:nvPr>
            <p:ph type="title"/>
          </p:nvPr>
        </p:nvSpPr>
        <p:spPr>
          <a:xfrm>
            <a:off x="838200" y="365125"/>
            <a:ext cx="8699695" cy="1325563"/>
          </a:xfrm>
        </p:spPr>
        <p:txBody>
          <a:bodyPr>
            <a:normAutofit/>
          </a:bodyPr>
          <a:lstStyle/>
          <a:p>
            <a:pPr algn="just"/>
            <a:r>
              <a:rPr lang="es-ES" sz="4400" b="1" dirty="0">
                <a:latin typeface="+mj-lt"/>
              </a:rPr>
              <a:t>Información Necesaria para la elaboración del Resultado Operativo</a:t>
            </a:r>
            <a:endParaRPr lang="es-PE" dirty="0"/>
          </a:p>
        </p:txBody>
      </p:sp>
      <p:sp>
        <p:nvSpPr>
          <p:cNvPr id="5" name="Google Shape;562;p56"/>
          <p:cNvSpPr txBox="1">
            <a:spLocks/>
          </p:cNvSpPr>
          <p:nvPr/>
        </p:nvSpPr>
        <p:spPr>
          <a:xfrm>
            <a:off x="838201" y="1941341"/>
            <a:ext cx="10683239" cy="4063277"/>
          </a:xfrm>
          <a:prstGeom prst="rect">
            <a:avLst/>
          </a:prstGeom>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0"/>
              </a:spcBef>
              <a:spcAft>
                <a:spcPts val="1200"/>
              </a:spcAft>
              <a:buClr>
                <a:schemeClr val="accent1"/>
              </a:buClr>
              <a:buSzPct val="100000"/>
              <a:buNone/>
            </a:pPr>
            <a:r>
              <a:rPr lang="es-PE" sz="3000" b="1" dirty="0">
                <a:ea typeface="Calibri"/>
                <a:cs typeface="Calibri" panose="020F0502020204030204" pitchFamily="34" charset="0"/>
                <a:sym typeface="Calibri"/>
              </a:rPr>
              <a:t>Avance Físico Semanal:</a:t>
            </a:r>
            <a:endParaRPr lang="es-MX" sz="3000" b="1" dirty="0">
              <a:ea typeface="Calibri"/>
              <a:cs typeface="Calibri" panose="020F0502020204030204" pitchFamily="34" charset="0"/>
              <a:sym typeface="Calibri"/>
            </a:endParaRPr>
          </a:p>
          <a:p>
            <a:pPr marL="0" indent="0" algn="just">
              <a:lnSpc>
                <a:spcPct val="100000"/>
              </a:lnSpc>
              <a:spcBef>
                <a:spcPts val="0"/>
              </a:spcBef>
              <a:spcAft>
                <a:spcPts val="1200"/>
              </a:spcAft>
              <a:buClr>
                <a:schemeClr val="accent1"/>
              </a:buClr>
              <a:buSzPct val="100000"/>
              <a:buNone/>
            </a:pPr>
            <a:r>
              <a:rPr lang="es-MX" sz="3000" dirty="0">
                <a:ea typeface="Calibri"/>
                <a:cs typeface="Calibri" panose="020F0502020204030204" pitchFamily="34" charset="0"/>
                <a:sym typeface="Calibri"/>
              </a:rPr>
              <a:t>Es el reporte de lo avanzado realmente en campo, teniendo en cuenta que hay actividades que puedan tener algún criterio especial para medir su avance. Es importante también hacer el seguimiento mediante la Curva “S” para cada una de las fases del proyecto para poder identificar las desviaciones por fase o actividad de acuerdo al nivel de control establecido inicialmente.</a:t>
            </a:r>
          </a:p>
          <a:p>
            <a:pPr marL="0" indent="0" algn="just">
              <a:lnSpc>
                <a:spcPct val="100000"/>
              </a:lnSpc>
              <a:spcBef>
                <a:spcPts val="0"/>
              </a:spcBef>
              <a:spcAft>
                <a:spcPts val="1200"/>
              </a:spcAft>
              <a:buClr>
                <a:schemeClr val="accent1"/>
              </a:buClr>
              <a:buSzPct val="100000"/>
              <a:buNone/>
            </a:pPr>
            <a:endParaRPr lang="es-PE" sz="3000" dirty="0">
              <a:ea typeface="Calibri"/>
              <a:cs typeface="Calibri" panose="020F0502020204030204" pitchFamily="34" charset="0"/>
              <a:sym typeface="Calibri"/>
            </a:endParaRPr>
          </a:p>
        </p:txBody>
      </p:sp>
    </p:spTree>
    <p:extLst>
      <p:ext uri="{BB962C8B-B14F-4D97-AF65-F5344CB8AC3E}">
        <p14:creationId xmlns:p14="http://schemas.microsoft.com/office/powerpoint/2010/main" val="5834219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2" name="Título 1">
            <a:extLst>
              <a:ext uri="{FF2B5EF4-FFF2-40B4-BE49-F238E27FC236}">
                <a16:creationId xmlns:a16="http://schemas.microsoft.com/office/drawing/2014/main" id="{E3B1A15F-A355-4D60-AF50-13B9017F2DDF}"/>
              </a:ext>
            </a:extLst>
          </p:cNvPr>
          <p:cNvSpPr>
            <a:spLocks noGrp="1"/>
          </p:cNvSpPr>
          <p:nvPr>
            <p:ph type="title"/>
          </p:nvPr>
        </p:nvSpPr>
        <p:spPr>
          <a:xfrm>
            <a:off x="838200" y="365125"/>
            <a:ext cx="8699695" cy="1325563"/>
          </a:xfrm>
        </p:spPr>
        <p:txBody>
          <a:bodyPr>
            <a:normAutofit/>
          </a:bodyPr>
          <a:lstStyle/>
          <a:p>
            <a:pPr algn="just"/>
            <a:r>
              <a:rPr lang="es-ES" sz="4400" b="1" dirty="0">
                <a:latin typeface="+mj-lt"/>
              </a:rPr>
              <a:t>Información Necesaria para la elaboración del Resultado Operativo</a:t>
            </a:r>
            <a:endParaRPr lang="es-PE" dirty="0"/>
          </a:p>
        </p:txBody>
      </p:sp>
      <p:sp>
        <p:nvSpPr>
          <p:cNvPr id="5" name="Google Shape;562;p56"/>
          <p:cNvSpPr txBox="1">
            <a:spLocks/>
          </p:cNvSpPr>
          <p:nvPr/>
        </p:nvSpPr>
        <p:spPr>
          <a:xfrm>
            <a:off x="838201" y="1941341"/>
            <a:ext cx="10683239" cy="4063277"/>
          </a:xfrm>
          <a:prstGeom prst="rect">
            <a:avLst/>
          </a:prstGeom>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0"/>
              </a:spcBef>
              <a:spcAft>
                <a:spcPts val="1200"/>
              </a:spcAft>
              <a:buClr>
                <a:schemeClr val="accent1"/>
              </a:buClr>
              <a:buSzPct val="100000"/>
              <a:buNone/>
            </a:pPr>
            <a:r>
              <a:rPr lang="es-PE" sz="3000" b="1" dirty="0">
                <a:ea typeface="Calibri"/>
                <a:cs typeface="Calibri" panose="020F0502020204030204" pitchFamily="34" charset="0"/>
                <a:sym typeface="Calibri"/>
              </a:rPr>
              <a:t>CALCULO DEL COSTO REAL Y PROYECCION DEL COSTO</a:t>
            </a:r>
          </a:p>
          <a:p>
            <a:pPr marL="0" indent="0" algn="just">
              <a:lnSpc>
                <a:spcPct val="100000"/>
              </a:lnSpc>
              <a:spcBef>
                <a:spcPts val="0"/>
              </a:spcBef>
              <a:spcAft>
                <a:spcPts val="1200"/>
              </a:spcAft>
              <a:buClr>
                <a:schemeClr val="accent1"/>
              </a:buClr>
              <a:buSzPct val="100000"/>
              <a:buNone/>
            </a:pPr>
            <a:r>
              <a:rPr lang="es-MX" sz="3000" dirty="0">
                <a:ea typeface="Calibri"/>
                <a:cs typeface="Calibri" panose="020F0502020204030204" pitchFamily="34" charset="0"/>
                <a:sym typeface="Calibri"/>
              </a:rPr>
              <a:t>Para el cálculo del costo real mes a mes es necesaria la interacción con todas las áreas de soporte del proyecto, las cuales darán los reportes mensuales para el Resultado Operativo detallando y sustentando los gastos del mes de acuerdo a su competencia.</a:t>
            </a:r>
          </a:p>
        </p:txBody>
      </p:sp>
    </p:spTree>
    <p:extLst>
      <p:ext uri="{BB962C8B-B14F-4D97-AF65-F5344CB8AC3E}">
        <p14:creationId xmlns:p14="http://schemas.microsoft.com/office/powerpoint/2010/main" val="19367010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2" name="Título 1">
            <a:extLst>
              <a:ext uri="{FF2B5EF4-FFF2-40B4-BE49-F238E27FC236}">
                <a16:creationId xmlns:a16="http://schemas.microsoft.com/office/drawing/2014/main" id="{E3B1A15F-A355-4D60-AF50-13B9017F2DDF}"/>
              </a:ext>
            </a:extLst>
          </p:cNvPr>
          <p:cNvSpPr>
            <a:spLocks noGrp="1"/>
          </p:cNvSpPr>
          <p:nvPr>
            <p:ph type="title"/>
          </p:nvPr>
        </p:nvSpPr>
        <p:spPr>
          <a:xfrm>
            <a:off x="838200" y="365125"/>
            <a:ext cx="8699695" cy="1325563"/>
          </a:xfrm>
        </p:spPr>
        <p:txBody>
          <a:bodyPr>
            <a:normAutofit/>
          </a:bodyPr>
          <a:lstStyle/>
          <a:p>
            <a:pPr algn="just"/>
            <a:r>
              <a:rPr lang="es-ES" sz="4400" b="1" dirty="0">
                <a:latin typeface="+mj-lt"/>
              </a:rPr>
              <a:t>Información Necesaria para la elaboración del Resultado Operativo</a:t>
            </a:r>
            <a:endParaRPr lang="es-PE" dirty="0"/>
          </a:p>
        </p:txBody>
      </p:sp>
      <p:sp>
        <p:nvSpPr>
          <p:cNvPr id="5" name="Google Shape;562;p56"/>
          <p:cNvSpPr txBox="1">
            <a:spLocks/>
          </p:cNvSpPr>
          <p:nvPr/>
        </p:nvSpPr>
        <p:spPr>
          <a:xfrm>
            <a:off x="838201" y="1941341"/>
            <a:ext cx="10683239" cy="4063277"/>
          </a:xfrm>
          <a:prstGeom prst="rect">
            <a:avLst/>
          </a:prstGeom>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0"/>
              </a:spcBef>
              <a:spcAft>
                <a:spcPts val="1200"/>
              </a:spcAft>
              <a:buClr>
                <a:schemeClr val="accent1"/>
              </a:buClr>
              <a:buSzPct val="100000"/>
              <a:buNone/>
            </a:pPr>
            <a:r>
              <a:rPr lang="es-PE" sz="3000" b="1" dirty="0">
                <a:ea typeface="Calibri"/>
                <a:cs typeface="Calibri" panose="020F0502020204030204" pitchFamily="34" charset="0"/>
                <a:sym typeface="Calibri"/>
              </a:rPr>
              <a:t>CALCULO DEL COSTO REAL Y PROYECCION DEL COSTO</a:t>
            </a:r>
          </a:p>
          <a:p>
            <a:pPr marL="0" indent="0" algn="just">
              <a:lnSpc>
                <a:spcPct val="100000"/>
              </a:lnSpc>
              <a:spcBef>
                <a:spcPts val="0"/>
              </a:spcBef>
              <a:spcAft>
                <a:spcPts val="1200"/>
              </a:spcAft>
              <a:buClr>
                <a:schemeClr val="accent1"/>
              </a:buClr>
              <a:buSzPct val="100000"/>
              <a:buNone/>
            </a:pPr>
            <a:r>
              <a:rPr lang="es-PE" sz="3000" b="1" dirty="0">
                <a:ea typeface="Calibri"/>
                <a:cs typeface="Calibri" panose="020F0502020204030204" pitchFamily="34" charset="0"/>
                <a:sym typeface="Calibri"/>
              </a:rPr>
              <a:t>Materiales:</a:t>
            </a:r>
            <a:endParaRPr lang="es-MX" sz="3000" b="1" dirty="0">
              <a:ea typeface="Calibri"/>
              <a:cs typeface="Calibri" panose="020F0502020204030204" pitchFamily="34" charset="0"/>
              <a:sym typeface="Calibri"/>
            </a:endParaRPr>
          </a:p>
          <a:p>
            <a:pPr marL="0" indent="0" algn="just">
              <a:lnSpc>
                <a:spcPct val="100000"/>
              </a:lnSpc>
              <a:spcBef>
                <a:spcPts val="0"/>
              </a:spcBef>
              <a:spcAft>
                <a:spcPts val="1200"/>
              </a:spcAft>
              <a:buClr>
                <a:schemeClr val="accent1"/>
              </a:buClr>
              <a:buSzPct val="100000"/>
              <a:buNone/>
            </a:pPr>
            <a:r>
              <a:rPr lang="es-MX" sz="3000" dirty="0">
                <a:ea typeface="Calibri"/>
                <a:cs typeface="Calibri" panose="020F0502020204030204" pitchFamily="34" charset="0"/>
                <a:sym typeface="Calibri"/>
              </a:rPr>
              <a:t>Inmediatamente se deberá ordenar los costos según las fases a las que correspondan e ir ordenando según conveniencia. El control consiste en realizar un seguimiento al consumo en las cantidades y actividades correctas, según las cantidades y precios previstos en el presupuesto meta. </a:t>
            </a:r>
          </a:p>
          <a:p>
            <a:pPr marL="0" indent="0" algn="just">
              <a:lnSpc>
                <a:spcPct val="100000"/>
              </a:lnSpc>
              <a:spcBef>
                <a:spcPts val="0"/>
              </a:spcBef>
              <a:spcAft>
                <a:spcPts val="1200"/>
              </a:spcAft>
              <a:buClr>
                <a:schemeClr val="accent1"/>
              </a:buClr>
              <a:buSzPct val="100000"/>
              <a:buNone/>
            </a:pPr>
            <a:endParaRPr lang="es-MX" sz="3000" dirty="0">
              <a:ea typeface="Calibri"/>
              <a:cs typeface="Calibri" panose="020F0502020204030204" pitchFamily="34" charset="0"/>
              <a:sym typeface="Calibri"/>
            </a:endParaRPr>
          </a:p>
        </p:txBody>
      </p:sp>
    </p:spTree>
    <p:extLst>
      <p:ext uri="{BB962C8B-B14F-4D97-AF65-F5344CB8AC3E}">
        <p14:creationId xmlns:p14="http://schemas.microsoft.com/office/powerpoint/2010/main" val="17482635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2" name="Título 1">
            <a:extLst>
              <a:ext uri="{FF2B5EF4-FFF2-40B4-BE49-F238E27FC236}">
                <a16:creationId xmlns:a16="http://schemas.microsoft.com/office/drawing/2014/main" id="{E3B1A15F-A355-4D60-AF50-13B9017F2DDF}"/>
              </a:ext>
            </a:extLst>
          </p:cNvPr>
          <p:cNvSpPr>
            <a:spLocks noGrp="1"/>
          </p:cNvSpPr>
          <p:nvPr>
            <p:ph type="title"/>
          </p:nvPr>
        </p:nvSpPr>
        <p:spPr>
          <a:xfrm>
            <a:off x="838200" y="365125"/>
            <a:ext cx="8699695" cy="1325563"/>
          </a:xfrm>
        </p:spPr>
        <p:txBody>
          <a:bodyPr>
            <a:normAutofit/>
          </a:bodyPr>
          <a:lstStyle/>
          <a:p>
            <a:pPr algn="just"/>
            <a:r>
              <a:rPr lang="es-ES" sz="4400" b="1" dirty="0">
                <a:latin typeface="+mj-lt"/>
              </a:rPr>
              <a:t>Información Necesaria para la elaboración del Resultado Operativo</a:t>
            </a:r>
            <a:endParaRPr lang="es-PE" dirty="0"/>
          </a:p>
        </p:txBody>
      </p:sp>
      <p:sp>
        <p:nvSpPr>
          <p:cNvPr id="5" name="Google Shape;562;p56"/>
          <p:cNvSpPr txBox="1">
            <a:spLocks/>
          </p:cNvSpPr>
          <p:nvPr/>
        </p:nvSpPr>
        <p:spPr>
          <a:xfrm>
            <a:off x="838201" y="1941341"/>
            <a:ext cx="10683239" cy="4063277"/>
          </a:xfrm>
          <a:prstGeom prst="rect">
            <a:avLst/>
          </a:prstGeom>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0"/>
              </a:spcBef>
              <a:spcAft>
                <a:spcPts val="1200"/>
              </a:spcAft>
              <a:buClr>
                <a:schemeClr val="accent1"/>
              </a:buClr>
              <a:buSzPct val="100000"/>
              <a:buNone/>
            </a:pPr>
            <a:r>
              <a:rPr lang="es-PE" sz="3000" b="1" dirty="0">
                <a:ea typeface="Calibri"/>
                <a:cs typeface="Calibri" panose="020F0502020204030204" pitchFamily="34" charset="0"/>
                <a:sym typeface="Calibri"/>
              </a:rPr>
              <a:t>CALCULO DEL COSTO REAL Y PROYECCION DEL COSTO</a:t>
            </a:r>
          </a:p>
          <a:p>
            <a:pPr marL="0" indent="0" algn="just">
              <a:lnSpc>
                <a:spcPct val="100000"/>
              </a:lnSpc>
              <a:spcBef>
                <a:spcPts val="0"/>
              </a:spcBef>
              <a:spcAft>
                <a:spcPts val="1200"/>
              </a:spcAft>
              <a:buClr>
                <a:schemeClr val="accent1"/>
              </a:buClr>
              <a:buSzPct val="100000"/>
              <a:buNone/>
            </a:pPr>
            <a:r>
              <a:rPr lang="es-PE" sz="3000" b="1" dirty="0">
                <a:ea typeface="Calibri"/>
                <a:cs typeface="Calibri" panose="020F0502020204030204" pitchFamily="34" charset="0"/>
                <a:sym typeface="Calibri"/>
              </a:rPr>
              <a:t>Materiales:</a:t>
            </a:r>
            <a:endParaRPr lang="es-MX" sz="3000" b="1" dirty="0">
              <a:ea typeface="Calibri"/>
              <a:cs typeface="Calibri" panose="020F0502020204030204" pitchFamily="34" charset="0"/>
              <a:sym typeface="Calibri"/>
            </a:endParaRPr>
          </a:p>
          <a:p>
            <a:pPr marL="0" indent="0" algn="just">
              <a:lnSpc>
                <a:spcPct val="100000"/>
              </a:lnSpc>
              <a:spcBef>
                <a:spcPts val="0"/>
              </a:spcBef>
              <a:spcAft>
                <a:spcPts val="1200"/>
              </a:spcAft>
              <a:buClr>
                <a:schemeClr val="accent1"/>
              </a:buClr>
              <a:buSzPct val="100000"/>
              <a:buNone/>
            </a:pPr>
            <a:r>
              <a:rPr lang="es-MX" sz="3000" dirty="0">
                <a:ea typeface="Calibri"/>
                <a:cs typeface="Calibri" panose="020F0502020204030204" pitchFamily="34" charset="0"/>
                <a:sym typeface="Calibri"/>
              </a:rPr>
              <a:t>La cantidad y costo de materiales realmente consumidos los obtendremos a través de un reporte emitido por el jefe de almacén los fines de mes, el cual está conformado básicamente por tres </a:t>
            </a:r>
            <a:r>
              <a:rPr lang="es-MX" sz="3000" dirty="0" err="1">
                <a:ea typeface="Calibri"/>
                <a:cs typeface="Calibri" panose="020F0502020204030204" pitchFamily="34" charset="0"/>
                <a:sym typeface="Calibri"/>
              </a:rPr>
              <a:t>sub-reportes</a:t>
            </a:r>
            <a:r>
              <a:rPr lang="es-MX" sz="3000" dirty="0">
                <a:ea typeface="Calibri"/>
                <a:cs typeface="Calibri" panose="020F0502020204030204" pitchFamily="34" charset="0"/>
                <a:sym typeface="Calibri"/>
              </a:rPr>
              <a:t>: </a:t>
            </a:r>
          </a:p>
          <a:p>
            <a:pPr marL="0" indent="0" algn="just">
              <a:lnSpc>
                <a:spcPct val="100000"/>
              </a:lnSpc>
              <a:spcBef>
                <a:spcPts val="0"/>
              </a:spcBef>
              <a:spcAft>
                <a:spcPts val="1200"/>
              </a:spcAft>
              <a:buClr>
                <a:schemeClr val="accent1"/>
              </a:buClr>
              <a:buSzPct val="100000"/>
              <a:buNone/>
            </a:pPr>
            <a:endParaRPr lang="es-MX" sz="3000" dirty="0">
              <a:ea typeface="Calibri"/>
              <a:cs typeface="Calibri" panose="020F0502020204030204" pitchFamily="34" charset="0"/>
              <a:sym typeface="Calibri"/>
            </a:endParaRPr>
          </a:p>
        </p:txBody>
      </p:sp>
    </p:spTree>
    <p:extLst>
      <p:ext uri="{BB962C8B-B14F-4D97-AF65-F5344CB8AC3E}">
        <p14:creationId xmlns:p14="http://schemas.microsoft.com/office/powerpoint/2010/main" val="19439717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2" name="Título 1">
            <a:extLst>
              <a:ext uri="{FF2B5EF4-FFF2-40B4-BE49-F238E27FC236}">
                <a16:creationId xmlns:a16="http://schemas.microsoft.com/office/drawing/2014/main" id="{E3B1A15F-A355-4D60-AF50-13B9017F2DDF}"/>
              </a:ext>
            </a:extLst>
          </p:cNvPr>
          <p:cNvSpPr>
            <a:spLocks noGrp="1"/>
          </p:cNvSpPr>
          <p:nvPr>
            <p:ph type="title"/>
          </p:nvPr>
        </p:nvSpPr>
        <p:spPr>
          <a:xfrm>
            <a:off x="838200" y="365125"/>
            <a:ext cx="8699695" cy="1325563"/>
          </a:xfrm>
        </p:spPr>
        <p:txBody>
          <a:bodyPr>
            <a:normAutofit/>
          </a:bodyPr>
          <a:lstStyle/>
          <a:p>
            <a:pPr algn="just"/>
            <a:r>
              <a:rPr lang="es-ES" sz="4400" b="1" dirty="0">
                <a:latin typeface="+mj-lt"/>
              </a:rPr>
              <a:t>Información Necesaria para la elaboración del Resultado Operativo</a:t>
            </a:r>
            <a:endParaRPr lang="es-PE" dirty="0"/>
          </a:p>
        </p:txBody>
      </p:sp>
      <p:sp>
        <p:nvSpPr>
          <p:cNvPr id="5" name="Google Shape;562;p56"/>
          <p:cNvSpPr txBox="1">
            <a:spLocks/>
          </p:cNvSpPr>
          <p:nvPr/>
        </p:nvSpPr>
        <p:spPr>
          <a:xfrm>
            <a:off x="838201" y="1941341"/>
            <a:ext cx="10683239" cy="4063277"/>
          </a:xfrm>
          <a:prstGeom prst="rect">
            <a:avLst/>
          </a:prstGeom>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0"/>
              </a:spcBef>
              <a:spcAft>
                <a:spcPts val="1200"/>
              </a:spcAft>
              <a:buClr>
                <a:schemeClr val="accent1"/>
              </a:buClr>
              <a:buSzPct val="100000"/>
              <a:buNone/>
            </a:pPr>
            <a:r>
              <a:rPr lang="es-PE" sz="3000" b="1" dirty="0">
                <a:ea typeface="Calibri"/>
                <a:cs typeface="Calibri" panose="020F0502020204030204" pitchFamily="34" charset="0"/>
                <a:sym typeface="Calibri"/>
              </a:rPr>
              <a:t>CALCULO DEL COSTO REAL Y PROYECCION DEL COSTO</a:t>
            </a:r>
          </a:p>
          <a:p>
            <a:pPr marL="0" indent="0" algn="just">
              <a:lnSpc>
                <a:spcPct val="100000"/>
              </a:lnSpc>
              <a:spcBef>
                <a:spcPts val="0"/>
              </a:spcBef>
              <a:spcAft>
                <a:spcPts val="1200"/>
              </a:spcAft>
              <a:buClr>
                <a:schemeClr val="accent1"/>
              </a:buClr>
              <a:buSzPct val="100000"/>
              <a:buNone/>
            </a:pPr>
            <a:r>
              <a:rPr lang="es-PE" sz="3000" b="1" dirty="0">
                <a:ea typeface="Calibri"/>
                <a:cs typeface="Calibri" panose="020F0502020204030204" pitchFamily="34" charset="0"/>
                <a:sym typeface="Calibri"/>
              </a:rPr>
              <a:t>Materiales:</a:t>
            </a:r>
            <a:endParaRPr lang="es-MX" sz="3000" b="1" dirty="0">
              <a:ea typeface="Calibri"/>
              <a:cs typeface="Calibri" panose="020F0502020204030204" pitchFamily="34" charset="0"/>
              <a:sym typeface="Calibri"/>
            </a:endParaRPr>
          </a:p>
          <a:p>
            <a:pPr algn="just">
              <a:lnSpc>
                <a:spcPct val="100000"/>
              </a:lnSpc>
              <a:spcBef>
                <a:spcPts val="0"/>
              </a:spcBef>
              <a:spcAft>
                <a:spcPts val="1200"/>
              </a:spcAft>
              <a:buClr>
                <a:schemeClr val="accent1"/>
              </a:buClr>
              <a:buSzPct val="100000"/>
            </a:pPr>
            <a:r>
              <a:rPr lang="es-MX" sz="3000" dirty="0">
                <a:ea typeface="Calibri"/>
                <a:cs typeface="Calibri" panose="020F0502020204030204" pitchFamily="34" charset="0"/>
                <a:sym typeface="Calibri"/>
              </a:rPr>
              <a:t>Reporte de salidas de materiales de Operaciones y Equipos. </a:t>
            </a:r>
          </a:p>
          <a:p>
            <a:pPr algn="just">
              <a:lnSpc>
                <a:spcPct val="100000"/>
              </a:lnSpc>
              <a:spcBef>
                <a:spcPts val="0"/>
              </a:spcBef>
              <a:spcAft>
                <a:spcPts val="1200"/>
              </a:spcAft>
              <a:buClr>
                <a:schemeClr val="accent1"/>
              </a:buClr>
              <a:buSzPct val="100000"/>
            </a:pPr>
            <a:r>
              <a:rPr lang="es-MX" sz="3000" dirty="0">
                <a:ea typeface="Calibri"/>
                <a:cs typeface="Calibri" panose="020F0502020204030204" pitchFamily="34" charset="0"/>
                <a:sym typeface="Calibri"/>
              </a:rPr>
              <a:t>Reporte de Stock de materiales de Operaciones y Equipos. </a:t>
            </a:r>
          </a:p>
          <a:p>
            <a:pPr algn="just">
              <a:lnSpc>
                <a:spcPct val="100000"/>
              </a:lnSpc>
              <a:spcBef>
                <a:spcPts val="0"/>
              </a:spcBef>
              <a:spcAft>
                <a:spcPts val="1200"/>
              </a:spcAft>
              <a:buClr>
                <a:schemeClr val="accent1"/>
              </a:buClr>
              <a:buSzPct val="100000"/>
            </a:pPr>
            <a:r>
              <a:rPr lang="es-MX" sz="3000" dirty="0">
                <a:ea typeface="Calibri"/>
                <a:cs typeface="Calibri" panose="020F0502020204030204" pitchFamily="34" charset="0"/>
                <a:sym typeface="Calibri"/>
              </a:rPr>
              <a:t>Reporte de consumo de combustible.</a:t>
            </a:r>
          </a:p>
          <a:p>
            <a:pPr marL="0" indent="0" algn="just">
              <a:lnSpc>
                <a:spcPct val="100000"/>
              </a:lnSpc>
              <a:spcBef>
                <a:spcPts val="0"/>
              </a:spcBef>
              <a:spcAft>
                <a:spcPts val="1200"/>
              </a:spcAft>
              <a:buClr>
                <a:schemeClr val="accent1"/>
              </a:buClr>
              <a:buSzPct val="100000"/>
              <a:buNone/>
            </a:pPr>
            <a:endParaRPr lang="es-MX" sz="3000" dirty="0">
              <a:ea typeface="Calibri"/>
              <a:cs typeface="Calibri" panose="020F0502020204030204" pitchFamily="34" charset="0"/>
              <a:sym typeface="Calibri"/>
            </a:endParaRPr>
          </a:p>
          <a:p>
            <a:pPr marL="0" indent="0" algn="just">
              <a:lnSpc>
                <a:spcPct val="100000"/>
              </a:lnSpc>
              <a:spcBef>
                <a:spcPts val="0"/>
              </a:spcBef>
              <a:spcAft>
                <a:spcPts val="1200"/>
              </a:spcAft>
              <a:buClr>
                <a:schemeClr val="accent1"/>
              </a:buClr>
              <a:buSzPct val="100000"/>
              <a:buNone/>
            </a:pPr>
            <a:endParaRPr lang="es-MX" sz="3000" dirty="0">
              <a:ea typeface="Calibri"/>
              <a:cs typeface="Calibri" panose="020F0502020204030204" pitchFamily="34" charset="0"/>
              <a:sym typeface="Calibri"/>
            </a:endParaRPr>
          </a:p>
        </p:txBody>
      </p:sp>
    </p:spTree>
    <p:extLst>
      <p:ext uri="{BB962C8B-B14F-4D97-AF65-F5344CB8AC3E}">
        <p14:creationId xmlns:p14="http://schemas.microsoft.com/office/powerpoint/2010/main" val="42264735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2" name="Título 1">
            <a:extLst>
              <a:ext uri="{FF2B5EF4-FFF2-40B4-BE49-F238E27FC236}">
                <a16:creationId xmlns:a16="http://schemas.microsoft.com/office/drawing/2014/main" id="{E3B1A15F-A355-4D60-AF50-13B9017F2DDF}"/>
              </a:ext>
            </a:extLst>
          </p:cNvPr>
          <p:cNvSpPr>
            <a:spLocks noGrp="1"/>
          </p:cNvSpPr>
          <p:nvPr>
            <p:ph type="title"/>
          </p:nvPr>
        </p:nvSpPr>
        <p:spPr>
          <a:xfrm>
            <a:off x="838200" y="365125"/>
            <a:ext cx="8699695" cy="1325563"/>
          </a:xfrm>
        </p:spPr>
        <p:txBody>
          <a:bodyPr>
            <a:normAutofit/>
          </a:bodyPr>
          <a:lstStyle/>
          <a:p>
            <a:pPr algn="just"/>
            <a:r>
              <a:rPr lang="es-ES" sz="4400" b="1" dirty="0">
                <a:latin typeface="+mj-lt"/>
              </a:rPr>
              <a:t>Información Necesaria para la elaboración del Resultado Operativo</a:t>
            </a:r>
            <a:endParaRPr lang="es-PE" dirty="0"/>
          </a:p>
        </p:txBody>
      </p:sp>
      <p:sp>
        <p:nvSpPr>
          <p:cNvPr id="5" name="Google Shape;562;p56"/>
          <p:cNvSpPr txBox="1">
            <a:spLocks/>
          </p:cNvSpPr>
          <p:nvPr/>
        </p:nvSpPr>
        <p:spPr>
          <a:xfrm>
            <a:off x="838201" y="1941341"/>
            <a:ext cx="10683239" cy="4063277"/>
          </a:xfrm>
          <a:prstGeom prst="rect">
            <a:avLst/>
          </a:prstGeom>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0"/>
              </a:spcBef>
              <a:spcAft>
                <a:spcPts val="1200"/>
              </a:spcAft>
              <a:buClr>
                <a:schemeClr val="accent1"/>
              </a:buClr>
              <a:buSzPct val="100000"/>
              <a:buNone/>
            </a:pPr>
            <a:r>
              <a:rPr lang="es-PE" sz="3000" b="1" dirty="0">
                <a:ea typeface="Calibri"/>
                <a:cs typeface="Calibri" panose="020F0502020204030204" pitchFamily="34" charset="0"/>
                <a:sym typeface="Calibri"/>
              </a:rPr>
              <a:t>CALCULO DEL COSTO REAL Y PROYECCION DEL COSTO</a:t>
            </a:r>
          </a:p>
          <a:p>
            <a:pPr marL="0" indent="0" algn="just">
              <a:lnSpc>
                <a:spcPct val="100000"/>
              </a:lnSpc>
              <a:spcBef>
                <a:spcPts val="0"/>
              </a:spcBef>
              <a:spcAft>
                <a:spcPts val="1200"/>
              </a:spcAft>
              <a:buClr>
                <a:schemeClr val="accent1"/>
              </a:buClr>
              <a:buSzPct val="100000"/>
              <a:buNone/>
            </a:pPr>
            <a:r>
              <a:rPr lang="es-PE" sz="3000" b="1" dirty="0">
                <a:ea typeface="Calibri"/>
                <a:cs typeface="Calibri" panose="020F0502020204030204" pitchFamily="34" charset="0"/>
                <a:sym typeface="Calibri"/>
              </a:rPr>
              <a:t>Mano de Obra:</a:t>
            </a:r>
            <a:endParaRPr lang="es-MX" sz="3000" b="1" dirty="0">
              <a:ea typeface="Calibri"/>
              <a:cs typeface="Calibri" panose="020F0502020204030204" pitchFamily="34" charset="0"/>
              <a:sym typeface="Calibri"/>
            </a:endParaRPr>
          </a:p>
          <a:p>
            <a:pPr marL="0" indent="0" algn="just">
              <a:lnSpc>
                <a:spcPct val="100000"/>
              </a:lnSpc>
              <a:spcBef>
                <a:spcPts val="0"/>
              </a:spcBef>
              <a:spcAft>
                <a:spcPts val="1200"/>
              </a:spcAft>
              <a:buClr>
                <a:schemeClr val="accent1"/>
              </a:buClr>
              <a:buSzPct val="100000"/>
              <a:buNone/>
            </a:pPr>
            <a:r>
              <a:rPr lang="es-MX" sz="3000" dirty="0">
                <a:ea typeface="Calibri"/>
                <a:cs typeface="Calibri" panose="020F0502020204030204" pitchFamily="34" charset="0"/>
                <a:sym typeface="Calibri"/>
              </a:rPr>
              <a:t>La persona asignada como </a:t>
            </a:r>
            <a:r>
              <a:rPr lang="es-MX" sz="3000" dirty="0" err="1">
                <a:ea typeface="Calibri"/>
                <a:cs typeface="Calibri" panose="020F0502020204030204" pitchFamily="34" charset="0"/>
                <a:sym typeface="Calibri"/>
              </a:rPr>
              <a:t>Tareador</a:t>
            </a:r>
            <a:r>
              <a:rPr lang="es-MX" sz="3000" dirty="0">
                <a:ea typeface="Calibri"/>
                <a:cs typeface="Calibri" panose="020F0502020204030204" pitchFamily="34" charset="0"/>
                <a:sym typeface="Calibri"/>
              </a:rPr>
              <a:t> controla y registra a diario las horas hombre (HH) trabajadas por el personal obrero en el </a:t>
            </a:r>
            <a:r>
              <a:rPr lang="es-MX" sz="3000" dirty="0" err="1">
                <a:ea typeface="Calibri"/>
                <a:cs typeface="Calibri" panose="020F0502020204030204" pitchFamily="34" charset="0"/>
                <a:sym typeface="Calibri"/>
              </a:rPr>
              <a:t>tareo</a:t>
            </a:r>
            <a:r>
              <a:rPr lang="es-MX" sz="3000" dirty="0">
                <a:ea typeface="Calibri"/>
                <a:cs typeface="Calibri" panose="020F0502020204030204" pitchFamily="34" charset="0"/>
                <a:sym typeface="Calibri"/>
              </a:rPr>
              <a:t> diario, asignando las a las fases de control establecidas.</a:t>
            </a:r>
          </a:p>
        </p:txBody>
      </p:sp>
    </p:spTree>
    <p:extLst>
      <p:ext uri="{BB962C8B-B14F-4D97-AF65-F5344CB8AC3E}">
        <p14:creationId xmlns:p14="http://schemas.microsoft.com/office/powerpoint/2010/main" val="11269345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2" name="Título 1">
            <a:extLst>
              <a:ext uri="{FF2B5EF4-FFF2-40B4-BE49-F238E27FC236}">
                <a16:creationId xmlns:a16="http://schemas.microsoft.com/office/drawing/2014/main" id="{E3B1A15F-A355-4D60-AF50-13B9017F2DDF}"/>
              </a:ext>
            </a:extLst>
          </p:cNvPr>
          <p:cNvSpPr>
            <a:spLocks noGrp="1"/>
          </p:cNvSpPr>
          <p:nvPr>
            <p:ph type="title"/>
          </p:nvPr>
        </p:nvSpPr>
        <p:spPr>
          <a:xfrm>
            <a:off x="838200" y="365125"/>
            <a:ext cx="8699695" cy="1325563"/>
          </a:xfrm>
        </p:spPr>
        <p:txBody>
          <a:bodyPr>
            <a:normAutofit/>
          </a:bodyPr>
          <a:lstStyle/>
          <a:p>
            <a:pPr algn="just"/>
            <a:r>
              <a:rPr lang="es-ES" sz="4400" b="1" dirty="0">
                <a:latin typeface="+mj-lt"/>
              </a:rPr>
              <a:t>Información Necesaria para la elaboración del Resultado Operativo</a:t>
            </a:r>
            <a:endParaRPr lang="es-PE" dirty="0"/>
          </a:p>
        </p:txBody>
      </p:sp>
      <p:sp>
        <p:nvSpPr>
          <p:cNvPr id="5" name="Google Shape;562;p56"/>
          <p:cNvSpPr txBox="1">
            <a:spLocks/>
          </p:cNvSpPr>
          <p:nvPr/>
        </p:nvSpPr>
        <p:spPr>
          <a:xfrm>
            <a:off x="838201" y="1941341"/>
            <a:ext cx="10683239" cy="4360985"/>
          </a:xfrm>
          <a:prstGeom prst="rect">
            <a:avLst/>
          </a:prstGeom>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0"/>
              </a:spcBef>
              <a:spcAft>
                <a:spcPts val="1200"/>
              </a:spcAft>
              <a:buClr>
                <a:schemeClr val="accent1"/>
              </a:buClr>
              <a:buSzPct val="100000"/>
              <a:buNone/>
            </a:pPr>
            <a:r>
              <a:rPr lang="es-PE" sz="2600" b="1" dirty="0">
                <a:ea typeface="Calibri"/>
                <a:cs typeface="Calibri" panose="020F0502020204030204" pitchFamily="34" charset="0"/>
                <a:sym typeface="Calibri"/>
              </a:rPr>
              <a:t>CALCULO DEL COSTO REAL Y PROYECCION DEL COSTO</a:t>
            </a:r>
          </a:p>
          <a:p>
            <a:pPr marL="0" indent="0" algn="just">
              <a:lnSpc>
                <a:spcPct val="100000"/>
              </a:lnSpc>
              <a:spcBef>
                <a:spcPts val="0"/>
              </a:spcBef>
              <a:spcAft>
                <a:spcPts val="1200"/>
              </a:spcAft>
              <a:buClr>
                <a:schemeClr val="accent1"/>
              </a:buClr>
              <a:buSzPct val="100000"/>
              <a:buNone/>
            </a:pPr>
            <a:r>
              <a:rPr lang="es-PE" sz="2600" b="1" dirty="0">
                <a:ea typeface="Calibri"/>
                <a:cs typeface="Calibri" panose="020F0502020204030204" pitchFamily="34" charset="0"/>
                <a:sym typeface="Calibri"/>
              </a:rPr>
              <a:t>Mano de Obra:</a:t>
            </a:r>
            <a:endParaRPr lang="es-MX" sz="2600" b="1" dirty="0">
              <a:ea typeface="Calibri"/>
              <a:cs typeface="Calibri" panose="020F0502020204030204" pitchFamily="34" charset="0"/>
              <a:sym typeface="Calibri"/>
            </a:endParaRPr>
          </a:p>
          <a:p>
            <a:pPr marL="0" indent="0" algn="just">
              <a:lnSpc>
                <a:spcPct val="100000"/>
              </a:lnSpc>
              <a:spcBef>
                <a:spcPts val="0"/>
              </a:spcBef>
              <a:spcAft>
                <a:spcPts val="1200"/>
              </a:spcAft>
              <a:buClr>
                <a:schemeClr val="accent1"/>
              </a:buClr>
              <a:buSzPct val="100000"/>
              <a:buNone/>
            </a:pPr>
            <a:r>
              <a:rPr lang="es-MX" sz="2600" dirty="0">
                <a:ea typeface="Calibri"/>
                <a:cs typeface="Calibri" panose="020F0502020204030204" pitchFamily="34" charset="0"/>
                <a:sym typeface="Calibri"/>
              </a:rPr>
              <a:t>El encargado de planillas deberá emitir un reporte mensual el cual informe las horas hombre(HH) consumidas y los costos por fases, los cuales están conformados por los ingresos, los beneficios sociales y las aportaciones de ley, y también hay que agregarle otros gastos adicionales tales como los servicios de lavandería, hotelería, alimentación, etc. </a:t>
            </a:r>
          </a:p>
          <a:p>
            <a:pPr marL="0" indent="0" algn="just">
              <a:lnSpc>
                <a:spcPct val="100000"/>
              </a:lnSpc>
              <a:spcBef>
                <a:spcPts val="0"/>
              </a:spcBef>
              <a:spcAft>
                <a:spcPts val="1200"/>
              </a:spcAft>
              <a:buClr>
                <a:schemeClr val="accent1"/>
              </a:buClr>
              <a:buSzPct val="100000"/>
              <a:buNone/>
            </a:pPr>
            <a:r>
              <a:rPr lang="es-MX" sz="2600" dirty="0">
                <a:ea typeface="Calibri"/>
                <a:cs typeface="Calibri" panose="020F0502020204030204" pitchFamily="34" charset="0"/>
                <a:sym typeface="Calibri"/>
              </a:rPr>
              <a:t>A la suma del costo Planilla y los gastos adicionales mencionados anteriormente le llamamos “Costo Empresa”.</a:t>
            </a:r>
          </a:p>
        </p:txBody>
      </p:sp>
    </p:spTree>
    <p:extLst>
      <p:ext uri="{BB962C8B-B14F-4D97-AF65-F5344CB8AC3E}">
        <p14:creationId xmlns:p14="http://schemas.microsoft.com/office/powerpoint/2010/main" val="38916016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2" name="Título 1">
            <a:extLst>
              <a:ext uri="{FF2B5EF4-FFF2-40B4-BE49-F238E27FC236}">
                <a16:creationId xmlns:a16="http://schemas.microsoft.com/office/drawing/2014/main" id="{E3B1A15F-A355-4D60-AF50-13B9017F2DDF}"/>
              </a:ext>
            </a:extLst>
          </p:cNvPr>
          <p:cNvSpPr>
            <a:spLocks noGrp="1"/>
          </p:cNvSpPr>
          <p:nvPr>
            <p:ph type="title"/>
          </p:nvPr>
        </p:nvSpPr>
        <p:spPr>
          <a:xfrm>
            <a:off x="838200" y="365125"/>
            <a:ext cx="8699695" cy="1325563"/>
          </a:xfrm>
        </p:spPr>
        <p:txBody>
          <a:bodyPr>
            <a:normAutofit/>
          </a:bodyPr>
          <a:lstStyle/>
          <a:p>
            <a:pPr algn="just"/>
            <a:r>
              <a:rPr lang="es-ES" sz="4400" b="1" dirty="0">
                <a:latin typeface="+mj-lt"/>
              </a:rPr>
              <a:t>Información Necesaria para la elaboración del Resultado Operativo</a:t>
            </a:r>
            <a:endParaRPr lang="es-PE" dirty="0"/>
          </a:p>
        </p:txBody>
      </p:sp>
      <p:sp>
        <p:nvSpPr>
          <p:cNvPr id="5" name="Google Shape;562;p56"/>
          <p:cNvSpPr txBox="1">
            <a:spLocks/>
          </p:cNvSpPr>
          <p:nvPr/>
        </p:nvSpPr>
        <p:spPr>
          <a:xfrm>
            <a:off x="998806" y="1941341"/>
            <a:ext cx="10410092" cy="4360985"/>
          </a:xfrm>
          <a:prstGeom prst="rect">
            <a:avLst/>
          </a:prstGeom>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0"/>
              </a:spcBef>
              <a:spcAft>
                <a:spcPts val="1200"/>
              </a:spcAft>
              <a:buClr>
                <a:schemeClr val="accent1"/>
              </a:buClr>
              <a:buSzPct val="100000"/>
              <a:buNone/>
            </a:pPr>
            <a:r>
              <a:rPr lang="es-PE" sz="3000" b="1" dirty="0">
                <a:ea typeface="Calibri"/>
                <a:cs typeface="Calibri" panose="020F0502020204030204" pitchFamily="34" charset="0"/>
                <a:sym typeface="Calibri"/>
              </a:rPr>
              <a:t>CALCULO DEL COSTO REAL Y PROYECCION DEL COSTO</a:t>
            </a:r>
          </a:p>
          <a:p>
            <a:pPr marL="0" indent="0" algn="just">
              <a:lnSpc>
                <a:spcPct val="100000"/>
              </a:lnSpc>
              <a:spcBef>
                <a:spcPts val="0"/>
              </a:spcBef>
              <a:spcAft>
                <a:spcPts val="1200"/>
              </a:spcAft>
              <a:buClr>
                <a:schemeClr val="accent1"/>
              </a:buClr>
              <a:buSzPct val="100000"/>
              <a:buNone/>
            </a:pPr>
            <a:r>
              <a:rPr lang="es-PE" sz="3000" b="1" dirty="0">
                <a:ea typeface="Calibri"/>
                <a:cs typeface="Calibri" panose="020F0502020204030204" pitchFamily="34" charset="0"/>
                <a:sym typeface="Calibri"/>
              </a:rPr>
              <a:t>Subcontratos:</a:t>
            </a:r>
            <a:endParaRPr lang="es-MX" sz="3000" b="1" dirty="0">
              <a:ea typeface="Calibri"/>
              <a:cs typeface="Calibri" panose="020F0502020204030204" pitchFamily="34" charset="0"/>
              <a:sym typeface="Calibri"/>
            </a:endParaRPr>
          </a:p>
          <a:p>
            <a:pPr marL="0" indent="0" algn="just">
              <a:lnSpc>
                <a:spcPct val="100000"/>
              </a:lnSpc>
              <a:spcBef>
                <a:spcPts val="0"/>
              </a:spcBef>
              <a:spcAft>
                <a:spcPts val="1200"/>
              </a:spcAft>
              <a:buClr>
                <a:schemeClr val="accent1"/>
              </a:buClr>
              <a:buSzPct val="100000"/>
              <a:buNone/>
            </a:pPr>
            <a:r>
              <a:rPr lang="es-MX" sz="3000" dirty="0">
                <a:ea typeface="Calibri"/>
                <a:cs typeface="Calibri" panose="020F0502020204030204" pitchFamily="34" charset="0"/>
                <a:sym typeface="Calibri"/>
              </a:rPr>
              <a:t>Se debe registrar las condiciones de los subcontratos y lo avanzado a nivel de costo por cada subcontratista.</a:t>
            </a:r>
          </a:p>
        </p:txBody>
      </p:sp>
    </p:spTree>
    <p:extLst>
      <p:ext uri="{BB962C8B-B14F-4D97-AF65-F5344CB8AC3E}">
        <p14:creationId xmlns:p14="http://schemas.microsoft.com/office/powerpoint/2010/main" val="14822936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2" name="Título 1">
            <a:extLst>
              <a:ext uri="{FF2B5EF4-FFF2-40B4-BE49-F238E27FC236}">
                <a16:creationId xmlns:a16="http://schemas.microsoft.com/office/drawing/2014/main" id="{E3B1A15F-A355-4D60-AF50-13B9017F2DDF}"/>
              </a:ext>
            </a:extLst>
          </p:cNvPr>
          <p:cNvSpPr>
            <a:spLocks noGrp="1"/>
          </p:cNvSpPr>
          <p:nvPr>
            <p:ph type="title"/>
          </p:nvPr>
        </p:nvSpPr>
        <p:spPr>
          <a:xfrm>
            <a:off x="838200" y="365125"/>
            <a:ext cx="8699695" cy="1325563"/>
          </a:xfrm>
        </p:spPr>
        <p:txBody>
          <a:bodyPr>
            <a:normAutofit/>
          </a:bodyPr>
          <a:lstStyle/>
          <a:p>
            <a:pPr algn="just"/>
            <a:r>
              <a:rPr lang="es-ES" sz="4400" b="1" dirty="0">
                <a:latin typeface="+mj-lt"/>
              </a:rPr>
              <a:t>Información Necesaria para la elaboración del Resultado Operativo</a:t>
            </a:r>
            <a:endParaRPr lang="es-PE" dirty="0"/>
          </a:p>
        </p:txBody>
      </p:sp>
      <p:sp>
        <p:nvSpPr>
          <p:cNvPr id="5" name="Google Shape;562;p56"/>
          <p:cNvSpPr txBox="1">
            <a:spLocks/>
          </p:cNvSpPr>
          <p:nvPr/>
        </p:nvSpPr>
        <p:spPr>
          <a:xfrm>
            <a:off x="838201" y="1941341"/>
            <a:ext cx="10584766" cy="4360985"/>
          </a:xfrm>
          <a:prstGeom prst="rect">
            <a:avLst/>
          </a:prstGeom>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0"/>
              </a:spcBef>
              <a:spcAft>
                <a:spcPts val="1200"/>
              </a:spcAft>
              <a:buClr>
                <a:schemeClr val="accent1"/>
              </a:buClr>
              <a:buSzPct val="100000"/>
              <a:buNone/>
            </a:pPr>
            <a:r>
              <a:rPr lang="es-PE" sz="3000" b="1" dirty="0">
                <a:ea typeface="Calibri"/>
                <a:cs typeface="Calibri" panose="020F0502020204030204" pitchFamily="34" charset="0"/>
                <a:sym typeface="Calibri"/>
              </a:rPr>
              <a:t>CALCULO DEL COSTO REAL Y PROYECCION DEL COSTO</a:t>
            </a:r>
          </a:p>
          <a:p>
            <a:pPr marL="0" indent="0" algn="just">
              <a:lnSpc>
                <a:spcPct val="100000"/>
              </a:lnSpc>
              <a:spcBef>
                <a:spcPts val="0"/>
              </a:spcBef>
              <a:spcAft>
                <a:spcPts val="1200"/>
              </a:spcAft>
              <a:buClr>
                <a:schemeClr val="accent1"/>
              </a:buClr>
              <a:buSzPct val="100000"/>
              <a:buNone/>
            </a:pPr>
            <a:r>
              <a:rPr lang="es-PE" sz="3000" b="1" dirty="0">
                <a:ea typeface="Calibri"/>
                <a:cs typeface="Calibri" panose="020F0502020204030204" pitchFamily="34" charset="0"/>
                <a:sym typeface="Calibri"/>
              </a:rPr>
              <a:t>Equipos:</a:t>
            </a:r>
            <a:endParaRPr lang="es-MX" sz="3000" b="1" dirty="0">
              <a:ea typeface="Calibri"/>
              <a:cs typeface="Calibri" panose="020F0502020204030204" pitchFamily="34" charset="0"/>
              <a:sym typeface="Calibri"/>
            </a:endParaRPr>
          </a:p>
          <a:p>
            <a:pPr marL="0" indent="0" algn="just">
              <a:lnSpc>
                <a:spcPct val="100000"/>
              </a:lnSpc>
              <a:spcBef>
                <a:spcPts val="0"/>
              </a:spcBef>
              <a:spcAft>
                <a:spcPts val="1200"/>
              </a:spcAft>
              <a:buClr>
                <a:schemeClr val="accent1"/>
              </a:buClr>
              <a:buSzPct val="100000"/>
              <a:buNone/>
            </a:pPr>
            <a:r>
              <a:rPr lang="es-MX" sz="3000" dirty="0">
                <a:ea typeface="Calibri"/>
                <a:cs typeface="Calibri" panose="020F0502020204030204" pitchFamily="34" charset="0"/>
                <a:sym typeface="Calibri"/>
              </a:rPr>
              <a:t>Se debe registrar los partes diarios especificado en horas máquina, lo cual debe ser procesado y luego entregado al responsable de la elaboración del Resultado Operativo.</a:t>
            </a:r>
          </a:p>
        </p:txBody>
      </p:sp>
    </p:spTree>
    <p:extLst>
      <p:ext uri="{BB962C8B-B14F-4D97-AF65-F5344CB8AC3E}">
        <p14:creationId xmlns:p14="http://schemas.microsoft.com/office/powerpoint/2010/main" val="33575061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2" name="Título 1">
            <a:extLst>
              <a:ext uri="{FF2B5EF4-FFF2-40B4-BE49-F238E27FC236}">
                <a16:creationId xmlns:a16="http://schemas.microsoft.com/office/drawing/2014/main" id="{E3B1A15F-A355-4D60-AF50-13B9017F2DDF}"/>
              </a:ext>
            </a:extLst>
          </p:cNvPr>
          <p:cNvSpPr>
            <a:spLocks noGrp="1"/>
          </p:cNvSpPr>
          <p:nvPr>
            <p:ph type="title"/>
          </p:nvPr>
        </p:nvSpPr>
        <p:spPr>
          <a:xfrm>
            <a:off x="838200" y="365125"/>
            <a:ext cx="8699695" cy="1325563"/>
          </a:xfrm>
        </p:spPr>
        <p:txBody>
          <a:bodyPr>
            <a:normAutofit/>
          </a:bodyPr>
          <a:lstStyle/>
          <a:p>
            <a:pPr algn="just"/>
            <a:r>
              <a:rPr lang="es-ES" sz="4400" b="1" dirty="0">
                <a:latin typeface="+mj-lt"/>
              </a:rPr>
              <a:t>Información Necesaria para la elaboración del Resultado Operativo</a:t>
            </a:r>
            <a:endParaRPr lang="es-PE" dirty="0"/>
          </a:p>
        </p:txBody>
      </p:sp>
      <p:sp>
        <p:nvSpPr>
          <p:cNvPr id="5" name="Google Shape;562;p56"/>
          <p:cNvSpPr txBox="1">
            <a:spLocks/>
          </p:cNvSpPr>
          <p:nvPr/>
        </p:nvSpPr>
        <p:spPr>
          <a:xfrm>
            <a:off x="838201" y="1941341"/>
            <a:ext cx="10584766" cy="4360985"/>
          </a:xfrm>
          <a:prstGeom prst="rect">
            <a:avLst/>
          </a:prstGeom>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0"/>
              </a:spcBef>
              <a:spcAft>
                <a:spcPts val="1200"/>
              </a:spcAft>
              <a:buClr>
                <a:schemeClr val="accent1"/>
              </a:buClr>
              <a:buSzPct val="100000"/>
              <a:buNone/>
            </a:pPr>
            <a:r>
              <a:rPr lang="es-PE" sz="3000" b="1" dirty="0">
                <a:ea typeface="Calibri"/>
                <a:cs typeface="Calibri" panose="020F0502020204030204" pitchFamily="34" charset="0"/>
                <a:sym typeface="Calibri"/>
              </a:rPr>
              <a:t>CALCULO DEL COSTO REAL Y PROYECCION DEL COSTO</a:t>
            </a:r>
          </a:p>
          <a:p>
            <a:pPr marL="0" indent="0" algn="just">
              <a:lnSpc>
                <a:spcPct val="100000"/>
              </a:lnSpc>
              <a:spcBef>
                <a:spcPts val="0"/>
              </a:spcBef>
              <a:spcAft>
                <a:spcPts val="1200"/>
              </a:spcAft>
              <a:buClr>
                <a:schemeClr val="accent1"/>
              </a:buClr>
              <a:buSzPct val="100000"/>
              <a:buNone/>
            </a:pPr>
            <a:r>
              <a:rPr lang="es-PE" sz="3000" b="1" dirty="0">
                <a:ea typeface="Calibri"/>
                <a:cs typeface="Calibri" panose="020F0502020204030204" pitchFamily="34" charset="0"/>
                <a:sym typeface="Calibri"/>
              </a:rPr>
              <a:t>Staff:</a:t>
            </a:r>
            <a:endParaRPr lang="es-MX" sz="3000" b="1" dirty="0">
              <a:ea typeface="Calibri"/>
              <a:cs typeface="Calibri" panose="020F0502020204030204" pitchFamily="34" charset="0"/>
              <a:sym typeface="Calibri"/>
            </a:endParaRPr>
          </a:p>
          <a:p>
            <a:pPr marL="0" indent="0" algn="just">
              <a:lnSpc>
                <a:spcPct val="100000"/>
              </a:lnSpc>
              <a:spcBef>
                <a:spcPts val="0"/>
              </a:spcBef>
              <a:spcAft>
                <a:spcPts val="1200"/>
              </a:spcAft>
              <a:buClr>
                <a:schemeClr val="accent1"/>
              </a:buClr>
              <a:buSzPct val="100000"/>
              <a:buNone/>
            </a:pPr>
            <a:r>
              <a:rPr lang="es-MX" sz="3000" dirty="0">
                <a:ea typeface="Calibri"/>
                <a:cs typeface="Calibri" panose="020F0502020204030204" pitchFamily="34" charset="0"/>
                <a:sym typeface="Calibri"/>
              </a:rPr>
              <a:t>Corresponde al costo de las planillas de todo el personal empleado del proyecto, es decir el “Costo Empresa” calculado a partir de sumar los ingresos totales del trabajador mas todos sus beneficios sociales de acuerdo a ley. Las planillas se generan por lo general los últimos días del mes.</a:t>
            </a:r>
          </a:p>
        </p:txBody>
      </p:sp>
    </p:spTree>
    <p:extLst>
      <p:ext uri="{BB962C8B-B14F-4D97-AF65-F5344CB8AC3E}">
        <p14:creationId xmlns:p14="http://schemas.microsoft.com/office/powerpoint/2010/main" val="1293311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2" name="Título 1">
            <a:extLst>
              <a:ext uri="{FF2B5EF4-FFF2-40B4-BE49-F238E27FC236}">
                <a16:creationId xmlns:a16="http://schemas.microsoft.com/office/drawing/2014/main" id="{E3B1A15F-A355-4D60-AF50-13B9017F2DDF}"/>
              </a:ext>
            </a:extLst>
          </p:cNvPr>
          <p:cNvSpPr>
            <a:spLocks noGrp="1"/>
          </p:cNvSpPr>
          <p:nvPr>
            <p:ph type="title"/>
          </p:nvPr>
        </p:nvSpPr>
        <p:spPr>
          <a:xfrm>
            <a:off x="838200" y="365125"/>
            <a:ext cx="8699695" cy="1325563"/>
          </a:xfrm>
        </p:spPr>
        <p:txBody>
          <a:bodyPr>
            <a:normAutofit/>
          </a:bodyPr>
          <a:lstStyle/>
          <a:p>
            <a:pPr algn="just"/>
            <a:r>
              <a:rPr lang="es-ES" sz="4400" b="1" dirty="0">
                <a:latin typeface="+mj-lt"/>
              </a:rPr>
              <a:t>Información Necesaria para la elaboración del Resultado Operativo</a:t>
            </a:r>
            <a:endParaRPr lang="es-PE" dirty="0"/>
          </a:p>
        </p:txBody>
      </p:sp>
      <p:sp>
        <p:nvSpPr>
          <p:cNvPr id="5" name="Google Shape;562;p56"/>
          <p:cNvSpPr txBox="1">
            <a:spLocks/>
          </p:cNvSpPr>
          <p:nvPr/>
        </p:nvSpPr>
        <p:spPr>
          <a:xfrm>
            <a:off x="838201" y="1941341"/>
            <a:ext cx="10584766" cy="4360985"/>
          </a:xfrm>
          <a:prstGeom prst="rect">
            <a:avLst/>
          </a:prstGeom>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0"/>
              </a:spcBef>
              <a:spcAft>
                <a:spcPts val="1200"/>
              </a:spcAft>
              <a:buClr>
                <a:schemeClr val="accent1"/>
              </a:buClr>
              <a:buSzPct val="100000"/>
              <a:buNone/>
            </a:pPr>
            <a:r>
              <a:rPr lang="es-PE" sz="3000" b="1" dirty="0">
                <a:ea typeface="Calibri"/>
                <a:cs typeface="Calibri" panose="020F0502020204030204" pitchFamily="34" charset="0"/>
                <a:sym typeface="Calibri"/>
              </a:rPr>
              <a:t>CALCULO DEL COSTO REAL Y PROYECCION DEL COSTO</a:t>
            </a:r>
          </a:p>
          <a:p>
            <a:pPr marL="0" indent="0" algn="just">
              <a:lnSpc>
                <a:spcPct val="100000"/>
              </a:lnSpc>
              <a:spcBef>
                <a:spcPts val="0"/>
              </a:spcBef>
              <a:spcAft>
                <a:spcPts val="1200"/>
              </a:spcAft>
              <a:buClr>
                <a:schemeClr val="accent1"/>
              </a:buClr>
              <a:buSzPct val="100000"/>
              <a:buNone/>
            </a:pPr>
            <a:r>
              <a:rPr lang="es-PE" sz="3000" b="1" dirty="0">
                <a:ea typeface="Calibri"/>
                <a:cs typeface="Calibri" panose="020F0502020204030204" pitchFamily="34" charset="0"/>
                <a:sym typeface="Calibri"/>
              </a:rPr>
              <a:t>Gastos Generales:</a:t>
            </a:r>
            <a:endParaRPr lang="es-MX" sz="3000" b="1" dirty="0">
              <a:ea typeface="Calibri"/>
              <a:cs typeface="Calibri" panose="020F0502020204030204" pitchFamily="34" charset="0"/>
              <a:sym typeface="Calibri"/>
            </a:endParaRPr>
          </a:p>
          <a:p>
            <a:pPr marL="0" indent="0" algn="just">
              <a:lnSpc>
                <a:spcPct val="100000"/>
              </a:lnSpc>
              <a:spcBef>
                <a:spcPts val="0"/>
              </a:spcBef>
              <a:spcAft>
                <a:spcPts val="1200"/>
              </a:spcAft>
              <a:buClr>
                <a:schemeClr val="accent1"/>
              </a:buClr>
              <a:buSzPct val="100000"/>
              <a:buNone/>
            </a:pPr>
            <a:r>
              <a:rPr lang="es-MX" sz="3000" dirty="0">
                <a:ea typeface="Calibri"/>
                <a:cs typeface="Calibri" panose="020F0502020204030204" pitchFamily="34" charset="0"/>
                <a:sym typeface="Calibri"/>
              </a:rPr>
              <a:t>Son todos los gastos que no están ligados directamente a la producción, pero que son imprescindibles para poder llevarla a cabo, es decir representan todos los recursos y servicios necesarios que sirven de soporte a la producción. Si existen brechas se tendrá que plantear oportunidades de mejora.</a:t>
            </a:r>
          </a:p>
        </p:txBody>
      </p:sp>
    </p:spTree>
    <p:extLst>
      <p:ext uri="{BB962C8B-B14F-4D97-AF65-F5344CB8AC3E}">
        <p14:creationId xmlns:p14="http://schemas.microsoft.com/office/powerpoint/2010/main" val="15559005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2" name="Título 1">
            <a:extLst>
              <a:ext uri="{FF2B5EF4-FFF2-40B4-BE49-F238E27FC236}">
                <a16:creationId xmlns:a16="http://schemas.microsoft.com/office/drawing/2014/main" id="{E3B1A15F-A355-4D60-AF50-13B9017F2DDF}"/>
              </a:ext>
            </a:extLst>
          </p:cNvPr>
          <p:cNvSpPr>
            <a:spLocks noGrp="1"/>
          </p:cNvSpPr>
          <p:nvPr>
            <p:ph type="title"/>
          </p:nvPr>
        </p:nvSpPr>
        <p:spPr>
          <a:xfrm>
            <a:off x="838200" y="365125"/>
            <a:ext cx="8699695" cy="1325563"/>
          </a:xfrm>
        </p:spPr>
        <p:txBody>
          <a:bodyPr>
            <a:normAutofit/>
          </a:bodyPr>
          <a:lstStyle/>
          <a:p>
            <a:pPr algn="just"/>
            <a:r>
              <a:rPr lang="es-ES" sz="4400" b="1" dirty="0">
                <a:latin typeface="+mj-lt"/>
              </a:rPr>
              <a:t>Información Necesaria para la elaboración del Resultado Operativo</a:t>
            </a:r>
            <a:endParaRPr lang="es-PE" dirty="0"/>
          </a:p>
        </p:txBody>
      </p:sp>
      <p:sp>
        <p:nvSpPr>
          <p:cNvPr id="5" name="Google Shape;562;p56"/>
          <p:cNvSpPr txBox="1">
            <a:spLocks/>
          </p:cNvSpPr>
          <p:nvPr/>
        </p:nvSpPr>
        <p:spPr>
          <a:xfrm>
            <a:off x="838201" y="1690689"/>
            <a:ext cx="10584766" cy="4611638"/>
          </a:xfrm>
          <a:prstGeom prst="rect">
            <a:avLst/>
          </a:prstGeom>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0"/>
              </a:spcBef>
              <a:spcAft>
                <a:spcPts val="600"/>
              </a:spcAft>
              <a:buClr>
                <a:schemeClr val="accent1"/>
              </a:buClr>
              <a:buSzPct val="100000"/>
              <a:buNone/>
            </a:pPr>
            <a:r>
              <a:rPr lang="es-PE" sz="3000" b="1" dirty="0">
                <a:ea typeface="Calibri"/>
                <a:cs typeface="Calibri" panose="020F0502020204030204" pitchFamily="34" charset="0"/>
                <a:sym typeface="Calibri"/>
              </a:rPr>
              <a:t>CALCULO DEL COSTO REAL Y PROYECCION DEL COSTO</a:t>
            </a:r>
          </a:p>
          <a:p>
            <a:pPr marL="0" indent="0" algn="just">
              <a:lnSpc>
                <a:spcPct val="100000"/>
              </a:lnSpc>
              <a:spcBef>
                <a:spcPts val="0"/>
              </a:spcBef>
              <a:spcAft>
                <a:spcPts val="600"/>
              </a:spcAft>
              <a:buClr>
                <a:schemeClr val="accent1"/>
              </a:buClr>
              <a:buSzPct val="100000"/>
              <a:buNone/>
            </a:pPr>
            <a:r>
              <a:rPr lang="es-PE" sz="3000" b="1" dirty="0">
                <a:ea typeface="Calibri"/>
                <a:cs typeface="Calibri" panose="020F0502020204030204" pitchFamily="34" charset="0"/>
                <a:sym typeface="Calibri"/>
              </a:rPr>
              <a:t>Gastos Generales:</a:t>
            </a:r>
            <a:endParaRPr lang="es-MX" sz="3000" b="1" dirty="0">
              <a:ea typeface="Calibri"/>
              <a:cs typeface="Calibri" panose="020F0502020204030204" pitchFamily="34" charset="0"/>
              <a:sym typeface="Calibri"/>
            </a:endParaRPr>
          </a:p>
          <a:p>
            <a:pPr marL="0" indent="0" algn="just">
              <a:lnSpc>
                <a:spcPct val="100000"/>
              </a:lnSpc>
              <a:spcBef>
                <a:spcPts val="0"/>
              </a:spcBef>
              <a:spcAft>
                <a:spcPts val="600"/>
              </a:spcAft>
              <a:buClr>
                <a:schemeClr val="accent1"/>
              </a:buClr>
              <a:buSzPct val="100000"/>
              <a:buNone/>
            </a:pPr>
            <a:r>
              <a:rPr lang="es-MX" sz="3000" dirty="0">
                <a:ea typeface="Calibri"/>
                <a:cs typeface="Calibri" panose="020F0502020204030204" pitchFamily="34" charset="0"/>
                <a:sym typeface="Calibri"/>
              </a:rPr>
              <a:t>Dentro de estos gastos tenemos:</a:t>
            </a:r>
          </a:p>
          <a:p>
            <a:pPr algn="just">
              <a:lnSpc>
                <a:spcPct val="100000"/>
              </a:lnSpc>
              <a:spcBef>
                <a:spcPts val="0"/>
              </a:spcBef>
              <a:spcAft>
                <a:spcPts val="600"/>
              </a:spcAft>
              <a:buClr>
                <a:schemeClr val="accent1"/>
              </a:buClr>
              <a:buSzPct val="100000"/>
            </a:pPr>
            <a:r>
              <a:rPr lang="es-MX" sz="3000" dirty="0">
                <a:ea typeface="Calibri"/>
                <a:cs typeface="Calibri" panose="020F0502020204030204" pitchFamily="34" charset="0"/>
                <a:sym typeface="Calibri"/>
              </a:rPr>
              <a:t>Reporte de gastos de la Caja chica.</a:t>
            </a:r>
          </a:p>
          <a:p>
            <a:pPr algn="just">
              <a:lnSpc>
                <a:spcPct val="100000"/>
              </a:lnSpc>
              <a:spcBef>
                <a:spcPts val="0"/>
              </a:spcBef>
              <a:spcAft>
                <a:spcPts val="600"/>
              </a:spcAft>
              <a:buClr>
                <a:schemeClr val="accent1"/>
              </a:buClr>
              <a:buSzPct val="100000"/>
            </a:pPr>
            <a:r>
              <a:rPr lang="es-MX" sz="3000" dirty="0">
                <a:ea typeface="Calibri"/>
                <a:cs typeface="Calibri" panose="020F0502020204030204" pitchFamily="34" charset="0"/>
                <a:sym typeface="Calibri"/>
              </a:rPr>
              <a:t>Reporte de pasajes aéreos y terrestres.</a:t>
            </a:r>
          </a:p>
          <a:p>
            <a:pPr algn="just">
              <a:lnSpc>
                <a:spcPct val="100000"/>
              </a:lnSpc>
              <a:spcBef>
                <a:spcPts val="0"/>
              </a:spcBef>
              <a:spcAft>
                <a:spcPts val="600"/>
              </a:spcAft>
              <a:buClr>
                <a:schemeClr val="accent1"/>
              </a:buClr>
              <a:buSzPct val="100000"/>
            </a:pPr>
            <a:r>
              <a:rPr lang="es-MX" sz="3000" dirty="0">
                <a:ea typeface="Calibri"/>
                <a:cs typeface="Calibri" panose="020F0502020204030204" pitchFamily="34" charset="0"/>
                <a:sym typeface="Calibri"/>
              </a:rPr>
              <a:t>Gastos médicos.</a:t>
            </a:r>
          </a:p>
          <a:p>
            <a:pPr algn="just">
              <a:lnSpc>
                <a:spcPct val="100000"/>
              </a:lnSpc>
              <a:spcBef>
                <a:spcPts val="0"/>
              </a:spcBef>
              <a:spcAft>
                <a:spcPts val="600"/>
              </a:spcAft>
              <a:buClr>
                <a:schemeClr val="accent1"/>
              </a:buClr>
              <a:buSzPct val="100000"/>
            </a:pPr>
            <a:r>
              <a:rPr lang="es-MX" sz="3000" dirty="0">
                <a:ea typeface="Calibri"/>
                <a:cs typeface="Calibri" panose="020F0502020204030204" pitchFamily="34" charset="0"/>
                <a:sym typeface="Calibri"/>
              </a:rPr>
              <a:t>Gastos de Oficina Central.</a:t>
            </a:r>
          </a:p>
          <a:p>
            <a:pPr algn="just">
              <a:lnSpc>
                <a:spcPct val="100000"/>
              </a:lnSpc>
              <a:spcBef>
                <a:spcPts val="0"/>
              </a:spcBef>
              <a:spcAft>
                <a:spcPts val="600"/>
              </a:spcAft>
              <a:buClr>
                <a:schemeClr val="accent1"/>
              </a:buClr>
              <a:buSzPct val="100000"/>
            </a:pPr>
            <a:r>
              <a:rPr lang="es-MX" sz="3000" dirty="0">
                <a:ea typeface="Calibri"/>
                <a:cs typeface="Calibri" panose="020F0502020204030204" pitchFamily="34" charset="0"/>
                <a:sym typeface="Calibri"/>
              </a:rPr>
              <a:t>Reportes de alquiler de inmuebles.</a:t>
            </a:r>
          </a:p>
          <a:p>
            <a:pPr algn="just">
              <a:lnSpc>
                <a:spcPct val="100000"/>
              </a:lnSpc>
              <a:spcBef>
                <a:spcPts val="0"/>
              </a:spcBef>
              <a:spcAft>
                <a:spcPts val="600"/>
              </a:spcAft>
              <a:buClr>
                <a:schemeClr val="accent1"/>
              </a:buClr>
              <a:buSzPct val="100000"/>
            </a:pPr>
            <a:r>
              <a:rPr lang="es-MX" sz="3000" dirty="0">
                <a:ea typeface="Calibri"/>
                <a:cs typeface="Calibri" panose="020F0502020204030204" pitchFamily="34" charset="0"/>
                <a:sym typeface="Calibri"/>
              </a:rPr>
              <a:t>Seguros e impuestos.</a:t>
            </a:r>
          </a:p>
        </p:txBody>
      </p:sp>
    </p:spTree>
    <p:extLst>
      <p:ext uri="{BB962C8B-B14F-4D97-AF65-F5344CB8AC3E}">
        <p14:creationId xmlns:p14="http://schemas.microsoft.com/office/powerpoint/2010/main" val="9936356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2" name="Título 1">
            <a:extLst>
              <a:ext uri="{FF2B5EF4-FFF2-40B4-BE49-F238E27FC236}">
                <a16:creationId xmlns:a16="http://schemas.microsoft.com/office/drawing/2014/main" id="{E3B1A15F-A355-4D60-AF50-13B9017F2DDF}"/>
              </a:ext>
            </a:extLst>
          </p:cNvPr>
          <p:cNvSpPr>
            <a:spLocks noGrp="1"/>
          </p:cNvSpPr>
          <p:nvPr>
            <p:ph type="title"/>
          </p:nvPr>
        </p:nvSpPr>
        <p:spPr>
          <a:xfrm>
            <a:off x="838200" y="365125"/>
            <a:ext cx="8699695" cy="1325563"/>
          </a:xfrm>
        </p:spPr>
        <p:txBody>
          <a:bodyPr>
            <a:normAutofit/>
          </a:bodyPr>
          <a:lstStyle/>
          <a:p>
            <a:pPr algn="just"/>
            <a:r>
              <a:rPr lang="es-ES" sz="4400" b="1" dirty="0">
                <a:latin typeface="+mj-lt"/>
              </a:rPr>
              <a:t>Información Necesaria para la elaboración del Resultado Operativo</a:t>
            </a:r>
            <a:endParaRPr lang="es-PE" dirty="0"/>
          </a:p>
        </p:txBody>
      </p:sp>
      <p:sp>
        <p:nvSpPr>
          <p:cNvPr id="5" name="Google Shape;562;p56"/>
          <p:cNvSpPr txBox="1">
            <a:spLocks/>
          </p:cNvSpPr>
          <p:nvPr/>
        </p:nvSpPr>
        <p:spPr>
          <a:xfrm>
            <a:off x="838201" y="1941341"/>
            <a:ext cx="10584766" cy="4360985"/>
          </a:xfrm>
          <a:prstGeom prst="rect">
            <a:avLst/>
          </a:prstGeom>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0"/>
              </a:spcBef>
              <a:spcAft>
                <a:spcPts val="1200"/>
              </a:spcAft>
              <a:buClr>
                <a:schemeClr val="accent1"/>
              </a:buClr>
              <a:buSzPct val="100000"/>
              <a:buNone/>
            </a:pPr>
            <a:r>
              <a:rPr lang="es-PE" sz="3000" b="1" dirty="0">
                <a:ea typeface="Calibri"/>
                <a:cs typeface="Calibri" panose="020F0502020204030204" pitchFamily="34" charset="0"/>
                <a:sym typeface="Calibri"/>
              </a:rPr>
              <a:t>CALCULO DEL COSTO REAL Y PROYECCION DEL COSTO</a:t>
            </a:r>
          </a:p>
          <a:p>
            <a:pPr marL="0" indent="0" algn="just">
              <a:lnSpc>
                <a:spcPct val="100000"/>
              </a:lnSpc>
              <a:spcBef>
                <a:spcPts val="0"/>
              </a:spcBef>
              <a:spcAft>
                <a:spcPts val="1200"/>
              </a:spcAft>
              <a:buClr>
                <a:schemeClr val="accent1"/>
              </a:buClr>
              <a:buSzPct val="100000"/>
              <a:buNone/>
            </a:pPr>
            <a:r>
              <a:rPr lang="es-PE" sz="3000" b="1" dirty="0">
                <a:ea typeface="Calibri"/>
                <a:cs typeface="Calibri" panose="020F0502020204030204" pitchFamily="34" charset="0"/>
                <a:sym typeface="Calibri"/>
              </a:rPr>
              <a:t>Otros / Gastos Financieros:</a:t>
            </a:r>
            <a:endParaRPr lang="es-MX" sz="3000" b="1" dirty="0">
              <a:ea typeface="Calibri"/>
              <a:cs typeface="Calibri" panose="020F0502020204030204" pitchFamily="34" charset="0"/>
              <a:sym typeface="Calibri"/>
            </a:endParaRPr>
          </a:p>
          <a:p>
            <a:pPr marL="0" indent="0" algn="just">
              <a:lnSpc>
                <a:spcPct val="100000"/>
              </a:lnSpc>
              <a:spcBef>
                <a:spcPts val="0"/>
              </a:spcBef>
              <a:spcAft>
                <a:spcPts val="1200"/>
              </a:spcAft>
              <a:buClr>
                <a:schemeClr val="accent1"/>
              </a:buClr>
              <a:buSzPct val="100000"/>
              <a:buNone/>
            </a:pPr>
            <a:r>
              <a:rPr lang="es-MX" sz="3000" dirty="0">
                <a:ea typeface="Calibri"/>
                <a:cs typeface="Calibri" panose="020F0502020204030204" pitchFamily="34" charset="0"/>
                <a:sym typeface="Calibri"/>
              </a:rPr>
              <a:t>En algunos se suelen considerar por separado otros gastos financieros, como por ejemplo retraso en el pago a proveedores, gastos por negociaciones con sindicatos de trabajadores, etc. </a:t>
            </a:r>
          </a:p>
        </p:txBody>
      </p:sp>
    </p:spTree>
    <p:extLst>
      <p:ext uri="{BB962C8B-B14F-4D97-AF65-F5344CB8AC3E}">
        <p14:creationId xmlns:p14="http://schemas.microsoft.com/office/powerpoint/2010/main" val="17434928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7243B4-0970-4262-9AA5-972361800BFE}"/>
              </a:ext>
            </a:extLst>
          </p:cNvPr>
          <p:cNvSpPr>
            <a:spLocks noGrp="1"/>
          </p:cNvSpPr>
          <p:nvPr>
            <p:ph type="ctrTitle"/>
          </p:nvPr>
        </p:nvSpPr>
        <p:spPr>
          <a:xfrm>
            <a:off x="1524000" y="1998718"/>
            <a:ext cx="9144000" cy="2387600"/>
          </a:xfrm>
        </p:spPr>
        <p:txBody>
          <a:bodyPr>
            <a:normAutofit/>
          </a:bodyPr>
          <a:lstStyle/>
          <a:p>
            <a:r>
              <a:rPr lang="es-MX" sz="6400" b="1" dirty="0">
                <a:effectLst>
                  <a:outerShdw blurRad="50800" dist="101600" dir="2700000" algn="tl" rotWithShape="0">
                    <a:srgbClr val="00F3B5"/>
                  </a:outerShdw>
                </a:effectLst>
                <a:latin typeface="Prompt" panose="00000500000000000000" pitchFamily="2" charset="-34"/>
                <a:cs typeface="Prompt" panose="00000500000000000000" pitchFamily="2" charset="-34"/>
              </a:rPr>
              <a:t>MUCHAS GRACIAS POR SU ATENCIÓN</a:t>
            </a:r>
            <a:endParaRPr lang="es-PE" sz="6400" b="1" dirty="0">
              <a:effectLst>
                <a:outerShdw blurRad="50800" dist="101600" dir="2700000" algn="tl" rotWithShape="0">
                  <a:srgbClr val="00F3B5"/>
                </a:outerShdw>
              </a:effectLst>
              <a:latin typeface="Prompt" panose="00000500000000000000" pitchFamily="2" charset="-34"/>
              <a:cs typeface="Prompt" panose="00000500000000000000" pitchFamily="2" charset="-34"/>
            </a:endParaRPr>
          </a:p>
        </p:txBody>
      </p:sp>
    </p:spTree>
    <p:extLst>
      <p:ext uri="{BB962C8B-B14F-4D97-AF65-F5344CB8AC3E}">
        <p14:creationId xmlns:p14="http://schemas.microsoft.com/office/powerpoint/2010/main" val="29070530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538149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2564</TotalTime>
  <Words>1389</Words>
  <Application>Microsoft Office PowerPoint</Application>
  <PresentationFormat>Panorámica</PresentationFormat>
  <Paragraphs>99</Paragraphs>
  <Slides>28</Slides>
  <Notes>21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28</vt:i4>
      </vt:variant>
    </vt:vector>
  </HeadingPairs>
  <TitlesOfParts>
    <vt:vector size="34" baseType="lpstr">
      <vt:lpstr>Arial</vt:lpstr>
      <vt:lpstr>Calibri</vt:lpstr>
      <vt:lpstr>Calibri Light</vt:lpstr>
      <vt:lpstr>Montserrat</vt:lpstr>
      <vt:lpstr>Prompt</vt:lpstr>
      <vt:lpstr>Tema de Office</vt:lpstr>
      <vt:lpstr>Presentación de PowerPoint</vt:lpstr>
      <vt:lpstr>Presentación de PowerPoint</vt:lpstr>
      <vt:lpstr>Módulo 5</vt:lpstr>
      <vt:lpstr>Presentación de PowerPoint</vt:lpstr>
      <vt:lpstr>Flujo de Información</vt:lpstr>
      <vt:lpstr>Flujo de Información</vt:lpstr>
      <vt:lpstr>Paso 4: Consolidación de Información</vt:lpstr>
      <vt:lpstr>Paso 5: Reporte de Información</vt:lpstr>
      <vt:lpstr>Paso 5: Reporte de Información</vt:lpstr>
      <vt:lpstr>Presentación de PowerPoint</vt:lpstr>
      <vt:lpstr>Información Necesaria para la elaboración del Resultado Operativo</vt:lpstr>
      <vt:lpstr>Información Necesaria para la elaboración del Resultado Operativo</vt:lpstr>
      <vt:lpstr>Información Necesaria para la elaboración del Resultado Operativo</vt:lpstr>
      <vt:lpstr>Información Necesaria para la elaboración del Resultado Operativo</vt:lpstr>
      <vt:lpstr>Información Necesaria para la elaboración del Resultado Operativo</vt:lpstr>
      <vt:lpstr>Información Necesaria para la elaboración del Resultado Operativo</vt:lpstr>
      <vt:lpstr>Información Necesaria para la elaboración del Resultado Operativo</vt:lpstr>
      <vt:lpstr>Información Necesaria para la elaboración del Resultado Operativo</vt:lpstr>
      <vt:lpstr>Información Necesaria para la elaboración del Resultado Operativo</vt:lpstr>
      <vt:lpstr>Información Necesaria para la elaboración del Resultado Operativo</vt:lpstr>
      <vt:lpstr>Información Necesaria para la elaboración del Resultado Operativo</vt:lpstr>
      <vt:lpstr>Información Necesaria para la elaboración del Resultado Operativo</vt:lpstr>
      <vt:lpstr>Información Necesaria para la elaboración del Resultado Operativo</vt:lpstr>
      <vt:lpstr>Información Necesaria para la elaboración del Resultado Operativo</vt:lpstr>
      <vt:lpstr>Información Necesaria para la elaboración del Resultado Operativo</vt:lpstr>
      <vt:lpstr>Información Necesaria para la elaboración del Resultado Operativo</vt:lpstr>
      <vt:lpstr>MUCHAS GRACIAS POR SU ATENCIÓN</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Ci5D2</dc:creator>
  <cp:lastModifiedBy>Usuario</cp:lastModifiedBy>
  <cp:revision>181</cp:revision>
  <dcterms:created xsi:type="dcterms:W3CDTF">2022-04-19T18:02:09Z</dcterms:created>
  <dcterms:modified xsi:type="dcterms:W3CDTF">2024-07-12T00:40:29Z</dcterms:modified>
</cp:coreProperties>
</file>