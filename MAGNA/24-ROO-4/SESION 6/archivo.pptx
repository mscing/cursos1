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391" r:id="rId5"/>
    <p:sldId id="402" r:id="rId6"/>
    <p:sldId id="422" r:id="rId7"/>
    <p:sldId id="423" r:id="rId8"/>
    <p:sldId id="424" r:id="rId9"/>
    <p:sldId id="425" r:id="rId10"/>
    <p:sldId id="426" r:id="rId11"/>
    <p:sldId id="427" r:id="rId12"/>
    <p:sldId id="428" r:id="rId13"/>
    <p:sldId id="429" r:id="rId14"/>
    <p:sldId id="430" r:id="rId15"/>
    <p:sldId id="431" r:id="rId16"/>
    <p:sldId id="432" r:id="rId17"/>
    <p:sldId id="433" r:id="rId18"/>
    <p:sldId id="435" r:id="rId19"/>
    <p:sldId id="434" r:id="rId20"/>
    <p:sldId id="436" r:id="rId21"/>
    <p:sldId id="437" r:id="rId22"/>
    <p:sldId id="438" r:id="rId23"/>
    <p:sldId id="440" r:id="rId24"/>
    <p:sldId id="439" r:id="rId25"/>
    <p:sldId id="441" r:id="rId26"/>
    <p:sldId id="442" r:id="rId27"/>
    <p:sldId id="443" r:id="rId28"/>
    <p:sldId id="294" r:id="rId29"/>
    <p:sldId id="260" r:id="rId3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a:srgbClr val="F7F7F7"/>
    <a:srgbClr val="02BA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029" autoAdjust="0"/>
    <p:restoredTop sz="94660"/>
  </p:normalViewPr>
  <p:slideViewPr>
    <p:cSldViewPr snapToGrid="0">
      <p:cViewPr varScale="1">
        <p:scale>
          <a:sx n="110" d="100"/>
          <a:sy n="110" d="100"/>
        </p:scale>
        <p:origin x="20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27/06/2024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27/06/2024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27/06/2024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27/06/2024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27/06/2024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27/06/2024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27/06/2024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27/06/2024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27/06/2024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27/06/2024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27/06/2024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27/06/2024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1904948" y="2423937"/>
            <a:ext cx="8701421" cy="2123658"/>
          </a:xfrm>
          <a:prstGeom prst="rect">
            <a:avLst/>
          </a:prstGeom>
        </p:spPr>
        <p:txBody>
          <a:bodyPr wrap="none">
            <a:spAutoFit/>
          </a:bodyPr>
          <a:lstStyle/>
          <a:p>
            <a:r>
              <a:rPr lang="es-ES" sz="6600" dirty="0">
                <a:solidFill>
                  <a:srgbClr val="00F3B5"/>
                </a:solidFill>
                <a:latin typeface="Prompt" panose="00000800000000000000" pitchFamily="2" charset="-34"/>
                <a:cs typeface="Prompt" panose="00000800000000000000" pitchFamily="2" charset="-34"/>
              </a:rPr>
              <a:t>Resultado Operativo</a:t>
            </a:r>
          </a:p>
          <a:p>
            <a:pPr algn="ctr"/>
            <a:r>
              <a:rPr lang="es-ES" sz="6600" dirty="0">
                <a:solidFill>
                  <a:schemeClr val="bg1"/>
                </a:solidFill>
                <a:latin typeface="Prompt" panose="00000800000000000000" pitchFamily="2" charset="-34"/>
                <a:cs typeface="Prompt" panose="00000800000000000000" pitchFamily="2" charset="-34"/>
              </a:rPr>
              <a:t>de Obra</a:t>
            </a:r>
          </a:p>
        </p:txBody>
      </p:sp>
      <p:sp>
        <p:nvSpPr>
          <p:cNvPr id="7" name="CuadroTexto 6"/>
          <p:cNvSpPr txBox="1"/>
          <p:nvPr/>
        </p:nvSpPr>
        <p:spPr>
          <a:xfrm>
            <a:off x="1726249" y="1401509"/>
            <a:ext cx="3811425" cy="369332"/>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CURSO DE FORMACIÓN</a:t>
            </a:r>
          </a:p>
        </p:txBody>
      </p:sp>
      <p:sp>
        <p:nvSpPr>
          <p:cNvPr id="4" name="CuadroTexto 3">
            <a:extLst>
              <a:ext uri="{FF2B5EF4-FFF2-40B4-BE49-F238E27FC236}">
                <a16:creationId xmlns:a16="http://schemas.microsoft.com/office/drawing/2014/main" id="{CE78CD8B-B406-4F21-B6A0-85217AF25A26}"/>
              </a:ext>
            </a:extLst>
          </p:cNvPr>
          <p:cNvSpPr txBox="1"/>
          <p:nvPr/>
        </p:nvSpPr>
        <p:spPr>
          <a:xfrm>
            <a:off x="4684542" y="5271825"/>
            <a:ext cx="6991643" cy="646331"/>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DOCENTE: MG. ING. CHRISTIAN ENRIQUE TENORIO MESONES</a:t>
            </a:r>
          </a:p>
          <a:p>
            <a:r>
              <a:rPr lang="es-ES" dirty="0">
                <a:solidFill>
                  <a:schemeClr val="bg1"/>
                </a:solidFill>
                <a:latin typeface="Prompt" panose="00000800000000000000" pitchFamily="2" charset="-34"/>
                <a:cs typeface="Prompt" panose="00000800000000000000" pitchFamily="2" charset="-34"/>
              </a:rPr>
              <a:t>		xtianoperu@gmail.com</a:t>
            </a:r>
          </a:p>
        </p:txBody>
      </p:sp>
    </p:spTree>
    <p:extLst>
      <p:ext uri="{BB962C8B-B14F-4D97-AF65-F5344CB8AC3E}">
        <p14:creationId xmlns:p14="http://schemas.microsoft.com/office/powerpoint/2010/main" val="18256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87719" y="2766940"/>
            <a:ext cx="6667500" cy="844550"/>
          </a:xfrm>
        </p:spPr>
        <p:txBody>
          <a:bodyPr/>
          <a:lstStyle/>
          <a:p>
            <a:r>
              <a:rPr lang="es-ES" dirty="0">
                <a:solidFill>
                  <a:srgbClr val="00F3B5"/>
                </a:solidFill>
                <a:latin typeface="Prompt" panose="00000800000000000000" pitchFamily="2" charset="-34"/>
                <a:cs typeface="Prompt" panose="00000800000000000000" pitchFamily="2" charset="-34"/>
              </a:rPr>
              <a:t>Módulo 3</a:t>
            </a:r>
          </a:p>
        </p:txBody>
      </p:sp>
      <p:sp>
        <p:nvSpPr>
          <p:cNvPr id="5" name="CuadroTexto 4"/>
          <p:cNvSpPr txBox="1"/>
          <p:nvPr/>
        </p:nvSpPr>
        <p:spPr>
          <a:xfrm>
            <a:off x="1087719" y="3611490"/>
            <a:ext cx="9793641" cy="1015663"/>
          </a:xfrm>
          <a:prstGeom prst="rect">
            <a:avLst/>
          </a:prstGeom>
          <a:noFill/>
        </p:spPr>
        <p:txBody>
          <a:bodyPr wrap="square" rtlCol="0">
            <a:spAutoFit/>
          </a:bodyPr>
          <a:lstStyle/>
          <a:p>
            <a:r>
              <a:rPr lang="es-ES" sz="3000" dirty="0">
                <a:solidFill>
                  <a:schemeClr val="bg1"/>
                </a:solidFill>
                <a:latin typeface="Prompt" panose="00000800000000000000" pitchFamily="2" charset="-34"/>
                <a:cs typeface="Prompt" panose="00000800000000000000" pitchFamily="2" charset="-34"/>
              </a:rPr>
              <a:t>Venta y Costo en un Contrato de Construcción</a:t>
            </a:r>
          </a:p>
          <a:p>
            <a:r>
              <a:rPr lang="es-ES" sz="3000" dirty="0">
                <a:solidFill>
                  <a:schemeClr val="bg1"/>
                </a:solidFill>
                <a:latin typeface="Prompt" panose="00000800000000000000" pitchFamily="2" charset="-34"/>
                <a:cs typeface="Prompt" panose="00000800000000000000" pitchFamily="2" charset="-34"/>
              </a:rPr>
              <a:t>(Continuación) </a:t>
            </a:r>
          </a:p>
        </p:txBody>
      </p:sp>
    </p:spTree>
    <p:extLst>
      <p:ext uri="{BB962C8B-B14F-4D97-AF65-F5344CB8AC3E}">
        <p14:creationId xmlns:p14="http://schemas.microsoft.com/office/powerpoint/2010/main" val="1071336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136"/>
          <p:cNvSpPr txBox="1">
            <a:spLocks/>
          </p:cNvSpPr>
          <p:nvPr/>
        </p:nvSpPr>
        <p:spPr>
          <a:xfrm>
            <a:off x="1936161" y="2473234"/>
            <a:ext cx="8319678" cy="1532709"/>
          </a:xfrm>
          <a:prstGeom prst="rect">
            <a:avLst/>
          </a:prstGeom>
        </p:spPr>
        <p:txBody>
          <a:bodyPr vert="horz" lIns="91425" tIns="91425" rIns="91425" bIns="91425"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buClr>
                <a:srgbClr val="FFFFFF"/>
              </a:buClr>
              <a:buSzPct val="100000"/>
            </a:pPr>
            <a:r>
              <a:rPr lang="en" sz="5000" b="1" dirty="0">
                <a:latin typeface="+mn-lt"/>
              </a:rPr>
              <a:t>INFORME SEMANAL DE PRODUCCIÓN</a:t>
            </a:r>
          </a:p>
        </p:txBody>
      </p:sp>
    </p:spTree>
    <p:extLst>
      <p:ext uri="{BB962C8B-B14F-4D97-AF65-F5344CB8AC3E}">
        <p14:creationId xmlns:p14="http://schemas.microsoft.com/office/powerpoint/2010/main" val="4048170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3" y="1236559"/>
            <a:ext cx="10297552" cy="4601901"/>
          </a:xfrm>
          <a:prstGeom prst="rect">
            <a:avLst/>
          </a:prstGeom>
          <a:noFill/>
        </p:spPr>
        <p:txBody>
          <a:bodyPr wrap="square" rtlCol="0">
            <a:spAutoFit/>
          </a:bodyPr>
          <a:lstStyle/>
          <a:p>
            <a:pPr algn="just">
              <a:lnSpc>
                <a:spcPct val="150000"/>
              </a:lnSpc>
              <a:spcAft>
                <a:spcPts val="1200"/>
              </a:spcAft>
            </a:pPr>
            <a:r>
              <a:rPr lang="es-MX" sz="3200" b="1" dirty="0"/>
              <a:t>Productividad: </a:t>
            </a:r>
          </a:p>
          <a:p>
            <a:pPr algn="just">
              <a:lnSpc>
                <a:spcPct val="150000"/>
              </a:lnSpc>
            </a:pPr>
            <a:r>
              <a:rPr lang="es-MX" sz="3200" dirty="0"/>
              <a:t>Para un determinado proceso, es la relación entre la cantidad producida y los recursos empleados para obtenerlos.</a:t>
            </a:r>
          </a:p>
          <a:p>
            <a:pPr algn="just">
              <a:lnSpc>
                <a:spcPct val="150000"/>
              </a:lnSpc>
            </a:pPr>
            <a:r>
              <a:rPr lang="es-MX" sz="3200" dirty="0"/>
              <a:t>Los recursos considerados para medir la productividad de un proceso, son aquellos recursos claves o críticos definidos por la organización.</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Definiciones</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3426013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3" y="1236559"/>
            <a:ext cx="10297552" cy="5340565"/>
          </a:xfrm>
          <a:prstGeom prst="rect">
            <a:avLst/>
          </a:prstGeom>
          <a:noFill/>
        </p:spPr>
        <p:txBody>
          <a:bodyPr wrap="square" rtlCol="0">
            <a:spAutoFit/>
          </a:bodyPr>
          <a:lstStyle/>
          <a:p>
            <a:pPr algn="just">
              <a:lnSpc>
                <a:spcPct val="150000"/>
              </a:lnSpc>
              <a:spcAft>
                <a:spcPts val="1200"/>
              </a:spcAft>
            </a:pPr>
            <a:r>
              <a:rPr lang="es-MX" sz="3200" b="1" dirty="0"/>
              <a:t>Productividad (Ejemplo): </a:t>
            </a:r>
          </a:p>
          <a:p>
            <a:pPr algn="just">
              <a:lnSpc>
                <a:spcPct val="150000"/>
              </a:lnSpc>
            </a:pPr>
            <a:r>
              <a:rPr lang="es-MX" sz="3200" dirty="0"/>
              <a:t>Por ejemplo, para medir la productividad del proceso “Colocación de concreto” en un proyecto de construcción, se puede definir que la mano de obra es el recurso clave; por lo tanto, la productividad de dicho proceso se expresaría en m3/HH.</a:t>
            </a:r>
          </a:p>
          <a:p>
            <a:pPr algn="ctr">
              <a:lnSpc>
                <a:spcPct val="150000"/>
              </a:lnSpc>
            </a:pPr>
            <a:r>
              <a:rPr lang="es-MX" sz="3200" b="1" dirty="0"/>
              <a:t>Productividad = Cantidad producida / Recursos empleados</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Definiciones</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4140757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3" y="1236559"/>
            <a:ext cx="10297552" cy="5340565"/>
          </a:xfrm>
          <a:prstGeom prst="rect">
            <a:avLst/>
          </a:prstGeom>
          <a:noFill/>
        </p:spPr>
        <p:txBody>
          <a:bodyPr wrap="square" rtlCol="0">
            <a:spAutoFit/>
          </a:bodyPr>
          <a:lstStyle/>
          <a:p>
            <a:pPr algn="just">
              <a:lnSpc>
                <a:spcPct val="150000"/>
              </a:lnSpc>
              <a:spcAft>
                <a:spcPts val="1200"/>
              </a:spcAft>
            </a:pPr>
            <a:r>
              <a:rPr lang="es-MX" sz="3200" b="1" dirty="0"/>
              <a:t>Rendimiento: </a:t>
            </a:r>
          </a:p>
          <a:p>
            <a:pPr algn="just">
              <a:lnSpc>
                <a:spcPct val="150000"/>
              </a:lnSpc>
            </a:pPr>
            <a:r>
              <a:rPr lang="es-MX" sz="3200" dirty="0"/>
              <a:t>Es el inverso de la productividad, es decir, la relación entre los recursos empleados y la cantidad producida de un proceso. En el ejemplo anterior, el rendimiento del proceso</a:t>
            </a:r>
          </a:p>
          <a:p>
            <a:pPr algn="just">
              <a:lnSpc>
                <a:spcPct val="150000"/>
              </a:lnSpc>
            </a:pPr>
            <a:r>
              <a:rPr lang="es-MX" sz="3200" dirty="0"/>
              <a:t>“Colocación de concreto”, cuyo recurso clave es la mano de obra, se expresaría en HH/m3.</a:t>
            </a:r>
          </a:p>
          <a:p>
            <a:pPr algn="ctr">
              <a:lnSpc>
                <a:spcPct val="150000"/>
              </a:lnSpc>
            </a:pPr>
            <a:r>
              <a:rPr lang="es-MX" sz="3200" b="1" dirty="0"/>
              <a:t>Rendimiento = Recursos empleados / Cantidad producida</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Definiciones</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2765796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3" y="1236559"/>
            <a:ext cx="10297552" cy="3124573"/>
          </a:xfrm>
          <a:prstGeom prst="rect">
            <a:avLst/>
          </a:prstGeom>
          <a:noFill/>
        </p:spPr>
        <p:txBody>
          <a:bodyPr wrap="square" rtlCol="0">
            <a:spAutoFit/>
          </a:bodyPr>
          <a:lstStyle/>
          <a:p>
            <a:pPr algn="just">
              <a:lnSpc>
                <a:spcPct val="150000"/>
              </a:lnSpc>
              <a:spcAft>
                <a:spcPts val="1200"/>
              </a:spcAft>
            </a:pPr>
            <a:r>
              <a:rPr lang="es-MX" sz="3200" b="1" dirty="0"/>
              <a:t>Definición: </a:t>
            </a:r>
          </a:p>
          <a:p>
            <a:pPr algn="just">
              <a:lnSpc>
                <a:spcPct val="150000"/>
              </a:lnSpc>
            </a:pPr>
            <a:r>
              <a:rPr lang="es-MX" sz="3200" dirty="0"/>
              <a:t>Es la herramienta para hacer seguimiento y control al desempeño de los procesos constructivos generales </a:t>
            </a:r>
            <a:r>
              <a:rPr lang="es-MX" sz="3200" dirty="0" err="1"/>
              <a:t>ó</a:t>
            </a:r>
            <a:r>
              <a:rPr lang="es-MX" sz="3200" dirty="0"/>
              <a:t> fases directas de un proyecto. </a:t>
            </a:r>
          </a:p>
        </p:txBody>
      </p:sp>
      <p:sp>
        <p:nvSpPr>
          <p:cNvPr id="4" name="Rectángulo 3">
            <a:extLst>
              <a:ext uri="{FF2B5EF4-FFF2-40B4-BE49-F238E27FC236}">
                <a16:creationId xmlns:a16="http://schemas.microsoft.com/office/drawing/2014/main" id="{3D0FEA98-ECB5-4AD8-AB6D-8A6072778AE1}"/>
              </a:ext>
            </a:extLst>
          </p:cNvPr>
          <p:cNvSpPr/>
          <p:nvPr/>
        </p:nvSpPr>
        <p:spPr>
          <a:xfrm>
            <a:off x="780685" y="405562"/>
            <a:ext cx="8615863" cy="769441"/>
          </a:xfrm>
          <a:prstGeom prst="rect">
            <a:avLst/>
          </a:prstGeom>
        </p:spPr>
        <p:txBody>
          <a:bodyPr wrap="square">
            <a:spAutoFit/>
          </a:bodyPr>
          <a:lstStyle/>
          <a:p>
            <a:pPr marL="109728" indent="0">
              <a:buFont typeface="Arial" panose="020B0604020202020204" pitchFamily="34" charset="0"/>
              <a:buNone/>
            </a:pPr>
            <a:r>
              <a:rPr lang="en-US" sz="4400" b="1" dirty="0">
                <a:latin typeface="+mj-lt"/>
                <a:cs typeface="Times New Roman" panose="02020603050405020304" pitchFamily="18" charset="0"/>
              </a:rPr>
              <a:t>Informe </a:t>
            </a:r>
            <a:r>
              <a:rPr lang="en-US" sz="4400" b="1" dirty="0" err="1">
                <a:latin typeface="+mj-lt"/>
                <a:cs typeface="Times New Roman" panose="02020603050405020304" pitchFamily="18" charset="0"/>
              </a:rPr>
              <a:t>Semanal</a:t>
            </a:r>
            <a:r>
              <a:rPr lang="en-US" sz="4400" b="1" dirty="0">
                <a:latin typeface="+mj-lt"/>
                <a:cs typeface="Times New Roman" panose="02020603050405020304" pitchFamily="18" charset="0"/>
              </a:rPr>
              <a:t> de </a:t>
            </a:r>
            <a:r>
              <a:rPr lang="en-US" sz="4400" b="1" dirty="0" err="1">
                <a:latin typeface="+mj-lt"/>
                <a:cs typeface="Times New Roman" panose="02020603050405020304" pitchFamily="18" charset="0"/>
              </a:rPr>
              <a:t>Producción</a:t>
            </a:r>
            <a:r>
              <a:rPr lang="en-US" sz="4400" b="1" dirty="0">
                <a:latin typeface="+mj-lt"/>
                <a:cs typeface="Times New Roman" panose="02020603050405020304" pitchFamily="18" charset="0"/>
              </a:rPr>
              <a:t> (ISP)</a:t>
            </a:r>
          </a:p>
        </p:txBody>
      </p:sp>
    </p:spTree>
    <p:extLst>
      <p:ext uri="{BB962C8B-B14F-4D97-AF65-F5344CB8AC3E}">
        <p14:creationId xmlns:p14="http://schemas.microsoft.com/office/powerpoint/2010/main" val="2179995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3" y="1236559"/>
            <a:ext cx="10297552" cy="5186676"/>
          </a:xfrm>
          <a:prstGeom prst="rect">
            <a:avLst/>
          </a:prstGeom>
          <a:noFill/>
        </p:spPr>
        <p:txBody>
          <a:bodyPr wrap="square" rtlCol="0">
            <a:spAutoFit/>
          </a:bodyPr>
          <a:lstStyle/>
          <a:p>
            <a:pPr algn="just">
              <a:lnSpc>
                <a:spcPct val="150000"/>
              </a:lnSpc>
            </a:pPr>
            <a:r>
              <a:rPr lang="es-MX" sz="3200" dirty="0"/>
              <a:t>Permite diagnosticar el estado actual de un proyecto, a través de la medición de la productividad y/o rendimiento de sus principales procesos constructivos, lo que permite a su vez identificar desviaciones respecto a los objetivos de desempeño del proyecto, establecer e implementar acciones correctivas, así como proyectar la duración y los recursos necesarios para la culminación del proyecto.</a:t>
            </a:r>
          </a:p>
        </p:txBody>
      </p:sp>
      <p:sp>
        <p:nvSpPr>
          <p:cNvPr id="4" name="Rectángulo 3">
            <a:extLst>
              <a:ext uri="{FF2B5EF4-FFF2-40B4-BE49-F238E27FC236}">
                <a16:creationId xmlns:a16="http://schemas.microsoft.com/office/drawing/2014/main" id="{3D0FEA98-ECB5-4AD8-AB6D-8A6072778AE1}"/>
              </a:ext>
            </a:extLst>
          </p:cNvPr>
          <p:cNvSpPr/>
          <p:nvPr/>
        </p:nvSpPr>
        <p:spPr>
          <a:xfrm>
            <a:off x="780685" y="405562"/>
            <a:ext cx="8615863" cy="769441"/>
          </a:xfrm>
          <a:prstGeom prst="rect">
            <a:avLst/>
          </a:prstGeom>
        </p:spPr>
        <p:txBody>
          <a:bodyPr wrap="square">
            <a:spAutoFit/>
          </a:bodyPr>
          <a:lstStyle/>
          <a:p>
            <a:pPr marL="109728" indent="0">
              <a:buFont typeface="Arial" panose="020B0604020202020204" pitchFamily="34" charset="0"/>
              <a:buNone/>
            </a:pPr>
            <a:r>
              <a:rPr lang="en-US" sz="4400" b="1" dirty="0">
                <a:latin typeface="+mj-lt"/>
                <a:cs typeface="Times New Roman" panose="02020603050405020304" pitchFamily="18" charset="0"/>
              </a:rPr>
              <a:t>Informe </a:t>
            </a:r>
            <a:r>
              <a:rPr lang="en-US" sz="4400" b="1" dirty="0" err="1">
                <a:latin typeface="+mj-lt"/>
                <a:cs typeface="Times New Roman" panose="02020603050405020304" pitchFamily="18" charset="0"/>
              </a:rPr>
              <a:t>Semanal</a:t>
            </a:r>
            <a:r>
              <a:rPr lang="en-US" sz="4400" b="1" dirty="0">
                <a:latin typeface="+mj-lt"/>
                <a:cs typeface="Times New Roman" panose="02020603050405020304" pitchFamily="18" charset="0"/>
              </a:rPr>
              <a:t> de </a:t>
            </a:r>
            <a:r>
              <a:rPr lang="en-US" sz="4400" b="1" dirty="0" err="1">
                <a:latin typeface="+mj-lt"/>
                <a:cs typeface="Times New Roman" panose="02020603050405020304" pitchFamily="18" charset="0"/>
              </a:rPr>
              <a:t>Producción</a:t>
            </a:r>
            <a:r>
              <a:rPr lang="en-US" sz="4400" b="1" dirty="0">
                <a:latin typeface="+mj-lt"/>
                <a:cs typeface="Times New Roman" panose="02020603050405020304" pitchFamily="18" charset="0"/>
              </a:rPr>
              <a:t> (ISP)</a:t>
            </a:r>
          </a:p>
        </p:txBody>
      </p:sp>
    </p:spTree>
    <p:extLst>
      <p:ext uri="{BB962C8B-B14F-4D97-AF65-F5344CB8AC3E}">
        <p14:creationId xmlns:p14="http://schemas.microsoft.com/office/powerpoint/2010/main" val="3209363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3" y="1236559"/>
            <a:ext cx="10297552" cy="3124573"/>
          </a:xfrm>
          <a:prstGeom prst="rect">
            <a:avLst/>
          </a:prstGeom>
          <a:noFill/>
        </p:spPr>
        <p:txBody>
          <a:bodyPr wrap="square" rtlCol="0">
            <a:spAutoFit/>
          </a:bodyPr>
          <a:lstStyle/>
          <a:p>
            <a:pPr algn="just">
              <a:lnSpc>
                <a:spcPct val="150000"/>
              </a:lnSpc>
              <a:spcAft>
                <a:spcPts val="1200"/>
              </a:spcAft>
            </a:pPr>
            <a:r>
              <a:rPr lang="es-MX" sz="3200" b="1" dirty="0"/>
              <a:t>Definición: </a:t>
            </a:r>
          </a:p>
          <a:p>
            <a:pPr algn="just">
              <a:lnSpc>
                <a:spcPct val="150000"/>
              </a:lnSpc>
            </a:pPr>
            <a:r>
              <a:rPr lang="es-MX" sz="3200" dirty="0"/>
              <a:t>Es la herramienta para hacer seguimiento y control al desempeño de los procesos constructivos generales </a:t>
            </a:r>
            <a:r>
              <a:rPr lang="es-MX" sz="3200" dirty="0" err="1"/>
              <a:t>ó</a:t>
            </a:r>
            <a:r>
              <a:rPr lang="es-MX" sz="3200" dirty="0"/>
              <a:t> fases directas de un proyecto. </a:t>
            </a:r>
          </a:p>
        </p:txBody>
      </p:sp>
      <p:sp>
        <p:nvSpPr>
          <p:cNvPr id="4" name="Rectángulo 3">
            <a:extLst>
              <a:ext uri="{FF2B5EF4-FFF2-40B4-BE49-F238E27FC236}">
                <a16:creationId xmlns:a16="http://schemas.microsoft.com/office/drawing/2014/main" id="{3D0FEA98-ECB5-4AD8-AB6D-8A6072778AE1}"/>
              </a:ext>
            </a:extLst>
          </p:cNvPr>
          <p:cNvSpPr/>
          <p:nvPr/>
        </p:nvSpPr>
        <p:spPr>
          <a:xfrm>
            <a:off x="780685" y="405562"/>
            <a:ext cx="8615863" cy="769441"/>
          </a:xfrm>
          <a:prstGeom prst="rect">
            <a:avLst/>
          </a:prstGeom>
        </p:spPr>
        <p:txBody>
          <a:bodyPr wrap="square">
            <a:spAutoFit/>
          </a:bodyPr>
          <a:lstStyle/>
          <a:p>
            <a:pPr marL="109728" indent="0">
              <a:buFont typeface="Arial" panose="020B0604020202020204" pitchFamily="34" charset="0"/>
              <a:buNone/>
            </a:pPr>
            <a:r>
              <a:rPr lang="en-US" sz="4400" b="1" dirty="0">
                <a:latin typeface="+mj-lt"/>
                <a:cs typeface="Times New Roman" panose="02020603050405020304" pitchFamily="18" charset="0"/>
              </a:rPr>
              <a:t>Informe </a:t>
            </a:r>
            <a:r>
              <a:rPr lang="en-US" sz="4400" b="1" dirty="0" err="1">
                <a:latin typeface="+mj-lt"/>
                <a:cs typeface="Times New Roman" panose="02020603050405020304" pitchFamily="18" charset="0"/>
              </a:rPr>
              <a:t>Semanal</a:t>
            </a:r>
            <a:r>
              <a:rPr lang="en-US" sz="4400" b="1" dirty="0">
                <a:latin typeface="+mj-lt"/>
                <a:cs typeface="Times New Roman" panose="02020603050405020304" pitchFamily="18" charset="0"/>
              </a:rPr>
              <a:t> de </a:t>
            </a:r>
            <a:r>
              <a:rPr lang="en-US" sz="4400" b="1" dirty="0" err="1">
                <a:latin typeface="+mj-lt"/>
                <a:cs typeface="Times New Roman" panose="02020603050405020304" pitchFamily="18" charset="0"/>
              </a:rPr>
              <a:t>Producción</a:t>
            </a:r>
            <a:r>
              <a:rPr lang="en-US" sz="4400" b="1" dirty="0">
                <a:latin typeface="+mj-lt"/>
                <a:cs typeface="Times New Roman" panose="02020603050405020304" pitchFamily="18" charset="0"/>
              </a:rPr>
              <a:t> (ISP)</a:t>
            </a:r>
          </a:p>
        </p:txBody>
      </p:sp>
    </p:spTree>
    <p:extLst>
      <p:ext uri="{BB962C8B-B14F-4D97-AF65-F5344CB8AC3E}">
        <p14:creationId xmlns:p14="http://schemas.microsoft.com/office/powerpoint/2010/main" val="30705437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3" y="1236559"/>
            <a:ext cx="10297552" cy="4601901"/>
          </a:xfrm>
          <a:prstGeom prst="rect">
            <a:avLst/>
          </a:prstGeom>
          <a:noFill/>
        </p:spPr>
        <p:txBody>
          <a:bodyPr wrap="square" rtlCol="0">
            <a:spAutoFit/>
          </a:bodyPr>
          <a:lstStyle/>
          <a:p>
            <a:pPr algn="just">
              <a:lnSpc>
                <a:spcPct val="150000"/>
              </a:lnSpc>
              <a:spcAft>
                <a:spcPts val="1200"/>
              </a:spcAft>
            </a:pPr>
            <a:r>
              <a:rPr lang="es-MX" sz="3200" b="1" dirty="0"/>
              <a:t>Nivel de Control: </a:t>
            </a:r>
          </a:p>
          <a:p>
            <a:pPr algn="just">
              <a:lnSpc>
                <a:spcPct val="150000"/>
              </a:lnSpc>
            </a:pPr>
            <a:r>
              <a:rPr lang="es-MX" sz="3200" dirty="0"/>
              <a:t>Para medir la productividad y/o rendimiento de los procesos constructivos en un proyecto, el Equipo de Dirección debe definir cómo se van a controlar los recursos: a nivel de cantidades o costos. Esto va a depender del tipo y de las necesidades del proyecto.</a:t>
            </a:r>
          </a:p>
        </p:txBody>
      </p:sp>
      <p:sp>
        <p:nvSpPr>
          <p:cNvPr id="4" name="Rectángulo 3">
            <a:extLst>
              <a:ext uri="{FF2B5EF4-FFF2-40B4-BE49-F238E27FC236}">
                <a16:creationId xmlns:a16="http://schemas.microsoft.com/office/drawing/2014/main" id="{3D0FEA98-ECB5-4AD8-AB6D-8A6072778AE1}"/>
              </a:ext>
            </a:extLst>
          </p:cNvPr>
          <p:cNvSpPr/>
          <p:nvPr/>
        </p:nvSpPr>
        <p:spPr>
          <a:xfrm>
            <a:off x="780685" y="405562"/>
            <a:ext cx="8615863" cy="769441"/>
          </a:xfrm>
          <a:prstGeom prst="rect">
            <a:avLst/>
          </a:prstGeom>
        </p:spPr>
        <p:txBody>
          <a:bodyPr wrap="square">
            <a:spAutoFit/>
          </a:bodyPr>
          <a:lstStyle/>
          <a:p>
            <a:pPr marL="109728" indent="0">
              <a:buFont typeface="Arial" panose="020B0604020202020204" pitchFamily="34" charset="0"/>
              <a:buNone/>
            </a:pPr>
            <a:r>
              <a:rPr lang="en-US" sz="4400" b="1" dirty="0">
                <a:latin typeface="+mj-lt"/>
                <a:cs typeface="Times New Roman" panose="02020603050405020304" pitchFamily="18" charset="0"/>
              </a:rPr>
              <a:t>Informe </a:t>
            </a:r>
            <a:r>
              <a:rPr lang="en-US" sz="4400" b="1" dirty="0" err="1">
                <a:latin typeface="+mj-lt"/>
                <a:cs typeface="Times New Roman" panose="02020603050405020304" pitchFamily="18" charset="0"/>
              </a:rPr>
              <a:t>Semanal</a:t>
            </a:r>
            <a:r>
              <a:rPr lang="en-US" sz="4400" b="1" dirty="0">
                <a:latin typeface="+mj-lt"/>
                <a:cs typeface="Times New Roman" panose="02020603050405020304" pitchFamily="18" charset="0"/>
              </a:rPr>
              <a:t> de </a:t>
            </a:r>
            <a:r>
              <a:rPr lang="en-US" sz="4400" b="1" dirty="0" err="1">
                <a:latin typeface="+mj-lt"/>
                <a:cs typeface="Times New Roman" panose="02020603050405020304" pitchFamily="18" charset="0"/>
              </a:rPr>
              <a:t>Producción</a:t>
            </a:r>
            <a:r>
              <a:rPr lang="en-US" sz="4400" b="1" dirty="0">
                <a:latin typeface="+mj-lt"/>
                <a:cs typeface="Times New Roman" panose="02020603050405020304" pitchFamily="18" charset="0"/>
              </a:rPr>
              <a:t> (ISP)</a:t>
            </a:r>
          </a:p>
        </p:txBody>
      </p:sp>
    </p:spTree>
    <p:extLst>
      <p:ext uri="{BB962C8B-B14F-4D97-AF65-F5344CB8AC3E}">
        <p14:creationId xmlns:p14="http://schemas.microsoft.com/office/powerpoint/2010/main" val="310979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3" y="1236559"/>
            <a:ext cx="10297552" cy="3863237"/>
          </a:xfrm>
          <a:prstGeom prst="rect">
            <a:avLst/>
          </a:prstGeom>
          <a:noFill/>
        </p:spPr>
        <p:txBody>
          <a:bodyPr wrap="square" rtlCol="0">
            <a:spAutoFit/>
          </a:bodyPr>
          <a:lstStyle/>
          <a:p>
            <a:pPr algn="just">
              <a:lnSpc>
                <a:spcPct val="150000"/>
              </a:lnSpc>
              <a:spcAft>
                <a:spcPts val="1200"/>
              </a:spcAft>
            </a:pPr>
            <a:r>
              <a:rPr lang="es-MX" sz="3200" b="1" dirty="0"/>
              <a:t>Nivel de Detalle: </a:t>
            </a:r>
          </a:p>
          <a:p>
            <a:pPr algn="just">
              <a:lnSpc>
                <a:spcPct val="150000"/>
              </a:lnSpc>
            </a:pPr>
            <a:r>
              <a:rPr lang="es-MX" sz="3200" dirty="0"/>
              <a:t>El Equipo de Dirección del Proyecto es responsable de definir al inicio del proyecto, los procesos constructivos que serán controlados a través del ISP, utilizando como referencia el Plan de Fases del proyecto.</a:t>
            </a:r>
          </a:p>
        </p:txBody>
      </p:sp>
      <p:sp>
        <p:nvSpPr>
          <p:cNvPr id="4" name="Rectángulo 3">
            <a:extLst>
              <a:ext uri="{FF2B5EF4-FFF2-40B4-BE49-F238E27FC236}">
                <a16:creationId xmlns:a16="http://schemas.microsoft.com/office/drawing/2014/main" id="{3D0FEA98-ECB5-4AD8-AB6D-8A6072778AE1}"/>
              </a:ext>
            </a:extLst>
          </p:cNvPr>
          <p:cNvSpPr/>
          <p:nvPr/>
        </p:nvSpPr>
        <p:spPr>
          <a:xfrm>
            <a:off x="780685" y="405562"/>
            <a:ext cx="8615863" cy="769441"/>
          </a:xfrm>
          <a:prstGeom prst="rect">
            <a:avLst/>
          </a:prstGeom>
        </p:spPr>
        <p:txBody>
          <a:bodyPr wrap="square">
            <a:spAutoFit/>
          </a:bodyPr>
          <a:lstStyle/>
          <a:p>
            <a:pPr marL="109728" indent="0">
              <a:buFont typeface="Arial" panose="020B0604020202020204" pitchFamily="34" charset="0"/>
              <a:buNone/>
            </a:pPr>
            <a:r>
              <a:rPr lang="en-US" sz="4400" b="1" dirty="0">
                <a:latin typeface="+mj-lt"/>
                <a:cs typeface="Times New Roman" panose="02020603050405020304" pitchFamily="18" charset="0"/>
              </a:rPr>
              <a:t>Informe </a:t>
            </a:r>
            <a:r>
              <a:rPr lang="en-US" sz="4400" b="1" dirty="0" err="1">
                <a:latin typeface="+mj-lt"/>
                <a:cs typeface="Times New Roman" panose="02020603050405020304" pitchFamily="18" charset="0"/>
              </a:rPr>
              <a:t>Semanal</a:t>
            </a:r>
            <a:r>
              <a:rPr lang="en-US" sz="4400" b="1" dirty="0">
                <a:latin typeface="+mj-lt"/>
                <a:cs typeface="Times New Roman" panose="02020603050405020304" pitchFamily="18" charset="0"/>
              </a:rPr>
              <a:t> de </a:t>
            </a:r>
            <a:r>
              <a:rPr lang="en-US" sz="4400" b="1" dirty="0" err="1">
                <a:latin typeface="+mj-lt"/>
                <a:cs typeface="Times New Roman" panose="02020603050405020304" pitchFamily="18" charset="0"/>
              </a:rPr>
              <a:t>Producción</a:t>
            </a:r>
            <a:r>
              <a:rPr lang="en-US" sz="4400" b="1" dirty="0">
                <a:latin typeface="+mj-lt"/>
                <a:cs typeface="Times New Roman" panose="02020603050405020304" pitchFamily="18" charset="0"/>
              </a:rPr>
              <a:t> (ISP)</a:t>
            </a:r>
          </a:p>
        </p:txBody>
      </p:sp>
    </p:spTree>
    <p:extLst>
      <p:ext uri="{BB962C8B-B14F-4D97-AF65-F5344CB8AC3E}">
        <p14:creationId xmlns:p14="http://schemas.microsoft.com/office/powerpoint/2010/main" val="3533738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3" y="1236559"/>
            <a:ext cx="10297552" cy="4601901"/>
          </a:xfrm>
          <a:prstGeom prst="rect">
            <a:avLst/>
          </a:prstGeom>
          <a:noFill/>
        </p:spPr>
        <p:txBody>
          <a:bodyPr wrap="square" rtlCol="0">
            <a:spAutoFit/>
          </a:bodyPr>
          <a:lstStyle/>
          <a:p>
            <a:pPr algn="just">
              <a:lnSpc>
                <a:spcPct val="150000"/>
              </a:lnSpc>
              <a:spcAft>
                <a:spcPts val="1200"/>
              </a:spcAft>
            </a:pPr>
            <a:r>
              <a:rPr lang="es-MX" sz="3200" b="1" dirty="0"/>
              <a:t>Información Requerida: </a:t>
            </a:r>
          </a:p>
          <a:p>
            <a:pPr algn="just">
              <a:lnSpc>
                <a:spcPct val="150000"/>
              </a:lnSpc>
              <a:spcAft>
                <a:spcPts val="1200"/>
              </a:spcAft>
            </a:pPr>
            <a:r>
              <a:rPr lang="es-MX" sz="3200" dirty="0"/>
              <a:t>La información requerida para elaborar el ISP comprende: recursos utilizados, producción (programado y real) y rendimiento previsto por cada proceso constructivo, de acuerdo a lo establecido por el Equipo de Dirección del Proyecto.</a:t>
            </a:r>
          </a:p>
        </p:txBody>
      </p:sp>
      <p:sp>
        <p:nvSpPr>
          <p:cNvPr id="4" name="Rectángulo 3">
            <a:extLst>
              <a:ext uri="{FF2B5EF4-FFF2-40B4-BE49-F238E27FC236}">
                <a16:creationId xmlns:a16="http://schemas.microsoft.com/office/drawing/2014/main" id="{3D0FEA98-ECB5-4AD8-AB6D-8A6072778AE1}"/>
              </a:ext>
            </a:extLst>
          </p:cNvPr>
          <p:cNvSpPr/>
          <p:nvPr/>
        </p:nvSpPr>
        <p:spPr>
          <a:xfrm>
            <a:off x="780685" y="405562"/>
            <a:ext cx="8615863" cy="769441"/>
          </a:xfrm>
          <a:prstGeom prst="rect">
            <a:avLst/>
          </a:prstGeom>
        </p:spPr>
        <p:txBody>
          <a:bodyPr wrap="square">
            <a:spAutoFit/>
          </a:bodyPr>
          <a:lstStyle/>
          <a:p>
            <a:pPr marL="109728" indent="0">
              <a:buFont typeface="Arial" panose="020B0604020202020204" pitchFamily="34" charset="0"/>
              <a:buNone/>
            </a:pPr>
            <a:r>
              <a:rPr lang="en-US" sz="4400" b="1" dirty="0">
                <a:latin typeface="+mj-lt"/>
                <a:cs typeface="Times New Roman" panose="02020603050405020304" pitchFamily="18" charset="0"/>
              </a:rPr>
              <a:t>Informe </a:t>
            </a:r>
            <a:r>
              <a:rPr lang="en-US" sz="4400" b="1" dirty="0" err="1">
                <a:latin typeface="+mj-lt"/>
                <a:cs typeface="Times New Roman" panose="02020603050405020304" pitchFamily="18" charset="0"/>
              </a:rPr>
              <a:t>Semanal</a:t>
            </a:r>
            <a:r>
              <a:rPr lang="en-US" sz="4400" b="1" dirty="0">
                <a:latin typeface="+mj-lt"/>
                <a:cs typeface="Times New Roman" panose="02020603050405020304" pitchFamily="18" charset="0"/>
              </a:rPr>
              <a:t> de </a:t>
            </a:r>
            <a:r>
              <a:rPr lang="en-US" sz="4400" b="1" dirty="0" err="1">
                <a:latin typeface="+mj-lt"/>
                <a:cs typeface="Times New Roman" panose="02020603050405020304" pitchFamily="18" charset="0"/>
              </a:rPr>
              <a:t>Producción</a:t>
            </a:r>
            <a:r>
              <a:rPr lang="en-US" sz="4400" b="1" dirty="0">
                <a:latin typeface="+mj-lt"/>
                <a:cs typeface="Times New Roman" panose="02020603050405020304" pitchFamily="18" charset="0"/>
              </a:rPr>
              <a:t> (ISP)</a:t>
            </a:r>
          </a:p>
        </p:txBody>
      </p:sp>
    </p:spTree>
    <p:extLst>
      <p:ext uri="{BB962C8B-B14F-4D97-AF65-F5344CB8AC3E}">
        <p14:creationId xmlns:p14="http://schemas.microsoft.com/office/powerpoint/2010/main" val="21800212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3" y="1236559"/>
            <a:ext cx="10297552" cy="4601901"/>
          </a:xfrm>
          <a:prstGeom prst="rect">
            <a:avLst/>
          </a:prstGeom>
          <a:noFill/>
        </p:spPr>
        <p:txBody>
          <a:bodyPr wrap="square" rtlCol="0">
            <a:spAutoFit/>
          </a:bodyPr>
          <a:lstStyle/>
          <a:p>
            <a:pPr algn="just">
              <a:lnSpc>
                <a:spcPct val="150000"/>
              </a:lnSpc>
              <a:spcAft>
                <a:spcPts val="1200"/>
              </a:spcAft>
            </a:pPr>
            <a:r>
              <a:rPr lang="es-MX" sz="3200" b="1" dirty="0"/>
              <a:t>Información Requerida: Recursos Utilizados por Proceso:</a:t>
            </a:r>
          </a:p>
          <a:p>
            <a:pPr algn="just">
              <a:lnSpc>
                <a:spcPct val="150000"/>
              </a:lnSpc>
              <a:spcAft>
                <a:spcPts val="1200"/>
              </a:spcAft>
            </a:pPr>
            <a:r>
              <a:rPr lang="es-MX" sz="3200" dirty="0"/>
              <a:t>Tal como se ha mencionado en el ítem “Nivel de Control”, se debe definir cómo se van a controlar los recursos: a nivel de cantidades o costos. En el caso se controle a nivel a costos, los recursos principales serían: Mano de obra, materiales y equipos.</a:t>
            </a:r>
          </a:p>
        </p:txBody>
      </p:sp>
      <p:sp>
        <p:nvSpPr>
          <p:cNvPr id="4" name="Rectángulo 3">
            <a:extLst>
              <a:ext uri="{FF2B5EF4-FFF2-40B4-BE49-F238E27FC236}">
                <a16:creationId xmlns:a16="http://schemas.microsoft.com/office/drawing/2014/main" id="{3D0FEA98-ECB5-4AD8-AB6D-8A6072778AE1}"/>
              </a:ext>
            </a:extLst>
          </p:cNvPr>
          <p:cNvSpPr/>
          <p:nvPr/>
        </p:nvSpPr>
        <p:spPr>
          <a:xfrm>
            <a:off x="780685" y="405562"/>
            <a:ext cx="8615863" cy="769441"/>
          </a:xfrm>
          <a:prstGeom prst="rect">
            <a:avLst/>
          </a:prstGeom>
        </p:spPr>
        <p:txBody>
          <a:bodyPr wrap="square">
            <a:spAutoFit/>
          </a:bodyPr>
          <a:lstStyle/>
          <a:p>
            <a:pPr marL="109728" indent="0">
              <a:buFont typeface="Arial" panose="020B0604020202020204" pitchFamily="34" charset="0"/>
              <a:buNone/>
            </a:pPr>
            <a:r>
              <a:rPr lang="en-US" sz="4400" b="1" dirty="0">
                <a:latin typeface="+mj-lt"/>
                <a:cs typeface="Times New Roman" panose="02020603050405020304" pitchFamily="18" charset="0"/>
              </a:rPr>
              <a:t>Informe </a:t>
            </a:r>
            <a:r>
              <a:rPr lang="en-US" sz="4400" b="1" dirty="0" err="1">
                <a:latin typeface="+mj-lt"/>
                <a:cs typeface="Times New Roman" panose="02020603050405020304" pitchFamily="18" charset="0"/>
              </a:rPr>
              <a:t>Semanal</a:t>
            </a:r>
            <a:r>
              <a:rPr lang="en-US" sz="4400" b="1" dirty="0">
                <a:latin typeface="+mj-lt"/>
                <a:cs typeface="Times New Roman" panose="02020603050405020304" pitchFamily="18" charset="0"/>
              </a:rPr>
              <a:t> de </a:t>
            </a:r>
            <a:r>
              <a:rPr lang="en-US" sz="4400" b="1" dirty="0" err="1">
                <a:latin typeface="+mj-lt"/>
                <a:cs typeface="Times New Roman" panose="02020603050405020304" pitchFamily="18" charset="0"/>
              </a:rPr>
              <a:t>Producción</a:t>
            </a:r>
            <a:r>
              <a:rPr lang="en-US" sz="4400" b="1" dirty="0">
                <a:latin typeface="+mj-lt"/>
                <a:cs typeface="Times New Roman" panose="02020603050405020304" pitchFamily="18" charset="0"/>
              </a:rPr>
              <a:t> (ISP)</a:t>
            </a:r>
          </a:p>
        </p:txBody>
      </p:sp>
    </p:spTree>
    <p:extLst>
      <p:ext uri="{BB962C8B-B14F-4D97-AF65-F5344CB8AC3E}">
        <p14:creationId xmlns:p14="http://schemas.microsoft.com/office/powerpoint/2010/main" val="38227965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3" y="1236559"/>
            <a:ext cx="10297552" cy="4832092"/>
          </a:xfrm>
          <a:prstGeom prst="rect">
            <a:avLst/>
          </a:prstGeom>
          <a:noFill/>
        </p:spPr>
        <p:txBody>
          <a:bodyPr wrap="square" rtlCol="0">
            <a:spAutoFit/>
          </a:bodyPr>
          <a:lstStyle/>
          <a:p>
            <a:pPr algn="just">
              <a:spcAft>
                <a:spcPts val="600"/>
              </a:spcAft>
            </a:pPr>
            <a:r>
              <a:rPr lang="es-MX" sz="3200" b="1" dirty="0"/>
              <a:t>Información Requerida: Producción Programada por proceso:</a:t>
            </a:r>
          </a:p>
          <a:p>
            <a:pPr marL="457200" indent="-457200" algn="just">
              <a:spcAft>
                <a:spcPts val="600"/>
              </a:spcAft>
              <a:buFont typeface="Arial" panose="020B0604020202020204" pitchFamily="34" charset="0"/>
              <a:buChar char="•"/>
            </a:pPr>
            <a:r>
              <a:rPr lang="es-MX" sz="2800" dirty="0"/>
              <a:t>Se debe desconsolidar la información de la programación por cada proceso.</a:t>
            </a:r>
          </a:p>
          <a:p>
            <a:pPr marL="457200" indent="-457200" algn="just">
              <a:spcAft>
                <a:spcPts val="600"/>
              </a:spcAft>
              <a:buFont typeface="Arial" panose="020B0604020202020204" pitchFamily="34" charset="0"/>
              <a:buChar char="•"/>
            </a:pPr>
            <a:r>
              <a:rPr lang="es-MX" sz="2800" dirty="0"/>
              <a:t>En caso que el cronograma no cuente con tal detalle, se debe usar un criterio para distribuir los avances consecuentemente.</a:t>
            </a:r>
          </a:p>
          <a:p>
            <a:pPr marL="457200" indent="-457200" algn="just">
              <a:spcAft>
                <a:spcPts val="600"/>
              </a:spcAft>
              <a:buFont typeface="Arial" panose="020B0604020202020204" pitchFamily="34" charset="0"/>
              <a:buChar char="•"/>
            </a:pPr>
            <a:r>
              <a:rPr lang="es-MX" sz="2800" dirty="0"/>
              <a:t>La Curva S del proyecto guarde relación con los procesos definidos para el control del proyecto en el Plan de Fases o en el Informe Semanal de Producción.</a:t>
            </a:r>
          </a:p>
          <a:p>
            <a:pPr marL="457200" indent="-457200" algn="just">
              <a:spcAft>
                <a:spcPts val="600"/>
              </a:spcAft>
              <a:buFont typeface="Arial" panose="020B0604020202020204" pitchFamily="34" charset="0"/>
              <a:buChar char="•"/>
            </a:pPr>
            <a:endParaRPr lang="es-MX" sz="2800" dirty="0"/>
          </a:p>
        </p:txBody>
      </p:sp>
      <p:sp>
        <p:nvSpPr>
          <p:cNvPr id="4" name="Rectángulo 3">
            <a:extLst>
              <a:ext uri="{FF2B5EF4-FFF2-40B4-BE49-F238E27FC236}">
                <a16:creationId xmlns:a16="http://schemas.microsoft.com/office/drawing/2014/main" id="{3D0FEA98-ECB5-4AD8-AB6D-8A6072778AE1}"/>
              </a:ext>
            </a:extLst>
          </p:cNvPr>
          <p:cNvSpPr/>
          <p:nvPr/>
        </p:nvSpPr>
        <p:spPr>
          <a:xfrm>
            <a:off x="780685" y="405562"/>
            <a:ext cx="8615863" cy="769441"/>
          </a:xfrm>
          <a:prstGeom prst="rect">
            <a:avLst/>
          </a:prstGeom>
        </p:spPr>
        <p:txBody>
          <a:bodyPr wrap="square">
            <a:spAutoFit/>
          </a:bodyPr>
          <a:lstStyle/>
          <a:p>
            <a:pPr marL="109728" indent="0">
              <a:buFont typeface="Arial" panose="020B0604020202020204" pitchFamily="34" charset="0"/>
              <a:buNone/>
            </a:pPr>
            <a:r>
              <a:rPr lang="en-US" sz="4400" b="1" dirty="0">
                <a:latin typeface="+mj-lt"/>
                <a:cs typeface="Times New Roman" panose="02020603050405020304" pitchFamily="18" charset="0"/>
              </a:rPr>
              <a:t>Informe </a:t>
            </a:r>
            <a:r>
              <a:rPr lang="en-US" sz="4400" b="1" dirty="0" err="1">
                <a:latin typeface="+mj-lt"/>
                <a:cs typeface="Times New Roman" panose="02020603050405020304" pitchFamily="18" charset="0"/>
              </a:rPr>
              <a:t>Semanal</a:t>
            </a:r>
            <a:r>
              <a:rPr lang="en-US" sz="4400" b="1" dirty="0">
                <a:latin typeface="+mj-lt"/>
                <a:cs typeface="Times New Roman" panose="02020603050405020304" pitchFamily="18" charset="0"/>
              </a:rPr>
              <a:t> de </a:t>
            </a:r>
            <a:r>
              <a:rPr lang="en-US" sz="4400" b="1" dirty="0" err="1">
                <a:latin typeface="+mj-lt"/>
                <a:cs typeface="Times New Roman" panose="02020603050405020304" pitchFamily="18" charset="0"/>
              </a:rPr>
              <a:t>Producción</a:t>
            </a:r>
            <a:r>
              <a:rPr lang="en-US" sz="4400" b="1" dirty="0">
                <a:latin typeface="+mj-lt"/>
                <a:cs typeface="Times New Roman" panose="02020603050405020304" pitchFamily="18" charset="0"/>
              </a:rPr>
              <a:t> (ISP)</a:t>
            </a:r>
          </a:p>
        </p:txBody>
      </p:sp>
    </p:spTree>
    <p:extLst>
      <p:ext uri="{BB962C8B-B14F-4D97-AF65-F5344CB8AC3E}">
        <p14:creationId xmlns:p14="http://schemas.microsoft.com/office/powerpoint/2010/main" val="4042036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1008854" y="1271394"/>
            <a:ext cx="10556128" cy="4893647"/>
          </a:xfrm>
          <a:prstGeom prst="rect">
            <a:avLst/>
          </a:prstGeom>
          <a:noFill/>
        </p:spPr>
        <p:txBody>
          <a:bodyPr wrap="square" rtlCol="0">
            <a:spAutoFit/>
          </a:bodyPr>
          <a:lstStyle/>
          <a:p>
            <a:pPr algn="just">
              <a:spcAft>
                <a:spcPts val="600"/>
              </a:spcAft>
            </a:pPr>
            <a:r>
              <a:rPr lang="es-MX" sz="3200" b="1" dirty="0"/>
              <a:t>Información Requerida: Producción Real por proceso:</a:t>
            </a:r>
          </a:p>
          <a:p>
            <a:pPr marL="457200" indent="-457200" algn="just">
              <a:spcAft>
                <a:spcPts val="600"/>
              </a:spcAft>
              <a:buFont typeface="Arial" panose="020B0604020202020204" pitchFamily="34" charset="0"/>
              <a:buChar char="•"/>
            </a:pPr>
            <a:r>
              <a:rPr lang="es-MX" sz="2600" dirty="0"/>
              <a:t>Se debe establecer una periodicidad de registro de producción (avances) de acuerdo a las necesidades internas del proyecto o los requerimientos del cliente, siendo la misma no menor a una vez por semana.</a:t>
            </a:r>
          </a:p>
          <a:p>
            <a:pPr marL="457200" indent="-457200" algn="just">
              <a:spcAft>
                <a:spcPts val="600"/>
              </a:spcAft>
              <a:buFont typeface="Arial" panose="020B0604020202020204" pitchFamily="34" charset="0"/>
              <a:buChar char="•"/>
            </a:pPr>
            <a:r>
              <a:rPr lang="es-MX" sz="2600" dirty="0"/>
              <a:t>Se recomienda que el seguimiento de los avances se realice diariamente.</a:t>
            </a:r>
          </a:p>
          <a:p>
            <a:pPr marL="457200" indent="-457200" algn="just">
              <a:spcAft>
                <a:spcPts val="600"/>
              </a:spcAft>
              <a:buFont typeface="Arial" panose="020B0604020202020204" pitchFamily="34" charset="0"/>
              <a:buChar char="•"/>
            </a:pPr>
            <a:r>
              <a:rPr lang="es-MX" sz="2600" dirty="0"/>
              <a:t>El área de Oficina Técnica es responsable del procesamiento y reporte oficial de los </a:t>
            </a:r>
            <a:r>
              <a:rPr lang="es-MX" sz="2600" dirty="0" err="1"/>
              <a:t>metrados</a:t>
            </a:r>
            <a:r>
              <a:rPr lang="es-MX" sz="2600" dirty="0"/>
              <a:t> ejecutados acumulados y de los totales del proyecto, para efectos de valorización.</a:t>
            </a:r>
          </a:p>
          <a:p>
            <a:pPr marL="457200" indent="-457200" algn="just">
              <a:spcAft>
                <a:spcPts val="600"/>
              </a:spcAft>
              <a:buFont typeface="Arial" panose="020B0604020202020204" pitchFamily="34" charset="0"/>
              <a:buChar char="•"/>
            </a:pPr>
            <a:r>
              <a:rPr lang="es-MX" sz="2600" dirty="0"/>
              <a:t>En caso por algunas circunstancias no se contara con el reporte oficial de </a:t>
            </a:r>
            <a:r>
              <a:rPr lang="es-MX" sz="2600" dirty="0" err="1"/>
              <a:t>metrados</a:t>
            </a:r>
            <a:r>
              <a:rPr lang="es-MX" sz="2600" dirty="0"/>
              <a:t> a tiempo, se puede emplear distintas metodologías para estimar la producción. Ejemplo:</a:t>
            </a:r>
          </a:p>
        </p:txBody>
      </p:sp>
      <p:sp>
        <p:nvSpPr>
          <p:cNvPr id="4" name="Rectángulo 3">
            <a:extLst>
              <a:ext uri="{FF2B5EF4-FFF2-40B4-BE49-F238E27FC236}">
                <a16:creationId xmlns:a16="http://schemas.microsoft.com/office/drawing/2014/main" id="{3D0FEA98-ECB5-4AD8-AB6D-8A6072778AE1}"/>
              </a:ext>
            </a:extLst>
          </p:cNvPr>
          <p:cNvSpPr/>
          <p:nvPr/>
        </p:nvSpPr>
        <p:spPr>
          <a:xfrm>
            <a:off x="780685" y="405562"/>
            <a:ext cx="8615863" cy="769441"/>
          </a:xfrm>
          <a:prstGeom prst="rect">
            <a:avLst/>
          </a:prstGeom>
        </p:spPr>
        <p:txBody>
          <a:bodyPr wrap="square">
            <a:spAutoFit/>
          </a:bodyPr>
          <a:lstStyle/>
          <a:p>
            <a:pPr marL="109728" indent="0">
              <a:buFont typeface="Arial" panose="020B0604020202020204" pitchFamily="34" charset="0"/>
              <a:buNone/>
            </a:pPr>
            <a:r>
              <a:rPr lang="en-US" sz="4400" b="1" dirty="0">
                <a:latin typeface="+mj-lt"/>
                <a:cs typeface="Times New Roman" panose="02020603050405020304" pitchFamily="18" charset="0"/>
              </a:rPr>
              <a:t>Informe </a:t>
            </a:r>
            <a:r>
              <a:rPr lang="en-US" sz="4400" b="1" dirty="0" err="1">
                <a:latin typeface="+mj-lt"/>
                <a:cs typeface="Times New Roman" panose="02020603050405020304" pitchFamily="18" charset="0"/>
              </a:rPr>
              <a:t>Semanal</a:t>
            </a:r>
            <a:r>
              <a:rPr lang="en-US" sz="4400" b="1" dirty="0">
                <a:latin typeface="+mj-lt"/>
                <a:cs typeface="Times New Roman" panose="02020603050405020304" pitchFamily="18" charset="0"/>
              </a:rPr>
              <a:t> de </a:t>
            </a:r>
            <a:r>
              <a:rPr lang="en-US" sz="4400" b="1" dirty="0" err="1">
                <a:latin typeface="+mj-lt"/>
                <a:cs typeface="Times New Roman" panose="02020603050405020304" pitchFamily="18" charset="0"/>
              </a:rPr>
              <a:t>Producción</a:t>
            </a:r>
            <a:r>
              <a:rPr lang="en-US" sz="4400" b="1" dirty="0">
                <a:latin typeface="+mj-lt"/>
                <a:cs typeface="Times New Roman" panose="02020603050405020304" pitchFamily="18" charset="0"/>
              </a:rPr>
              <a:t> (ISP)</a:t>
            </a:r>
          </a:p>
        </p:txBody>
      </p:sp>
    </p:spTree>
    <p:extLst>
      <p:ext uri="{BB962C8B-B14F-4D97-AF65-F5344CB8AC3E}">
        <p14:creationId xmlns:p14="http://schemas.microsoft.com/office/powerpoint/2010/main" val="3747185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175003"/>
            <a:ext cx="10297552" cy="584775"/>
          </a:xfrm>
          <a:prstGeom prst="rect">
            <a:avLst/>
          </a:prstGeom>
          <a:noFill/>
        </p:spPr>
        <p:txBody>
          <a:bodyPr wrap="square" rtlCol="0">
            <a:spAutoFit/>
          </a:bodyPr>
          <a:lstStyle/>
          <a:p>
            <a:pPr algn="just">
              <a:spcAft>
                <a:spcPts val="600"/>
              </a:spcAft>
            </a:pPr>
            <a:r>
              <a:rPr lang="es-MX" sz="3200" b="1" dirty="0"/>
              <a:t>Información Requerida: Producción Real por proceso:</a:t>
            </a:r>
          </a:p>
        </p:txBody>
      </p:sp>
      <p:sp>
        <p:nvSpPr>
          <p:cNvPr id="4" name="Rectángulo 3">
            <a:extLst>
              <a:ext uri="{FF2B5EF4-FFF2-40B4-BE49-F238E27FC236}">
                <a16:creationId xmlns:a16="http://schemas.microsoft.com/office/drawing/2014/main" id="{3D0FEA98-ECB5-4AD8-AB6D-8A6072778AE1}"/>
              </a:ext>
            </a:extLst>
          </p:cNvPr>
          <p:cNvSpPr/>
          <p:nvPr/>
        </p:nvSpPr>
        <p:spPr>
          <a:xfrm>
            <a:off x="780685" y="405562"/>
            <a:ext cx="8615863" cy="769441"/>
          </a:xfrm>
          <a:prstGeom prst="rect">
            <a:avLst/>
          </a:prstGeom>
        </p:spPr>
        <p:txBody>
          <a:bodyPr wrap="square">
            <a:spAutoFit/>
          </a:bodyPr>
          <a:lstStyle/>
          <a:p>
            <a:pPr marL="109728" indent="0">
              <a:buFont typeface="Arial" panose="020B0604020202020204" pitchFamily="34" charset="0"/>
              <a:buNone/>
            </a:pPr>
            <a:r>
              <a:rPr lang="en-US" sz="4400" b="1" dirty="0">
                <a:latin typeface="+mj-lt"/>
                <a:cs typeface="Times New Roman" panose="02020603050405020304" pitchFamily="18" charset="0"/>
              </a:rPr>
              <a:t>Informe </a:t>
            </a:r>
            <a:r>
              <a:rPr lang="en-US" sz="4400" b="1" dirty="0" err="1">
                <a:latin typeface="+mj-lt"/>
                <a:cs typeface="Times New Roman" panose="02020603050405020304" pitchFamily="18" charset="0"/>
              </a:rPr>
              <a:t>Semanal</a:t>
            </a:r>
            <a:r>
              <a:rPr lang="en-US" sz="4400" b="1" dirty="0">
                <a:latin typeface="+mj-lt"/>
                <a:cs typeface="Times New Roman" panose="02020603050405020304" pitchFamily="18" charset="0"/>
              </a:rPr>
              <a:t> de </a:t>
            </a:r>
            <a:r>
              <a:rPr lang="en-US" sz="4400" b="1" dirty="0" err="1">
                <a:latin typeface="+mj-lt"/>
                <a:cs typeface="Times New Roman" panose="02020603050405020304" pitchFamily="18" charset="0"/>
              </a:rPr>
              <a:t>Producción</a:t>
            </a:r>
            <a:r>
              <a:rPr lang="en-US" sz="4400" b="1" dirty="0">
                <a:latin typeface="+mj-lt"/>
                <a:cs typeface="Times New Roman" panose="02020603050405020304" pitchFamily="18" charset="0"/>
              </a:rPr>
              <a:t> (ISP)</a:t>
            </a:r>
          </a:p>
        </p:txBody>
      </p:sp>
      <p:pic>
        <p:nvPicPr>
          <p:cNvPr id="5" name="Imagen 4">
            <a:extLst>
              <a:ext uri="{FF2B5EF4-FFF2-40B4-BE49-F238E27FC236}">
                <a16:creationId xmlns:a16="http://schemas.microsoft.com/office/drawing/2014/main" id="{CCEEBE0A-342F-45B6-85E3-CA4B8C317D3F}"/>
              </a:ext>
            </a:extLst>
          </p:cNvPr>
          <p:cNvPicPr>
            <a:picLocks noChangeAspect="1"/>
          </p:cNvPicPr>
          <p:nvPr/>
        </p:nvPicPr>
        <p:blipFill>
          <a:blip r:embed="rId2"/>
          <a:stretch>
            <a:fillRect/>
          </a:stretch>
        </p:blipFill>
        <p:spPr>
          <a:xfrm>
            <a:off x="1698171" y="1629149"/>
            <a:ext cx="8795657" cy="4972930"/>
          </a:xfrm>
          <a:prstGeom prst="rect">
            <a:avLst/>
          </a:prstGeom>
        </p:spPr>
      </p:pic>
    </p:spTree>
    <p:extLst>
      <p:ext uri="{BB962C8B-B14F-4D97-AF65-F5344CB8AC3E}">
        <p14:creationId xmlns:p14="http://schemas.microsoft.com/office/powerpoint/2010/main" val="932733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175003"/>
            <a:ext cx="10297552" cy="584775"/>
          </a:xfrm>
          <a:prstGeom prst="rect">
            <a:avLst/>
          </a:prstGeom>
          <a:noFill/>
        </p:spPr>
        <p:txBody>
          <a:bodyPr wrap="square" rtlCol="0">
            <a:spAutoFit/>
          </a:bodyPr>
          <a:lstStyle/>
          <a:p>
            <a:pPr algn="just">
              <a:spcAft>
                <a:spcPts val="600"/>
              </a:spcAft>
            </a:pPr>
            <a:r>
              <a:rPr lang="es-MX" sz="3200" b="1" dirty="0"/>
              <a:t>Información Requerida: Producción Real por proceso:</a:t>
            </a:r>
          </a:p>
        </p:txBody>
      </p:sp>
      <p:sp>
        <p:nvSpPr>
          <p:cNvPr id="4" name="Rectángulo 3">
            <a:extLst>
              <a:ext uri="{FF2B5EF4-FFF2-40B4-BE49-F238E27FC236}">
                <a16:creationId xmlns:a16="http://schemas.microsoft.com/office/drawing/2014/main" id="{3D0FEA98-ECB5-4AD8-AB6D-8A6072778AE1}"/>
              </a:ext>
            </a:extLst>
          </p:cNvPr>
          <p:cNvSpPr/>
          <p:nvPr/>
        </p:nvSpPr>
        <p:spPr>
          <a:xfrm>
            <a:off x="780685" y="405562"/>
            <a:ext cx="8615863" cy="769441"/>
          </a:xfrm>
          <a:prstGeom prst="rect">
            <a:avLst/>
          </a:prstGeom>
        </p:spPr>
        <p:txBody>
          <a:bodyPr wrap="square">
            <a:spAutoFit/>
          </a:bodyPr>
          <a:lstStyle/>
          <a:p>
            <a:pPr marL="109728" indent="0">
              <a:buFont typeface="Arial" panose="020B0604020202020204" pitchFamily="34" charset="0"/>
              <a:buNone/>
            </a:pPr>
            <a:r>
              <a:rPr lang="en-US" sz="4400" b="1" dirty="0">
                <a:latin typeface="+mj-lt"/>
                <a:cs typeface="Times New Roman" panose="02020603050405020304" pitchFamily="18" charset="0"/>
              </a:rPr>
              <a:t>Informe </a:t>
            </a:r>
            <a:r>
              <a:rPr lang="en-US" sz="4400" b="1" dirty="0" err="1">
                <a:latin typeface="+mj-lt"/>
                <a:cs typeface="Times New Roman" panose="02020603050405020304" pitchFamily="18" charset="0"/>
              </a:rPr>
              <a:t>Semanal</a:t>
            </a:r>
            <a:r>
              <a:rPr lang="en-US" sz="4400" b="1" dirty="0">
                <a:latin typeface="+mj-lt"/>
                <a:cs typeface="Times New Roman" panose="02020603050405020304" pitchFamily="18" charset="0"/>
              </a:rPr>
              <a:t> de </a:t>
            </a:r>
            <a:r>
              <a:rPr lang="en-US" sz="4400" b="1" dirty="0" err="1">
                <a:latin typeface="+mj-lt"/>
                <a:cs typeface="Times New Roman" panose="02020603050405020304" pitchFamily="18" charset="0"/>
              </a:rPr>
              <a:t>Producción</a:t>
            </a:r>
            <a:r>
              <a:rPr lang="en-US" sz="4400" b="1" dirty="0">
                <a:latin typeface="+mj-lt"/>
                <a:cs typeface="Times New Roman" panose="02020603050405020304" pitchFamily="18" charset="0"/>
              </a:rPr>
              <a:t> (ISP)</a:t>
            </a:r>
          </a:p>
        </p:txBody>
      </p:sp>
      <p:sp>
        <p:nvSpPr>
          <p:cNvPr id="6" name="CuadroTexto 5">
            <a:extLst>
              <a:ext uri="{FF2B5EF4-FFF2-40B4-BE49-F238E27FC236}">
                <a16:creationId xmlns:a16="http://schemas.microsoft.com/office/drawing/2014/main" id="{804E007D-16E4-4AF8-82EE-4B1F0EBE2880}"/>
              </a:ext>
            </a:extLst>
          </p:cNvPr>
          <p:cNvSpPr txBox="1"/>
          <p:nvPr/>
        </p:nvSpPr>
        <p:spPr>
          <a:xfrm>
            <a:off x="1045029" y="1944444"/>
            <a:ext cx="10807337" cy="2416046"/>
          </a:xfrm>
          <a:prstGeom prst="rect">
            <a:avLst/>
          </a:prstGeom>
          <a:noFill/>
        </p:spPr>
        <p:txBody>
          <a:bodyPr wrap="square" rtlCol="0">
            <a:spAutoFit/>
          </a:bodyPr>
          <a:lstStyle/>
          <a:p>
            <a:pPr algn="just">
              <a:spcAft>
                <a:spcPts val="600"/>
              </a:spcAft>
            </a:pPr>
            <a:r>
              <a:rPr lang="es-MX" sz="2300" b="1" i="1" dirty="0"/>
              <a:t>Observaciones:</a:t>
            </a:r>
          </a:p>
          <a:p>
            <a:pPr marL="457200" indent="-457200" algn="just">
              <a:spcAft>
                <a:spcPts val="600"/>
              </a:spcAft>
              <a:buFontTx/>
              <a:buChar char="-"/>
            </a:pPr>
            <a:r>
              <a:rPr lang="es-MX" i="1" dirty="0"/>
              <a:t>Para establecer la unidad patrón, primero se debe cubicar la tolva de los volquetes o las cucharas de los equipos.</a:t>
            </a:r>
          </a:p>
          <a:p>
            <a:pPr marL="457200" indent="-457200" algn="just">
              <a:spcAft>
                <a:spcPts val="600"/>
              </a:spcAft>
              <a:buFontTx/>
              <a:buChar char="-"/>
            </a:pPr>
            <a:r>
              <a:rPr lang="es-MX" i="1" dirty="0"/>
              <a:t>Normalmente los materiales deben ser reportados en banco.</a:t>
            </a:r>
          </a:p>
          <a:p>
            <a:pPr marL="457200" indent="-457200" algn="just">
              <a:spcAft>
                <a:spcPts val="600"/>
              </a:spcAft>
              <a:buFontTx/>
              <a:buChar char="-"/>
            </a:pPr>
            <a:r>
              <a:rPr lang="es-MX" i="1" dirty="0"/>
              <a:t>Se debe considerar el % de esponjamiento, % de compactación y % de desperdicio.</a:t>
            </a:r>
          </a:p>
          <a:p>
            <a:pPr marL="457200" indent="-457200" algn="just">
              <a:spcAft>
                <a:spcPts val="600"/>
              </a:spcAft>
              <a:buFontTx/>
              <a:buChar char="-"/>
            </a:pPr>
            <a:r>
              <a:rPr lang="es-MX" i="1" dirty="0"/>
              <a:t>En la hoja de ruta de los volquetes se registran los puntos de partida, llegada de material, tiempos de cada ciclo, velocidades y problemas en el recorrido.</a:t>
            </a:r>
          </a:p>
        </p:txBody>
      </p:sp>
      <p:sp>
        <p:nvSpPr>
          <p:cNvPr id="7" name="CuadroTexto 6">
            <a:extLst>
              <a:ext uri="{FF2B5EF4-FFF2-40B4-BE49-F238E27FC236}">
                <a16:creationId xmlns:a16="http://schemas.microsoft.com/office/drawing/2014/main" id="{37E30FBA-2A68-4765-9721-3D694A5A19A0}"/>
              </a:ext>
            </a:extLst>
          </p:cNvPr>
          <p:cNvSpPr txBox="1"/>
          <p:nvPr/>
        </p:nvSpPr>
        <p:spPr>
          <a:xfrm>
            <a:off x="947224" y="4868033"/>
            <a:ext cx="10556128" cy="892552"/>
          </a:xfrm>
          <a:prstGeom prst="rect">
            <a:avLst/>
          </a:prstGeom>
          <a:noFill/>
        </p:spPr>
        <p:txBody>
          <a:bodyPr wrap="square" rtlCol="0">
            <a:spAutoFit/>
          </a:bodyPr>
          <a:lstStyle/>
          <a:p>
            <a:pPr marL="457200" indent="-457200" algn="just">
              <a:spcAft>
                <a:spcPts val="600"/>
              </a:spcAft>
              <a:buFont typeface="Arial" panose="020B0604020202020204" pitchFamily="34" charset="0"/>
              <a:buChar char="•"/>
            </a:pPr>
            <a:r>
              <a:rPr lang="es-MX" sz="2600" dirty="0"/>
              <a:t>Considerar que los </a:t>
            </a:r>
            <a:r>
              <a:rPr lang="es-MX" sz="2600" dirty="0" err="1"/>
              <a:t>metrados</a:t>
            </a:r>
            <a:r>
              <a:rPr lang="es-MX" sz="2600" dirty="0"/>
              <a:t> obtenidos por estimación deberán ser ajustados una vez Oficina Técnica emita los reportes oficiales.</a:t>
            </a:r>
          </a:p>
        </p:txBody>
      </p:sp>
    </p:spTree>
    <p:extLst>
      <p:ext uri="{BB962C8B-B14F-4D97-AF65-F5344CB8AC3E}">
        <p14:creationId xmlns:p14="http://schemas.microsoft.com/office/powerpoint/2010/main" val="850204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3" y="1175003"/>
            <a:ext cx="10591633" cy="4149726"/>
          </a:xfrm>
          <a:prstGeom prst="rect">
            <a:avLst/>
          </a:prstGeom>
          <a:noFill/>
        </p:spPr>
        <p:txBody>
          <a:bodyPr wrap="square" rtlCol="0">
            <a:spAutoFit/>
          </a:bodyPr>
          <a:lstStyle/>
          <a:p>
            <a:pPr algn="just">
              <a:lnSpc>
                <a:spcPct val="150000"/>
              </a:lnSpc>
              <a:spcAft>
                <a:spcPts val="600"/>
              </a:spcAft>
            </a:pPr>
            <a:r>
              <a:rPr lang="es-MX" sz="3200" b="1" dirty="0"/>
              <a:t>Información Requerida: Producción Real por proceso:</a:t>
            </a:r>
          </a:p>
          <a:p>
            <a:pPr marL="457200" indent="-457200" algn="just">
              <a:lnSpc>
                <a:spcPct val="150000"/>
              </a:lnSpc>
              <a:spcAft>
                <a:spcPts val="600"/>
              </a:spcAft>
              <a:buFont typeface="Arial" panose="020B0604020202020204" pitchFamily="34" charset="0"/>
              <a:buChar char="•"/>
            </a:pPr>
            <a:r>
              <a:rPr lang="es-MX" sz="2800" dirty="0"/>
              <a:t>Al estimar los avances realmente ejecutados a la fecha de corte, se sugiere considerar también los avances parciales del proceso, con el objetivo de obtener indicadores más reales. Se recomienda la definición de pesos en las diferentes etapas constructivas. </a:t>
            </a:r>
          </a:p>
          <a:p>
            <a:pPr lvl="1" algn="just">
              <a:lnSpc>
                <a:spcPct val="150000"/>
              </a:lnSpc>
              <a:spcAft>
                <a:spcPts val="600"/>
              </a:spcAft>
            </a:pPr>
            <a:r>
              <a:rPr lang="es-MX" sz="2800" b="1" dirty="0"/>
              <a:t>Ejemplo:</a:t>
            </a:r>
          </a:p>
        </p:txBody>
      </p:sp>
      <p:sp>
        <p:nvSpPr>
          <p:cNvPr id="4" name="Rectángulo 3">
            <a:extLst>
              <a:ext uri="{FF2B5EF4-FFF2-40B4-BE49-F238E27FC236}">
                <a16:creationId xmlns:a16="http://schemas.microsoft.com/office/drawing/2014/main" id="{3D0FEA98-ECB5-4AD8-AB6D-8A6072778AE1}"/>
              </a:ext>
            </a:extLst>
          </p:cNvPr>
          <p:cNvSpPr/>
          <p:nvPr/>
        </p:nvSpPr>
        <p:spPr>
          <a:xfrm>
            <a:off x="780685" y="405562"/>
            <a:ext cx="8615863" cy="769441"/>
          </a:xfrm>
          <a:prstGeom prst="rect">
            <a:avLst/>
          </a:prstGeom>
        </p:spPr>
        <p:txBody>
          <a:bodyPr wrap="square">
            <a:spAutoFit/>
          </a:bodyPr>
          <a:lstStyle/>
          <a:p>
            <a:pPr marL="109728" indent="0">
              <a:buFont typeface="Arial" panose="020B0604020202020204" pitchFamily="34" charset="0"/>
              <a:buNone/>
            </a:pPr>
            <a:r>
              <a:rPr lang="en-US" sz="4400" b="1" dirty="0">
                <a:latin typeface="+mj-lt"/>
                <a:cs typeface="Times New Roman" panose="02020603050405020304" pitchFamily="18" charset="0"/>
              </a:rPr>
              <a:t>Informe </a:t>
            </a:r>
            <a:r>
              <a:rPr lang="en-US" sz="4400" b="1" dirty="0" err="1">
                <a:latin typeface="+mj-lt"/>
                <a:cs typeface="Times New Roman" panose="02020603050405020304" pitchFamily="18" charset="0"/>
              </a:rPr>
              <a:t>Semanal</a:t>
            </a:r>
            <a:r>
              <a:rPr lang="en-US" sz="4400" b="1" dirty="0">
                <a:latin typeface="+mj-lt"/>
                <a:cs typeface="Times New Roman" panose="02020603050405020304" pitchFamily="18" charset="0"/>
              </a:rPr>
              <a:t> de </a:t>
            </a:r>
            <a:r>
              <a:rPr lang="en-US" sz="4400" b="1" dirty="0" err="1">
                <a:latin typeface="+mj-lt"/>
                <a:cs typeface="Times New Roman" panose="02020603050405020304" pitchFamily="18" charset="0"/>
              </a:rPr>
              <a:t>Producción</a:t>
            </a:r>
            <a:r>
              <a:rPr lang="en-US" sz="4400" b="1" dirty="0">
                <a:latin typeface="+mj-lt"/>
                <a:cs typeface="Times New Roman" panose="02020603050405020304" pitchFamily="18" charset="0"/>
              </a:rPr>
              <a:t> (ISP)</a:t>
            </a:r>
          </a:p>
        </p:txBody>
      </p:sp>
    </p:spTree>
    <p:extLst>
      <p:ext uri="{BB962C8B-B14F-4D97-AF65-F5344CB8AC3E}">
        <p14:creationId xmlns:p14="http://schemas.microsoft.com/office/powerpoint/2010/main" val="2464772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3" y="1175003"/>
            <a:ext cx="10591633" cy="553998"/>
          </a:xfrm>
          <a:prstGeom prst="rect">
            <a:avLst/>
          </a:prstGeom>
          <a:noFill/>
        </p:spPr>
        <p:txBody>
          <a:bodyPr wrap="square" rtlCol="0">
            <a:spAutoFit/>
          </a:bodyPr>
          <a:lstStyle/>
          <a:p>
            <a:pPr algn="just">
              <a:spcAft>
                <a:spcPts val="600"/>
              </a:spcAft>
            </a:pPr>
            <a:r>
              <a:rPr lang="es-MX" sz="3000" b="1" dirty="0"/>
              <a:t>Información Requerida: Producción Real por proceso:</a:t>
            </a:r>
          </a:p>
        </p:txBody>
      </p:sp>
      <p:sp>
        <p:nvSpPr>
          <p:cNvPr id="4" name="Rectángulo 3">
            <a:extLst>
              <a:ext uri="{FF2B5EF4-FFF2-40B4-BE49-F238E27FC236}">
                <a16:creationId xmlns:a16="http://schemas.microsoft.com/office/drawing/2014/main" id="{3D0FEA98-ECB5-4AD8-AB6D-8A6072778AE1}"/>
              </a:ext>
            </a:extLst>
          </p:cNvPr>
          <p:cNvSpPr/>
          <p:nvPr/>
        </p:nvSpPr>
        <p:spPr>
          <a:xfrm>
            <a:off x="780685" y="405562"/>
            <a:ext cx="8615863" cy="769441"/>
          </a:xfrm>
          <a:prstGeom prst="rect">
            <a:avLst/>
          </a:prstGeom>
        </p:spPr>
        <p:txBody>
          <a:bodyPr wrap="square">
            <a:spAutoFit/>
          </a:bodyPr>
          <a:lstStyle/>
          <a:p>
            <a:pPr marL="109728" indent="0">
              <a:buFont typeface="Arial" panose="020B0604020202020204" pitchFamily="34" charset="0"/>
              <a:buNone/>
            </a:pPr>
            <a:r>
              <a:rPr lang="en-US" sz="4400" b="1" dirty="0">
                <a:latin typeface="+mj-lt"/>
                <a:cs typeface="Times New Roman" panose="02020603050405020304" pitchFamily="18" charset="0"/>
              </a:rPr>
              <a:t>Informe </a:t>
            </a:r>
            <a:r>
              <a:rPr lang="en-US" sz="4400" b="1" dirty="0" err="1">
                <a:latin typeface="+mj-lt"/>
                <a:cs typeface="Times New Roman" panose="02020603050405020304" pitchFamily="18" charset="0"/>
              </a:rPr>
              <a:t>Semanal</a:t>
            </a:r>
            <a:r>
              <a:rPr lang="en-US" sz="4400" b="1" dirty="0">
                <a:latin typeface="+mj-lt"/>
                <a:cs typeface="Times New Roman" panose="02020603050405020304" pitchFamily="18" charset="0"/>
              </a:rPr>
              <a:t> de </a:t>
            </a:r>
            <a:r>
              <a:rPr lang="en-US" sz="4400" b="1" dirty="0" err="1">
                <a:latin typeface="+mj-lt"/>
                <a:cs typeface="Times New Roman" panose="02020603050405020304" pitchFamily="18" charset="0"/>
              </a:rPr>
              <a:t>Producción</a:t>
            </a:r>
            <a:r>
              <a:rPr lang="en-US" sz="4400" b="1" dirty="0">
                <a:latin typeface="+mj-lt"/>
                <a:cs typeface="Times New Roman" panose="02020603050405020304" pitchFamily="18" charset="0"/>
              </a:rPr>
              <a:t> (ISP)</a:t>
            </a:r>
          </a:p>
        </p:txBody>
      </p:sp>
      <p:sp>
        <p:nvSpPr>
          <p:cNvPr id="6" name="CuadroTexto 5">
            <a:extLst>
              <a:ext uri="{FF2B5EF4-FFF2-40B4-BE49-F238E27FC236}">
                <a16:creationId xmlns:a16="http://schemas.microsoft.com/office/drawing/2014/main" id="{122B345B-0FF8-4869-9A54-8EABD1A36695}"/>
              </a:ext>
            </a:extLst>
          </p:cNvPr>
          <p:cNvSpPr txBox="1"/>
          <p:nvPr/>
        </p:nvSpPr>
        <p:spPr>
          <a:xfrm>
            <a:off x="892628" y="1729001"/>
            <a:ext cx="10750731" cy="4893647"/>
          </a:xfrm>
          <a:prstGeom prst="rect">
            <a:avLst/>
          </a:prstGeom>
          <a:noFill/>
        </p:spPr>
        <p:txBody>
          <a:bodyPr wrap="square">
            <a:spAutoFit/>
          </a:bodyPr>
          <a:lstStyle/>
          <a:p>
            <a:r>
              <a:rPr lang="es-MX" sz="2000" b="1" i="1" dirty="0"/>
              <a:t>“Proceso Acero de Refuerzo”</a:t>
            </a:r>
          </a:p>
          <a:p>
            <a:r>
              <a:rPr lang="es-MX" sz="2000" i="1" dirty="0"/>
              <a:t>El alcance del Proceso corresponde a la adquisición de acero dimensionado, armado de las estructuras y su colocación </a:t>
            </a:r>
            <a:r>
              <a:rPr lang="es-MX" sz="2000" i="1" dirty="0" err="1"/>
              <a:t>in-situ</a:t>
            </a:r>
            <a:r>
              <a:rPr lang="es-MX" sz="2000" i="1" dirty="0"/>
              <a:t> con Camión c/Grúa. De acuerdo a las características del trabajo se definen los siguientes “Pesos”:</a:t>
            </a:r>
          </a:p>
          <a:p>
            <a:pPr algn="ctr"/>
            <a:r>
              <a:rPr lang="es-MX" sz="2000" i="1" dirty="0"/>
              <a:t>Armado de estructuras de Acero: 80% </a:t>
            </a:r>
          </a:p>
          <a:p>
            <a:pPr algn="ctr"/>
            <a:r>
              <a:rPr lang="es-MX" sz="2000" i="1" dirty="0"/>
              <a:t>Colocación de Acero: 20%</a:t>
            </a:r>
          </a:p>
          <a:p>
            <a:endParaRPr lang="es-MX" sz="2000" i="1" dirty="0"/>
          </a:p>
          <a:p>
            <a:r>
              <a:rPr lang="es-MX" sz="2000" i="1" dirty="0"/>
              <a:t>El avance (En Kg) de cada estructura puede estimarse de la siguiente manera:</a:t>
            </a:r>
          </a:p>
          <a:p>
            <a:endParaRPr lang="es-MX" sz="2000" i="1" dirty="0"/>
          </a:p>
          <a:p>
            <a:pPr algn="ctr"/>
            <a:r>
              <a:rPr lang="es-MX" sz="2200" b="1" i="1" dirty="0"/>
              <a:t>Avance (Kg.) = ∑ [</a:t>
            </a:r>
            <a:r>
              <a:rPr lang="es-MX" sz="2200" b="1" i="1" dirty="0" err="1"/>
              <a:t>Metrado</a:t>
            </a:r>
            <a:r>
              <a:rPr lang="es-MX" sz="2200" b="1" i="1" dirty="0"/>
              <a:t> total x (% Avance Armado x 80% +% Avance Colocado x 20%)]</a:t>
            </a:r>
          </a:p>
          <a:p>
            <a:pPr algn="ctr"/>
            <a:endParaRPr lang="es-MX" sz="2000" b="1" i="1" dirty="0"/>
          </a:p>
          <a:p>
            <a:r>
              <a:rPr lang="es-MX" i="1" dirty="0"/>
              <a:t>Donde:</a:t>
            </a:r>
          </a:p>
          <a:p>
            <a:r>
              <a:rPr lang="es-MX" i="1" dirty="0"/>
              <a:t>Avance (Kg.): Avance Ponderado de cada estructura. </a:t>
            </a:r>
          </a:p>
          <a:p>
            <a:r>
              <a:rPr lang="es-MX" i="1" dirty="0"/>
              <a:t>%Avance Armado: % de avance parcial del armado de cada estructura.</a:t>
            </a:r>
          </a:p>
          <a:p>
            <a:r>
              <a:rPr lang="es-MX" i="1" dirty="0"/>
              <a:t>%Avance Colocado: % de avance de la colocación de las armaduras </a:t>
            </a:r>
            <a:r>
              <a:rPr lang="es-MX" i="1" dirty="0" err="1"/>
              <a:t>pre-armadas</a:t>
            </a:r>
            <a:r>
              <a:rPr lang="es-MX" i="1" dirty="0"/>
              <a:t>, colocando “0%” cuando sólo se ha armado.</a:t>
            </a:r>
          </a:p>
        </p:txBody>
      </p:sp>
    </p:spTree>
    <p:extLst>
      <p:ext uri="{BB962C8B-B14F-4D97-AF65-F5344CB8AC3E}">
        <p14:creationId xmlns:p14="http://schemas.microsoft.com/office/powerpoint/2010/main" val="5068529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3" y="1175003"/>
            <a:ext cx="10591633" cy="4226670"/>
          </a:xfrm>
          <a:prstGeom prst="rect">
            <a:avLst/>
          </a:prstGeom>
          <a:noFill/>
        </p:spPr>
        <p:txBody>
          <a:bodyPr wrap="square" rtlCol="0">
            <a:spAutoFit/>
          </a:bodyPr>
          <a:lstStyle/>
          <a:p>
            <a:pPr algn="just">
              <a:lnSpc>
                <a:spcPct val="150000"/>
              </a:lnSpc>
              <a:spcAft>
                <a:spcPts val="600"/>
              </a:spcAft>
            </a:pPr>
            <a:r>
              <a:rPr lang="es-MX" sz="3200" b="1" dirty="0"/>
              <a:t>Información Requerida: Producción Real por proceso:</a:t>
            </a:r>
          </a:p>
          <a:p>
            <a:pPr marL="457200" indent="-457200" algn="just">
              <a:lnSpc>
                <a:spcPct val="150000"/>
              </a:lnSpc>
              <a:spcAft>
                <a:spcPts val="600"/>
              </a:spcAft>
              <a:buFont typeface="Arial" panose="020B0604020202020204" pitchFamily="34" charset="0"/>
              <a:buChar char="•"/>
            </a:pPr>
            <a:r>
              <a:rPr lang="es-MX" sz="2800" dirty="0"/>
              <a:t>Es recomendable contar con personal de apoyo en campo para el registro del avance de las actividades (controladores de campo).</a:t>
            </a:r>
          </a:p>
          <a:p>
            <a:pPr marL="457200" indent="-457200" algn="just">
              <a:lnSpc>
                <a:spcPct val="150000"/>
              </a:lnSpc>
              <a:spcAft>
                <a:spcPts val="600"/>
              </a:spcAft>
              <a:buFont typeface="Arial" panose="020B0604020202020204" pitchFamily="34" charset="0"/>
              <a:buChar char="•"/>
            </a:pPr>
            <a:r>
              <a:rPr lang="es-MX" sz="2800" dirty="0"/>
              <a:t>Se recomienda registrar y administrar la información de producción (programado y real) por proceso, a través de bases de datos y tablas dinámicas. </a:t>
            </a:r>
            <a:endParaRPr lang="es-MX" sz="2800" b="1" dirty="0"/>
          </a:p>
        </p:txBody>
      </p:sp>
      <p:sp>
        <p:nvSpPr>
          <p:cNvPr id="4" name="Rectángulo 3">
            <a:extLst>
              <a:ext uri="{FF2B5EF4-FFF2-40B4-BE49-F238E27FC236}">
                <a16:creationId xmlns:a16="http://schemas.microsoft.com/office/drawing/2014/main" id="{3D0FEA98-ECB5-4AD8-AB6D-8A6072778AE1}"/>
              </a:ext>
            </a:extLst>
          </p:cNvPr>
          <p:cNvSpPr/>
          <p:nvPr/>
        </p:nvSpPr>
        <p:spPr>
          <a:xfrm>
            <a:off x="780685" y="405562"/>
            <a:ext cx="8615863" cy="769441"/>
          </a:xfrm>
          <a:prstGeom prst="rect">
            <a:avLst/>
          </a:prstGeom>
        </p:spPr>
        <p:txBody>
          <a:bodyPr wrap="square">
            <a:spAutoFit/>
          </a:bodyPr>
          <a:lstStyle/>
          <a:p>
            <a:pPr marL="109728" indent="0">
              <a:buFont typeface="Arial" panose="020B0604020202020204" pitchFamily="34" charset="0"/>
              <a:buNone/>
            </a:pPr>
            <a:r>
              <a:rPr lang="en-US" sz="4400" b="1" dirty="0">
                <a:latin typeface="+mj-lt"/>
                <a:cs typeface="Times New Roman" panose="02020603050405020304" pitchFamily="18" charset="0"/>
              </a:rPr>
              <a:t>Informe </a:t>
            </a:r>
            <a:r>
              <a:rPr lang="en-US" sz="4400" b="1" dirty="0" err="1">
                <a:latin typeface="+mj-lt"/>
                <a:cs typeface="Times New Roman" panose="02020603050405020304" pitchFamily="18" charset="0"/>
              </a:rPr>
              <a:t>Semanal</a:t>
            </a:r>
            <a:r>
              <a:rPr lang="en-US" sz="4400" b="1" dirty="0">
                <a:latin typeface="+mj-lt"/>
                <a:cs typeface="Times New Roman" panose="02020603050405020304" pitchFamily="18" charset="0"/>
              </a:rPr>
              <a:t> de </a:t>
            </a:r>
            <a:r>
              <a:rPr lang="en-US" sz="4400" b="1" dirty="0" err="1">
                <a:latin typeface="+mj-lt"/>
                <a:cs typeface="Times New Roman" panose="02020603050405020304" pitchFamily="18" charset="0"/>
              </a:rPr>
              <a:t>Producción</a:t>
            </a:r>
            <a:r>
              <a:rPr lang="en-US" sz="4400" b="1" dirty="0">
                <a:latin typeface="+mj-lt"/>
                <a:cs typeface="Times New Roman" panose="02020603050405020304" pitchFamily="18" charset="0"/>
              </a:rPr>
              <a:t> (ISP)</a:t>
            </a:r>
          </a:p>
        </p:txBody>
      </p:sp>
    </p:spTree>
    <p:extLst>
      <p:ext uri="{BB962C8B-B14F-4D97-AF65-F5344CB8AC3E}">
        <p14:creationId xmlns:p14="http://schemas.microsoft.com/office/powerpoint/2010/main" val="24480081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3" y="1175003"/>
            <a:ext cx="10591633" cy="4860690"/>
          </a:xfrm>
          <a:prstGeom prst="rect">
            <a:avLst/>
          </a:prstGeom>
          <a:noFill/>
        </p:spPr>
        <p:txBody>
          <a:bodyPr wrap="square" rtlCol="0">
            <a:spAutoFit/>
          </a:bodyPr>
          <a:lstStyle/>
          <a:p>
            <a:pPr algn="just">
              <a:lnSpc>
                <a:spcPct val="150000"/>
              </a:lnSpc>
              <a:spcAft>
                <a:spcPts val="600"/>
              </a:spcAft>
            </a:pPr>
            <a:r>
              <a:rPr lang="es-MX" sz="3200" b="1" dirty="0"/>
              <a:t>Información Requerida: Rendimientos previstos por proceso:</a:t>
            </a:r>
          </a:p>
          <a:p>
            <a:pPr marL="457200" indent="-457200" algn="just">
              <a:lnSpc>
                <a:spcPct val="130000"/>
              </a:lnSpc>
              <a:spcAft>
                <a:spcPts val="600"/>
              </a:spcAft>
              <a:buFont typeface="Arial" panose="020B0604020202020204" pitchFamily="34" charset="0"/>
              <a:buChar char="•"/>
            </a:pPr>
            <a:r>
              <a:rPr lang="es-MX" sz="2800" dirty="0"/>
              <a:t>Pueden ser los rendimientos considerados en el presupuesto de obra, siempre y cuando se haya verificado que los mismos son aplicables a las condiciones reales de ejecución del proyecto.</a:t>
            </a:r>
          </a:p>
          <a:p>
            <a:pPr marL="457200" indent="-457200" algn="just">
              <a:lnSpc>
                <a:spcPct val="130000"/>
              </a:lnSpc>
              <a:spcAft>
                <a:spcPts val="600"/>
              </a:spcAft>
              <a:buFont typeface="Arial" panose="020B0604020202020204" pitchFamily="34" charset="0"/>
              <a:buChar char="•"/>
            </a:pPr>
            <a:r>
              <a:rPr lang="es-MX" sz="2800" dirty="0"/>
              <a:t>Es recomendable, en especial para los procesos constructivos incidentes y/o críticos, determinar in situ los rendimientos de mano de obra y/o equipos para las condiciones reales de ejecución del proyecto.</a:t>
            </a:r>
          </a:p>
        </p:txBody>
      </p:sp>
      <p:sp>
        <p:nvSpPr>
          <p:cNvPr id="4" name="Rectángulo 3">
            <a:extLst>
              <a:ext uri="{FF2B5EF4-FFF2-40B4-BE49-F238E27FC236}">
                <a16:creationId xmlns:a16="http://schemas.microsoft.com/office/drawing/2014/main" id="{3D0FEA98-ECB5-4AD8-AB6D-8A6072778AE1}"/>
              </a:ext>
            </a:extLst>
          </p:cNvPr>
          <p:cNvSpPr/>
          <p:nvPr/>
        </p:nvSpPr>
        <p:spPr>
          <a:xfrm>
            <a:off x="780685" y="405562"/>
            <a:ext cx="8615863" cy="769441"/>
          </a:xfrm>
          <a:prstGeom prst="rect">
            <a:avLst/>
          </a:prstGeom>
        </p:spPr>
        <p:txBody>
          <a:bodyPr wrap="square">
            <a:spAutoFit/>
          </a:bodyPr>
          <a:lstStyle/>
          <a:p>
            <a:pPr marL="109728" indent="0">
              <a:buFont typeface="Arial" panose="020B0604020202020204" pitchFamily="34" charset="0"/>
              <a:buNone/>
            </a:pPr>
            <a:r>
              <a:rPr lang="en-US" sz="4400" b="1" dirty="0">
                <a:latin typeface="+mj-lt"/>
                <a:cs typeface="Times New Roman" panose="02020603050405020304" pitchFamily="18" charset="0"/>
              </a:rPr>
              <a:t>Informe </a:t>
            </a:r>
            <a:r>
              <a:rPr lang="en-US" sz="4400" b="1" dirty="0" err="1">
                <a:latin typeface="+mj-lt"/>
                <a:cs typeface="Times New Roman" panose="02020603050405020304" pitchFamily="18" charset="0"/>
              </a:rPr>
              <a:t>Semanal</a:t>
            </a:r>
            <a:r>
              <a:rPr lang="en-US" sz="4400" b="1" dirty="0">
                <a:latin typeface="+mj-lt"/>
                <a:cs typeface="Times New Roman" panose="02020603050405020304" pitchFamily="18" charset="0"/>
              </a:rPr>
              <a:t> de </a:t>
            </a:r>
            <a:r>
              <a:rPr lang="en-US" sz="4400" b="1" dirty="0" err="1">
                <a:latin typeface="+mj-lt"/>
                <a:cs typeface="Times New Roman" panose="02020603050405020304" pitchFamily="18" charset="0"/>
              </a:rPr>
              <a:t>Producción</a:t>
            </a:r>
            <a:r>
              <a:rPr lang="en-US" sz="4400" b="1" dirty="0">
                <a:latin typeface="+mj-lt"/>
                <a:cs typeface="Times New Roman" panose="02020603050405020304" pitchFamily="18" charset="0"/>
              </a:rPr>
              <a:t> (ISP)</a:t>
            </a:r>
          </a:p>
        </p:txBody>
      </p:sp>
    </p:spTree>
    <p:extLst>
      <p:ext uri="{BB962C8B-B14F-4D97-AF65-F5344CB8AC3E}">
        <p14:creationId xmlns:p14="http://schemas.microsoft.com/office/powerpoint/2010/main" val="20824540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3" y="1175003"/>
            <a:ext cx="10591633" cy="3863237"/>
          </a:xfrm>
          <a:prstGeom prst="rect">
            <a:avLst/>
          </a:prstGeom>
          <a:noFill/>
        </p:spPr>
        <p:txBody>
          <a:bodyPr wrap="square" rtlCol="0">
            <a:spAutoFit/>
          </a:bodyPr>
          <a:lstStyle/>
          <a:p>
            <a:pPr algn="just">
              <a:lnSpc>
                <a:spcPct val="150000"/>
              </a:lnSpc>
              <a:spcAft>
                <a:spcPts val="600"/>
              </a:spcAft>
            </a:pPr>
            <a:r>
              <a:rPr lang="es-MX" sz="3200" b="1" dirty="0"/>
              <a:t>Áreas que Intervienen en la Elaboración del ISP:</a:t>
            </a:r>
          </a:p>
          <a:p>
            <a:pPr algn="just">
              <a:lnSpc>
                <a:spcPct val="150000"/>
              </a:lnSpc>
              <a:spcAft>
                <a:spcPts val="600"/>
              </a:spcAft>
            </a:pPr>
            <a:r>
              <a:rPr lang="es-MX" sz="3200" dirty="0"/>
              <a:t>Las áreas que intervienen en la generación de información para la elaboración del ISP son:</a:t>
            </a:r>
          </a:p>
          <a:p>
            <a:pPr algn="just">
              <a:lnSpc>
                <a:spcPct val="150000"/>
              </a:lnSpc>
              <a:spcAft>
                <a:spcPts val="600"/>
              </a:spcAft>
            </a:pPr>
            <a:r>
              <a:rPr lang="es-MX" sz="3200" dirty="0"/>
              <a:t>Producción, Administración de Obra, Almacén, Oficina Técnica y Control de Proyectos.</a:t>
            </a:r>
          </a:p>
        </p:txBody>
      </p:sp>
      <p:sp>
        <p:nvSpPr>
          <p:cNvPr id="4" name="Rectángulo 3">
            <a:extLst>
              <a:ext uri="{FF2B5EF4-FFF2-40B4-BE49-F238E27FC236}">
                <a16:creationId xmlns:a16="http://schemas.microsoft.com/office/drawing/2014/main" id="{3D0FEA98-ECB5-4AD8-AB6D-8A6072778AE1}"/>
              </a:ext>
            </a:extLst>
          </p:cNvPr>
          <p:cNvSpPr/>
          <p:nvPr/>
        </p:nvSpPr>
        <p:spPr>
          <a:xfrm>
            <a:off x="780685" y="405562"/>
            <a:ext cx="8615863" cy="769441"/>
          </a:xfrm>
          <a:prstGeom prst="rect">
            <a:avLst/>
          </a:prstGeom>
        </p:spPr>
        <p:txBody>
          <a:bodyPr wrap="square">
            <a:spAutoFit/>
          </a:bodyPr>
          <a:lstStyle/>
          <a:p>
            <a:pPr marL="109728" indent="0">
              <a:buFont typeface="Arial" panose="020B0604020202020204" pitchFamily="34" charset="0"/>
              <a:buNone/>
            </a:pPr>
            <a:r>
              <a:rPr lang="en-US" sz="4400" b="1" dirty="0">
                <a:latin typeface="+mj-lt"/>
                <a:cs typeface="Times New Roman" panose="02020603050405020304" pitchFamily="18" charset="0"/>
              </a:rPr>
              <a:t>Informe </a:t>
            </a:r>
            <a:r>
              <a:rPr lang="en-US" sz="4400" b="1" dirty="0" err="1">
                <a:latin typeface="+mj-lt"/>
                <a:cs typeface="Times New Roman" panose="02020603050405020304" pitchFamily="18" charset="0"/>
              </a:rPr>
              <a:t>Semanal</a:t>
            </a:r>
            <a:r>
              <a:rPr lang="en-US" sz="4400" b="1" dirty="0">
                <a:latin typeface="+mj-lt"/>
                <a:cs typeface="Times New Roman" panose="02020603050405020304" pitchFamily="18" charset="0"/>
              </a:rPr>
              <a:t> de </a:t>
            </a:r>
            <a:r>
              <a:rPr lang="en-US" sz="4400" b="1" dirty="0" err="1">
                <a:latin typeface="+mj-lt"/>
                <a:cs typeface="Times New Roman" panose="02020603050405020304" pitchFamily="18" charset="0"/>
              </a:rPr>
              <a:t>Producción</a:t>
            </a:r>
            <a:r>
              <a:rPr lang="en-US" sz="4400" b="1" dirty="0">
                <a:latin typeface="+mj-lt"/>
                <a:cs typeface="Times New Roman" panose="02020603050405020304" pitchFamily="18" charset="0"/>
              </a:rPr>
              <a:t> (ISP)</a:t>
            </a:r>
          </a:p>
        </p:txBody>
      </p:sp>
    </p:spTree>
    <p:extLst>
      <p:ext uri="{BB962C8B-B14F-4D97-AF65-F5344CB8AC3E}">
        <p14:creationId xmlns:p14="http://schemas.microsoft.com/office/powerpoint/2010/main" val="569514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38514" y="765700"/>
            <a:ext cx="10591633" cy="754694"/>
          </a:xfrm>
          <a:prstGeom prst="rect">
            <a:avLst/>
          </a:prstGeom>
          <a:noFill/>
        </p:spPr>
        <p:txBody>
          <a:bodyPr wrap="square" rtlCol="0">
            <a:spAutoFit/>
          </a:bodyPr>
          <a:lstStyle/>
          <a:p>
            <a:pPr algn="just">
              <a:lnSpc>
                <a:spcPct val="150000"/>
              </a:lnSpc>
              <a:spcAft>
                <a:spcPts val="600"/>
              </a:spcAft>
            </a:pPr>
            <a:r>
              <a:rPr lang="es-MX" sz="3200" b="1" dirty="0"/>
              <a:t>Flujo de Información para la Elaboración del ISP:</a:t>
            </a:r>
          </a:p>
        </p:txBody>
      </p:sp>
      <p:sp>
        <p:nvSpPr>
          <p:cNvPr id="4" name="Rectángulo 3">
            <a:extLst>
              <a:ext uri="{FF2B5EF4-FFF2-40B4-BE49-F238E27FC236}">
                <a16:creationId xmlns:a16="http://schemas.microsoft.com/office/drawing/2014/main" id="{3D0FEA98-ECB5-4AD8-AB6D-8A6072778AE1}"/>
              </a:ext>
            </a:extLst>
          </p:cNvPr>
          <p:cNvSpPr/>
          <p:nvPr/>
        </p:nvSpPr>
        <p:spPr>
          <a:xfrm>
            <a:off x="780685" y="135596"/>
            <a:ext cx="8615863" cy="769441"/>
          </a:xfrm>
          <a:prstGeom prst="rect">
            <a:avLst/>
          </a:prstGeom>
        </p:spPr>
        <p:txBody>
          <a:bodyPr wrap="square">
            <a:spAutoFit/>
          </a:bodyPr>
          <a:lstStyle/>
          <a:p>
            <a:pPr marL="109728" indent="0">
              <a:buFont typeface="Arial" panose="020B0604020202020204" pitchFamily="34" charset="0"/>
              <a:buNone/>
            </a:pPr>
            <a:r>
              <a:rPr lang="en-US" sz="4400" b="1" dirty="0">
                <a:latin typeface="+mj-lt"/>
                <a:cs typeface="Times New Roman" panose="02020603050405020304" pitchFamily="18" charset="0"/>
              </a:rPr>
              <a:t>Informe </a:t>
            </a:r>
            <a:r>
              <a:rPr lang="en-US" sz="4400" b="1" dirty="0" err="1">
                <a:latin typeface="+mj-lt"/>
                <a:cs typeface="Times New Roman" panose="02020603050405020304" pitchFamily="18" charset="0"/>
              </a:rPr>
              <a:t>Semanal</a:t>
            </a:r>
            <a:r>
              <a:rPr lang="en-US" sz="4400" b="1" dirty="0">
                <a:latin typeface="+mj-lt"/>
                <a:cs typeface="Times New Roman" panose="02020603050405020304" pitchFamily="18" charset="0"/>
              </a:rPr>
              <a:t> de </a:t>
            </a:r>
            <a:r>
              <a:rPr lang="en-US" sz="4400" b="1" dirty="0" err="1">
                <a:latin typeface="+mj-lt"/>
                <a:cs typeface="Times New Roman" panose="02020603050405020304" pitchFamily="18" charset="0"/>
              </a:rPr>
              <a:t>Producción</a:t>
            </a:r>
            <a:r>
              <a:rPr lang="en-US" sz="4400" b="1" dirty="0">
                <a:latin typeface="+mj-lt"/>
                <a:cs typeface="Times New Roman" panose="02020603050405020304" pitchFamily="18" charset="0"/>
              </a:rPr>
              <a:t> (ISP)</a:t>
            </a:r>
          </a:p>
        </p:txBody>
      </p:sp>
      <p:pic>
        <p:nvPicPr>
          <p:cNvPr id="5" name="Imagen 4">
            <a:extLst>
              <a:ext uri="{FF2B5EF4-FFF2-40B4-BE49-F238E27FC236}">
                <a16:creationId xmlns:a16="http://schemas.microsoft.com/office/drawing/2014/main" id="{7D5B60D7-EC8C-42FF-8E74-872D895FBBCF}"/>
              </a:ext>
            </a:extLst>
          </p:cNvPr>
          <p:cNvPicPr>
            <a:picLocks noChangeAspect="1"/>
          </p:cNvPicPr>
          <p:nvPr/>
        </p:nvPicPr>
        <p:blipFill>
          <a:blip r:embed="rId2"/>
          <a:stretch>
            <a:fillRect/>
          </a:stretch>
        </p:blipFill>
        <p:spPr>
          <a:xfrm>
            <a:off x="2600150" y="1520394"/>
            <a:ext cx="7445458" cy="5159719"/>
          </a:xfrm>
          <a:prstGeom prst="rect">
            <a:avLst/>
          </a:prstGeom>
        </p:spPr>
      </p:pic>
    </p:spTree>
    <p:extLst>
      <p:ext uri="{BB962C8B-B14F-4D97-AF65-F5344CB8AC3E}">
        <p14:creationId xmlns:p14="http://schemas.microsoft.com/office/powerpoint/2010/main" val="1558041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3" y="1175003"/>
            <a:ext cx="10591633" cy="4949945"/>
          </a:xfrm>
          <a:prstGeom prst="rect">
            <a:avLst/>
          </a:prstGeom>
          <a:noFill/>
        </p:spPr>
        <p:txBody>
          <a:bodyPr wrap="square" rtlCol="0">
            <a:spAutoFit/>
          </a:bodyPr>
          <a:lstStyle/>
          <a:p>
            <a:pPr algn="just">
              <a:lnSpc>
                <a:spcPct val="150000"/>
              </a:lnSpc>
              <a:spcAft>
                <a:spcPts val="600"/>
              </a:spcAft>
            </a:pPr>
            <a:r>
              <a:rPr lang="es-MX" sz="3200" b="1" dirty="0"/>
              <a:t>Flujo de Información para la Elaboración del ISP:</a:t>
            </a:r>
          </a:p>
          <a:p>
            <a:pPr algn="just">
              <a:lnSpc>
                <a:spcPct val="150000"/>
              </a:lnSpc>
              <a:spcAft>
                <a:spcPts val="600"/>
              </a:spcAft>
            </a:pPr>
            <a:r>
              <a:rPr lang="es-MX" sz="2800" b="1" dirty="0"/>
              <a:t>Paso 1: Generación</a:t>
            </a:r>
          </a:p>
          <a:p>
            <a:pPr algn="just">
              <a:lnSpc>
                <a:spcPct val="150000"/>
              </a:lnSpc>
              <a:spcAft>
                <a:spcPts val="600"/>
              </a:spcAft>
            </a:pPr>
            <a:r>
              <a:rPr lang="es-MX" sz="2800" dirty="0"/>
              <a:t>- La información de producción, mano de obra, equipos y materiales (a través de los partes faseados) proviene del personal de campo.</a:t>
            </a:r>
          </a:p>
          <a:p>
            <a:pPr algn="just">
              <a:lnSpc>
                <a:spcPct val="150000"/>
              </a:lnSpc>
              <a:spcAft>
                <a:spcPts val="600"/>
              </a:spcAft>
            </a:pPr>
            <a:r>
              <a:rPr lang="es-MX" sz="2800" b="1" dirty="0"/>
              <a:t>Paso 2: Validación</a:t>
            </a:r>
          </a:p>
          <a:p>
            <a:pPr algn="just">
              <a:lnSpc>
                <a:spcPct val="150000"/>
              </a:lnSpc>
              <a:spcAft>
                <a:spcPts val="600"/>
              </a:spcAft>
            </a:pPr>
            <a:r>
              <a:rPr lang="es-MX" sz="2800" dirty="0"/>
              <a:t>- Los Ingenieros de Producción deben revisar y validar la información proporcionada por los Jefes de Grupo.</a:t>
            </a:r>
          </a:p>
        </p:txBody>
      </p:sp>
      <p:sp>
        <p:nvSpPr>
          <p:cNvPr id="4" name="Rectángulo 3">
            <a:extLst>
              <a:ext uri="{FF2B5EF4-FFF2-40B4-BE49-F238E27FC236}">
                <a16:creationId xmlns:a16="http://schemas.microsoft.com/office/drawing/2014/main" id="{3D0FEA98-ECB5-4AD8-AB6D-8A6072778AE1}"/>
              </a:ext>
            </a:extLst>
          </p:cNvPr>
          <p:cNvSpPr/>
          <p:nvPr/>
        </p:nvSpPr>
        <p:spPr>
          <a:xfrm>
            <a:off x="780685" y="405562"/>
            <a:ext cx="8615863" cy="769441"/>
          </a:xfrm>
          <a:prstGeom prst="rect">
            <a:avLst/>
          </a:prstGeom>
        </p:spPr>
        <p:txBody>
          <a:bodyPr wrap="square">
            <a:spAutoFit/>
          </a:bodyPr>
          <a:lstStyle/>
          <a:p>
            <a:pPr marL="109728" indent="0">
              <a:buFont typeface="Arial" panose="020B0604020202020204" pitchFamily="34" charset="0"/>
              <a:buNone/>
            </a:pPr>
            <a:r>
              <a:rPr lang="en-US" sz="4400" b="1" dirty="0">
                <a:latin typeface="+mj-lt"/>
                <a:cs typeface="Times New Roman" panose="02020603050405020304" pitchFamily="18" charset="0"/>
              </a:rPr>
              <a:t>Informe </a:t>
            </a:r>
            <a:r>
              <a:rPr lang="en-US" sz="4400" b="1" dirty="0" err="1">
                <a:latin typeface="+mj-lt"/>
                <a:cs typeface="Times New Roman" panose="02020603050405020304" pitchFamily="18" charset="0"/>
              </a:rPr>
              <a:t>Semanal</a:t>
            </a:r>
            <a:r>
              <a:rPr lang="en-US" sz="4400" b="1" dirty="0">
                <a:latin typeface="+mj-lt"/>
                <a:cs typeface="Times New Roman" panose="02020603050405020304" pitchFamily="18" charset="0"/>
              </a:rPr>
              <a:t> de </a:t>
            </a:r>
            <a:r>
              <a:rPr lang="en-US" sz="4400" b="1" dirty="0" err="1">
                <a:latin typeface="+mj-lt"/>
                <a:cs typeface="Times New Roman" panose="02020603050405020304" pitchFamily="18" charset="0"/>
              </a:rPr>
              <a:t>Producción</a:t>
            </a:r>
            <a:r>
              <a:rPr lang="en-US" sz="4400" b="1" dirty="0">
                <a:latin typeface="+mj-lt"/>
                <a:cs typeface="Times New Roman" panose="02020603050405020304" pitchFamily="18" charset="0"/>
              </a:rPr>
              <a:t> (ISP)</a:t>
            </a:r>
          </a:p>
        </p:txBody>
      </p:sp>
    </p:spTree>
    <p:extLst>
      <p:ext uri="{BB962C8B-B14F-4D97-AF65-F5344CB8AC3E}">
        <p14:creationId xmlns:p14="http://schemas.microsoft.com/office/powerpoint/2010/main" val="7238156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21097" y="1053083"/>
            <a:ext cx="10591633" cy="5401479"/>
          </a:xfrm>
          <a:prstGeom prst="rect">
            <a:avLst/>
          </a:prstGeom>
          <a:noFill/>
        </p:spPr>
        <p:txBody>
          <a:bodyPr wrap="square" rtlCol="0">
            <a:spAutoFit/>
          </a:bodyPr>
          <a:lstStyle/>
          <a:p>
            <a:pPr algn="just">
              <a:spcAft>
                <a:spcPts val="600"/>
              </a:spcAft>
            </a:pPr>
            <a:r>
              <a:rPr lang="es-MX" sz="3200" b="1" dirty="0"/>
              <a:t>Flujo de Información para la Elaboración del ISP:</a:t>
            </a:r>
          </a:p>
          <a:p>
            <a:pPr algn="just">
              <a:spcAft>
                <a:spcPts val="600"/>
              </a:spcAft>
            </a:pPr>
            <a:r>
              <a:rPr lang="es-MX" sz="2800" b="1" dirty="0"/>
              <a:t>Paso 3: Procesamiento</a:t>
            </a:r>
          </a:p>
          <a:p>
            <a:pPr algn="just">
              <a:spcAft>
                <a:spcPts val="600"/>
              </a:spcAft>
            </a:pPr>
            <a:r>
              <a:rPr lang="es-MX" sz="2600" dirty="0"/>
              <a:t>Una vez que la información que proviene de campo sea validada por Producción, las áreas deberán procesar y reportar a Control de Proyectos la información necesaria para elaborar y consolidar el ISP. Las áreas y sus responsabilidades son las siguientes:</a:t>
            </a:r>
          </a:p>
          <a:p>
            <a:pPr marL="457200" indent="-457200" algn="just">
              <a:spcAft>
                <a:spcPts val="600"/>
              </a:spcAft>
              <a:buFont typeface="Arial" panose="020B0604020202020204" pitchFamily="34" charset="0"/>
              <a:buChar char="•"/>
            </a:pPr>
            <a:r>
              <a:rPr lang="es-MX" sz="2600" dirty="0"/>
              <a:t>Administración de Obra: Es responsable del reporte de mano de obra (HH y/o costo) por fase.</a:t>
            </a:r>
          </a:p>
          <a:p>
            <a:pPr marL="457200" indent="-457200" algn="just">
              <a:spcAft>
                <a:spcPts val="600"/>
              </a:spcAft>
              <a:buFont typeface="Arial" panose="020B0604020202020204" pitchFamily="34" charset="0"/>
              <a:buChar char="•"/>
            </a:pPr>
            <a:r>
              <a:rPr lang="es-MX" sz="2600" dirty="0"/>
              <a:t>Almacén: Es responsable del reporte de materiales (Cantidades y costo) por fase.</a:t>
            </a:r>
          </a:p>
          <a:p>
            <a:pPr marL="457200" indent="-457200" algn="just">
              <a:spcAft>
                <a:spcPts val="600"/>
              </a:spcAft>
              <a:buFont typeface="Arial" panose="020B0604020202020204" pitchFamily="34" charset="0"/>
              <a:buChar char="•"/>
            </a:pPr>
            <a:r>
              <a:rPr lang="es-MX" sz="2600" dirty="0"/>
              <a:t>Oficina Técnica: Es responsable reporte “oficial” de </a:t>
            </a:r>
            <a:r>
              <a:rPr lang="es-MX" sz="2600" dirty="0" err="1"/>
              <a:t>metrados</a:t>
            </a:r>
            <a:r>
              <a:rPr lang="es-MX" sz="2600" dirty="0"/>
              <a:t> ejecutados acumulados (avance) y totales.</a:t>
            </a:r>
          </a:p>
        </p:txBody>
      </p:sp>
      <p:sp>
        <p:nvSpPr>
          <p:cNvPr id="4" name="Rectángulo 3">
            <a:extLst>
              <a:ext uri="{FF2B5EF4-FFF2-40B4-BE49-F238E27FC236}">
                <a16:creationId xmlns:a16="http://schemas.microsoft.com/office/drawing/2014/main" id="{3D0FEA98-ECB5-4AD8-AB6D-8A6072778AE1}"/>
              </a:ext>
            </a:extLst>
          </p:cNvPr>
          <p:cNvSpPr/>
          <p:nvPr/>
        </p:nvSpPr>
        <p:spPr>
          <a:xfrm>
            <a:off x="780685" y="213974"/>
            <a:ext cx="8615863" cy="769441"/>
          </a:xfrm>
          <a:prstGeom prst="rect">
            <a:avLst/>
          </a:prstGeom>
        </p:spPr>
        <p:txBody>
          <a:bodyPr wrap="square">
            <a:spAutoFit/>
          </a:bodyPr>
          <a:lstStyle/>
          <a:p>
            <a:pPr marL="109728" indent="0">
              <a:buFont typeface="Arial" panose="020B0604020202020204" pitchFamily="34" charset="0"/>
              <a:buNone/>
            </a:pPr>
            <a:r>
              <a:rPr lang="en-US" sz="4400" b="1" dirty="0">
                <a:latin typeface="+mj-lt"/>
                <a:cs typeface="Times New Roman" panose="02020603050405020304" pitchFamily="18" charset="0"/>
              </a:rPr>
              <a:t>Informe </a:t>
            </a:r>
            <a:r>
              <a:rPr lang="en-US" sz="4400" b="1" dirty="0" err="1">
                <a:latin typeface="+mj-lt"/>
                <a:cs typeface="Times New Roman" panose="02020603050405020304" pitchFamily="18" charset="0"/>
              </a:rPr>
              <a:t>Semanal</a:t>
            </a:r>
            <a:r>
              <a:rPr lang="en-US" sz="4400" b="1" dirty="0">
                <a:latin typeface="+mj-lt"/>
                <a:cs typeface="Times New Roman" panose="02020603050405020304" pitchFamily="18" charset="0"/>
              </a:rPr>
              <a:t> de </a:t>
            </a:r>
            <a:r>
              <a:rPr lang="en-US" sz="4400" b="1" dirty="0" err="1">
                <a:latin typeface="+mj-lt"/>
                <a:cs typeface="Times New Roman" panose="02020603050405020304" pitchFamily="18" charset="0"/>
              </a:rPr>
              <a:t>Producción</a:t>
            </a:r>
            <a:r>
              <a:rPr lang="en-US" sz="4400" b="1" dirty="0">
                <a:latin typeface="+mj-lt"/>
                <a:cs typeface="Times New Roman" panose="02020603050405020304" pitchFamily="18" charset="0"/>
              </a:rPr>
              <a:t> (ISP)</a:t>
            </a:r>
          </a:p>
        </p:txBody>
      </p:sp>
    </p:spTree>
    <p:extLst>
      <p:ext uri="{BB962C8B-B14F-4D97-AF65-F5344CB8AC3E}">
        <p14:creationId xmlns:p14="http://schemas.microsoft.com/office/powerpoint/2010/main" val="26434610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3" y="1175003"/>
            <a:ext cx="10591633" cy="3503395"/>
          </a:xfrm>
          <a:prstGeom prst="rect">
            <a:avLst/>
          </a:prstGeom>
          <a:noFill/>
        </p:spPr>
        <p:txBody>
          <a:bodyPr wrap="square" rtlCol="0">
            <a:spAutoFit/>
          </a:bodyPr>
          <a:lstStyle/>
          <a:p>
            <a:pPr algn="just">
              <a:lnSpc>
                <a:spcPct val="150000"/>
              </a:lnSpc>
              <a:spcAft>
                <a:spcPts val="600"/>
              </a:spcAft>
            </a:pPr>
            <a:r>
              <a:rPr lang="es-MX" sz="3200" b="1" dirty="0"/>
              <a:t>Flujo de Información para la Elaboración del ISP:</a:t>
            </a:r>
          </a:p>
          <a:p>
            <a:pPr algn="just">
              <a:lnSpc>
                <a:spcPct val="150000"/>
              </a:lnSpc>
              <a:spcAft>
                <a:spcPts val="600"/>
              </a:spcAft>
            </a:pPr>
            <a:r>
              <a:rPr lang="es-MX" sz="2800" b="1" dirty="0"/>
              <a:t>Paso 3: Consolidación</a:t>
            </a:r>
          </a:p>
          <a:p>
            <a:pPr algn="just">
              <a:lnSpc>
                <a:spcPct val="150000"/>
              </a:lnSpc>
              <a:spcAft>
                <a:spcPts val="600"/>
              </a:spcAft>
            </a:pPr>
            <a:r>
              <a:rPr lang="es-MX" sz="2800" dirty="0"/>
              <a:t>- Una vez que se cuente con la información reportada por las áreas, Control de Proyectos debe consolidar y reportar el ISP, utilizando el formato estándar de la contratista.</a:t>
            </a:r>
          </a:p>
        </p:txBody>
      </p:sp>
      <p:sp>
        <p:nvSpPr>
          <p:cNvPr id="4" name="Rectángulo 3">
            <a:extLst>
              <a:ext uri="{FF2B5EF4-FFF2-40B4-BE49-F238E27FC236}">
                <a16:creationId xmlns:a16="http://schemas.microsoft.com/office/drawing/2014/main" id="{3D0FEA98-ECB5-4AD8-AB6D-8A6072778AE1}"/>
              </a:ext>
            </a:extLst>
          </p:cNvPr>
          <p:cNvSpPr/>
          <p:nvPr/>
        </p:nvSpPr>
        <p:spPr>
          <a:xfrm>
            <a:off x="780685" y="405562"/>
            <a:ext cx="8615863" cy="769441"/>
          </a:xfrm>
          <a:prstGeom prst="rect">
            <a:avLst/>
          </a:prstGeom>
        </p:spPr>
        <p:txBody>
          <a:bodyPr wrap="square">
            <a:spAutoFit/>
          </a:bodyPr>
          <a:lstStyle/>
          <a:p>
            <a:pPr marL="109728" indent="0">
              <a:buFont typeface="Arial" panose="020B0604020202020204" pitchFamily="34" charset="0"/>
              <a:buNone/>
            </a:pPr>
            <a:r>
              <a:rPr lang="en-US" sz="4400" b="1" dirty="0">
                <a:latin typeface="+mj-lt"/>
                <a:cs typeface="Times New Roman" panose="02020603050405020304" pitchFamily="18" charset="0"/>
              </a:rPr>
              <a:t>Informe </a:t>
            </a:r>
            <a:r>
              <a:rPr lang="en-US" sz="4400" b="1" dirty="0" err="1">
                <a:latin typeface="+mj-lt"/>
                <a:cs typeface="Times New Roman" panose="02020603050405020304" pitchFamily="18" charset="0"/>
              </a:rPr>
              <a:t>Semanal</a:t>
            </a:r>
            <a:r>
              <a:rPr lang="en-US" sz="4400" b="1" dirty="0">
                <a:latin typeface="+mj-lt"/>
                <a:cs typeface="Times New Roman" panose="02020603050405020304" pitchFamily="18" charset="0"/>
              </a:rPr>
              <a:t> de </a:t>
            </a:r>
            <a:r>
              <a:rPr lang="en-US" sz="4400" b="1" dirty="0" err="1">
                <a:latin typeface="+mj-lt"/>
                <a:cs typeface="Times New Roman" panose="02020603050405020304" pitchFamily="18" charset="0"/>
              </a:rPr>
              <a:t>Producción</a:t>
            </a:r>
            <a:r>
              <a:rPr lang="en-US" sz="4400" b="1" dirty="0">
                <a:latin typeface="+mj-lt"/>
                <a:cs typeface="Times New Roman" panose="02020603050405020304" pitchFamily="18" charset="0"/>
              </a:rPr>
              <a:t> (ISP)</a:t>
            </a:r>
          </a:p>
        </p:txBody>
      </p:sp>
    </p:spTree>
    <p:extLst>
      <p:ext uri="{BB962C8B-B14F-4D97-AF65-F5344CB8AC3E}">
        <p14:creationId xmlns:p14="http://schemas.microsoft.com/office/powerpoint/2010/main" val="17214308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7243B4-0970-4262-9AA5-972361800BFE}"/>
              </a:ext>
            </a:extLst>
          </p:cNvPr>
          <p:cNvSpPr>
            <a:spLocks noGrp="1"/>
          </p:cNvSpPr>
          <p:nvPr>
            <p:ph type="ctrTitle"/>
          </p:nvPr>
        </p:nvSpPr>
        <p:spPr>
          <a:xfrm>
            <a:off x="1524000" y="1998718"/>
            <a:ext cx="9144000" cy="2387600"/>
          </a:xfrm>
        </p:spPr>
        <p:txBody>
          <a:bodyPr>
            <a:normAutofit/>
          </a:bodyPr>
          <a:lstStyle/>
          <a:p>
            <a:r>
              <a:rPr lang="es-MX" sz="6400" b="1" dirty="0">
                <a:effectLst>
                  <a:outerShdw blurRad="50800" dist="101600" dir="2700000" algn="tl" rotWithShape="0">
                    <a:srgbClr val="00F3B5"/>
                  </a:outerShdw>
                </a:effectLst>
                <a:latin typeface="Prompt" panose="00000500000000000000" pitchFamily="2" charset="-34"/>
                <a:cs typeface="Prompt" panose="00000500000000000000" pitchFamily="2" charset="-34"/>
              </a:rPr>
              <a:t>MUCHAS GRACIAS POR SU ATENCIÓN</a:t>
            </a:r>
            <a:endParaRPr lang="es-PE" sz="6400" b="1" dirty="0">
              <a:effectLst>
                <a:outerShdw blurRad="50800" dist="101600" dir="2700000" algn="tl" rotWithShape="0">
                  <a:srgbClr val="00F3B5"/>
                </a:outerShdw>
              </a:effectLst>
              <a:latin typeface="Prompt" panose="00000500000000000000" pitchFamily="2" charset="-34"/>
              <a:cs typeface="Prompt" panose="00000500000000000000" pitchFamily="2" charset="-34"/>
            </a:endParaRPr>
          </a:p>
        </p:txBody>
      </p:sp>
    </p:spTree>
    <p:extLst>
      <p:ext uri="{BB962C8B-B14F-4D97-AF65-F5344CB8AC3E}">
        <p14:creationId xmlns:p14="http://schemas.microsoft.com/office/powerpoint/2010/main" val="29070530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2389</TotalTime>
  <Words>1579</Words>
  <Application>Microsoft Office PowerPoint</Application>
  <PresentationFormat>Panorámica</PresentationFormat>
  <Paragraphs>114</Paragraphs>
  <Slides>29</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29</vt:i4>
      </vt:variant>
    </vt:vector>
  </HeadingPairs>
  <TitlesOfParts>
    <vt:vector size="34" baseType="lpstr">
      <vt:lpstr>Arial</vt:lpstr>
      <vt:lpstr>Calibri</vt:lpstr>
      <vt:lpstr>Calibri Light</vt:lpstr>
      <vt:lpstr>Prompt</vt:lpstr>
      <vt:lpstr>Tema de Office</vt:lpstr>
      <vt:lpstr>Presentación de PowerPoint</vt:lpstr>
      <vt:lpstr>Presentación de PowerPoint</vt:lpstr>
      <vt:lpstr>Módulo 3</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MUCHAS GRACIAS POR SU ATENCIÓN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Usuario</cp:lastModifiedBy>
  <cp:revision>164</cp:revision>
  <dcterms:created xsi:type="dcterms:W3CDTF">2022-04-19T18:02:09Z</dcterms:created>
  <dcterms:modified xsi:type="dcterms:W3CDTF">2024-06-28T00:02:23Z</dcterms:modified>
</cp:coreProperties>
</file>