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350" r:id="rId5"/>
    <p:sldId id="351" r:id="rId6"/>
    <p:sldId id="386" r:id="rId7"/>
    <p:sldId id="387" r:id="rId8"/>
    <p:sldId id="388" r:id="rId9"/>
    <p:sldId id="391" r:id="rId10"/>
    <p:sldId id="389" r:id="rId11"/>
    <p:sldId id="390" r:id="rId12"/>
    <p:sldId id="392" r:id="rId13"/>
    <p:sldId id="393" r:id="rId14"/>
    <p:sldId id="394" r:id="rId15"/>
    <p:sldId id="395" r:id="rId16"/>
    <p:sldId id="396" r:id="rId17"/>
    <p:sldId id="397" r:id="rId18"/>
    <p:sldId id="398" r:id="rId19"/>
    <p:sldId id="399" r:id="rId20"/>
    <p:sldId id="400" r:id="rId21"/>
    <p:sldId id="401" r:id="rId22"/>
    <p:sldId id="294" r:id="rId23"/>
    <p:sldId id="260" r:id="rId2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a:srgbClr val="F7F7F7"/>
    <a:srgbClr val="02BA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29" autoAdjust="0"/>
    <p:restoredTop sz="94660"/>
  </p:normalViewPr>
  <p:slideViewPr>
    <p:cSldViewPr snapToGrid="0">
      <p:cViewPr varScale="1">
        <p:scale>
          <a:sx n="68" d="100"/>
          <a:sy n="68" d="100"/>
        </p:scale>
        <p:origin x="4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20/06/2024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20/06/2024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20/06/2024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20/06/2024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20/06/2024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20/06/2024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20/06/2024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20/06/2024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20/06/2024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20/06/2024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20/06/2024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20/06/2024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701421" cy="2123658"/>
          </a:xfrm>
          <a:prstGeom prst="rect">
            <a:avLst/>
          </a:prstGeom>
        </p:spPr>
        <p:txBody>
          <a:bodyPr wrap="none">
            <a:spAutoFit/>
          </a:bodyPr>
          <a:lstStyle/>
          <a:p>
            <a:r>
              <a:rPr lang="es-ES" sz="6600" dirty="0">
                <a:solidFill>
                  <a:srgbClr val="00F3B5"/>
                </a:solidFill>
                <a:latin typeface="Prompt" panose="00000800000000000000" pitchFamily="2" charset="-34"/>
                <a:cs typeface="Prompt" panose="00000800000000000000" pitchFamily="2" charset="-34"/>
              </a:rPr>
              <a:t>Resultado Operativo</a:t>
            </a:r>
          </a:p>
          <a:p>
            <a:pPr algn="ctr"/>
            <a:r>
              <a:rPr lang="es-ES" sz="6600" dirty="0">
                <a:solidFill>
                  <a:schemeClr val="bg1"/>
                </a:solidFill>
                <a:latin typeface="Prompt" panose="00000800000000000000" pitchFamily="2" charset="-34"/>
                <a:cs typeface="Prompt" panose="00000800000000000000" pitchFamily="2" charset="-34"/>
              </a:rPr>
              <a:t>de Obra</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CuadroTexto 3">
            <a:extLst>
              <a:ext uri="{FF2B5EF4-FFF2-40B4-BE49-F238E27FC236}">
                <a16:creationId xmlns:a16="http://schemas.microsoft.com/office/drawing/2014/main" id="{CE78CD8B-B406-4F21-B6A0-85217AF25A26}"/>
              </a:ext>
            </a:extLst>
          </p:cNvPr>
          <p:cNvSpPr txBox="1"/>
          <p:nvPr/>
        </p:nvSpPr>
        <p:spPr>
          <a:xfrm>
            <a:off x="4684542" y="5271825"/>
            <a:ext cx="6991643" cy="646331"/>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DOCENTE: MG. ING. CHRISTIAN ENRIQUE TENORIO MESONES</a:t>
            </a:r>
          </a:p>
          <a:p>
            <a:r>
              <a:rPr lang="es-ES" dirty="0">
                <a:solidFill>
                  <a:schemeClr val="bg1"/>
                </a:solidFill>
                <a:latin typeface="Prompt" panose="00000800000000000000" pitchFamily="2" charset="-34"/>
                <a:cs typeface="Prompt" panose="00000800000000000000" pitchFamily="2" charset="-34"/>
              </a:rPr>
              <a:t>		xtianoperu@gmail.com</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2</a:t>
            </a:r>
          </a:p>
        </p:txBody>
      </p:sp>
      <p:sp>
        <p:nvSpPr>
          <p:cNvPr id="5" name="CuadroTexto 4"/>
          <p:cNvSpPr txBox="1"/>
          <p:nvPr/>
        </p:nvSpPr>
        <p:spPr>
          <a:xfrm>
            <a:off x="1087719" y="3611490"/>
            <a:ext cx="6691357" cy="1015663"/>
          </a:xfrm>
          <a:prstGeom prst="rect">
            <a:avLst/>
          </a:prstGeom>
          <a:noFill/>
        </p:spPr>
        <p:txBody>
          <a:bodyPr wrap="square" rtlCol="0">
            <a:spAutoFit/>
          </a:bodyPr>
          <a:lstStyle/>
          <a:p>
            <a:r>
              <a:rPr lang="es-ES" sz="3000" dirty="0">
                <a:solidFill>
                  <a:schemeClr val="bg1"/>
                </a:solidFill>
                <a:latin typeface="Prompt" panose="00000800000000000000" pitchFamily="2" charset="-34"/>
                <a:cs typeface="Prompt" panose="00000800000000000000" pitchFamily="2" charset="-34"/>
              </a:rPr>
              <a:t>El Resultado Operativo</a:t>
            </a:r>
          </a:p>
          <a:p>
            <a:r>
              <a:rPr lang="es-ES" sz="3000" dirty="0">
                <a:solidFill>
                  <a:schemeClr val="bg1"/>
                </a:solidFill>
                <a:latin typeface="Prompt" panose="00000800000000000000" pitchFamily="2" charset="-34"/>
                <a:cs typeface="Prompt" panose="00000800000000000000" pitchFamily="2" charset="-34"/>
              </a:rPr>
              <a:t>(continuación)</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1936161" y="1585686"/>
            <a:ext cx="8319678" cy="3011379"/>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COMPONENTES Y DESARROLLO DEL RESULTADO OPERATIVO</a:t>
            </a:r>
          </a:p>
          <a:p>
            <a:pPr algn="ctr">
              <a:spcBef>
                <a:spcPts val="0"/>
              </a:spcBef>
              <a:buClr>
                <a:srgbClr val="FFFFFF"/>
              </a:buClr>
              <a:buSzPct val="100000"/>
            </a:pPr>
            <a:endParaRPr lang="en" sz="1000" b="1" dirty="0">
              <a:latin typeface="+mn-lt"/>
            </a:endParaRPr>
          </a:p>
          <a:p>
            <a:pPr algn="ctr">
              <a:spcBef>
                <a:spcPts val="0"/>
              </a:spcBef>
              <a:buClr>
                <a:srgbClr val="FFFFFF"/>
              </a:buClr>
              <a:buSzPct val="100000"/>
            </a:pPr>
            <a:r>
              <a:rPr lang="en" sz="5500" b="1" dirty="0">
                <a:latin typeface="+mn-lt"/>
              </a:rPr>
              <a:t>PLAN DE FASES</a:t>
            </a:r>
          </a:p>
        </p:txBody>
      </p:sp>
    </p:spTree>
    <p:extLst>
      <p:ext uri="{BB962C8B-B14F-4D97-AF65-F5344CB8AC3E}">
        <p14:creationId xmlns:p14="http://schemas.microsoft.com/office/powerpoint/2010/main" val="54293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00332" y="1479903"/>
            <a:ext cx="10510982" cy="4646913"/>
          </a:xfrm>
          <a:prstGeom prst="rect">
            <a:avLst/>
          </a:prstGeom>
          <a:noFill/>
        </p:spPr>
        <p:txBody>
          <a:bodyPr wrap="square" rtlCol="0">
            <a:spAutoFit/>
          </a:bodyPr>
          <a:lstStyle/>
          <a:p>
            <a:pPr algn="just">
              <a:lnSpc>
                <a:spcPct val="150000"/>
              </a:lnSpc>
            </a:pPr>
            <a:r>
              <a:rPr lang="es-MX" sz="3000" b="1" dirty="0"/>
              <a:t>Definición de fase: </a:t>
            </a:r>
          </a:p>
          <a:p>
            <a:pPr algn="just">
              <a:lnSpc>
                <a:spcPct val="150000"/>
              </a:lnSpc>
              <a:spcAft>
                <a:spcPts val="1800"/>
              </a:spcAft>
            </a:pPr>
            <a:r>
              <a:rPr lang="es-MX" sz="2600" dirty="0"/>
              <a:t>Agrupación de partidas o actividades afines para su seguimiento y control, que se utilizan para preparar los informes de control de proyectos. </a:t>
            </a:r>
          </a:p>
          <a:p>
            <a:pPr algn="just">
              <a:lnSpc>
                <a:spcPct val="150000"/>
              </a:lnSpc>
            </a:pPr>
            <a:r>
              <a:rPr lang="es-MX" sz="3000" b="1" dirty="0"/>
              <a:t>Propósitos: </a:t>
            </a:r>
          </a:p>
          <a:p>
            <a:pPr marL="457200" indent="-457200" algn="just">
              <a:lnSpc>
                <a:spcPct val="150000"/>
              </a:lnSpc>
              <a:buFont typeface="Arial" panose="020B0604020202020204" pitchFamily="34" charset="0"/>
              <a:buChar char="•"/>
            </a:pPr>
            <a:r>
              <a:rPr lang="es-MX" sz="2600" dirty="0"/>
              <a:t>Facilitar el seguimiento y control de los proyectos. </a:t>
            </a:r>
          </a:p>
          <a:p>
            <a:pPr marL="457200" indent="-457200" algn="just">
              <a:lnSpc>
                <a:spcPct val="150000"/>
              </a:lnSpc>
              <a:buFont typeface="Arial" panose="020B0604020202020204" pitchFamily="34" charset="0"/>
              <a:buChar char="•"/>
            </a:pPr>
            <a:r>
              <a:rPr lang="es-MX" sz="2600" dirty="0"/>
              <a:t>Lograr un nexo de integración entre los sistemas de presupuesto, planeamiento, costos y productividad. </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3528338" cy="830997"/>
          </a:xfrm>
          <a:prstGeom prst="rect">
            <a:avLst/>
          </a:prstGeom>
        </p:spPr>
        <p:txBody>
          <a:bodyPr wrap="square">
            <a:spAutoFit/>
          </a:bodyPr>
          <a:lstStyle/>
          <a:p>
            <a:pPr marL="109728" indent="0">
              <a:buFont typeface="Arial" panose="020B0604020202020204" pitchFamily="34" charset="0"/>
              <a:buNone/>
            </a:pPr>
            <a:r>
              <a:rPr lang="en-US" sz="4800" b="1" dirty="0">
                <a:latin typeface="+mj-lt"/>
                <a:cs typeface="Times New Roman" panose="02020603050405020304" pitchFamily="18" charset="0"/>
              </a:rPr>
              <a:t>Plan de </a:t>
            </a:r>
            <a:r>
              <a:rPr lang="en-US" sz="4800" b="1" dirty="0" err="1">
                <a:latin typeface="+mj-lt"/>
                <a:cs typeface="Times New Roman" panose="02020603050405020304" pitchFamily="18" charset="0"/>
              </a:rPr>
              <a:t>Fases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84358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454711" cy="5277855"/>
          </a:xfrm>
          <a:prstGeom prst="rect">
            <a:avLst/>
          </a:prstGeom>
          <a:noFill/>
        </p:spPr>
        <p:txBody>
          <a:bodyPr wrap="square" rtlCol="0">
            <a:spAutoFit/>
          </a:bodyPr>
          <a:lstStyle/>
          <a:p>
            <a:pPr algn="just">
              <a:lnSpc>
                <a:spcPct val="150000"/>
              </a:lnSpc>
            </a:pPr>
            <a:r>
              <a:rPr lang="es-MX" sz="3000" b="1" dirty="0"/>
              <a:t>Elaboración del plan de fases: </a:t>
            </a:r>
          </a:p>
          <a:p>
            <a:pPr marL="457200" indent="-457200" algn="just">
              <a:lnSpc>
                <a:spcPct val="150000"/>
              </a:lnSpc>
              <a:spcAft>
                <a:spcPts val="1200"/>
              </a:spcAft>
              <a:buFont typeface="Arial" panose="020B0604020202020204" pitchFamily="34" charset="0"/>
              <a:buChar char="•"/>
            </a:pPr>
            <a:r>
              <a:rPr lang="es-MX" sz="2600" dirty="0"/>
              <a:t>Las partidas se agrupan de acuerdo al trabajo a realizar o características en común, las cuales pueden ser:</a:t>
            </a:r>
          </a:p>
          <a:p>
            <a:pPr marL="914400" lvl="1" indent="-457200" algn="just">
              <a:buFont typeface="Wingdings" panose="05000000000000000000" pitchFamily="2" charset="2"/>
              <a:buChar char="ü"/>
            </a:pPr>
            <a:r>
              <a:rPr lang="es-MX" sz="2400" dirty="0"/>
              <a:t>Partidas que utilicen los mismos recursos.</a:t>
            </a:r>
          </a:p>
          <a:p>
            <a:pPr marL="914400" lvl="1" indent="-457200" algn="just">
              <a:buFont typeface="Wingdings" panose="05000000000000000000" pitchFamily="2" charset="2"/>
              <a:buChar char="ü"/>
            </a:pPr>
            <a:r>
              <a:rPr lang="es-MX" sz="2400" dirty="0"/>
              <a:t>Por el tipo de trabajo.</a:t>
            </a:r>
          </a:p>
          <a:p>
            <a:pPr marL="914400" lvl="1" indent="-457200" algn="just">
              <a:buFont typeface="Wingdings" panose="05000000000000000000" pitchFamily="2" charset="2"/>
              <a:buChar char="ü"/>
            </a:pPr>
            <a:r>
              <a:rPr lang="es-MX" sz="2400" dirty="0"/>
              <a:t>Por el tipo de responsabilidad.</a:t>
            </a:r>
          </a:p>
          <a:p>
            <a:pPr marL="914400" lvl="1" indent="-457200" algn="just">
              <a:buFont typeface="Wingdings" panose="05000000000000000000" pitchFamily="2" charset="2"/>
              <a:buChar char="ü"/>
            </a:pPr>
            <a:r>
              <a:rPr lang="es-MX" sz="2400" dirty="0"/>
              <a:t>Por frentes.</a:t>
            </a:r>
          </a:p>
          <a:p>
            <a:pPr marL="914400" lvl="1" indent="-457200" algn="just">
              <a:spcAft>
                <a:spcPts val="1200"/>
              </a:spcAft>
              <a:buFont typeface="Wingdings" panose="05000000000000000000" pitchFamily="2" charset="2"/>
              <a:buChar char="ü"/>
            </a:pPr>
            <a:r>
              <a:rPr lang="es-MX" sz="2400" dirty="0"/>
              <a:t>Entre otras.</a:t>
            </a:r>
          </a:p>
          <a:p>
            <a:pPr marL="457200" indent="-457200" algn="just">
              <a:lnSpc>
                <a:spcPct val="150000"/>
              </a:lnSpc>
              <a:buFont typeface="Arial" panose="020B0604020202020204" pitchFamily="34" charset="0"/>
              <a:buChar char="•"/>
            </a:pPr>
            <a:r>
              <a:rPr lang="es-MX" sz="2600" dirty="0"/>
              <a:t>Se le debe asignar un código a las partidas para facilitar el seguimiento y control.</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3528338" cy="830997"/>
          </a:xfrm>
          <a:prstGeom prst="rect">
            <a:avLst/>
          </a:prstGeom>
        </p:spPr>
        <p:txBody>
          <a:bodyPr wrap="none">
            <a:spAutoFit/>
          </a:bodyPr>
          <a:lstStyle/>
          <a:p>
            <a:pPr marL="109728" indent="0">
              <a:buFont typeface="Arial" panose="020B0604020202020204" pitchFamily="34" charset="0"/>
              <a:buNone/>
            </a:pPr>
            <a:r>
              <a:rPr lang="en-US" sz="4800" b="1" dirty="0">
                <a:latin typeface="+mj-lt"/>
                <a:cs typeface="Times New Roman" panose="02020603050405020304" pitchFamily="18" charset="0"/>
              </a:rPr>
              <a:t>Plan de </a:t>
            </a:r>
            <a:r>
              <a:rPr lang="en-US" sz="4800" b="1" dirty="0" err="1">
                <a:latin typeface="+mj-lt"/>
                <a:cs typeface="Times New Roman" panose="02020603050405020304" pitchFamily="18" charset="0"/>
              </a:rPr>
              <a:t>Fases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1197708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454711" cy="2677143"/>
          </a:xfrm>
          <a:prstGeom prst="rect">
            <a:avLst/>
          </a:prstGeom>
          <a:noFill/>
        </p:spPr>
        <p:txBody>
          <a:bodyPr wrap="square" rtlCol="0">
            <a:spAutoFit/>
          </a:bodyPr>
          <a:lstStyle/>
          <a:p>
            <a:pPr algn="just">
              <a:lnSpc>
                <a:spcPct val="150000"/>
              </a:lnSpc>
            </a:pPr>
            <a:r>
              <a:rPr lang="es-MX" sz="3000" b="1" dirty="0"/>
              <a:t>Elaboración del plan de fases: </a:t>
            </a:r>
          </a:p>
          <a:p>
            <a:pPr marL="457200" indent="-457200" algn="just">
              <a:lnSpc>
                <a:spcPct val="150000"/>
              </a:lnSpc>
              <a:spcAft>
                <a:spcPts val="1200"/>
              </a:spcAft>
              <a:buFont typeface="Arial" panose="020B0604020202020204" pitchFamily="34" charset="0"/>
              <a:buChar char="•"/>
            </a:pPr>
            <a:r>
              <a:rPr lang="es-MX" sz="2600" dirty="0"/>
              <a:t>Depende del grado de control al cual se pretende llegar.</a:t>
            </a:r>
          </a:p>
          <a:p>
            <a:pPr marL="457200" indent="-457200" algn="just">
              <a:lnSpc>
                <a:spcPct val="150000"/>
              </a:lnSpc>
              <a:spcAft>
                <a:spcPts val="1200"/>
              </a:spcAft>
              <a:buFont typeface="Arial" panose="020B0604020202020204" pitchFamily="34" charset="0"/>
              <a:buChar char="•"/>
            </a:pPr>
            <a:r>
              <a:rPr lang="es-MX" sz="2600" dirty="0"/>
              <a:t>Será elaborado por el responsable de costos u oficina técnica en coordinación con el Residente de obra.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3528338" cy="830997"/>
          </a:xfrm>
          <a:prstGeom prst="rect">
            <a:avLst/>
          </a:prstGeom>
        </p:spPr>
        <p:txBody>
          <a:bodyPr wrap="none">
            <a:spAutoFit/>
          </a:bodyPr>
          <a:lstStyle/>
          <a:p>
            <a:pPr marL="109728" indent="0">
              <a:buFont typeface="Arial" panose="020B0604020202020204" pitchFamily="34" charset="0"/>
              <a:buNone/>
            </a:pPr>
            <a:r>
              <a:rPr lang="en-US" sz="4800" b="1" dirty="0">
                <a:latin typeface="+mj-lt"/>
                <a:cs typeface="Times New Roman" panose="02020603050405020304" pitchFamily="18" charset="0"/>
              </a:rPr>
              <a:t>Plan de </a:t>
            </a:r>
            <a:r>
              <a:rPr lang="en-US" sz="4800" b="1" dirty="0" err="1">
                <a:latin typeface="+mj-lt"/>
                <a:cs typeface="Times New Roman" panose="02020603050405020304" pitchFamily="18" charset="0"/>
              </a:rPr>
              <a:t>Fases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13288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454711" cy="2523255"/>
          </a:xfrm>
          <a:prstGeom prst="rect">
            <a:avLst/>
          </a:prstGeom>
          <a:noFill/>
        </p:spPr>
        <p:txBody>
          <a:bodyPr wrap="square" rtlCol="0">
            <a:spAutoFit/>
          </a:bodyPr>
          <a:lstStyle/>
          <a:p>
            <a:pPr algn="just">
              <a:lnSpc>
                <a:spcPct val="150000"/>
              </a:lnSpc>
            </a:pPr>
            <a:r>
              <a:rPr lang="es-MX" sz="3000" b="1" dirty="0"/>
              <a:t>Distribución del plan de fases: </a:t>
            </a:r>
          </a:p>
          <a:p>
            <a:pPr marL="457200" indent="-457200" algn="just">
              <a:lnSpc>
                <a:spcPct val="150000"/>
              </a:lnSpc>
              <a:spcAft>
                <a:spcPts val="1200"/>
              </a:spcAft>
              <a:buFont typeface="Arial" panose="020B0604020202020204" pitchFamily="34" charset="0"/>
              <a:buChar char="•"/>
            </a:pPr>
            <a:r>
              <a:rPr lang="es-MX" sz="2600" dirty="0"/>
              <a:t>Previa aprobación del Gerente de Obra, el Ingeniero de Costos o Jefe de Oficina Técnica será el responsable de difundir, capacitar y auditar el cumplimiento del plan de fases. Las áreas involucradas son:</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3528338" cy="830997"/>
          </a:xfrm>
          <a:prstGeom prst="rect">
            <a:avLst/>
          </a:prstGeom>
        </p:spPr>
        <p:txBody>
          <a:bodyPr wrap="none">
            <a:spAutoFit/>
          </a:bodyPr>
          <a:lstStyle/>
          <a:p>
            <a:pPr marL="109728" indent="0">
              <a:buFont typeface="Arial" panose="020B0604020202020204" pitchFamily="34" charset="0"/>
              <a:buNone/>
            </a:pPr>
            <a:r>
              <a:rPr lang="en-US" sz="4800" b="1" dirty="0">
                <a:latin typeface="+mj-lt"/>
                <a:cs typeface="Times New Roman" panose="02020603050405020304" pitchFamily="18" charset="0"/>
              </a:rPr>
              <a:t>Plan de </a:t>
            </a:r>
            <a:r>
              <a:rPr lang="en-US" sz="4800" b="1" dirty="0" err="1">
                <a:latin typeface="+mj-lt"/>
                <a:cs typeface="Times New Roman" panose="02020603050405020304" pitchFamily="18" charset="0"/>
              </a:rPr>
              <a:t>Fases</a:t>
            </a:r>
            <a:endParaRPr lang="en-US" sz="4800" b="1" dirty="0">
              <a:latin typeface="+mj-lt"/>
              <a:cs typeface="Times New Roman" panose="02020603050405020304" pitchFamily="18" charset="0"/>
            </a:endParaRPr>
          </a:p>
        </p:txBody>
      </p:sp>
      <p:sp>
        <p:nvSpPr>
          <p:cNvPr id="5" name="CuadroTexto 4">
            <a:extLst>
              <a:ext uri="{FF2B5EF4-FFF2-40B4-BE49-F238E27FC236}">
                <a16:creationId xmlns:a16="http://schemas.microsoft.com/office/drawing/2014/main" id="{3D726624-000C-4677-AE2C-5320A5CCE78B}"/>
              </a:ext>
            </a:extLst>
          </p:cNvPr>
          <p:cNvSpPr txBox="1"/>
          <p:nvPr/>
        </p:nvSpPr>
        <p:spPr>
          <a:xfrm>
            <a:off x="1671331" y="4021003"/>
            <a:ext cx="5275386" cy="1508105"/>
          </a:xfrm>
          <a:prstGeom prst="rect">
            <a:avLst/>
          </a:prstGeom>
          <a:noFill/>
        </p:spPr>
        <p:txBody>
          <a:bodyPr wrap="square" rtlCol="0">
            <a:spAutoFit/>
          </a:bodyPr>
          <a:lstStyle/>
          <a:p>
            <a:pPr marL="457200" indent="-457200" algn="just">
              <a:spcAft>
                <a:spcPts val="1200"/>
              </a:spcAft>
              <a:buFont typeface="Wingdings" panose="05000000000000000000" pitchFamily="2" charset="2"/>
              <a:buChar char="ü"/>
            </a:pPr>
            <a:r>
              <a:rPr lang="es-MX" sz="2400" dirty="0"/>
              <a:t>Administración</a:t>
            </a:r>
          </a:p>
          <a:p>
            <a:pPr marL="457200" indent="-457200" algn="just">
              <a:spcAft>
                <a:spcPts val="1200"/>
              </a:spcAft>
              <a:buFont typeface="Wingdings" panose="05000000000000000000" pitchFamily="2" charset="2"/>
              <a:buChar char="ü"/>
            </a:pPr>
            <a:r>
              <a:rPr lang="es-MX" sz="2400" dirty="0"/>
              <a:t>Recursos Humanos</a:t>
            </a:r>
          </a:p>
          <a:p>
            <a:pPr marL="457200" indent="-457200" algn="just">
              <a:spcAft>
                <a:spcPts val="1200"/>
              </a:spcAft>
              <a:buFont typeface="Wingdings" panose="05000000000000000000" pitchFamily="2" charset="2"/>
              <a:buChar char="ü"/>
            </a:pPr>
            <a:r>
              <a:rPr lang="es-MX" sz="2400" dirty="0"/>
              <a:t>Almacén</a:t>
            </a:r>
          </a:p>
        </p:txBody>
      </p:sp>
      <p:sp>
        <p:nvSpPr>
          <p:cNvPr id="7" name="CuadroTexto 6">
            <a:extLst>
              <a:ext uri="{FF2B5EF4-FFF2-40B4-BE49-F238E27FC236}">
                <a16:creationId xmlns:a16="http://schemas.microsoft.com/office/drawing/2014/main" id="{8A3393FB-02BB-40A6-B2E7-49C641F6E4DE}"/>
              </a:ext>
            </a:extLst>
          </p:cNvPr>
          <p:cNvSpPr txBox="1"/>
          <p:nvPr/>
        </p:nvSpPr>
        <p:spPr>
          <a:xfrm>
            <a:off x="6283189" y="4021002"/>
            <a:ext cx="5275386" cy="2431435"/>
          </a:xfrm>
          <a:prstGeom prst="rect">
            <a:avLst/>
          </a:prstGeom>
          <a:noFill/>
        </p:spPr>
        <p:txBody>
          <a:bodyPr wrap="square" rtlCol="0">
            <a:spAutoFit/>
          </a:bodyPr>
          <a:lstStyle/>
          <a:p>
            <a:pPr marL="457200" indent="-457200" algn="just">
              <a:spcAft>
                <a:spcPts val="1200"/>
              </a:spcAft>
              <a:buFont typeface="Wingdings" panose="05000000000000000000" pitchFamily="2" charset="2"/>
              <a:buChar char="ü"/>
            </a:pPr>
            <a:r>
              <a:rPr lang="es-MX" sz="2400" dirty="0"/>
              <a:t>Producción:</a:t>
            </a:r>
          </a:p>
          <a:p>
            <a:pPr lvl="1" algn="just">
              <a:spcAft>
                <a:spcPts val="1200"/>
              </a:spcAft>
            </a:pPr>
            <a:r>
              <a:rPr lang="es-MX" sz="2200" dirty="0"/>
              <a:t>Capataces, operarios y líderes de campo</a:t>
            </a:r>
          </a:p>
          <a:p>
            <a:pPr lvl="1" algn="just">
              <a:spcAft>
                <a:spcPts val="1200"/>
              </a:spcAft>
            </a:pPr>
            <a:r>
              <a:rPr lang="es-MX" sz="2200" dirty="0"/>
              <a:t>Operadores de equipos</a:t>
            </a:r>
          </a:p>
          <a:p>
            <a:pPr lvl="1" algn="just">
              <a:spcAft>
                <a:spcPts val="1200"/>
              </a:spcAft>
            </a:pPr>
            <a:r>
              <a:rPr lang="es-MX" sz="2200" dirty="0"/>
              <a:t>Controlador de equipos</a:t>
            </a:r>
          </a:p>
          <a:p>
            <a:pPr lvl="1" algn="just">
              <a:spcAft>
                <a:spcPts val="1200"/>
              </a:spcAft>
            </a:pPr>
            <a:r>
              <a:rPr lang="es-MX" sz="2200" dirty="0" err="1"/>
              <a:t>Tareador</a:t>
            </a:r>
            <a:r>
              <a:rPr lang="es-MX" sz="2200" dirty="0"/>
              <a:t> de campo</a:t>
            </a:r>
          </a:p>
        </p:txBody>
      </p:sp>
    </p:spTree>
    <p:extLst>
      <p:ext uri="{BB962C8B-B14F-4D97-AF65-F5344CB8AC3E}">
        <p14:creationId xmlns:p14="http://schemas.microsoft.com/office/powerpoint/2010/main" val="1170025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1936161" y="1585686"/>
            <a:ext cx="8319678" cy="3011379"/>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COMPONENTES Y DESARROLLO DEL RESULTADO OPERATIVO</a:t>
            </a:r>
          </a:p>
          <a:p>
            <a:pPr algn="ctr">
              <a:spcBef>
                <a:spcPts val="0"/>
              </a:spcBef>
              <a:buClr>
                <a:srgbClr val="FFFFFF"/>
              </a:buClr>
              <a:buSzPct val="100000"/>
            </a:pPr>
            <a:endParaRPr lang="en" sz="1000" b="1" dirty="0">
              <a:latin typeface="+mn-lt"/>
            </a:endParaRPr>
          </a:p>
          <a:p>
            <a:pPr algn="ctr">
              <a:spcBef>
                <a:spcPts val="0"/>
              </a:spcBef>
              <a:buClr>
                <a:srgbClr val="FFFFFF"/>
              </a:buClr>
              <a:buSzPct val="100000"/>
            </a:pPr>
            <a:r>
              <a:rPr lang="en" sz="5500" b="1" dirty="0">
                <a:latin typeface="+mn-lt"/>
              </a:rPr>
              <a:t>RESULTADO OPERATIVO</a:t>
            </a:r>
          </a:p>
        </p:txBody>
      </p:sp>
    </p:spTree>
    <p:extLst>
      <p:ext uri="{BB962C8B-B14F-4D97-AF65-F5344CB8AC3E}">
        <p14:creationId xmlns:p14="http://schemas.microsoft.com/office/powerpoint/2010/main" val="4048170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868644" y="1474619"/>
            <a:ext cx="10454711" cy="3908762"/>
          </a:xfrm>
          <a:prstGeom prst="rect">
            <a:avLst/>
          </a:prstGeom>
          <a:noFill/>
        </p:spPr>
        <p:txBody>
          <a:bodyPr wrap="square" rtlCol="0">
            <a:spAutoFit/>
          </a:bodyPr>
          <a:lstStyle/>
          <a:p>
            <a:pPr algn="just">
              <a:lnSpc>
                <a:spcPct val="150000"/>
              </a:lnSpc>
              <a:spcAft>
                <a:spcPts val="1200"/>
              </a:spcAft>
            </a:pPr>
            <a:r>
              <a:rPr lang="es-MX" sz="2600" dirty="0"/>
              <a:t>El Resultado Operativo “RO” es un sistema de planeamiento y de control de obras, el cual tiene como objetivos:</a:t>
            </a:r>
          </a:p>
          <a:p>
            <a:pPr marL="342900" indent="-342900" algn="just">
              <a:spcBef>
                <a:spcPts val="1200"/>
              </a:spcBef>
              <a:spcAft>
                <a:spcPts val="1200"/>
              </a:spcAft>
              <a:buFont typeface="Wingdings" panose="05000000000000000000" pitchFamily="2" charset="2"/>
              <a:buChar char="ü"/>
            </a:pPr>
            <a:r>
              <a:rPr lang="es-MX" sz="2400" dirty="0"/>
              <a:t>Controlar y optimizar recursos materiales, financieros y de tiempo.</a:t>
            </a:r>
          </a:p>
          <a:p>
            <a:pPr marL="342900" indent="-342900" algn="just">
              <a:spcAft>
                <a:spcPts val="1200"/>
              </a:spcAft>
              <a:buFont typeface="Wingdings" panose="05000000000000000000" pitchFamily="2" charset="2"/>
              <a:buChar char="ü"/>
            </a:pPr>
            <a:r>
              <a:rPr lang="es-MX" sz="2400" dirty="0"/>
              <a:t>Mejorar los resultados.</a:t>
            </a:r>
          </a:p>
          <a:p>
            <a:pPr marL="342900" indent="-342900" algn="just">
              <a:spcAft>
                <a:spcPts val="1200"/>
              </a:spcAft>
              <a:buFont typeface="Wingdings" panose="05000000000000000000" pitchFamily="2" charset="2"/>
              <a:buChar char="ü"/>
            </a:pPr>
            <a:r>
              <a:rPr lang="es-MX" sz="2400" dirty="0"/>
              <a:t>Manejar y medir la gestión operativa de la empresa, analizando en qué fases o actividades podemos mejorar.</a:t>
            </a:r>
          </a:p>
          <a:p>
            <a:pPr marL="342900" indent="-342900" algn="just">
              <a:spcAft>
                <a:spcPts val="1200"/>
              </a:spcAft>
              <a:buFont typeface="Wingdings" panose="05000000000000000000" pitchFamily="2" charset="2"/>
              <a:buChar char="ü"/>
            </a:pPr>
            <a:r>
              <a:rPr lang="es-MX" sz="2400" dirty="0"/>
              <a:t>Conocer en todo momento cuál será el resultado económico final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539636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454711" cy="5283754"/>
          </a:xfrm>
          <a:prstGeom prst="rect">
            <a:avLst/>
          </a:prstGeom>
          <a:noFill/>
        </p:spPr>
        <p:txBody>
          <a:bodyPr wrap="square" rtlCol="0">
            <a:spAutoFit/>
          </a:bodyPr>
          <a:lstStyle/>
          <a:p>
            <a:pPr algn="just">
              <a:lnSpc>
                <a:spcPct val="150000"/>
              </a:lnSpc>
            </a:pPr>
            <a:r>
              <a:rPr lang="es-MX" sz="3000" b="1" dirty="0"/>
              <a:t>Puntos en que se enfoca el Resultado Operativo: </a:t>
            </a:r>
          </a:p>
          <a:p>
            <a:pPr marL="457200" indent="-457200" algn="just">
              <a:lnSpc>
                <a:spcPct val="150000"/>
              </a:lnSpc>
              <a:buFont typeface="+mj-lt"/>
              <a:buAutoNum type="arabicPeriod"/>
            </a:pPr>
            <a:r>
              <a:rPr lang="es-MX" sz="2400" dirty="0"/>
              <a:t>El Plan de fases del proyecto.</a:t>
            </a:r>
          </a:p>
          <a:p>
            <a:pPr marL="457200" indent="-457200" algn="just">
              <a:lnSpc>
                <a:spcPct val="150000"/>
              </a:lnSpc>
              <a:buFont typeface="+mj-lt"/>
              <a:buAutoNum type="arabicPeriod"/>
            </a:pPr>
            <a:r>
              <a:rPr lang="es-MX" sz="2400" dirty="0"/>
              <a:t>Organización de Obra (Áreas y Controles).</a:t>
            </a:r>
          </a:p>
          <a:p>
            <a:pPr marL="457200" indent="-457200" algn="just">
              <a:lnSpc>
                <a:spcPct val="150000"/>
              </a:lnSpc>
              <a:buFont typeface="+mj-lt"/>
              <a:buAutoNum type="arabicPeriod"/>
            </a:pPr>
            <a:r>
              <a:rPr lang="es-MX" sz="2400" dirty="0"/>
              <a:t>Programación de Obra.</a:t>
            </a:r>
          </a:p>
          <a:p>
            <a:pPr marL="457200" indent="-457200" algn="just">
              <a:lnSpc>
                <a:spcPct val="150000"/>
              </a:lnSpc>
              <a:buFont typeface="+mj-lt"/>
              <a:buAutoNum type="arabicPeriod"/>
            </a:pPr>
            <a:r>
              <a:rPr lang="es-MX" sz="2400" dirty="0"/>
              <a:t>Control Semanal de Producción (ISP).</a:t>
            </a:r>
          </a:p>
          <a:p>
            <a:pPr marL="457200" indent="-457200" algn="just">
              <a:lnSpc>
                <a:spcPct val="150000"/>
              </a:lnSpc>
              <a:buFont typeface="+mj-lt"/>
              <a:buAutoNum type="arabicPeriod"/>
            </a:pPr>
            <a:r>
              <a:rPr lang="es-MX" sz="2400" dirty="0"/>
              <a:t>Control de Avance Físico de Obra – Curva “S”.</a:t>
            </a:r>
          </a:p>
          <a:p>
            <a:pPr marL="457200" indent="-457200" algn="just">
              <a:lnSpc>
                <a:spcPct val="150000"/>
              </a:lnSpc>
              <a:buFont typeface="+mj-lt"/>
              <a:buAutoNum type="arabicPeriod"/>
            </a:pPr>
            <a:r>
              <a:rPr lang="es-MX" sz="2400" dirty="0"/>
              <a:t>Resultado Económico de Obra (Incluye el Análisis de Resultado de Pendiente).</a:t>
            </a:r>
          </a:p>
          <a:p>
            <a:pPr marL="457200" indent="-457200" algn="just">
              <a:lnSpc>
                <a:spcPct val="150000"/>
              </a:lnSpc>
              <a:buFont typeface="+mj-lt"/>
              <a:buAutoNum type="arabicPeriod"/>
            </a:pPr>
            <a:r>
              <a:rPr lang="es-MX" sz="2400" dirty="0"/>
              <a:t>Memoria Descriptiva de la Obra (Lecciones Aprendidas).</a:t>
            </a:r>
          </a:p>
          <a:p>
            <a:pPr algn="just">
              <a:lnSpc>
                <a:spcPct val="150000"/>
              </a:lnSpc>
            </a:pPr>
            <a:endParaRPr lang="es-MX" sz="3000" b="1" dirty="0"/>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170899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454711" cy="4175759"/>
          </a:xfrm>
          <a:prstGeom prst="rect">
            <a:avLst/>
          </a:prstGeom>
          <a:noFill/>
        </p:spPr>
        <p:txBody>
          <a:bodyPr wrap="square" rtlCol="0">
            <a:spAutoFit/>
          </a:bodyPr>
          <a:lstStyle/>
          <a:p>
            <a:pPr algn="just">
              <a:lnSpc>
                <a:spcPct val="150000"/>
              </a:lnSpc>
            </a:pPr>
            <a:r>
              <a:rPr lang="es-MX" sz="3000" b="1" dirty="0"/>
              <a:t>Enfoque económico del Resultado Operativo: </a:t>
            </a:r>
          </a:p>
          <a:p>
            <a:pPr algn="just">
              <a:lnSpc>
                <a:spcPct val="150000"/>
              </a:lnSpc>
            </a:pPr>
            <a:r>
              <a:rPr lang="es-MX" sz="3000" dirty="0"/>
              <a:t>El Resultado Operativo informa sobre las ventas, los costos y el margen de la obra, tanto acumulados como el saldo por ejecutar. El reporte económico del Resultado Operativo no es otra cosa que el programa de obra valorizado, tanto en lo referente a la venta, como en el costo.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8734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705515" cy="4923912"/>
          </a:xfrm>
          <a:prstGeom prst="rect">
            <a:avLst/>
          </a:prstGeom>
          <a:noFill/>
        </p:spPr>
        <p:txBody>
          <a:bodyPr wrap="square" rtlCol="0">
            <a:spAutoFit/>
          </a:bodyPr>
          <a:lstStyle/>
          <a:p>
            <a:pPr algn="just">
              <a:lnSpc>
                <a:spcPct val="150000"/>
              </a:lnSpc>
            </a:pPr>
            <a:r>
              <a:rPr lang="es-MX" sz="3000" b="1" dirty="0"/>
              <a:t>Enfoque general del Resultado Operativo: </a:t>
            </a:r>
          </a:p>
          <a:p>
            <a:pPr algn="just">
              <a:lnSpc>
                <a:spcPct val="150000"/>
              </a:lnSpc>
            </a:pPr>
            <a:r>
              <a:rPr lang="es-MX" sz="2600" dirty="0"/>
              <a:t>El “RO” muestra el resultado de la gestión operativa, tanto del acumulado, proyección y total obra. </a:t>
            </a:r>
          </a:p>
          <a:p>
            <a:pPr algn="just">
              <a:lnSpc>
                <a:spcPct val="150000"/>
              </a:lnSpc>
            </a:pPr>
            <a:r>
              <a:rPr lang="es-MX" sz="2600" i="1" dirty="0"/>
              <a:t>“El propósito es determinar el Resultado Final, establecido por el total de la venta (venta contractual, venta adicional, reajuste y venta a terceros) y el total del costo (directo e indirecto). En el presente mes, acumulado, proyección a x meses, saldo del presente ejercicio, ejercicios siguientes y total obra”.</a:t>
            </a:r>
          </a:p>
          <a:p>
            <a:pPr algn="just">
              <a:lnSpc>
                <a:spcPct val="150000"/>
              </a:lnSpc>
            </a:pPr>
            <a:r>
              <a:rPr lang="es-MX" sz="2600" b="1" dirty="0"/>
              <a:t>Para ello es muy importante que los datos sean lo más reales posibles.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857130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705515" cy="4970079"/>
          </a:xfrm>
          <a:prstGeom prst="rect">
            <a:avLst/>
          </a:prstGeom>
          <a:noFill/>
        </p:spPr>
        <p:txBody>
          <a:bodyPr wrap="square" rtlCol="0">
            <a:spAutoFit/>
          </a:bodyPr>
          <a:lstStyle/>
          <a:p>
            <a:pPr algn="just">
              <a:lnSpc>
                <a:spcPct val="150000"/>
              </a:lnSpc>
            </a:pPr>
            <a:r>
              <a:rPr lang="es-MX" sz="2800" dirty="0"/>
              <a:t>En grandes proyectos de construcción en los que intervienen gran cantidad de maquinaria por lo general se deben llevar dos Resultados Operativos:</a:t>
            </a:r>
          </a:p>
          <a:p>
            <a:pPr marL="457200" indent="-457200" algn="just">
              <a:lnSpc>
                <a:spcPct val="150000"/>
              </a:lnSpc>
              <a:buFont typeface="Wingdings" panose="05000000000000000000" pitchFamily="2" charset="2"/>
              <a:buChar char="ü"/>
            </a:pPr>
            <a:r>
              <a:rPr lang="es-MX" sz="2500" dirty="0"/>
              <a:t>RO Operaciones.- Enfocado al planeamiento y control de la gestión de la operación.</a:t>
            </a:r>
          </a:p>
          <a:p>
            <a:pPr marL="457200" indent="-457200" algn="just">
              <a:lnSpc>
                <a:spcPct val="150000"/>
              </a:lnSpc>
              <a:buFont typeface="Wingdings" panose="05000000000000000000" pitchFamily="2" charset="2"/>
              <a:buChar char="ü"/>
            </a:pPr>
            <a:r>
              <a:rPr lang="es-MX" sz="2500" dirty="0"/>
              <a:t>RO Equipos.- Enfocado al planeamiento y control del mantenimiento de los equipos.</a:t>
            </a:r>
          </a:p>
          <a:p>
            <a:pPr marL="457200" indent="-457200" algn="just">
              <a:lnSpc>
                <a:spcPct val="150000"/>
              </a:lnSpc>
              <a:buFont typeface="Wingdings" panose="05000000000000000000" pitchFamily="2" charset="2"/>
              <a:buChar char="ü"/>
            </a:pPr>
            <a:r>
              <a:rPr lang="es-MX" sz="2500" dirty="0"/>
              <a:t>RO Obra.- Suma del Resultado de Operaciones y Equipos.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745787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2" y="1236559"/>
            <a:ext cx="10705515" cy="4923912"/>
          </a:xfrm>
          <a:prstGeom prst="rect">
            <a:avLst/>
          </a:prstGeom>
          <a:noFill/>
        </p:spPr>
        <p:txBody>
          <a:bodyPr wrap="square" rtlCol="0">
            <a:spAutoFit/>
          </a:bodyPr>
          <a:lstStyle/>
          <a:p>
            <a:pPr algn="just">
              <a:lnSpc>
                <a:spcPct val="150000"/>
              </a:lnSpc>
            </a:pPr>
            <a:r>
              <a:rPr lang="es-MX" sz="3000" b="1" dirty="0"/>
              <a:t>Presentación y Sustentación del Resultado Operativo: </a:t>
            </a:r>
          </a:p>
          <a:p>
            <a:pPr marL="457200" indent="-457200" algn="just">
              <a:lnSpc>
                <a:spcPct val="150000"/>
              </a:lnSpc>
              <a:buFont typeface="Arial" panose="020B0604020202020204" pitchFamily="34" charset="0"/>
              <a:buChar char="•"/>
            </a:pPr>
            <a:r>
              <a:rPr lang="es-MX" sz="2600" dirty="0"/>
              <a:t>La presentación y sustentación por lo general es mensual de acuerdo a la fecha de corte establecido por el directorio de la empresa.</a:t>
            </a:r>
          </a:p>
          <a:p>
            <a:pPr marL="457200" indent="-457200" algn="just">
              <a:lnSpc>
                <a:spcPct val="150000"/>
              </a:lnSpc>
              <a:buFont typeface="Arial" panose="020B0604020202020204" pitchFamily="34" charset="0"/>
              <a:buChar char="•"/>
            </a:pPr>
            <a:r>
              <a:rPr lang="es-MX" sz="2600" dirty="0"/>
              <a:t>El RO implica un control permanente tanto de la gestión operativa como de la gestión administrativa del proyecto.</a:t>
            </a:r>
          </a:p>
          <a:p>
            <a:pPr marL="457200" indent="-457200" algn="just">
              <a:lnSpc>
                <a:spcPct val="150000"/>
              </a:lnSpc>
              <a:buFont typeface="Arial" panose="020B0604020202020204" pitchFamily="34" charset="0"/>
              <a:buChar char="•"/>
            </a:pPr>
            <a:r>
              <a:rPr lang="es-MX" sz="2600" dirty="0"/>
              <a:t>Para que el RO represente un informe más exacto se compatibiliza con el área de Contabilidad y Finanzas.</a:t>
            </a:r>
          </a:p>
          <a:p>
            <a:pPr marL="457200" indent="-457200" algn="just">
              <a:lnSpc>
                <a:spcPct val="150000"/>
              </a:lnSpc>
              <a:buFont typeface="Arial" panose="020B0604020202020204" pitchFamily="34" charset="0"/>
              <a:buChar char="•"/>
            </a:pPr>
            <a:endParaRPr lang="es-MX" sz="2600" dirty="0"/>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738381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601901"/>
          </a:xfrm>
          <a:prstGeom prst="rect">
            <a:avLst/>
          </a:prstGeom>
          <a:noFill/>
        </p:spPr>
        <p:txBody>
          <a:bodyPr wrap="square" rtlCol="0">
            <a:spAutoFit/>
          </a:bodyPr>
          <a:lstStyle/>
          <a:p>
            <a:pPr algn="just">
              <a:lnSpc>
                <a:spcPct val="150000"/>
              </a:lnSpc>
              <a:spcAft>
                <a:spcPts val="1200"/>
              </a:spcAft>
            </a:pPr>
            <a:r>
              <a:rPr lang="es-MX" sz="3200" b="1" dirty="0"/>
              <a:t>Formatos del Resultado Operativo: </a:t>
            </a:r>
          </a:p>
          <a:p>
            <a:pPr algn="just">
              <a:lnSpc>
                <a:spcPct val="150000"/>
              </a:lnSpc>
            </a:pPr>
            <a:r>
              <a:rPr lang="es-MX" sz="3200" dirty="0"/>
              <a:t>La sustentación del Resultado Operativo no solo comprende el informe económico, sino también está compuesto por una serie de complementos que informarán, aclararán y/o advertirán sobre la situación del proyecto en determinado momento.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068030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09950"/>
            <a:ext cx="10297552" cy="5495735"/>
          </a:xfrm>
          <a:prstGeom prst="rect">
            <a:avLst/>
          </a:prstGeom>
          <a:noFill/>
        </p:spPr>
        <p:txBody>
          <a:bodyPr wrap="square" rtlCol="0">
            <a:spAutoFit/>
          </a:bodyPr>
          <a:lstStyle/>
          <a:p>
            <a:pPr algn="just">
              <a:lnSpc>
                <a:spcPct val="150000"/>
              </a:lnSpc>
            </a:pPr>
            <a:r>
              <a:rPr lang="es-MX" sz="3000" b="1" dirty="0"/>
              <a:t>Formatos del Resultado Operativo: </a:t>
            </a:r>
          </a:p>
          <a:p>
            <a:pPr algn="just">
              <a:lnSpc>
                <a:spcPct val="150000"/>
              </a:lnSpc>
            </a:pPr>
            <a:r>
              <a:rPr lang="es-MX" sz="2500" dirty="0"/>
              <a:t>Los formatos los que conforman el Informe final del RO son:</a:t>
            </a:r>
          </a:p>
          <a:p>
            <a:pPr marL="342900" indent="-342900" algn="just">
              <a:lnSpc>
                <a:spcPct val="150000"/>
              </a:lnSpc>
              <a:buFont typeface="Arial" panose="020B0604020202020204" pitchFamily="34" charset="0"/>
              <a:buChar char="•"/>
            </a:pPr>
            <a:r>
              <a:rPr lang="es-MX" sz="2500" dirty="0"/>
              <a:t>RO-01 Informe Técnico</a:t>
            </a:r>
          </a:p>
          <a:p>
            <a:pPr marL="342900" indent="-342900" algn="just">
              <a:lnSpc>
                <a:spcPct val="150000"/>
              </a:lnSpc>
              <a:buFont typeface="Arial" panose="020B0604020202020204" pitchFamily="34" charset="0"/>
              <a:buChar char="•"/>
            </a:pPr>
            <a:r>
              <a:rPr lang="es-MX" sz="2500" dirty="0"/>
              <a:t>RO-02 Informe de Seguridad</a:t>
            </a:r>
          </a:p>
          <a:p>
            <a:pPr marL="342900" indent="-342900" algn="just">
              <a:lnSpc>
                <a:spcPct val="150000"/>
              </a:lnSpc>
              <a:buFont typeface="Arial" panose="020B0604020202020204" pitchFamily="34" charset="0"/>
              <a:buChar char="•"/>
            </a:pPr>
            <a:r>
              <a:rPr lang="es-MX" sz="2500" dirty="0"/>
              <a:t>RO-03 Avance Físico y Curva S</a:t>
            </a:r>
          </a:p>
          <a:p>
            <a:pPr marL="342900" indent="-342900" algn="just">
              <a:lnSpc>
                <a:spcPct val="150000"/>
              </a:lnSpc>
              <a:buFont typeface="Arial" panose="020B0604020202020204" pitchFamily="34" charset="0"/>
              <a:buChar char="•"/>
            </a:pPr>
            <a:r>
              <a:rPr lang="es-MX" sz="2500" dirty="0"/>
              <a:t>RO-04 Informe Semanal de Producción (ISP)</a:t>
            </a:r>
          </a:p>
          <a:p>
            <a:pPr marL="342900" indent="-342900" algn="just">
              <a:lnSpc>
                <a:spcPct val="150000"/>
              </a:lnSpc>
              <a:buFont typeface="Arial" panose="020B0604020202020204" pitchFamily="34" charset="0"/>
              <a:buChar char="•"/>
            </a:pPr>
            <a:r>
              <a:rPr lang="es-MX" sz="2500" b="1" dirty="0"/>
              <a:t>RO-05 Resultado Económico</a:t>
            </a:r>
          </a:p>
          <a:p>
            <a:pPr marL="342900" indent="-342900" algn="just">
              <a:lnSpc>
                <a:spcPct val="150000"/>
              </a:lnSpc>
              <a:buFont typeface="Arial" panose="020B0604020202020204" pitchFamily="34" charset="0"/>
              <a:buChar char="•"/>
            </a:pPr>
            <a:r>
              <a:rPr lang="es-MX" sz="2500" b="1" dirty="0"/>
              <a:t>RO-06 Análisis de Resultado Pendiente</a:t>
            </a:r>
          </a:p>
          <a:p>
            <a:pPr marL="342900" indent="-342900" algn="just">
              <a:lnSpc>
                <a:spcPct val="150000"/>
              </a:lnSpc>
              <a:buFont typeface="Arial" panose="020B0604020202020204" pitchFamily="34" charset="0"/>
              <a:buChar char="•"/>
            </a:pPr>
            <a:r>
              <a:rPr lang="es-MX" sz="2500" b="1" dirty="0"/>
              <a:t>RO-07 Planilla de Recursos (Costos)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278953"/>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1807350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09950"/>
            <a:ext cx="10297552" cy="4880182"/>
          </a:xfrm>
          <a:prstGeom prst="rect">
            <a:avLst/>
          </a:prstGeom>
          <a:noFill/>
        </p:spPr>
        <p:txBody>
          <a:bodyPr wrap="square" rtlCol="0">
            <a:spAutoFit/>
          </a:bodyPr>
          <a:lstStyle/>
          <a:p>
            <a:pPr algn="just">
              <a:lnSpc>
                <a:spcPct val="150000"/>
              </a:lnSpc>
            </a:pPr>
            <a:r>
              <a:rPr lang="es-MX" sz="3000" b="1" dirty="0"/>
              <a:t>RO-01 Informe Técnico</a:t>
            </a:r>
          </a:p>
          <a:p>
            <a:pPr algn="just">
              <a:lnSpc>
                <a:spcPct val="150000"/>
              </a:lnSpc>
            </a:pPr>
            <a:r>
              <a:rPr lang="es-MX" sz="2500" dirty="0"/>
              <a:t>Se refiere al informe sobre las características técnicas del proyecto, y el estado en que se encuentran todos los meses.</a:t>
            </a:r>
          </a:p>
          <a:p>
            <a:pPr algn="just">
              <a:lnSpc>
                <a:spcPct val="150000"/>
              </a:lnSpc>
            </a:pPr>
            <a:r>
              <a:rPr lang="es-MX" sz="3000" b="1" dirty="0"/>
              <a:t>RO-02 Informe de Seguridad</a:t>
            </a:r>
          </a:p>
          <a:p>
            <a:pPr algn="just">
              <a:lnSpc>
                <a:spcPct val="150000"/>
              </a:lnSpc>
            </a:pPr>
            <a:r>
              <a:rPr lang="es-MX" sz="2500" dirty="0"/>
              <a:t>Todos los meses se deben reportar los aspectos más importantes referentes a seguridad, salud y medio ambiente, debido a que la seguridad y la salud son muy importantes en todos los proyectos de construcción, descuidos en su control pueden afectar los resultados de un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278953"/>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987999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09950"/>
            <a:ext cx="10297552" cy="5457263"/>
          </a:xfrm>
          <a:prstGeom prst="rect">
            <a:avLst/>
          </a:prstGeom>
          <a:noFill/>
        </p:spPr>
        <p:txBody>
          <a:bodyPr wrap="square" rtlCol="0">
            <a:spAutoFit/>
          </a:bodyPr>
          <a:lstStyle/>
          <a:p>
            <a:pPr algn="just">
              <a:lnSpc>
                <a:spcPct val="150000"/>
              </a:lnSpc>
            </a:pPr>
            <a:r>
              <a:rPr lang="es-MX" sz="3000" b="1" dirty="0"/>
              <a:t>RO-03 Avance Físico y Curva “S”</a:t>
            </a:r>
          </a:p>
          <a:p>
            <a:pPr algn="just">
              <a:lnSpc>
                <a:spcPct val="150000"/>
              </a:lnSpc>
            </a:pPr>
            <a:r>
              <a:rPr lang="es-MX" sz="2500" dirty="0"/>
              <a:t>Dentro de la gestión esta herramienta nos permitirá conocer el estado o situación del proyecto con respecto al avance físico. Es recomendable graficar una Curva “S” para cada Fase.</a:t>
            </a:r>
          </a:p>
          <a:p>
            <a:pPr algn="just">
              <a:lnSpc>
                <a:spcPct val="150000"/>
              </a:lnSpc>
            </a:pPr>
            <a:r>
              <a:rPr lang="es-MX" sz="3000" b="1" dirty="0"/>
              <a:t>RO-04 Informe Semanal de Producción (ISP)</a:t>
            </a:r>
          </a:p>
          <a:p>
            <a:pPr algn="just">
              <a:lnSpc>
                <a:spcPct val="150000"/>
              </a:lnSpc>
            </a:pPr>
            <a:r>
              <a:rPr lang="es-MX" sz="2500" dirty="0"/>
              <a:t>Es una herramienta ya muy conocida por todos, nos permite controlar y verificar la productividad óptima en base a rendimientos según el tiempo previsto. En este informe se maneja información de producción, recursos, horas y rendimientos.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278953"/>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1422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09950"/>
            <a:ext cx="10297552" cy="3610604"/>
          </a:xfrm>
          <a:prstGeom prst="rect">
            <a:avLst/>
          </a:prstGeom>
          <a:noFill/>
        </p:spPr>
        <p:txBody>
          <a:bodyPr wrap="square" rtlCol="0">
            <a:spAutoFit/>
          </a:bodyPr>
          <a:lstStyle/>
          <a:p>
            <a:pPr algn="just">
              <a:lnSpc>
                <a:spcPct val="150000"/>
              </a:lnSpc>
            </a:pPr>
            <a:r>
              <a:rPr lang="es-MX" sz="3000" b="1" dirty="0"/>
              <a:t>RO-05 Resultado Económico</a:t>
            </a:r>
          </a:p>
          <a:p>
            <a:pPr algn="just">
              <a:lnSpc>
                <a:spcPct val="150000"/>
              </a:lnSpc>
            </a:pPr>
            <a:r>
              <a:rPr lang="es-MX" sz="2500" dirty="0"/>
              <a:t>Este formato nos da la radiografía real de la obra y sus resultados serán debidamente sustentados, es el mismo que se lleva tanto para las fases como para la obra en su totalidad, esto quiere decir que podemos hacer todo el análisis que nos permite esta herramienta para cada fase del proyecto y para el proyecto en general.</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278953"/>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1918958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09950"/>
            <a:ext cx="10297552" cy="4808047"/>
          </a:xfrm>
          <a:prstGeom prst="rect">
            <a:avLst/>
          </a:prstGeom>
          <a:noFill/>
        </p:spPr>
        <p:txBody>
          <a:bodyPr wrap="square" rtlCol="0">
            <a:spAutoFit/>
          </a:bodyPr>
          <a:lstStyle/>
          <a:p>
            <a:pPr algn="just">
              <a:lnSpc>
                <a:spcPct val="150000"/>
              </a:lnSpc>
            </a:pPr>
            <a:r>
              <a:rPr lang="es-MX" sz="3000" b="1" dirty="0"/>
              <a:t>RO-06 Análisis de Resultado Pendiente</a:t>
            </a:r>
          </a:p>
          <a:p>
            <a:pPr algn="just">
              <a:lnSpc>
                <a:spcPct val="125000"/>
              </a:lnSpc>
            </a:pPr>
            <a:r>
              <a:rPr lang="es-MX" sz="2500" dirty="0"/>
              <a:t>En este análisis se identifican los activos y las provisiones para determinar así la contingencia del proyecto, es decir nos sirve para comprobar si el margen ponderado de la obra será posible de alcanzar.</a:t>
            </a:r>
          </a:p>
          <a:p>
            <a:pPr algn="just">
              <a:lnSpc>
                <a:spcPct val="150000"/>
              </a:lnSpc>
            </a:pPr>
            <a:r>
              <a:rPr lang="es-MX" sz="3000" b="1" dirty="0"/>
              <a:t>RO-07 Formato de control de recursos</a:t>
            </a:r>
          </a:p>
          <a:p>
            <a:pPr algn="just">
              <a:lnSpc>
                <a:spcPct val="125000"/>
              </a:lnSpc>
            </a:pPr>
            <a:r>
              <a:rPr lang="es-MX" sz="2500" dirty="0"/>
              <a:t>La finalidad de este formato es preparar una plataforma en la que podamos programar y controlar de manera ordenada todos los recursos del proyecto en el presente mes, acumulado, proyección a x meses, saldo del presente ejercicio, ejercicios siguientes y total obra.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278953"/>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549652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7243B4-0970-4262-9AA5-972361800BFE}"/>
              </a:ext>
            </a:extLst>
          </p:cNvPr>
          <p:cNvSpPr>
            <a:spLocks noGrp="1"/>
          </p:cNvSpPr>
          <p:nvPr>
            <p:ph type="ctrTitle"/>
          </p:nvPr>
        </p:nvSpPr>
        <p:spPr>
          <a:xfrm>
            <a:off x="1524000" y="1998718"/>
            <a:ext cx="9144000" cy="2387600"/>
          </a:xfrm>
        </p:spPr>
        <p:txBody>
          <a:bodyPr>
            <a:normAutofit/>
          </a:bodyPr>
          <a:lstStyle/>
          <a:p>
            <a:r>
              <a:rPr lang="es-MX" sz="6400" b="1" dirty="0">
                <a:effectLst>
                  <a:outerShdw blurRad="50800" dist="101600" dir="2700000" algn="tl" rotWithShape="0">
                    <a:srgbClr val="00F3B5"/>
                  </a:outerShdw>
                </a:effectLst>
                <a:latin typeface="Prompt" panose="00000500000000000000" pitchFamily="2" charset="-34"/>
                <a:cs typeface="Prompt" panose="00000500000000000000" pitchFamily="2" charset="-34"/>
              </a:rPr>
              <a:t>MUCHAS GRACIAS POR SU ATENCIÓN</a:t>
            </a:r>
            <a:endParaRPr lang="es-PE" sz="6400" b="1" dirty="0">
              <a:effectLst>
                <a:outerShdw blurRad="50800" dist="101600" dir="2700000" algn="tl" rotWithShape="0">
                  <a:srgbClr val="00F3B5"/>
                </a:outerShdw>
              </a:effectLst>
              <a:latin typeface="Prompt" panose="00000500000000000000" pitchFamily="2" charset="-34"/>
              <a:cs typeface="Prompt" panose="00000500000000000000" pitchFamily="2" charset="-34"/>
            </a:endParaRPr>
          </a:p>
        </p:txBody>
      </p:sp>
    </p:spTree>
    <p:extLst>
      <p:ext uri="{BB962C8B-B14F-4D97-AF65-F5344CB8AC3E}">
        <p14:creationId xmlns:p14="http://schemas.microsoft.com/office/powerpoint/2010/main" val="2907053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1942</TotalTime>
  <Words>1169</Words>
  <Application>Microsoft Office PowerPoint</Application>
  <PresentationFormat>Panorámica</PresentationFormat>
  <Paragraphs>109</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Arial</vt:lpstr>
      <vt:lpstr>Calibri</vt:lpstr>
      <vt:lpstr>Calibri Light</vt:lpstr>
      <vt:lpstr>Prompt</vt:lpstr>
      <vt:lpstr>Wingdings</vt:lpstr>
      <vt:lpstr>Tema de Office</vt:lpstr>
      <vt:lpstr>Presentación de PowerPoint</vt:lpstr>
      <vt:lpstr>Presentación de PowerPoint</vt:lpstr>
      <vt:lpstr>Módulo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MUCHAS GRACIAS POR SU ATENCIÓN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Usuario</cp:lastModifiedBy>
  <cp:revision>143</cp:revision>
  <dcterms:created xsi:type="dcterms:W3CDTF">2022-04-19T18:02:09Z</dcterms:created>
  <dcterms:modified xsi:type="dcterms:W3CDTF">2024-06-20T23:14:29Z</dcterms:modified>
</cp:coreProperties>
</file>