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2" r:id="rId3"/>
    <p:sldId id="263" r:id="rId4"/>
    <p:sldId id="320" r:id="rId5"/>
    <p:sldId id="348" r:id="rId6"/>
    <p:sldId id="340" r:id="rId7"/>
    <p:sldId id="336" r:id="rId8"/>
    <p:sldId id="337" r:id="rId9"/>
    <p:sldId id="338" r:id="rId10"/>
    <p:sldId id="339" r:id="rId11"/>
    <p:sldId id="341" r:id="rId12"/>
    <p:sldId id="342" r:id="rId13"/>
    <p:sldId id="343" r:id="rId14"/>
    <p:sldId id="344" r:id="rId15"/>
    <p:sldId id="345" r:id="rId16"/>
    <p:sldId id="346" r:id="rId17"/>
    <p:sldId id="347" r:id="rId18"/>
    <p:sldId id="349" r:id="rId19"/>
    <p:sldId id="319" r:id="rId20"/>
    <p:sldId id="350" r:id="rId21"/>
    <p:sldId id="351" r:id="rId22"/>
    <p:sldId id="352" r:id="rId23"/>
    <p:sldId id="353" r:id="rId24"/>
    <p:sldId id="354" r:id="rId25"/>
    <p:sldId id="260" r:id="rId26"/>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F3B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4" d="100"/>
          <a:sy n="114" d="100"/>
        </p:scale>
        <p:origin x="414"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editar el estilo de subtítulo del patrón</a:t>
            </a:r>
          </a:p>
        </p:txBody>
      </p:sp>
      <p:sp>
        <p:nvSpPr>
          <p:cNvPr id="4" name="Marcador de fecha 3"/>
          <p:cNvSpPr>
            <a:spLocks noGrp="1"/>
          </p:cNvSpPr>
          <p:nvPr>
            <p:ph type="dt" sz="half" idx="10"/>
          </p:nvPr>
        </p:nvSpPr>
        <p:spPr/>
        <p:txBody>
          <a:bodyPr/>
          <a:lstStyle/>
          <a:p>
            <a:fld id="{CC231CB2-8F63-4ACB-AA28-38CB9C3B0788}" type="datetimeFigureOut">
              <a:rPr lang="es-ES" smtClean="0"/>
              <a:t>17/10/2023</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24A79FA8-4D08-4E50-BBA2-D88CCB263461}" type="slidenum">
              <a:rPr lang="es-ES" smtClean="0"/>
              <a:t>‹#›</a:t>
            </a:fld>
            <a:endParaRPr lang="es-ES"/>
          </a:p>
        </p:txBody>
      </p:sp>
    </p:spTree>
    <p:extLst>
      <p:ext uri="{BB962C8B-B14F-4D97-AF65-F5344CB8AC3E}">
        <p14:creationId xmlns:p14="http://schemas.microsoft.com/office/powerpoint/2010/main" val="91815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contenido 2"/>
          <p:cNvSpPr>
            <a:spLocks noGrp="1"/>
          </p:cNvSpPr>
          <p:nvPr>
            <p:ph idx="1"/>
          </p:nvPr>
        </p:nvSpPr>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CC231CB2-8F63-4ACB-AA28-38CB9C3B0788}" type="datetimeFigureOut">
              <a:rPr lang="es-ES" smtClean="0"/>
              <a:t>17/10/2023</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24A79FA8-4D08-4E50-BBA2-D88CCB263461}" type="slidenum">
              <a:rPr lang="es-ES" smtClean="0"/>
              <a:t>‹#›</a:t>
            </a:fld>
            <a:endParaRPr lang="es-ES"/>
          </a:p>
        </p:txBody>
      </p:sp>
    </p:spTree>
    <p:extLst>
      <p:ext uri="{BB962C8B-B14F-4D97-AF65-F5344CB8AC3E}">
        <p14:creationId xmlns:p14="http://schemas.microsoft.com/office/powerpoint/2010/main" val="8945228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Editar el estilo de texto del patrón</a:t>
            </a:r>
          </a:p>
        </p:txBody>
      </p:sp>
      <p:sp>
        <p:nvSpPr>
          <p:cNvPr id="4" name="Marcador de fecha 3"/>
          <p:cNvSpPr>
            <a:spLocks noGrp="1"/>
          </p:cNvSpPr>
          <p:nvPr>
            <p:ph type="dt" sz="half" idx="10"/>
          </p:nvPr>
        </p:nvSpPr>
        <p:spPr/>
        <p:txBody>
          <a:bodyPr/>
          <a:lstStyle/>
          <a:p>
            <a:fld id="{CC231CB2-8F63-4ACB-AA28-38CB9C3B0788}" type="datetimeFigureOut">
              <a:rPr lang="es-ES" smtClean="0"/>
              <a:t>17/10/2023</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24A79FA8-4D08-4E50-BBA2-D88CCB263461}" type="slidenum">
              <a:rPr lang="es-ES" smtClean="0"/>
              <a:t>‹#›</a:t>
            </a:fld>
            <a:endParaRPr lang="es-ES"/>
          </a:p>
        </p:txBody>
      </p:sp>
    </p:spTree>
    <p:extLst>
      <p:ext uri="{BB962C8B-B14F-4D97-AF65-F5344CB8AC3E}">
        <p14:creationId xmlns:p14="http://schemas.microsoft.com/office/powerpoint/2010/main" val="35937309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contenido 2"/>
          <p:cNvSpPr>
            <a:spLocks noGrp="1"/>
          </p:cNvSpPr>
          <p:nvPr>
            <p:ph sz="half" idx="1"/>
          </p:nvPr>
        </p:nvSpPr>
        <p:spPr>
          <a:xfrm>
            <a:off x="838200" y="1825625"/>
            <a:ext cx="5181600" cy="435133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contenido 3"/>
          <p:cNvSpPr>
            <a:spLocks noGrp="1"/>
          </p:cNvSpPr>
          <p:nvPr>
            <p:ph sz="half" idx="2"/>
          </p:nvPr>
        </p:nvSpPr>
        <p:spPr>
          <a:xfrm>
            <a:off x="6172200" y="1825625"/>
            <a:ext cx="5181600" cy="435133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fecha 4"/>
          <p:cNvSpPr>
            <a:spLocks noGrp="1"/>
          </p:cNvSpPr>
          <p:nvPr>
            <p:ph type="dt" sz="half" idx="10"/>
          </p:nvPr>
        </p:nvSpPr>
        <p:spPr/>
        <p:txBody>
          <a:bodyPr/>
          <a:lstStyle/>
          <a:p>
            <a:fld id="{CC231CB2-8F63-4ACB-AA28-38CB9C3B0788}" type="datetimeFigureOut">
              <a:rPr lang="es-ES" smtClean="0"/>
              <a:t>17/10/2023</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24A79FA8-4D08-4E50-BBA2-D88CCB263461}" type="slidenum">
              <a:rPr lang="es-ES" smtClean="0"/>
              <a:t>‹#›</a:t>
            </a:fld>
            <a:endParaRPr lang="es-ES"/>
          </a:p>
        </p:txBody>
      </p:sp>
    </p:spTree>
    <p:extLst>
      <p:ext uri="{BB962C8B-B14F-4D97-AF65-F5344CB8AC3E}">
        <p14:creationId xmlns:p14="http://schemas.microsoft.com/office/powerpoint/2010/main" val="36462442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a:t>Haga clic para modificar el estilo de título del patrón</a:t>
            </a:r>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fecha 6"/>
          <p:cNvSpPr>
            <a:spLocks noGrp="1"/>
          </p:cNvSpPr>
          <p:nvPr>
            <p:ph type="dt" sz="half" idx="10"/>
          </p:nvPr>
        </p:nvSpPr>
        <p:spPr/>
        <p:txBody>
          <a:bodyPr/>
          <a:lstStyle/>
          <a:p>
            <a:fld id="{CC231CB2-8F63-4ACB-AA28-38CB9C3B0788}" type="datetimeFigureOut">
              <a:rPr lang="es-ES" smtClean="0"/>
              <a:t>17/10/2023</a:t>
            </a:fld>
            <a:endParaRPr lang="es-ES"/>
          </a:p>
        </p:txBody>
      </p:sp>
      <p:sp>
        <p:nvSpPr>
          <p:cNvPr id="8" name="Marcador de pie de página 7"/>
          <p:cNvSpPr>
            <a:spLocks noGrp="1"/>
          </p:cNvSpPr>
          <p:nvPr>
            <p:ph type="ftr" sz="quarter" idx="11"/>
          </p:nvPr>
        </p:nvSpPr>
        <p:spPr/>
        <p:txBody>
          <a:bodyPr/>
          <a:lstStyle/>
          <a:p>
            <a:endParaRPr lang="es-ES"/>
          </a:p>
        </p:txBody>
      </p:sp>
      <p:sp>
        <p:nvSpPr>
          <p:cNvPr id="9" name="Marcador de número de diapositiva 8"/>
          <p:cNvSpPr>
            <a:spLocks noGrp="1"/>
          </p:cNvSpPr>
          <p:nvPr>
            <p:ph type="sldNum" sz="quarter" idx="12"/>
          </p:nvPr>
        </p:nvSpPr>
        <p:spPr/>
        <p:txBody>
          <a:bodyPr/>
          <a:lstStyle/>
          <a:p>
            <a:fld id="{24A79FA8-4D08-4E50-BBA2-D88CCB263461}" type="slidenum">
              <a:rPr lang="es-ES" smtClean="0"/>
              <a:t>‹#›</a:t>
            </a:fld>
            <a:endParaRPr lang="es-ES"/>
          </a:p>
        </p:txBody>
      </p:sp>
    </p:spTree>
    <p:extLst>
      <p:ext uri="{BB962C8B-B14F-4D97-AF65-F5344CB8AC3E}">
        <p14:creationId xmlns:p14="http://schemas.microsoft.com/office/powerpoint/2010/main" val="4962326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fecha 2"/>
          <p:cNvSpPr>
            <a:spLocks noGrp="1"/>
          </p:cNvSpPr>
          <p:nvPr>
            <p:ph type="dt" sz="half" idx="10"/>
          </p:nvPr>
        </p:nvSpPr>
        <p:spPr/>
        <p:txBody>
          <a:bodyPr/>
          <a:lstStyle/>
          <a:p>
            <a:fld id="{CC231CB2-8F63-4ACB-AA28-38CB9C3B0788}" type="datetimeFigureOut">
              <a:rPr lang="es-ES" smtClean="0"/>
              <a:t>17/10/2023</a:t>
            </a:fld>
            <a:endParaRPr lang="es-ES"/>
          </a:p>
        </p:txBody>
      </p:sp>
      <p:sp>
        <p:nvSpPr>
          <p:cNvPr id="4" name="Marcador de pie de página 3"/>
          <p:cNvSpPr>
            <a:spLocks noGrp="1"/>
          </p:cNvSpPr>
          <p:nvPr>
            <p:ph type="ftr" sz="quarter" idx="11"/>
          </p:nvPr>
        </p:nvSpPr>
        <p:spPr/>
        <p:txBody>
          <a:bodyPr/>
          <a:lstStyle/>
          <a:p>
            <a:endParaRPr lang="es-ES"/>
          </a:p>
        </p:txBody>
      </p:sp>
      <p:sp>
        <p:nvSpPr>
          <p:cNvPr id="5" name="Marcador de número de diapositiva 4"/>
          <p:cNvSpPr>
            <a:spLocks noGrp="1"/>
          </p:cNvSpPr>
          <p:nvPr>
            <p:ph type="sldNum" sz="quarter" idx="12"/>
          </p:nvPr>
        </p:nvSpPr>
        <p:spPr/>
        <p:txBody>
          <a:bodyPr/>
          <a:lstStyle/>
          <a:p>
            <a:fld id="{24A79FA8-4D08-4E50-BBA2-D88CCB263461}" type="slidenum">
              <a:rPr lang="es-ES" smtClean="0"/>
              <a:t>‹#›</a:t>
            </a:fld>
            <a:endParaRPr lang="es-ES"/>
          </a:p>
        </p:txBody>
      </p:sp>
    </p:spTree>
    <p:extLst>
      <p:ext uri="{BB962C8B-B14F-4D97-AF65-F5344CB8AC3E}">
        <p14:creationId xmlns:p14="http://schemas.microsoft.com/office/powerpoint/2010/main" val="19899152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CC231CB2-8F63-4ACB-AA28-38CB9C3B0788}" type="datetimeFigureOut">
              <a:rPr lang="es-ES" smtClean="0"/>
              <a:t>17/10/2023</a:t>
            </a:fld>
            <a:endParaRPr lang="es-ES"/>
          </a:p>
        </p:txBody>
      </p:sp>
      <p:sp>
        <p:nvSpPr>
          <p:cNvPr id="3" name="Marcador de pie de página 2"/>
          <p:cNvSpPr>
            <a:spLocks noGrp="1"/>
          </p:cNvSpPr>
          <p:nvPr>
            <p:ph type="ftr" sz="quarter" idx="11"/>
          </p:nvPr>
        </p:nvSpPr>
        <p:spPr/>
        <p:txBody>
          <a:bodyPr/>
          <a:lstStyle/>
          <a:p>
            <a:endParaRPr lang="es-ES"/>
          </a:p>
        </p:txBody>
      </p:sp>
      <p:sp>
        <p:nvSpPr>
          <p:cNvPr id="4" name="Marcador de número de diapositiva 3"/>
          <p:cNvSpPr>
            <a:spLocks noGrp="1"/>
          </p:cNvSpPr>
          <p:nvPr>
            <p:ph type="sldNum" sz="quarter" idx="12"/>
          </p:nvPr>
        </p:nvSpPr>
        <p:spPr/>
        <p:txBody>
          <a:bodyPr/>
          <a:lstStyle/>
          <a:p>
            <a:fld id="{24A79FA8-4D08-4E50-BBA2-D88CCB263461}" type="slidenum">
              <a:rPr lang="es-ES" smtClean="0"/>
              <a:t>‹#›</a:t>
            </a:fld>
            <a:endParaRPr lang="es-ES"/>
          </a:p>
        </p:txBody>
      </p:sp>
    </p:spTree>
    <p:extLst>
      <p:ext uri="{BB962C8B-B14F-4D97-AF65-F5344CB8AC3E}">
        <p14:creationId xmlns:p14="http://schemas.microsoft.com/office/powerpoint/2010/main" val="11624063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el estilo de texto del patrón</a:t>
            </a:r>
          </a:p>
        </p:txBody>
      </p:sp>
      <p:sp>
        <p:nvSpPr>
          <p:cNvPr id="5" name="Marcador de fecha 4"/>
          <p:cNvSpPr>
            <a:spLocks noGrp="1"/>
          </p:cNvSpPr>
          <p:nvPr>
            <p:ph type="dt" sz="half" idx="10"/>
          </p:nvPr>
        </p:nvSpPr>
        <p:spPr/>
        <p:txBody>
          <a:bodyPr/>
          <a:lstStyle/>
          <a:p>
            <a:fld id="{CC231CB2-8F63-4ACB-AA28-38CB9C3B0788}" type="datetimeFigureOut">
              <a:rPr lang="es-ES" smtClean="0"/>
              <a:t>17/10/2023</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24A79FA8-4D08-4E50-BBA2-D88CCB263461}" type="slidenum">
              <a:rPr lang="es-ES" smtClean="0"/>
              <a:t>‹#›</a:t>
            </a:fld>
            <a:endParaRPr lang="es-ES"/>
          </a:p>
        </p:txBody>
      </p:sp>
    </p:spTree>
    <p:extLst>
      <p:ext uri="{BB962C8B-B14F-4D97-AF65-F5344CB8AC3E}">
        <p14:creationId xmlns:p14="http://schemas.microsoft.com/office/powerpoint/2010/main" val="19998094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el estilo de texto del patrón</a:t>
            </a:r>
          </a:p>
        </p:txBody>
      </p:sp>
      <p:sp>
        <p:nvSpPr>
          <p:cNvPr id="5" name="Marcador de fecha 4"/>
          <p:cNvSpPr>
            <a:spLocks noGrp="1"/>
          </p:cNvSpPr>
          <p:nvPr>
            <p:ph type="dt" sz="half" idx="10"/>
          </p:nvPr>
        </p:nvSpPr>
        <p:spPr/>
        <p:txBody>
          <a:bodyPr/>
          <a:lstStyle/>
          <a:p>
            <a:fld id="{CC231CB2-8F63-4ACB-AA28-38CB9C3B0788}" type="datetimeFigureOut">
              <a:rPr lang="es-ES" smtClean="0"/>
              <a:t>17/10/2023</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24A79FA8-4D08-4E50-BBA2-D88CCB263461}" type="slidenum">
              <a:rPr lang="es-ES" smtClean="0"/>
              <a:t>‹#›</a:t>
            </a:fld>
            <a:endParaRPr lang="es-ES"/>
          </a:p>
        </p:txBody>
      </p:sp>
    </p:spTree>
    <p:extLst>
      <p:ext uri="{BB962C8B-B14F-4D97-AF65-F5344CB8AC3E}">
        <p14:creationId xmlns:p14="http://schemas.microsoft.com/office/powerpoint/2010/main" val="2196911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texto vertical 2"/>
          <p:cNvSpPr>
            <a:spLocks noGrp="1"/>
          </p:cNvSpPr>
          <p:nvPr>
            <p:ph type="body" orient="vert" idx="1"/>
          </p:nvPr>
        </p:nvSpPr>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CC231CB2-8F63-4ACB-AA28-38CB9C3B0788}" type="datetimeFigureOut">
              <a:rPr lang="es-ES" smtClean="0"/>
              <a:t>17/10/2023</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24A79FA8-4D08-4E50-BBA2-D88CCB263461}" type="slidenum">
              <a:rPr lang="es-ES" smtClean="0"/>
              <a:t>‹#›</a:t>
            </a:fld>
            <a:endParaRPr lang="es-ES"/>
          </a:p>
        </p:txBody>
      </p:sp>
    </p:spTree>
    <p:extLst>
      <p:ext uri="{BB962C8B-B14F-4D97-AF65-F5344CB8AC3E}">
        <p14:creationId xmlns:p14="http://schemas.microsoft.com/office/powerpoint/2010/main" val="27292735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a:t>Haga clic para modificar el estilo de título del patrón</a:t>
            </a:r>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CC231CB2-8F63-4ACB-AA28-38CB9C3B0788}" type="datetimeFigureOut">
              <a:rPr lang="es-ES" smtClean="0"/>
              <a:t>17/10/2023</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24A79FA8-4D08-4E50-BBA2-D88CCB263461}" type="slidenum">
              <a:rPr lang="es-ES" smtClean="0"/>
              <a:t>‹#›</a:t>
            </a:fld>
            <a:endParaRPr lang="es-ES"/>
          </a:p>
        </p:txBody>
      </p:sp>
    </p:spTree>
    <p:extLst>
      <p:ext uri="{BB962C8B-B14F-4D97-AF65-F5344CB8AC3E}">
        <p14:creationId xmlns:p14="http://schemas.microsoft.com/office/powerpoint/2010/main" val="207310781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cSld name="10_Diseño personalizado">
    <p:spTree>
      <p:nvGrpSpPr>
        <p:cNvPr id="1" name=""/>
        <p:cNvGrpSpPr/>
        <p:nvPr/>
      </p:nvGrpSpPr>
      <p:grpSpPr>
        <a:xfrm>
          <a:off x="0" y="0"/>
          <a:ext cx="0" cy="0"/>
          <a:chOff x="0" y="0"/>
          <a:chExt cx="0" cy="0"/>
        </a:xfrm>
      </p:grpSpPr>
    </p:spTree>
    <p:extLst>
      <p:ext uri="{BB962C8B-B14F-4D97-AF65-F5344CB8AC3E}">
        <p14:creationId xmlns:p14="http://schemas.microsoft.com/office/powerpoint/2010/main" val="41253482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C231CB2-8F63-4ACB-AA28-38CB9C3B0788}" type="datetimeFigureOut">
              <a:rPr lang="es-ES" smtClean="0"/>
              <a:t>17/10/2023</a:t>
            </a:fld>
            <a:endParaRPr lang="es-ES"/>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4A79FA8-4D08-4E50-BBA2-D88CCB263461}" type="slidenum">
              <a:rPr lang="es-ES" smtClean="0"/>
              <a:t>‹#›</a:t>
            </a:fld>
            <a:endParaRPr lang="es-ES"/>
          </a:p>
        </p:txBody>
      </p:sp>
    </p:spTree>
    <p:extLst>
      <p:ext uri="{BB962C8B-B14F-4D97-AF65-F5344CB8AC3E}">
        <p14:creationId xmlns:p14="http://schemas.microsoft.com/office/powerpoint/2010/main" val="2980819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058027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Rectángulo 5"/>
          <p:cNvSpPr/>
          <p:nvPr/>
        </p:nvSpPr>
        <p:spPr>
          <a:xfrm>
            <a:off x="1126096" y="2455584"/>
            <a:ext cx="9939807" cy="1754326"/>
          </a:xfrm>
          <a:prstGeom prst="rect">
            <a:avLst/>
          </a:prstGeom>
        </p:spPr>
        <p:txBody>
          <a:bodyPr wrap="square">
            <a:spAutoFit/>
          </a:bodyPr>
          <a:lstStyle/>
          <a:p>
            <a:pPr algn="ctr"/>
            <a:r>
              <a:rPr lang="es-ES" sz="3600" dirty="0">
                <a:solidFill>
                  <a:srgbClr val="00F3B5"/>
                </a:solidFill>
                <a:latin typeface="Prompt" panose="00000800000000000000" pitchFamily="2" charset="-34"/>
                <a:cs typeface="Prompt" panose="00000800000000000000" pitchFamily="2" charset="-34"/>
              </a:rPr>
              <a:t>Programa de Especialización </a:t>
            </a:r>
          </a:p>
          <a:p>
            <a:pPr algn="ctr"/>
            <a:r>
              <a:rPr lang="es-ES" sz="3600" dirty="0">
                <a:solidFill>
                  <a:srgbClr val="00F3B5"/>
                </a:solidFill>
                <a:latin typeface="Prompt" panose="00000800000000000000" pitchFamily="2" charset="-34"/>
                <a:cs typeface="Prompt" panose="00000800000000000000" pitchFamily="2" charset="-34"/>
              </a:rPr>
              <a:t>en Primavera P6, MS Project y </a:t>
            </a:r>
            <a:r>
              <a:rPr lang="es-ES" sz="3600" dirty="0" err="1">
                <a:solidFill>
                  <a:srgbClr val="00F3B5"/>
                </a:solidFill>
                <a:latin typeface="Prompt" panose="00000800000000000000" pitchFamily="2" charset="-34"/>
                <a:cs typeface="Prompt" panose="00000800000000000000" pitchFamily="2" charset="-34"/>
              </a:rPr>
              <a:t>Power</a:t>
            </a:r>
            <a:r>
              <a:rPr lang="es-ES" sz="3600" dirty="0">
                <a:solidFill>
                  <a:srgbClr val="00F3B5"/>
                </a:solidFill>
                <a:latin typeface="Prompt" panose="00000800000000000000" pitchFamily="2" charset="-34"/>
                <a:cs typeface="Prompt" panose="00000800000000000000" pitchFamily="2" charset="-34"/>
              </a:rPr>
              <a:t> BI</a:t>
            </a:r>
          </a:p>
          <a:p>
            <a:pPr algn="ctr"/>
            <a:r>
              <a:rPr lang="es-ES" sz="3600" dirty="0">
                <a:solidFill>
                  <a:srgbClr val="00F3B5"/>
                </a:solidFill>
                <a:latin typeface="Prompt" panose="00000800000000000000" pitchFamily="2" charset="-34"/>
                <a:cs typeface="Prompt" panose="00000800000000000000" pitchFamily="2" charset="-34"/>
              </a:rPr>
              <a:t>para Proyectos de Construcción</a:t>
            </a:r>
            <a:endParaRPr lang="es-ES" sz="3600" dirty="0">
              <a:solidFill>
                <a:schemeClr val="bg1"/>
              </a:solidFill>
              <a:latin typeface="Prompt" panose="00000800000000000000" pitchFamily="2" charset="-34"/>
              <a:cs typeface="Prompt" panose="00000800000000000000" pitchFamily="2" charset="-34"/>
            </a:endParaRPr>
          </a:p>
        </p:txBody>
      </p:sp>
    </p:spTree>
    <p:extLst>
      <p:ext uri="{BB962C8B-B14F-4D97-AF65-F5344CB8AC3E}">
        <p14:creationId xmlns:p14="http://schemas.microsoft.com/office/powerpoint/2010/main" val="18256197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1087719" y="2766940"/>
            <a:ext cx="6667500" cy="844550"/>
          </a:xfrm>
        </p:spPr>
        <p:txBody>
          <a:bodyPr/>
          <a:lstStyle/>
          <a:p>
            <a:r>
              <a:rPr lang="es-ES" dirty="0">
                <a:solidFill>
                  <a:srgbClr val="00F3B5"/>
                </a:solidFill>
                <a:latin typeface="Prompt" panose="00000800000000000000" pitchFamily="2" charset="-34"/>
                <a:cs typeface="Prompt" panose="00000800000000000000" pitchFamily="2" charset="-34"/>
              </a:rPr>
              <a:t>Módulo 4</a:t>
            </a:r>
          </a:p>
        </p:txBody>
      </p:sp>
      <p:sp>
        <p:nvSpPr>
          <p:cNvPr id="5" name="CuadroTexto 4"/>
          <p:cNvSpPr txBox="1"/>
          <p:nvPr/>
        </p:nvSpPr>
        <p:spPr>
          <a:xfrm>
            <a:off x="1087719" y="3611490"/>
            <a:ext cx="6691357" cy="369332"/>
          </a:xfrm>
          <a:prstGeom prst="rect">
            <a:avLst/>
          </a:prstGeom>
          <a:noFill/>
        </p:spPr>
        <p:txBody>
          <a:bodyPr wrap="square" rtlCol="0">
            <a:spAutoFit/>
          </a:bodyPr>
          <a:lstStyle/>
          <a:p>
            <a:r>
              <a:rPr lang="es-ES" dirty="0">
                <a:solidFill>
                  <a:schemeClr val="bg1"/>
                </a:solidFill>
                <a:latin typeface="Prompt" panose="00000800000000000000" pitchFamily="2" charset="-34"/>
                <a:cs typeface="Prompt" panose="00000800000000000000" pitchFamily="2" charset="-34"/>
              </a:rPr>
              <a:t>Planificación de Proyectos de </a:t>
            </a:r>
            <a:r>
              <a:rPr lang="es-ES" dirty="0" err="1">
                <a:solidFill>
                  <a:schemeClr val="bg1"/>
                </a:solidFill>
                <a:latin typeface="Prompt" panose="00000800000000000000" pitchFamily="2" charset="-34"/>
                <a:cs typeface="Prompt" panose="00000800000000000000" pitchFamily="2" charset="-34"/>
              </a:rPr>
              <a:t>Construccion</a:t>
            </a:r>
            <a:r>
              <a:rPr lang="es-ES" dirty="0"/>
              <a:t> Generales</a:t>
            </a:r>
          </a:p>
        </p:txBody>
      </p:sp>
    </p:spTree>
    <p:extLst>
      <p:ext uri="{BB962C8B-B14F-4D97-AF65-F5344CB8AC3E}">
        <p14:creationId xmlns:p14="http://schemas.microsoft.com/office/powerpoint/2010/main" val="10713368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B15A954F-74C8-50F7-A43D-FF1AF1EB637A}"/>
              </a:ext>
            </a:extLst>
          </p:cNvPr>
          <p:cNvSpPr txBox="1"/>
          <p:nvPr/>
        </p:nvSpPr>
        <p:spPr>
          <a:xfrm>
            <a:off x="1010826" y="519108"/>
            <a:ext cx="6097314" cy="523220"/>
          </a:xfrm>
          <a:prstGeom prst="rect">
            <a:avLst/>
          </a:prstGeom>
          <a:noFill/>
        </p:spPr>
        <p:txBody>
          <a:bodyPr wrap="square">
            <a:spAutoFit/>
          </a:bodyPr>
          <a:lstStyle/>
          <a:p>
            <a:r>
              <a:rPr lang="en-US" sz="2800" dirty="0" err="1"/>
              <a:t>Holgura</a:t>
            </a:r>
            <a:endParaRPr lang="en-US" sz="2800" dirty="0"/>
          </a:p>
        </p:txBody>
      </p:sp>
      <p:sp>
        <p:nvSpPr>
          <p:cNvPr id="7" name="CuadroTexto 6">
            <a:extLst>
              <a:ext uri="{FF2B5EF4-FFF2-40B4-BE49-F238E27FC236}">
                <a16:creationId xmlns:a16="http://schemas.microsoft.com/office/drawing/2014/main" id="{D6DCFB24-884B-2FC4-9DDC-4832359B3216}"/>
              </a:ext>
            </a:extLst>
          </p:cNvPr>
          <p:cNvSpPr txBox="1"/>
          <p:nvPr/>
        </p:nvSpPr>
        <p:spPr>
          <a:xfrm>
            <a:off x="1010826" y="1932159"/>
            <a:ext cx="9609082" cy="3139321"/>
          </a:xfrm>
          <a:prstGeom prst="rect">
            <a:avLst/>
          </a:prstGeom>
          <a:noFill/>
        </p:spPr>
        <p:txBody>
          <a:bodyPr wrap="square">
            <a:spAutoFit/>
          </a:bodyPr>
          <a:lstStyle>
            <a:defPPr>
              <a:defRPr lang="es-PE"/>
            </a:defPPr>
            <a:lvl1pPr algn="just">
              <a:defRPr b="0" i="0">
                <a:effectLst/>
                <a:latin typeface="-apple-system"/>
              </a:defRPr>
            </a:lvl1pPr>
          </a:lstStyle>
          <a:p>
            <a:pPr algn="l"/>
            <a:r>
              <a:rPr lang="es-ES" sz="1800" b="0" i="0" u="none" strike="noStrike" baseline="0" dirty="0">
                <a:latin typeface="Helvetica" panose="020B0604020202020204" pitchFamily="34" charset="0"/>
              </a:rPr>
              <a:t>Al evaluar la holgura podemos obtener 3 resultados</a:t>
            </a:r>
          </a:p>
          <a:p>
            <a:pPr algn="l"/>
            <a:r>
              <a:rPr lang="es-ES" sz="1800" b="0" i="0" u="none" strike="noStrike" baseline="0" dirty="0">
                <a:latin typeface="Symbol" panose="05050102010706020507" pitchFamily="18" charset="2"/>
              </a:rPr>
              <a:t>· </a:t>
            </a:r>
            <a:r>
              <a:rPr lang="es-ES" sz="1800" b="0" i="0" u="none" strike="noStrike" baseline="0" dirty="0">
                <a:latin typeface="Helvetica" panose="020B0604020202020204" pitchFamily="34" charset="0"/>
              </a:rPr>
              <a:t>Holgura Positiva: indica que las actividades pueden sufrir una postergación en relación</a:t>
            </a:r>
          </a:p>
          <a:p>
            <a:pPr algn="l"/>
            <a:r>
              <a:rPr lang="es-ES" sz="1800" b="0" i="0" u="none" strike="noStrike" baseline="0" dirty="0">
                <a:latin typeface="Helvetica" panose="020B0604020202020204" pitchFamily="34" charset="0"/>
              </a:rPr>
              <a:t>a las fechas de programación hasta las fechas tardías, sin que el proyecto o la actividad</a:t>
            </a:r>
          </a:p>
          <a:p>
            <a:pPr algn="l"/>
            <a:r>
              <a:rPr lang="pt-BR" sz="1800" b="0" i="0" u="none" strike="noStrike" baseline="0" dirty="0" err="1">
                <a:latin typeface="Helvetica" panose="020B0604020202020204" pitchFamily="34" charset="0"/>
              </a:rPr>
              <a:t>sucesora</a:t>
            </a:r>
            <a:r>
              <a:rPr lang="pt-BR" sz="1800" b="0" i="0" u="none" strike="noStrike" baseline="0" dirty="0">
                <a:latin typeface="Helvetica" panose="020B0604020202020204" pitchFamily="34" charset="0"/>
              </a:rPr>
              <a:t> se atrase</a:t>
            </a:r>
          </a:p>
          <a:p>
            <a:pPr algn="l"/>
            <a:r>
              <a:rPr lang="es-ES" sz="1800" b="0" i="0" u="none" strike="noStrike" baseline="0" dirty="0">
                <a:latin typeface="Symbol" panose="05050102010706020507" pitchFamily="18" charset="2"/>
              </a:rPr>
              <a:t>· </a:t>
            </a:r>
            <a:r>
              <a:rPr lang="es-ES" sz="1800" b="0" i="0" u="none" strike="noStrike" baseline="0" dirty="0">
                <a:latin typeface="Helvetica" panose="020B0604020202020204" pitchFamily="34" charset="0"/>
              </a:rPr>
              <a:t>Holgura Cero: son denominadas críticas. Representan que el menor atraso en la</a:t>
            </a:r>
          </a:p>
          <a:p>
            <a:pPr algn="l"/>
            <a:r>
              <a:rPr lang="es-ES" sz="1800" b="0" i="0" u="none" strike="noStrike" baseline="0" dirty="0">
                <a:latin typeface="Helvetica" panose="020B0604020202020204" pitchFamily="34" charset="0"/>
              </a:rPr>
              <a:t>actividad compromete la fecha de fin del proyecto o la fecha temprana de la actividad</a:t>
            </a:r>
          </a:p>
          <a:p>
            <a:pPr algn="l"/>
            <a:r>
              <a:rPr lang="pt-BR" sz="1800" b="0" i="0" u="none" strike="noStrike" baseline="0" dirty="0" err="1">
                <a:latin typeface="Helvetica" panose="020B0604020202020204" pitchFamily="34" charset="0"/>
              </a:rPr>
              <a:t>sucesora</a:t>
            </a:r>
            <a:endParaRPr lang="pt-BR" sz="1800" b="0" i="0" u="none" strike="noStrike" baseline="0" dirty="0">
              <a:latin typeface="Helvetica" panose="020B0604020202020204" pitchFamily="34" charset="0"/>
            </a:endParaRPr>
          </a:p>
          <a:p>
            <a:pPr algn="l"/>
            <a:r>
              <a:rPr lang="pt-BR" sz="1800" b="0" i="0" u="none" strike="noStrike" baseline="0" dirty="0">
                <a:latin typeface="Symbol" panose="05050102010706020507" pitchFamily="18" charset="2"/>
              </a:rPr>
              <a:t>· </a:t>
            </a:r>
            <a:r>
              <a:rPr lang="pt-BR" sz="1800" b="0" i="0" u="none" strike="noStrike" baseline="0" dirty="0" err="1">
                <a:latin typeface="Helvetica" panose="020B0604020202020204" pitchFamily="34" charset="0"/>
              </a:rPr>
              <a:t>Holgura</a:t>
            </a:r>
            <a:r>
              <a:rPr lang="pt-BR" sz="1800" b="0" i="0" u="none" strike="noStrike" baseline="0" dirty="0">
                <a:latin typeface="Helvetica" panose="020B0604020202020204" pitchFamily="34" charset="0"/>
              </a:rPr>
              <a:t> Negativa: </a:t>
            </a:r>
            <a:r>
              <a:rPr lang="pt-BR" sz="1800" b="0" i="0" u="none" strike="noStrike" baseline="0" dirty="0" err="1">
                <a:latin typeface="Helvetica" panose="020B0604020202020204" pitchFamily="34" charset="0"/>
              </a:rPr>
              <a:t>son</a:t>
            </a:r>
            <a:r>
              <a:rPr lang="pt-BR" sz="1800" b="0" i="0" u="none" strike="noStrike" baseline="0" dirty="0">
                <a:latin typeface="Helvetica" panose="020B0604020202020204" pitchFamily="34" charset="0"/>
              </a:rPr>
              <a:t> denominadas extremadamente criticas </a:t>
            </a:r>
            <a:r>
              <a:rPr lang="pt-BR" sz="1800" b="0" i="0" u="none" strike="noStrike" baseline="0" dirty="0" err="1">
                <a:latin typeface="Helvetica" panose="020B0604020202020204" pitchFamily="34" charset="0"/>
              </a:rPr>
              <a:t>indican</a:t>
            </a:r>
            <a:r>
              <a:rPr lang="pt-BR" sz="1800" b="0" i="0" u="none" strike="noStrike" baseline="0" dirty="0">
                <a:latin typeface="Helvetica" panose="020B0604020202020204" pitchFamily="34" charset="0"/>
              </a:rPr>
              <a:t> que </a:t>
            </a:r>
            <a:r>
              <a:rPr lang="pt-BR" sz="1800" b="0" i="0" u="none" strike="noStrike" baseline="0" dirty="0" err="1">
                <a:latin typeface="Helvetica" panose="020B0604020202020204" pitchFamily="34" charset="0"/>
              </a:rPr>
              <a:t>lo</a:t>
            </a:r>
            <a:r>
              <a:rPr lang="pt-BR" sz="1800" b="0" i="0" u="none" strike="noStrike" baseline="0" dirty="0">
                <a:latin typeface="Helvetica" panose="020B0604020202020204" pitchFamily="34" charset="0"/>
              </a:rPr>
              <a:t> que está</a:t>
            </a:r>
          </a:p>
          <a:p>
            <a:pPr algn="l"/>
            <a:r>
              <a:rPr lang="es-ES" sz="1800" b="0" i="0" u="none" strike="noStrike" baseline="0" dirty="0">
                <a:latin typeface="Helvetica" panose="020B0604020202020204" pitchFamily="34" charset="0"/>
              </a:rPr>
              <a:t>programado no acontecerá en la fecha de programación, en este caso, estas fechas</a:t>
            </a:r>
          </a:p>
          <a:p>
            <a:pPr algn="l"/>
            <a:r>
              <a:rPr lang="es-ES" sz="1800" b="0" i="0" u="none" strike="noStrike" baseline="0" dirty="0">
                <a:latin typeface="Helvetica" panose="020B0604020202020204" pitchFamily="34" charset="0"/>
              </a:rPr>
              <a:t>informan cuando las actividades deberían inicial y/o terminar para que el proyecto no</a:t>
            </a:r>
          </a:p>
          <a:p>
            <a:pPr algn="l"/>
            <a:r>
              <a:rPr lang="pt-BR" sz="1800" b="0" i="0" u="none" strike="noStrike" baseline="0" dirty="0" err="1">
                <a:latin typeface="Helvetica" panose="020B0604020202020204" pitchFamily="34" charset="0"/>
              </a:rPr>
              <a:t>fuese</a:t>
            </a:r>
            <a:r>
              <a:rPr lang="pt-BR" sz="1800" b="0" i="0" u="none" strike="noStrike" baseline="0" dirty="0">
                <a:latin typeface="Helvetica" panose="020B0604020202020204" pitchFamily="34" charset="0"/>
              </a:rPr>
              <a:t> atrasado</a:t>
            </a:r>
            <a:endParaRPr lang="pt-BR" dirty="0"/>
          </a:p>
        </p:txBody>
      </p:sp>
      <p:sp>
        <p:nvSpPr>
          <p:cNvPr id="12" name="CuadroTexto 11">
            <a:extLst>
              <a:ext uri="{FF2B5EF4-FFF2-40B4-BE49-F238E27FC236}">
                <a16:creationId xmlns:a16="http://schemas.microsoft.com/office/drawing/2014/main" id="{BFFD35CB-3A7D-D572-49E9-60208330EB55}"/>
              </a:ext>
            </a:extLst>
          </p:cNvPr>
          <p:cNvSpPr txBox="1"/>
          <p:nvPr/>
        </p:nvSpPr>
        <p:spPr>
          <a:xfrm>
            <a:off x="1010826" y="1237899"/>
            <a:ext cx="9528422" cy="646331"/>
          </a:xfrm>
          <a:prstGeom prst="rect">
            <a:avLst/>
          </a:prstGeom>
          <a:noFill/>
        </p:spPr>
        <p:txBody>
          <a:bodyPr wrap="square">
            <a:spAutoFit/>
          </a:bodyPr>
          <a:lstStyle/>
          <a:p>
            <a:pPr algn="l"/>
            <a:r>
              <a:rPr lang="es-ES" sz="1800" b="0" i="0" u="none" strike="noStrike" baseline="0" dirty="0">
                <a:latin typeface="Helvetica" panose="020B0604020202020204" pitchFamily="34" charset="0"/>
              </a:rPr>
              <a:t>La holgura de una tarea se define como el tiempo que esta puede atrasarse sin</a:t>
            </a:r>
          </a:p>
          <a:p>
            <a:pPr algn="l"/>
            <a:r>
              <a:rPr lang="es-ES" sz="1800" b="0" i="0" u="none" strike="noStrike" baseline="0" dirty="0">
                <a:latin typeface="Helvetica" panose="020B0604020202020204" pitchFamily="34" charset="0"/>
              </a:rPr>
              <a:t>afectarse el plazo total del proyecto</a:t>
            </a:r>
            <a:endParaRPr lang="pt-BR" dirty="0"/>
          </a:p>
        </p:txBody>
      </p:sp>
    </p:spTree>
    <p:extLst>
      <p:ext uri="{BB962C8B-B14F-4D97-AF65-F5344CB8AC3E}">
        <p14:creationId xmlns:p14="http://schemas.microsoft.com/office/powerpoint/2010/main" val="10875010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B15A954F-74C8-50F7-A43D-FF1AF1EB637A}"/>
              </a:ext>
            </a:extLst>
          </p:cNvPr>
          <p:cNvSpPr txBox="1"/>
          <p:nvPr/>
        </p:nvSpPr>
        <p:spPr>
          <a:xfrm>
            <a:off x="1010826" y="519108"/>
            <a:ext cx="6097314" cy="523220"/>
          </a:xfrm>
          <a:prstGeom prst="rect">
            <a:avLst/>
          </a:prstGeom>
          <a:noFill/>
        </p:spPr>
        <p:txBody>
          <a:bodyPr wrap="square">
            <a:spAutoFit/>
          </a:bodyPr>
          <a:lstStyle/>
          <a:p>
            <a:r>
              <a:rPr lang="en-US" sz="2800" dirty="0" err="1"/>
              <a:t>Holgura</a:t>
            </a:r>
            <a:endParaRPr lang="en-US" sz="2800" dirty="0"/>
          </a:p>
        </p:txBody>
      </p:sp>
      <p:pic>
        <p:nvPicPr>
          <p:cNvPr id="3" name="Imagen 2">
            <a:extLst>
              <a:ext uri="{FF2B5EF4-FFF2-40B4-BE49-F238E27FC236}">
                <a16:creationId xmlns:a16="http://schemas.microsoft.com/office/drawing/2014/main" id="{5E99A311-0CCC-7FE0-6E68-18C289F8990D}"/>
              </a:ext>
            </a:extLst>
          </p:cNvPr>
          <p:cNvPicPr>
            <a:picLocks noChangeAspect="1"/>
          </p:cNvPicPr>
          <p:nvPr/>
        </p:nvPicPr>
        <p:blipFill>
          <a:blip r:embed="rId2"/>
          <a:stretch>
            <a:fillRect/>
          </a:stretch>
        </p:blipFill>
        <p:spPr>
          <a:xfrm>
            <a:off x="3197258" y="1597925"/>
            <a:ext cx="5797484" cy="3864733"/>
          </a:xfrm>
          <a:prstGeom prst="rect">
            <a:avLst/>
          </a:prstGeom>
        </p:spPr>
      </p:pic>
    </p:spTree>
    <p:extLst>
      <p:ext uri="{BB962C8B-B14F-4D97-AF65-F5344CB8AC3E}">
        <p14:creationId xmlns:p14="http://schemas.microsoft.com/office/powerpoint/2010/main" val="36627821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B15A954F-74C8-50F7-A43D-FF1AF1EB637A}"/>
              </a:ext>
            </a:extLst>
          </p:cNvPr>
          <p:cNvSpPr txBox="1"/>
          <p:nvPr/>
        </p:nvSpPr>
        <p:spPr>
          <a:xfrm>
            <a:off x="1010826" y="519108"/>
            <a:ext cx="6097314" cy="523220"/>
          </a:xfrm>
          <a:prstGeom prst="rect">
            <a:avLst/>
          </a:prstGeom>
          <a:noFill/>
        </p:spPr>
        <p:txBody>
          <a:bodyPr wrap="square">
            <a:spAutoFit/>
          </a:bodyPr>
          <a:lstStyle/>
          <a:p>
            <a:r>
              <a:rPr lang="en-US" sz="2800" dirty="0" err="1"/>
              <a:t>Holgura</a:t>
            </a:r>
            <a:r>
              <a:rPr lang="en-US" sz="2800" dirty="0"/>
              <a:t> Total (Total float)</a:t>
            </a:r>
          </a:p>
        </p:txBody>
      </p:sp>
      <p:sp>
        <p:nvSpPr>
          <p:cNvPr id="3" name="CuadroTexto 2">
            <a:extLst>
              <a:ext uri="{FF2B5EF4-FFF2-40B4-BE49-F238E27FC236}">
                <a16:creationId xmlns:a16="http://schemas.microsoft.com/office/drawing/2014/main" id="{345FAB11-3A33-EEA6-A62C-EDB291E89F63}"/>
              </a:ext>
            </a:extLst>
          </p:cNvPr>
          <p:cNvSpPr txBox="1"/>
          <p:nvPr/>
        </p:nvSpPr>
        <p:spPr>
          <a:xfrm>
            <a:off x="1010826" y="1375267"/>
            <a:ext cx="9609082" cy="1754326"/>
          </a:xfrm>
          <a:prstGeom prst="rect">
            <a:avLst/>
          </a:prstGeom>
          <a:noFill/>
        </p:spPr>
        <p:txBody>
          <a:bodyPr wrap="square">
            <a:spAutoFit/>
          </a:bodyPr>
          <a:lstStyle/>
          <a:p>
            <a:pPr algn="just"/>
            <a:r>
              <a:rPr lang="es-419" b="0" i="0" dirty="0">
                <a:effectLst/>
                <a:latin typeface="-apple-system"/>
              </a:rPr>
              <a:t>El total </a:t>
            </a:r>
            <a:r>
              <a:rPr lang="es-419" b="0" i="0" dirty="0" err="1">
                <a:effectLst/>
                <a:latin typeface="-apple-system"/>
              </a:rPr>
              <a:t>float</a:t>
            </a:r>
            <a:r>
              <a:rPr lang="es-419" b="0" i="0" dirty="0">
                <a:effectLst/>
                <a:latin typeface="-apple-system"/>
              </a:rPr>
              <a:t>, también conocido como holgura total o </a:t>
            </a:r>
            <a:r>
              <a:rPr lang="es-419" b="0" i="0" dirty="0" err="1">
                <a:effectLst/>
                <a:latin typeface="-apple-system"/>
              </a:rPr>
              <a:t>slack</a:t>
            </a:r>
            <a:r>
              <a:rPr lang="es-419" b="0" i="0" dirty="0">
                <a:effectLst/>
                <a:latin typeface="-apple-system"/>
              </a:rPr>
              <a:t> total, es la cantidad de tiempo disponible para completar una actividad sin afectar la fecha de finalización del proyecto. En otras palabras, es la cantidad de tiempo que una actividad puede retrasarse sin retrasar la fecha de finalización del proyecto. El total </a:t>
            </a:r>
            <a:r>
              <a:rPr lang="es-419" b="0" i="0" dirty="0" err="1">
                <a:effectLst/>
                <a:latin typeface="-apple-system"/>
              </a:rPr>
              <a:t>float</a:t>
            </a:r>
            <a:r>
              <a:rPr lang="es-419" b="0" i="0" dirty="0">
                <a:effectLst/>
                <a:latin typeface="-apple-system"/>
              </a:rPr>
              <a:t> se calcula restando la duración de una actividad de la fecha de finalización temprana de la siguiente actividad.</a:t>
            </a:r>
            <a:endParaRPr lang="es-ES" sz="1800" b="0" i="0" u="none" strike="noStrike" baseline="0" dirty="0">
              <a:solidFill>
                <a:srgbClr val="000000"/>
              </a:solidFill>
            </a:endParaRPr>
          </a:p>
          <a:p>
            <a:pPr algn="just"/>
            <a:endParaRPr lang="pt-BR" sz="1800" b="0" i="0" u="none" strike="noStrike" baseline="0" dirty="0">
              <a:solidFill>
                <a:srgbClr val="000000"/>
              </a:solidFill>
            </a:endParaRPr>
          </a:p>
        </p:txBody>
      </p:sp>
      <p:sp>
        <p:nvSpPr>
          <p:cNvPr id="7" name="CuadroTexto 6">
            <a:extLst>
              <a:ext uri="{FF2B5EF4-FFF2-40B4-BE49-F238E27FC236}">
                <a16:creationId xmlns:a16="http://schemas.microsoft.com/office/drawing/2014/main" id="{D6DCFB24-884B-2FC4-9DDC-4832359B3216}"/>
              </a:ext>
            </a:extLst>
          </p:cNvPr>
          <p:cNvSpPr txBox="1"/>
          <p:nvPr/>
        </p:nvSpPr>
        <p:spPr>
          <a:xfrm>
            <a:off x="1010826" y="3028193"/>
            <a:ext cx="9609082" cy="1200329"/>
          </a:xfrm>
          <a:prstGeom prst="rect">
            <a:avLst/>
          </a:prstGeom>
          <a:noFill/>
        </p:spPr>
        <p:txBody>
          <a:bodyPr wrap="square">
            <a:spAutoFit/>
          </a:bodyPr>
          <a:lstStyle>
            <a:defPPr>
              <a:defRPr lang="es-PE"/>
            </a:defPPr>
            <a:lvl1pPr algn="just">
              <a:defRPr b="0" i="0">
                <a:effectLst/>
                <a:latin typeface="-apple-system"/>
              </a:defRPr>
            </a:lvl1pPr>
          </a:lstStyle>
          <a:p>
            <a:r>
              <a:rPr lang="es-ES" dirty="0"/>
              <a:t>• Una actividad con Flotación Total puede demorar a otra actividad,</a:t>
            </a:r>
          </a:p>
          <a:p>
            <a:r>
              <a:rPr lang="es-ES" dirty="0"/>
              <a:t>• Puede ser mostrada en una columna y en el diagrama de Gantt, con una barra negra fina por debajo de la barra principal y</a:t>
            </a:r>
          </a:p>
          <a:p>
            <a:r>
              <a:rPr lang="es-ES" dirty="0"/>
              <a:t>• Puede ser negativa.</a:t>
            </a:r>
            <a:endParaRPr lang="pt-BR" dirty="0"/>
          </a:p>
        </p:txBody>
      </p:sp>
      <p:pic>
        <p:nvPicPr>
          <p:cNvPr id="11" name="Imagen 10">
            <a:extLst>
              <a:ext uri="{FF2B5EF4-FFF2-40B4-BE49-F238E27FC236}">
                <a16:creationId xmlns:a16="http://schemas.microsoft.com/office/drawing/2014/main" id="{E2A512BF-CE76-20B4-FF5B-0716E3EFB439}"/>
              </a:ext>
            </a:extLst>
          </p:cNvPr>
          <p:cNvPicPr>
            <a:picLocks noChangeAspect="1"/>
          </p:cNvPicPr>
          <p:nvPr/>
        </p:nvPicPr>
        <p:blipFill rotWithShape="1">
          <a:blip r:embed="rId2"/>
          <a:srcRect l="1839" t="13302" r="46655" b="69195"/>
          <a:stretch/>
        </p:blipFill>
        <p:spPr>
          <a:xfrm>
            <a:off x="2514530" y="4341250"/>
            <a:ext cx="7162940" cy="1460460"/>
          </a:xfrm>
          <a:prstGeom prst="rect">
            <a:avLst/>
          </a:prstGeom>
        </p:spPr>
      </p:pic>
    </p:spTree>
    <p:extLst>
      <p:ext uri="{BB962C8B-B14F-4D97-AF65-F5344CB8AC3E}">
        <p14:creationId xmlns:p14="http://schemas.microsoft.com/office/powerpoint/2010/main" val="3660254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345FAB11-3A33-EEA6-A62C-EDB291E89F63}"/>
              </a:ext>
            </a:extLst>
          </p:cNvPr>
          <p:cNvSpPr txBox="1"/>
          <p:nvPr/>
        </p:nvSpPr>
        <p:spPr>
          <a:xfrm>
            <a:off x="1010826" y="1375267"/>
            <a:ext cx="9609082" cy="3416320"/>
          </a:xfrm>
          <a:prstGeom prst="rect">
            <a:avLst/>
          </a:prstGeom>
          <a:noFill/>
        </p:spPr>
        <p:txBody>
          <a:bodyPr wrap="square">
            <a:spAutoFit/>
          </a:bodyPr>
          <a:lstStyle>
            <a:defPPr>
              <a:defRPr lang="es-PE"/>
            </a:defPPr>
            <a:lvl1pPr algn="just"/>
          </a:lstStyle>
          <a:p>
            <a:r>
              <a:rPr lang="es-419" b="0" i="0" dirty="0">
                <a:effectLst/>
                <a:latin typeface="-apple-system"/>
              </a:rPr>
              <a:t>El total </a:t>
            </a:r>
            <a:r>
              <a:rPr lang="es-419" b="0" i="0" dirty="0" err="1">
                <a:effectLst/>
                <a:latin typeface="-apple-system"/>
              </a:rPr>
              <a:t>float</a:t>
            </a:r>
            <a:r>
              <a:rPr lang="es-419" b="0" i="0" dirty="0">
                <a:effectLst/>
                <a:latin typeface="-apple-system"/>
              </a:rPr>
              <a:t> es importante porque permite a los gerentes de proyecto identificar actividades críticas y no críticas en el cronograma del proyecto. Las actividades críticas son aquellas que tienen cero total </a:t>
            </a:r>
            <a:r>
              <a:rPr lang="es-419" b="0" i="0" dirty="0" err="1">
                <a:effectLst/>
                <a:latin typeface="-apple-system"/>
              </a:rPr>
              <a:t>float</a:t>
            </a:r>
            <a:r>
              <a:rPr lang="es-419" b="0" i="0" dirty="0">
                <a:effectLst/>
                <a:latin typeface="-apple-system"/>
              </a:rPr>
              <a:t>, lo que significa que cualquier retraso en estas actividades retrasará la fecha de finalización del proyecto. Las actividades no críticas, por otro lado, tienen un total </a:t>
            </a:r>
            <a:r>
              <a:rPr lang="es-419" b="0" i="0" dirty="0" err="1">
                <a:effectLst/>
                <a:latin typeface="-apple-system"/>
              </a:rPr>
              <a:t>float</a:t>
            </a:r>
            <a:r>
              <a:rPr lang="es-419" b="0" i="0" dirty="0">
                <a:effectLst/>
                <a:latin typeface="-apple-system"/>
              </a:rPr>
              <a:t> mayor a cero, lo que significa que pueden retrasarse sin afectar la fecha de finalización del proyecto.</a:t>
            </a:r>
          </a:p>
          <a:p>
            <a:endParaRPr lang="es-419" dirty="0">
              <a:latin typeface="-apple-system"/>
            </a:endParaRPr>
          </a:p>
          <a:p>
            <a:r>
              <a:rPr lang="es-419" dirty="0">
                <a:latin typeface="-apple-system"/>
              </a:rPr>
              <a:t>L</a:t>
            </a:r>
            <a:r>
              <a:rPr lang="es-419" b="0" i="0" dirty="0">
                <a:effectLst/>
                <a:latin typeface="-apple-system"/>
              </a:rPr>
              <a:t>a capacidad de identificar actividades críticas y no críticas es esencial para la gestión efectiva del cronograma del proyecto. Si una actividad crítica se retrasa, el gerente de proyecto debe tomar medidas para acelerarla o reducir su duración para evitar retrasos en la fecha de finalización del proyecto. Por otro lado, si una actividad no crítica se retrasa, el gerente de proyecto puede centrar su atención en las actividades críticas y evitar retrasos en la fecha de finalización del proyecto.</a:t>
            </a:r>
            <a:br>
              <a:rPr lang="es-419" dirty="0"/>
            </a:br>
            <a:endParaRPr lang="pt-BR" dirty="0"/>
          </a:p>
        </p:txBody>
      </p:sp>
      <p:sp>
        <p:nvSpPr>
          <p:cNvPr id="2" name="CuadroTexto 1">
            <a:extLst>
              <a:ext uri="{FF2B5EF4-FFF2-40B4-BE49-F238E27FC236}">
                <a16:creationId xmlns:a16="http://schemas.microsoft.com/office/drawing/2014/main" id="{D98DEBBC-7E85-0AAD-2C34-2D60538B32D1}"/>
              </a:ext>
            </a:extLst>
          </p:cNvPr>
          <p:cNvSpPr txBox="1"/>
          <p:nvPr/>
        </p:nvSpPr>
        <p:spPr>
          <a:xfrm>
            <a:off x="1010826" y="4709674"/>
            <a:ext cx="9609082" cy="1754326"/>
          </a:xfrm>
          <a:prstGeom prst="rect">
            <a:avLst/>
          </a:prstGeom>
          <a:noFill/>
        </p:spPr>
        <p:txBody>
          <a:bodyPr wrap="square">
            <a:spAutoFit/>
          </a:bodyPr>
          <a:lstStyle/>
          <a:p>
            <a:pPr algn="just"/>
            <a:r>
              <a:rPr lang="es-419" b="0" i="0" dirty="0">
                <a:effectLst/>
                <a:latin typeface="-apple-system"/>
              </a:rPr>
              <a:t>El total </a:t>
            </a:r>
            <a:r>
              <a:rPr lang="es-419" b="0" i="0" dirty="0" err="1">
                <a:effectLst/>
                <a:latin typeface="-apple-system"/>
              </a:rPr>
              <a:t>float</a:t>
            </a:r>
            <a:r>
              <a:rPr lang="es-419" b="0" i="0" dirty="0">
                <a:effectLst/>
                <a:latin typeface="-apple-system"/>
              </a:rPr>
              <a:t> también puede utilizarse para identificar la cantidad de tiempo disponible para realizar actividades de manera simultánea. Si dos actividades tienen total </a:t>
            </a:r>
            <a:r>
              <a:rPr lang="es-419" b="0" i="0" dirty="0" err="1">
                <a:effectLst/>
                <a:latin typeface="-apple-system"/>
              </a:rPr>
              <a:t>float</a:t>
            </a:r>
            <a:r>
              <a:rPr lang="es-419" b="0" i="0" dirty="0">
                <a:effectLst/>
                <a:latin typeface="-apple-system"/>
              </a:rPr>
              <a:t> mayor a cero y no están relacionadas, pueden realizarse simultáneamente sin afectar la fecha de finalización del proyecto. Esto puede ayudar a acelerar el proyecto y reducir su duración total.</a:t>
            </a:r>
          </a:p>
          <a:p>
            <a:pPr algn="just"/>
            <a:br>
              <a:rPr lang="es-419" dirty="0"/>
            </a:br>
            <a:endParaRPr lang="pt-BR" sz="1800" b="0" i="0" u="none" strike="noStrike" baseline="0" dirty="0">
              <a:solidFill>
                <a:srgbClr val="000000"/>
              </a:solidFill>
            </a:endParaRPr>
          </a:p>
        </p:txBody>
      </p:sp>
    </p:spTree>
    <p:extLst>
      <p:ext uri="{BB962C8B-B14F-4D97-AF65-F5344CB8AC3E}">
        <p14:creationId xmlns:p14="http://schemas.microsoft.com/office/powerpoint/2010/main" val="22922800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345FAB11-3A33-EEA6-A62C-EDB291E89F63}"/>
              </a:ext>
            </a:extLst>
          </p:cNvPr>
          <p:cNvSpPr txBox="1"/>
          <p:nvPr/>
        </p:nvSpPr>
        <p:spPr>
          <a:xfrm>
            <a:off x="1010826" y="1375267"/>
            <a:ext cx="9609082" cy="1477328"/>
          </a:xfrm>
          <a:prstGeom prst="rect">
            <a:avLst/>
          </a:prstGeom>
          <a:noFill/>
        </p:spPr>
        <p:txBody>
          <a:bodyPr wrap="square">
            <a:spAutoFit/>
          </a:bodyPr>
          <a:lstStyle/>
          <a:p>
            <a:pPr algn="just"/>
            <a:r>
              <a:rPr lang="es-ES" b="0" i="0" dirty="0">
                <a:effectLst/>
                <a:latin typeface="-apple-system"/>
              </a:rPr>
              <a:t>La Flotación Libre es la cantidad de tiempo que puede retrasarse una actividad sin retrasar</a:t>
            </a:r>
          </a:p>
          <a:p>
            <a:pPr algn="just"/>
            <a:r>
              <a:rPr lang="es-ES" b="0" i="0" dirty="0">
                <a:effectLst/>
                <a:latin typeface="-apple-system"/>
              </a:rPr>
              <a:t>a otra actividad.</a:t>
            </a:r>
          </a:p>
          <a:p>
            <a:pPr algn="just"/>
            <a:r>
              <a:rPr lang="es-ES" b="0" i="0" dirty="0">
                <a:effectLst/>
                <a:latin typeface="-apple-system"/>
              </a:rPr>
              <a:t>• Sólo se muestra en una columna y Nunca es negativa.</a:t>
            </a:r>
          </a:p>
          <a:p>
            <a:pPr algn="just"/>
            <a:br>
              <a:rPr lang="es-419" dirty="0"/>
            </a:br>
            <a:endParaRPr lang="pt-BR" sz="1800" b="0" i="0" u="none" strike="noStrike" baseline="0" dirty="0">
              <a:solidFill>
                <a:srgbClr val="000000"/>
              </a:solidFill>
            </a:endParaRPr>
          </a:p>
        </p:txBody>
      </p:sp>
      <p:sp>
        <p:nvSpPr>
          <p:cNvPr id="2" name="CuadroTexto 1">
            <a:extLst>
              <a:ext uri="{FF2B5EF4-FFF2-40B4-BE49-F238E27FC236}">
                <a16:creationId xmlns:a16="http://schemas.microsoft.com/office/drawing/2014/main" id="{0F159088-BF2F-DCFC-A636-817095548787}"/>
              </a:ext>
            </a:extLst>
          </p:cNvPr>
          <p:cNvSpPr txBox="1"/>
          <p:nvPr/>
        </p:nvSpPr>
        <p:spPr>
          <a:xfrm>
            <a:off x="1010826" y="519108"/>
            <a:ext cx="6097314" cy="523220"/>
          </a:xfrm>
          <a:prstGeom prst="rect">
            <a:avLst/>
          </a:prstGeom>
          <a:noFill/>
        </p:spPr>
        <p:txBody>
          <a:bodyPr wrap="square">
            <a:spAutoFit/>
          </a:bodyPr>
          <a:lstStyle/>
          <a:p>
            <a:r>
              <a:rPr lang="en-US" sz="2800" dirty="0" err="1"/>
              <a:t>Holgura</a:t>
            </a:r>
            <a:r>
              <a:rPr lang="en-US" sz="2800" dirty="0"/>
              <a:t> Libre (Free float)</a:t>
            </a:r>
          </a:p>
        </p:txBody>
      </p:sp>
      <p:pic>
        <p:nvPicPr>
          <p:cNvPr id="5" name="Imagen 4">
            <a:extLst>
              <a:ext uri="{FF2B5EF4-FFF2-40B4-BE49-F238E27FC236}">
                <a16:creationId xmlns:a16="http://schemas.microsoft.com/office/drawing/2014/main" id="{D3E30F2E-7083-35AF-C9C3-198B65D03C8A}"/>
              </a:ext>
            </a:extLst>
          </p:cNvPr>
          <p:cNvPicPr>
            <a:picLocks noChangeAspect="1"/>
          </p:cNvPicPr>
          <p:nvPr/>
        </p:nvPicPr>
        <p:blipFill rotWithShape="1">
          <a:blip r:embed="rId2"/>
          <a:srcRect l="1839" t="13218" r="44092" b="69770"/>
          <a:stretch/>
        </p:blipFill>
        <p:spPr>
          <a:xfrm>
            <a:off x="2183079" y="2852595"/>
            <a:ext cx="7825841" cy="1477328"/>
          </a:xfrm>
          <a:prstGeom prst="rect">
            <a:avLst/>
          </a:prstGeom>
        </p:spPr>
      </p:pic>
    </p:spTree>
    <p:extLst>
      <p:ext uri="{BB962C8B-B14F-4D97-AF65-F5344CB8AC3E}">
        <p14:creationId xmlns:p14="http://schemas.microsoft.com/office/powerpoint/2010/main" val="7458079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B15A954F-74C8-50F7-A43D-FF1AF1EB637A}"/>
              </a:ext>
            </a:extLst>
          </p:cNvPr>
          <p:cNvSpPr txBox="1"/>
          <p:nvPr/>
        </p:nvSpPr>
        <p:spPr>
          <a:xfrm>
            <a:off x="1010826" y="542356"/>
            <a:ext cx="7010400" cy="523220"/>
          </a:xfrm>
          <a:prstGeom prst="rect">
            <a:avLst/>
          </a:prstGeom>
          <a:noFill/>
        </p:spPr>
        <p:txBody>
          <a:bodyPr wrap="square">
            <a:spAutoFit/>
          </a:bodyPr>
          <a:lstStyle/>
          <a:p>
            <a:r>
              <a:rPr lang="es-419" sz="2800" dirty="0"/>
              <a:t>Quién es el dueño de la Holgura (Total </a:t>
            </a:r>
            <a:r>
              <a:rPr lang="es-419" sz="2800" dirty="0" err="1"/>
              <a:t>Float</a:t>
            </a:r>
            <a:r>
              <a:rPr lang="es-419" sz="2800" dirty="0"/>
              <a:t>)?</a:t>
            </a:r>
            <a:endParaRPr lang="en-US" sz="2800" dirty="0"/>
          </a:p>
        </p:txBody>
      </p:sp>
      <p:sp>
        <p:nvSpPr>
          <p:cNvPr id="3" name="CuadroTexto 2">
            <a:extLst>
              <a:ext uri="{FF2B5EF4-FFF2-40B4-BE49-F238E27FC236}">
                <a16:creationId xmlns:a16="http://schemas.microsoft.com/office/drawing/2014/main" id="{345FAB11-3A33-EEA6-A62C-EDB291E89F63}"/>
              </a:ext>
            </a:extLst>
          </p:cNvPr>
          <p:cNvSpPr txBox="1"/>
          <p:nvPr/>
        </p:nvSpPr>
        <p:spPr>
          <a:xfrm>
            <a:off x="1010826" y="1375267"/>
            <a:ext cx="9609082" cy="3139321"/>
          </a:xfrm>
          <a:prstGeom prst="rect">
            <a:avLst/>
          </a:prstGeom>
          <a:noFill/>
        </p:spPr>
        <p:txBody>
          <a:bodyPr wrap="square">
            <a:spAutoFit/>
          </a:bodyPr>
          <a:lstStyle>
            <a:defPPr>
              <a:defRPr lang="es-PE"/>
            </a:defPPr>
            <a:lvl1pPr algn="just">
              <a:defRPr b="0" i="0">
                <a:effectLst/>
                <a:latin typeface="-apple-system"/>
              </a:defRPr>
            </a:lvl1pPr>
          </a:lstStyle>
          <a:p>
            <a:r>
              <a:rPr lang="es-ES" dirty="0"/>
              <a:t>Cuando se construye un cronograma, donde el inicio de cada actividad depende de la relación de precedencia (FS, SS, FF) con una o más actividades predecesoras. En este contexto, se define el valor de la holgura total (total </a:t>
            </a:r>
            <a:r>
              <a:rPr lang="es-ES" dirty="0" err="1"/>
              <a:t>float</a:t>
            </a:r>
            <a:r>
              <a:rPr lang="es-ES" dirty="0"/>
              <a:t>) como el tiempo o duración que una actividad puede retrasarse sin afectar la fecha fin del proyecto. En otras palabras, la holgura es la diferencia entre la fecha más tardía que una actividad debe completarse para no retrasar el proyecto y la fecha más temprana posible que esta actividad tiene permitido iniciar. Se debe entender que el valor de la holgura no le pertenece específicamente a una actividad, sino que el valor de la holgura es compartida por la cadena de actividades que conforman dicha ruta hasta el fin del proyecto. Es decir, si tres actividades conforman una ruta y las tres poseen un valor de holgura igual a 10 días, esto no significa que cada una se pueda retrasar 10 días independientemente, sino que en el momento que cualquiera de ellas se atrase 1 día o más, irá consumiendo el valor de holgura de toda la cadena.</a:t>
            </a:r>
          </a:p>
        </p:txBody>
      </p:sp>
    </p:spTree>
    <p:extLst>
      <p:ext uri="{BB962C8B-B14F-4D97-AF65-F5344CB8AC3E}">
        <p14:creationId xmlns:p14="http://schemas.microsoft.com/office/powerpoint/2010/main" val="2067003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B15A954F-74C8-50F7-A43D-FF1AF1EB637A}"/>
              </a:ext>
            </a:extLst>
          </p:cNvPr>
          <p:cNvSpPr txBox="1"/>
          <p:nvPr/>
        </p:nvSpPr>
        <p:spPr>
          <a:xfrm>
            <a:off x="1010826" y="542356"/>
            <a:ext cx="7010400" cy="523220"/>
          </a:xfrm>
          <a:prstGeom prst="rect">
            <a:avLst/>
          </a:prstGeom>
          <a:noFill/>
        </p:spPr>
        <p:txBody>
          <a:bodyPr wrap="square">
            <a:spAutoFit/>
          </a:bodyPr>
          <a:lstStyle/>
          <a:p>
            <a:r>
              <a:rPr lang="es-419" sz="2800" dirty="0"/>
              <a:t>Quién es el dueño de la Holgura (Total </a:t>
            </a:r>
            <a:r>
              <a:rPr lang="es-419" sz="2800" dirty="0" err="1"/>
              <a:t>Float</a:t>
            </a:r>
            <a:r>
              <a:rPr lang="es-419" sz="2800" dirty="0"/>
              <a:t>)?</a:t>
            </a:r>
            <a:endParaRPr lang="en-US" sz="2800" dirty="0"/>
          </a:p>
        </p:txBody>
      </p:sp>
      <p:pic>
        <p:nvPicPr>
          <p:cNvPr id="1026" name="Picture 2">
            <a:extLst>
              <a:ext uri="{FF2B5EF4-FFF2-40B4-BE49-F238E27FC236}">
                <a16:creationId xmlns:a16="http://schemas.microsoft.com/office/drawing/2014/main" id="{A6846B98-F6AC-393E-9616-AE70A815896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65542" y="1424232"/>
            <a:ext cx="4260915" cy="42609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092726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B15A954F-74C8-50F7-A43D-FF1AF1EB637A}"/>
              </a:ext>
            </a:extLst>
          </p:cNvPr>
          <p:cNvSpPr txBox="1"/>
          <p:nvPr/>
        </p:nvSpPr>
        <p:spPr>
          <a:xfrm>
            <a:off x="1010826" y="542356"/>
            <a:ext cx="7010400" cy="523220"/>
          </a:xfrm>
          <a:prstGeom prst="rect">
            <a:avLst/>
          </a:prstGeom>
          <a:noFill/>
        </p:spPr>
        <p:txBody>
          <a:bodyPr wrap="square">
            <a:spAutoFit/>
          </a:bodyPr>
          <a:lstStyle/>
          <a:p>
            <a:r>
              <a:rPr lang="es-ES" sz="2800" dirty="0"/>
              <a:t>Relacionamientos circulares “</a:t>
            </a:r>
            <a:r>
              <a:rPr lang="es-ES" sz="2800" dirty="0" err="1"/>
              <a:t>Loops</a:t>
            </a:r>
            <a:r>
              <a:rPr lang="es-ES" sz="2800" dirty="0"/>
              <a:t>”</a:t>
            </a:r>
          </a:p>
        </p:txBody>
      </p:sp>
      <p:sp>
        <p:nvSpPr>
          <p:cNvPr id="6" name="CuadroTexto 5">
            <a:extLst>
              <a:ext uri="{FF2B5EF4-FFF2-40B4-BE49-F238E27FC236}">
                <a16:creationId xmlns:a16="http://schemas.microsoft.com/office/drawing/2014/main" id="{B07A2877-6B84-94CA-6BB4-4B5FEE324B34}"/>
              </a:ext>
            </a:extLst>
          </p:cNvPr>
          <p:cNvSpPr txBox="1"/>
          <p:nvPr/>
        </p:nvSpPr>
        <p:spPr>
          <a:xfrm>
            <a:off x="1010826" y="1232026"/>
            <a:ext cx="9701843" cy="646331"/>
          </a:xfrm>
          <a:prstGeom prst="rect">
            <a:avLst/>
          </a:prstGeom>
          <a:noFill/>
        </p:spPr>
        <p:txBody>
          <a:bodyPr wrap="square">
            <a:spAutoFit/>
          </a:bodyPr>
          <a:lstStyle/>
          <a:p>
            <a:r>
              <a:rPr lang="es-ES" dirty="0"/>
              <a:t>Primavera identifica cuanto existe un “</a:t>
            </a:r>
            <a:r>
              <a:rPr lang="es-ES" dirty="0" err="1"/>
              <a:t>loop</a:t>
            </a:r>
            <a:r>
              <a:rPr lang="es-ES" dirty="0"/>
              <a:t>” en el cálculo de un proyecto, indica que existe lógica</a:t>
            </a:r>
          </a:p>
          <a:p>
            <a:r>
              <a:rPr lang="es-ES" dirty="0"/>
              <a:t>circular entre dos actividades y no ejecuta el cálculo hasta que el “</a:t>
            </a:r>
            <a:r>
              <a:rPr lang="es-ES" dirty="0" err="1"/>
              <a:t>loop</a:t>
            </a:r>
            <a:r>
              <a:rPr lang="es-ES" dirty="0"/>
              <a:t>” sea eliminado.</a:t>
            </a:r>
            <a:endParaRPr lang="pt-BR" dirty="0"/>
          </a:p>
        </p:txBody>
      </p:sp>
      <p:pic>
        <p:nvPicPr>
          <p:cNvPr id="8" name="Imagen 7">
            <a:extLst>
              <a:ext uri="{FF2B5EF4-FFF2-40B4-BE49-F238E27FC236}">
                <a16:creationId xmlns:a16="http://schemas.microsoft.com/office/drawing/2014/main" id="{CE794E48-8533-DF28-E08E-7197501B3571}"/>
              </a:ext>
            </a:extLst>
          </p:cNvPr>
          <p:cNvPicPr>
            <a:picLocks noChangeAspect="1"/>
          </p:cNvPicPr>
          <p:nvPr/>
        </p:nvPicPr>
        <p:blipFill>
          <a:blip r:embed="rId2"/>
          <a:stretch>
            <a:fillRect/>
          </a:stretch>
        </p:blipFill>
        <p:spPr>
          <a:xfrm>
            <a:off x="2886460" y="2396952"/>
            <a:ext cx="6419079" cy="1465006"/>
          </a:xfrm>
          <a:prstGeom prst="rect">
            <a:avLst/>
          </a:prstGeom>
        </p:spPr>
      </p:pic>
    </p:spTree>
    <p:extLst>
      <p:ext uri="{BB962C8B-B14F-4D97-AF65-F5344CB8AC3E}">
        <p14:creationId xmlns:p14="http://schemas.microsoft.com/office/powerpoint/2010/main" val="25743666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E7A9FC73-8990-8DFA-454E-E3B4594BA335}"/>
              </a:ext>
            </a:extLst>
          </p:cNvPr>
          <p:cNvSpPr txBox="1"/>
          <p:nvPr/>
        </p:nvSpPr>
        <p:spPr>
          <a:xfrm>
            <a:off x="1010826" y="542356"/>
            <a:ext cx="8590374" cy="523220"/>
          </a:xfrm>
          <a:prstGeom prst="rect">
            <a:avLst/>
          </a:prstGeom>
          <a:noFill/>
        </p:spPr>
        <p:txBody>
          <a:bodyPr wrap="square">
            <a:spAutoFit/>
          </a:bodyPr>
          <a:lstStyle/>
          <a:p>
            <a:r>
              <a:rPr lang="es-ES" sz="2800" dirty="0"/>
              <a:t>Método de la Ruta Crítica (CPM: </a:t>
            </a:r>
            <a:r>
              <a:rPr lang="es-ES" sz="2800" dirty="0" err="1"/>
              <a:t>Critical</a:t>
            </a:r>
            <a:r>
              <a:rPr lang="es-ES" sz="2800" dirty="0"/>
              <a:t> </a:t>
            </a:r>
            <a:r>
              <a:rPr lang="es-ES" sz="2800" dirty="0" err="1"/>
              <a:t>Path</a:t>
            </a:r>
            <a:r>
              <a:rPr lang="es-ES" sz="2800" dirty="0"/>
              <a:t> </a:t>
            </a:r>
            <a:r>
              <a:rPr lang="es-ES" sz="2800" dirty="0" err="1"/>
              <a:t>Method</a:t>
            </a:r>
            <a:r>
              <a:rPr lang="es-ES" sz="2800" dirty="0"/>
              <a:t>)</a:t>
            </a:r>
          </a:p>
        </p:txBody>
      </p:sp>
      <p:sp>
        <p:nvSpPr>
          <p:cNvPr id="9" name="CuadroTexto 8">
            <a:extLst>
              <a:ext uri="{FF2B5EF4-FFF2-40B4-BE49-F238E27FC236}">
                <a16:creationId xmlns:a16="http://schemas.microsoft.com/office/drawing/2014/main" id="{62626AC6-CA04-E011-E0CE-66AF88DC6421}"/>
              </a:ext>
            </a:extLst>
          </p:cNvPr>
          <p:cNvSpPr txBox="1"/>
          <p:nvPr/>
        </p:nvSpPr>
        <p:spPr>
          <a:xfrm>
            <a:off x="1010826" y="1720840"/>
            <a:ext cx="9654546" cy="2308324"/>
          </a:xfrm>
          <a:prstGeom prst="rect">
            <a:avLst/>
          </a:prstGeom>
          <a:noFill/>
        </p:spPr>
        <p:txBody>
          <a:bodyPr wrap="square">
            <a:spAutoFit/>
          </a:bodyPr>
          <a:lstStyle>
            <a:defPPr>
              <a:defRPr lang="es-PE"/>
            </a:defPPr>
          </a:lstStyle>
          <a:p>
            <a:pPr algn="just"/>
            <a:r>
              <a:rPr lang="es-ES" dirty="0"/>
              <a:t>Primavera emplea la técnica de programación del método de la ruta crítica para calcular las fechas tempranas y tardías de las actividades del proyecto. </a:t>
            </a:r>
          </a:p>
          <a:p>
            <a:pPr algn="just"/>
            <a:r>
              <a:rPr lang="es-ES" dirty="0"/>
              <a:t>CPM usa la duración de las actividades, las relaciones y una fecha de inicio del proyecto para calcular las fechas de programación. Este cálculo requiere de dos cálculos sobre las actividades dentro de un proyecto, el cálculo progresivo y el cálculo regresivo </a:t>
            </a:r>
          </a:p>
          <a:p>
            <a:pPr algn="just"/>
            <a:r>
              <a:rPr lang="es-ES" dirty="0"/>
              <a:t>♦ Fechas tempranas son aquellas en las cuales se puede ejecutar la actividad lo más temprano posible </a:t>
            </a:r>
          </a:p>
          <a:p>
            <a:pPr algn="just"/>
            <a:r>
              <a:rPr lang="es-ES" dirty="0"/>
              <a:t>♦ Fechas tardías son aquellas en las cuales se puede ejecutar la actividad lo más tarde posible </a:t>
            </a:r>
          </a:p>
        </p:txBody>
      </p:sp>
    </p:spTree>
    <p:extLst>
      <p:ext uri="{BB962C8B-B14F-4D97-AF65-F5344CB8AC3E}">
        <p14:creationId xmlns:p14="http://schemas.microsoft.com/office/powerpoint/2010/main" val="23051264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E7A9FC73-8990-8DFA-454E-E3B4594BA335}"/>
              </a:ext>
            </a:extLst>
          </p:cNvPr>
          <p:cNvSpPr txBox="1"/>
          <p:nvPr/>
        </p:nvSpPr>
        <p:spPr>
          <a:xfrm>
            <a:off x="1010826" y="542356"/>
            <a:ext cx="8590374" cy="523220"/>
          </a:xfrm>
          <a:prstGeom prst="rect">
            <a:avLst/>
          </a:prstGeom>
          <a:noFill/>
        </p:spPr>
        <p:txBody>
          <a:bodyPr wrap="square">
            <a:spAutoFit/>
          </a:bodyPr>
          <a:lstStyle/>
          <a:p>
            <a:r>
              <a:rPr lang="es-ES" sz="2800" dirty="0"/>
              <a:t>Método de la Ruta Crítica (CPM: </a:t>
            </a:r>
            <a:r>
              <a:rPr lang="es-ES" sz="2800" dirty="0" err="1"/>
              <a:t>Critical</a:t>
            </a:r>
            <a:r>
              <a:rPr lang="es-ES" sz="2800" dirty="0"/>
              <a:t> </a:t>
            </a:r>
            <a:r>
              <a:rPr lang="es-ES" sz="2800" dirty="0" err="1"/>
              <a:t>Path</a:t>
            </a:r>
            <a:r>
              <a:rPr lang="es-ES" sz="2800" dirty="0"/>
              <a:t> </a:t>
            </a:r>
            <a:r>
              <a:rPr lang="es-ES" sz="2800" dirty="0" err="1"/>
              <a:t>Method</a:t>
            </a:r>
            <a:r>
              <a:rPr lang="es-ES" sz="2800" dirty="0"/>
              <a:t>)</a:t>
            </a:r>
          </a:p>
        </p:txBody>
      </p:sp>
      <p:sp>
        <p:nvSpPr>
          <p:cNvPr id="9" name="CuadroTexto 8">
            <a:extLst>
              <a:ext uri="{FF2B5EF4-FFF2-40B4-BE49-F238E27FC236}">
                <a16:creationId xmlns:a16="http://schemas.microsoft.com/office/drawing/2014/main" id="{62626AC6-CA04-E011-E0CE-66AF88DC6421}"/>
              </a:ext>
            </a:extLst>
          </p:cNvPr>
          <p:cNvSpPr txBox="1"/>
          <p:nvPr/>
        </p:nvSpPr>
        <p:spPr>
          <a:xfrm>
            <a:off x="1010826" y="1720840"/>
            <a:ext cx="9654546" cy="1754326"/>
          </a:xfrm>
          <a:prstGeom prst="rect">
            <a:avLst/>
          </a:prstGeom>
          <a:noFill/>
        </p:spPr>
        <p:txBody>
          <a:bodyPr wrap="square">
            <a:spAutoFit/>
          </a:bodyPr>
          <a:lstStyle>
            <a:defPPr>
              <a:defRPr lang="es-PE"/>
            </a:defPPr>
          </a:lstStyle>
          <a:p>
            <a:pPr algn="just"/>
            <a:r>
              <a:rPr lang="es-ES" dirty="0"/>
              <a:t>Ruta Crítica</a:t>
            </a:r>
          </a:p>
          <a:p>
            <a:pPr algn="just"/>
            <a:r>
              <a:rPr lang="es-ES" dirty="0"/>
              <a:t>La ruta crítica es el camino continuo más largo de las actividades a través del proyecto, el cual determina la fecha más temprana de término del proyecto.</a:t>
            </a:r>
          </a:p>
          <a:p>
            <a:pPr algn="just"/>
            <a:endParaRPr lang="es-ES" dirty="0"/>
          </a:p>
          <a:p>
            <a:pPr algn="just"/>
            <a:r>
              <a:rPr lang="es-ES" dirty="0"/>
              <a:t>♦ Un retraso en una actividad, retrasa a las demás y al proyecto entero.</a:t>
            </a:r>
          </a:p>
          <a:p>
            <a:pPr algn="just"/>
            <a:r>
              <a:rPr lang="es-ES" dirty="0"/>
              <a:t>♦ Por defecto, las actividades críticas se despliegan en rojo.</a:t>
            </a:r>
          </a:p>
        </p:txBody>
      </p:sp>
    </p:spTree>
    <p:extLst>
      <p:ext uri="{BB962C8B-B14F-4D97-AF65-F5344CB8AC3E}">
        <p14:creationId xmlns:p14="http://schemas.microsoft.com/office/powerpoint/2010/main" val="38252159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E7A9FC73-8990-8DFA-454E-E3B4594BA335}"/>
              </a:ext>
            </a:extLst>
          </p:cNvPr>
          <p:cNvSpPr txBox="1"/>
          <p:nvPr/>
        </p:nvSpPr>
        <p:spPr>
          <a:xfrm>
            <a:off x="1010826" y="542356"/>
            <a:ext cx="8590374" cy="523220"/>
          </a:xfrm>
          <a:prstGeom prst="rect">
            <a:avLst/>
          </a:prstGeom>
          <a:noFill/>
        </p:spPr>
        <p:txBody>
          <a:bodyPr wrap="square">
            <a:spAutoFit/>
          </a:bodyPr>
          <a:lstStyle/>
          <a:p>
            <a:r>
              <a:rPr lang="es-ES" sz="2800" dirty="0"/>
              <a:t>Conceptos de Programación</a:t>
            </a:r>
          </a:p>
        </p:txBody>
      </p:sp>
      <p:sp>
        <p:nvSpPr>
          <p:cNvPr id="9" name="CuadroTexto 8">
            <a:extLst>
              <a:ext uri="{FF2B5EF4-FFF2-40B4-BE49-F238E27FC236}">
                <a16:creationId xmlns:a16="http://schemas.microsoft.com/office/drawing/2014/main" id="{62626AC6-CA04-E011-E0CE-66AF88DC6421}"/>
              </a:ext>
            </a:extLst>
          </p:cNvPr>
          <p:cNvSpPr txBox="1"/>
          <p:nvPr/>
        </p:nvSpPr>
        <p:spPr>
          <a:xfrm>
            <a:off x="1010826" y="1200578"/>
            <a:ext cx="9654546" cy="1477328"/>
          </a:xfrm>
          <a:prstGeom prst="rect">
            <a:avLst/>
          </a:prstGeom>
          <a:noFill/>
        </p:spPr>
        <p:txBody>
          <a:bodyPr wrap="square">
            <a:spAutoFit/>
          </a:bodyPr>
          <a:lstStyle>
            <a:defPPr>
              <a:defRPr lang="es-PE"/>
            </a:defPPr>
          </a:lstStyle>
          <a:p>
            <a:pPr algn="just"/>
            <a:r>
              <a:rPr lang="es-ES" dirty="0"/>
              <a:t>Cálculo Progresivo</a:t>
            </a:r>
          </a:p>
          <a:p>
            <a:pPr algn="just"/>
            <a:r>
              <a:rPr lang="es-ES" dirty="0"/>
              <a:t>♦ El cálculo progresivo determina las fechas tempranas de una actividad.</a:t>
            </a:r>
          </a:p>
          <a:p>
            <a:pPr algn="just"/>
            <a:r>
              <a:rPr lang="es-ES" dirty="0"/>
              <a:t>♦ Las fechas tempranas son los tiempos más tempranos en que una actividad puede comenzar y terminar, una vez que su predecesor haya terminado.</a:t>
            </a:r>
          </a:p>
          <a:p>
            <a:pPr algn="just"/>
            <a:r>
              <a:rPr lang="es-ES" dirty="0"/>
              <a:t>♦ El cálculo comienza con las actividades sin predecesor a contar del data date.</a:t>
            </a:r>
          </a:p>
        </p:txBody>
      </p:sp>
      <p:pic>
        <p:nvPicPr>
          <p:cNvPr id="3" name="Imagen 2">
            <a:extLst>
              <a:ext uri="{FF2B5EF4-FFF2-40B4-BE49-F238E27FC236}">
                <a16:creationId xmlns:a16="http://schemas.microsoft.com/office/drawing/2014/main" id="{8059C83C-7577-1E8B-7CF7-55C75CB0BA61}"/>
              </a:ext>
            </a:extLst>
          </p:cNvPr>
          <p:cNvPicPr>
            <a:picLocks noChangeAspect="1"/>
          </p:cNvPicPr>
          <p:nvPr/>
        </p:nvPicPr>
        <p:blipFill>
          <a:blip r:embed="rId2"/>
          <a:stretch>
            <a:fillRect/>
          </a:stretch>
        </p:blipFill>
        <p:spPr>
          <a:xfrm>
            <a:off x="4149862" y="2925395"/>
            <a:ext cx="3892276" cy="3328282"/>
          </a:xfrm>
          <a:prstGeom prst="rect">
            <a:avLst/>
          </a:prstGeom>
        </p:spPr>
      </p:pic>
    </p:spTree>
    <p:extLst>
      <p:ext uri="{BB962C8B-B14F-4D97-AF65-F5344CB8AC3E}">
        <p14:creationId xmlns:p14="http://schemas.microsoft.com/office/powerpoint/2010/main" val="31050227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E7A9FC73-8990-8DFA-454E-E3B4594BA335}"/>
              </a:ext>
            </a:extLst>
          </p:cNvPr>
          <p:cNvSpPr txBox="1"/>
          <p:nvPr/>
        </p:nvSpPr>
        <p:spPr>
          <a:xfrm>
            <a:off x="1010826" y="542356"/>
            <a:ext cx="8590374" cy="523220"/>
          </a:xfrm>
          <a:prstGeom prst="rect">
            <a:avLst/>
          </a:prstGeom>
          <a:noFill/>
        </p:spPr>
        <p:txBody>
          <a:bodyPr wrap="square">
            <a:spAutoFit/>
          </a:bodyPr>
          <a:lstStyle/>
          <a:p>
            <a:r>
              <a:rPr lang="es-ES" sz="2800" dirty="0"/>
              <a:t>Conceptos de Programación</a:t>
            </a:r>
          </a:p>
        </p:txBody>
      </p:sp>
      <p:sp>
        <p:nvSpPr>
          <p:cNvPr id="9" name="CuadroTexto 8">
            <a:extLst>
              <a:ext uri="{FF2B5EF4-FFF2-40B4-BE49-F238E27FC236}">
                <a16:creationId xmlns:a16="http://schemas.microsoft.com/office/drawing/2014/main" id="{62626AC6-CA04-E011-E0CE-66AF88DC6421}"/>
              </a:ext>
            </a:extLst>
          </p:cNvPr>
          <p:cNvSpPr txBox="1"/>
          <p:nvPr/>
        </p:nvSpPr>
        <p:spPr>
          <a:xfrm>
            <a:off x="1010826" y="1200578"/>
            <a:ext cx="9654546" cy="1477328"/>
          </a:xfrm>
          <a:prstGeom prst="rect">
            <a:avLst/>
          </a:prstGeom>
          <a:noFill/>
        </p:spPr>
        <p:txBody>
          <a:bodyPr wrap="square">
            <a:spAutoFit/>
          </a:bodyPr>
          <a:lstStyle>
            <a:defPPr>
              <a:defRPr lang="es-PE"/>
            </a:defPPr>
          </a:lstStyle>
          <a:p>
            <a:pPr algn="just"/>
            <a:r>
              <a:rPr lang="es-ES" dirty="0"/>
              <a:t>Cálculo Regresivo</a:t>
            </a:r>
          </a:p>
          <a:p>
            <a:pPr algn="just"/>
            <a:r>
              <a:rPr lang="es-ES" dirty="0"/>
              <a:t>♦ El cálculo regresivo determina las fechas tardías de una actividad.</a:t>
            </a:r>
          </a:p>
          <a:p>
            <a:pPr algn="just"/>
            <a:r>
              <a:rPr lang="es-ES" dirty="0"/>
              <a:t>♦ Las fechas tardías son los tiempos más tardíos en que una actividad puede comenzar y terminar, sin retrasar la fecha de término del proyecto.</a:t>
            </a:r>
          </a:p>
          <a:p>
            <a:pPr algn="just"/>
            <a:r>
              <a:rPr lang="es-ES" dirty="0"/>
              <a:t>♦ El cálculo comienza con las actividades sin sucesor.</a:t>
            </a:r>
          </a:p>
        </p:txBody>
      </p:sp>
      <p:pic>
        <p:nvPicPr>
          <p:cNvPr id="5" name="Imagen 4">
            <a:extLst>
              <a:ext uri="{FF2B5EF4-FFF2-40B4-BE49-F238E27FC236}">
                <a16:creationId xmlns:a16="http://schemas.microsoft.com/office/drawing/2014/main" id="{9981E670-66F1-13F8-0F29-507C33E5914A}"/>
              </a:ext>
            </a:extLst>
          </p:cNvPr>
          <p:cNvPicPr>
            <a:picLocks noChangeAspect="1"/>
          </p:cNvPicPr>
          <p:nvPr/>
        </p:nvPicPr>
        <p:blipFill>
          <a:blip r:embed="rId2"/>
          <a:stretch>
            <a:fillRect/>
          </a:stretch>
        </p:blipFill>
        <p:spPr>
          <a:xfrm>
            <a:off x="3901737" y="2677906"/>
            <a:ext cx="4388525" cy="3651715"/>
          </a:xfrm>
          <a:prstGeom prst="rect">
            <a:avLst/>
          </a:prstGeom>
        </p:spPr>
      </p:pic>
    </p:spTree>
    <p:extLst>
      <p:ext uri="{BB962C8B-B14F-4D97-AF65-F5344CB8AC3E}">
        <p14:creationId xmlns:p14="http://schemas.microsoft.com/office/powerpoint/2010/main" val="35407464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E7A9FC73-8990-8DFA-454E-E3B4594BA335}"/>
              </a:ext>
            </a:extLst>
          </p:cNvPr>
          <p:cNvSpPr txBox="1"/>
          <p:nvPr/>
        </p:nvSpPr>
        <p:spPr>
          <a:xfrm>
            <a:off x="1010826" y="542356"/>
            <a:ext cx="8590374" cy="523220"/>
          </a:xfrm>
          <a:prstGeom prst="rect">
            <a:avLst/>
          </a:prstGeom>
          <a:noFill/>
        </p:spPr>
        <p:txBody>
          <a:bodyPr wrap="square">
            <a:spAutoFit/>
          </a:bodyPr>
          <a:lstStyle/>
          <a:p>
            <a:r>
              <a:rPr lang="es-ES" sz="2800" dirty="0"/>
              <a:t>Conceptos de Programación</a:t>
            </a:r>
          </a:p>
        </p:txBody>
      </p:sp>
      <p:pic>
        <p:nvPicPr>
          <p:cNvPr id="5" name="Imagen 4">
            <a:extLst>
              <a:ext uri="{FF2B5EF4-FFF2-40B4-BE49-F238E27FC236}">
                <a16:creationId xmlns:a16="http://schemas.microsoft.com/office/drawing/2014/main" id="{8E697370-496D-CCDC-287F-27F0D3DBE978}"/>
              </a:ext>
            </a:extLst>
          </p:cNvPr>
          <p:cNvPicPr>
            <a:picLocks noChangeAspect="1"/>
          </p:cNvPicPr>
          <p:nvPr/>
        </p:nvPicPr>
        <p:blipFill>
          <a:blip r:embed="rId2"/>
          <a:stretch>
            <a:fillRect/>
          </a:stretch>
        </p:blipFill>
        <p:spPr>
          <a:xfrm>
            <a:off x="3555124" y="1338362"/>
            <a:ext cx="4223548" cy="4181275"/>
          </a:xfrm>
          <a:prstGeom prst="rect">
            <a:avLst/>
          </a:prstGeom>
        </p:spPr>
      </p:pic>
    </p:spTree>
    <p:extLst>
      <p:ext uri="{BB962C8B-B14F-4D97-AF65-F5344CB8AC3E}">
        <p14:creationId xmlns:p14="http://schemas.microsoft.com/office/powerpoint/2010/main" val="13690286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E7A9FC73-8990-8DFA-454E-E3B4594BA335}"/>
              </a:ext>
            </a:extLst>
          </p:cNvPr>
          <p:cNvSpPr txBox="1"/>
          <p:nvPr/>
        </p:nvSpPr>
        <p:spPr>
          <a:xfrm>
            <a:off x="1010826" y="542356"/>
            <a:ext cx="8590374" cy="523220"/>
          </a:xfrm>
          <a:prstGeom prst="rect">
            <a:avLst/>
          </a:prstGeom>
          <a:noFill/>
        </p:spPr>
        <p:txBody>
          <a:bodyPr wrap="square">
            <a:spAutoFit/>
          </a:bodyPr>
          <a:lstStyle/>
          <a:p>
            <a:r>
              <a:rPr lang="es-ES" sz="2800" dirty="0"/>
              <a:t>Conceptos de Programación</a:t>
            </a:r>
          </a:p>
        </p:txBody>
      </p:sp>
      <p:pic>
        <p:nvPicPr>
          <p:cNvPr id="5" name="Imagen 4">
            <a:extLst>
              <a:ext uri="{FF2B5EF4-FFF2-40B4-BE49-F238E27FC236}">
                <a16:creationId xmlns:a16="http://schemas.microsoft.com/office/drawing/2014/main" id="{A767742E-4393-8BE3-481E-4C98459D2E92}"/>
              </a:ext>
            </a:extLst>
          </p:cNvPr>
          <p:cNvPicPr>
            <a:picLocks noChangeAspect="1"/>
          </p:cNvPicPr>
          <p:nvPr/>
        </p:nvPicPr>
        <p:blipFill>
          <a:blip r:embed="rId2"/>
          <a:stretch>
            <a:fillRect/>
          </a:stretch>
        </p:blipFill>
        <p:spPr>
          <a:xfrm>
            <a:off x="2853952" y="1065576"/>
            <a:ext cx="6484096" cy="5367259"/>
          </a:xfrm>
          <a:prstGeom prst="rect">
            <a:avLst/>
          </a:prstGeom>
        </p:spPr>
      </p:pic>
    </p:spTree>
    <p:extLst>
      <p:ext uri="{BB962C8B-B14F-4D97-AF65-F5344CB8AC3E}">
        <p14:creationId xmlns:p14="http://schemas.microsoft.com/office/powerpoint/2010/main" val="41104985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E7A9FC73-8990-8DFA-454E-E3B4594BA335}"/>
              </a:ext>
            </a:extLst>
          </p:cNvPr>
          <p:cNvSpPr txBox="1"/>
          <p:nvPr/>
        </p:nvSpPr>
        <p:spPr>
          <a:xfrm>
            <a:off x="1010826" y="542356"/>
            <a:ext cx="8590374" cy="523220"/>
          </a:xfrm>
          <a:prstGeom prst="rect">
            <a:avLst/>
          </a:prstGeom>
          <a:noFill/>
        </p:spPr>
        <p:txBody>
          <a:bodyPr wrap="square">
            <a:spAutoFit/>
          </a:bodyPr>
          <a:lstStyle/>
          <a:p>
            <a:r>
              <a:rPr lang="es-ES" sz="2800" dirty="0"/>
              <a:t>Calculando el Proyecto con Primavera</a:t>
            </a:r>
          </a:p>
        </p:txBody>
      </p:sp>
      <p:sp>
        <p:nvSpPr>
          <p:cNvPr id="3" name="CuadroTexto 2">
            <a:extLst>
              <a:ext uri="{FF2B5EF4-FFF2-40B4-BE49-F238E27FC236}">
                <a16:creationId xmlns:a16="http://schemas.microsoft.com/office/drawing/2014/main" id="{3D44AC1E-FC6D-02FC-FC51-723BDE345E31}"/>
              </a:ext>
            </a:extLst>
          </p:cNvPr>
          <p:cNvSpPr txBox="1"/>
          <p:nvPr/>
        </p:nvSpPr>
        <p:spPr>
          <a:xfrm>
            <a:off x="1010826" y="1146418"/>
            <a:ext cx="9757022" cy="646331"/>
          </a:xfrm>
          <a:prstGeom prst="rect">
            <a:avLst/>
          </a:prstGeom>
          <a:noFill/>
        </p:spPr>
        <p:txBody>
          <a:bodyPr wrap="square">
            <a:spAutoFit/>
          </a:bodyPr>
          <a:lstStyle/>
          <a:p>
            <a:r>
              <a:rPr lang="es-ES" sz="1800" b="0" i="0" u="none" strike="noStrike" baseline="0" dirty="0">
                <a:solidFill>
                  <a:srgbClr val="000000"/>
                </a:solidFill>
                <a:latin typeface="Times New Roman" panose="02020603050405020304" pitchFamily="18" charset="0"/>
              </a:rPr>
              <a:t>La función Schedule aplicará el Método de la Ruta Crítica a las actividades, considerando sus relaciones y duraciones a contar del data date, fecha que es igual a la fecha de inicio del proyecto </a:t>
            </a:r>
            <a:endParaRPr lang="pt-BR" dirty="0"/>
          </a:p>
        </p:txBody>
      </p:sp>
      <p:pic>
        <p:nvPicPr>
          <p:cNvPr id="7" name="Imagen 6">
            <a:extLst>
              <a:ext uri="{FF2B5EF4-FFF2-40B4-BE49-F238E27FC236}">
                <a16:creationId xmlns:a16="http://schemas.microsoft.com/office/drawing/2014/main" id="{55E82438-5BF8-E154-F9C5-F98639F50842}"/>
              </a:ext>
            </a:extLst>
          </p:cNvPr>
          <p:cNvPicPr>
            <a:picLocks noChangeAspect="1"/>
          </p:cNvPicPr>
          <p:nvPr/>
        </p:nvPicPr>
        <p:blipFill>
          <a:blip r:embed="rId2"/>
          <a:stretch>
            <a:fillRect/>
          </a:stretch>
        </p:blipFill>
        <p:spPr>
          <a:xfrm>
            <a:off x="3548062" y="2000250"/>
            <a:ext cx="5095875" cy="2857500"/>
          </a:xfrm>
          <a:prstGeom prst="rect">
            <a:avLst/>
          </a:prstGeom>
        </p:spPr>
      </p:pic>
    </p:spTree>
    <p:extLst>
      <p:ext uri="{BB962C8B-B14F-4D97-AF65-F5344CB8AC3E}">
        <p14:creationId xmlns:p14="http://schemas.microsoft.com/office/powerpoint/2010/main" val="33801759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B15A954F-74C8-50F7-A43D-FF1AF1EB637A}"/>
              </a:ext>
            </a:extLst>
          </p:cNvPr>
          <p:cNvSpPr txBox="1"/>
          <p:nvPr/>
        </p:nvSpPr>
        <p:spPr>
          <a:xfrm>
            <a:off x="1010826" y="519108"/>
            <a:ext cx="6097314" cy="523220"/>
          </a:xfrm>
          <a:prstGeom prst="rect">
            <a:avLst/>
          </a:prstGeom>
          <a:noFill/>
        </p:spPr>
        <p:txBody>
          <a:bodyPr wrap="square">
            <a:spAutoFit/>
          </a:bodyPr>
          <a:lstStyle/>
          <a:p>
            <a:r>
              <a:rPr lang="en-US" sz="2800" dirty="0"/>
              <a:t>Linea Base</a:t>
            </a:r>
          </a:p>
        </p:txBody>
      </p:sp>
      <p:sp>
        <p:nvSpPr>
          <p:cNvPr id="12" name="CuadroTexto 11">
            <a:extLst>
              <a:ext uri="{FF2B5EF4-FFF2-40B4-BE49-F238E27FC236}">
                <a16:creationId xmlns:a16="http://schemas.microsoft.com/office/drawing/2014/main" id="{BFFD35CB-3A7D-D572-49E9-60208330EB55}"/>
              </a:ext>
            </a:extLst>
          </p:cNvPr>
          <p:cNvSpPr txBox="1"/>
          <p:nvPr/>
        </p:nvSpPr>
        <p:spPr>
          <a:xfrm>
            <a:off x="1010826" y="1237899"/>
            <a:ext cx="9528422" cy="2308324"/>
          </a:xfrm>
          <a:prstGeom prst="rect">
            <a:avLst/>
          </a:prstGeom>
          <a:noFill/>
        </p:spPr>
        <p:txBody>
          <a:bodyPr wrap="square">
            <a:spAutoFit/>
          </a:bodyPr>
          <a:lstStyle/>
          <a:p>
            <a:pPr algn="just"/>
            <a:r>
              <a:rPr lang="es-419" dirty="0"/>
              <a:t>La Línea Base del Proyecto o Project </a:t>
            </a:r>
            <a:r>
              <a:rPr lang="es-419" dirty="0" err="1"/>
              <a:t>Baseline</a:t>
            </a:r>
            <a:r>
              <a:rPr lang="es-419" dirty="0"/>
              <a:t> es el primer cronograma que engloba el alcance del proyecto. Es la foto inicial de nuestro proyecto, previa al comienzo de los trabajos. Este alcance representa todos los paquetes de trabajo y actividades que se reflejan en el contrato del proyecto.</a:t>
            </a:r>
          </a:p>
          <a:p>
            <a:pPr algn="just"/>
            <a:endParaRPr lang="es-419" dirty="0"/>
          </a:p>
          <a:p>
            <a:pPr algn="just"/>
            <a:r>
              <a:rPr lang="es-419" dirty="0"/>
              <a:t>Éste presentará una serie de entregables, hitos contractuales, hitos de pago y actividades referentes a la gerencia de proyectos, entre otros. La Línea Base se crea con los inputs que dispongamos en un momento determinado del tiempo. Siempre previo al comienzo de los trabajos a realizar durante la vida del proyecto.</a:t>
            </a:r>
            <a:endParaRPr lang="pt-BR" dirty="0"/>
          </a:p>
        </p:txBody>
      </p:sp>
    </p:spTree>
    <p:extLst>
      <p:ext uri="{BB962C8B-B14F-4D97-AF65-F5344CB8AC3E}">
        <p14:creationId xmlns:p14="http://schemas.microsoft.com/office/powerpoint/2010/main" val="24028822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B15A954F-74C8-50F7-A43D-FF1AF1EB637A}"/>
              </a:ext>
            </a:extLst>
          </p:cNvPr>
          <p:cNvSpPr txBox="1"/>
          <p:nvPr/>
        </p:nvSpPr>
        <p:spPr>
          <a:xfrm>
            <a:off x="1010826" y="519108"/>
            <a:ext cx="6097314" cy="523220"/>
          </a:xfrm>
          <a:prstGeom prst="rect">
            <a:avLst/>
          </a:prstGeom>
          <a:noFill/>
        </p:spPr>
        <p:txBody>
          <a:bodyPr wrap="square">
            <a:spAutoFit/>
          </a:bodyPr>
          <a:lstStyle/>
          <a:p>
            <a:r>
              <a:rPr lang="en-US" sz="2800" dirty="0"/>
              <a:t>Linea Base</a:t>
            </a:r>
          </a:p>
        </p:txBody>
      </p:sp>
      <p:sp>
        <p:nvSpPr>
          <p:cNvPr id="12" name="CuadroTexto 11">
            <a:extLst>
              <a:ext uri="{FF2B5EF4-FFF2-40B4-BE49-F238E27FC236}">
                <a16:creationId xmlns:a16="http://schemas.microsoft.com/office/drawing/2014/main" id="{BFFD35CB-3A7D-D572-49E9-60208330EB55}"/>
              </a:ext>
            </a:extLst>
          </p:cNvPr>
          <p:cNvSpPr txBox="1"/>
          <p:nvPr/>
        </p:nvSpPr>
        <p:spPr>
          <a:xfrm>
            <a:off x="1010826" y="1237899"/>
            <a:ext cx="9528422" cy="2585323"/>
          </a:xfrm>
          <a:prstGeom prst="rect">
            <a:avLst/>
          </a:prstGeom>
          <a:noFill/>
        </p:spPr>
        <p:txBody>
          <a:bodyPr wrap="square">
            <a:spAutoFit/>
          </a:bodyPr>
          <a:lstStyle/>
          <a:p>
            <a:pPr algn="just"/>
            <a:r>
              <a:rPr lang="es-419" dirty="0"/>
              <a:t>La Línea Base del Proyecto será el cronograma de partida. Contra él compararemos el avance de nuestro proyecto de manera regular. Es por ello que la creación de la Línea Base sea tan importante, ya que será clave a la hora de controlar y monitorear nuestro proyecto.</a:t>
            </a:r>
          </a:p>
          <a:p>
            <a:pPr algn="just"/>
            <a:endParaRPr lang="es-419" dirty="0"/>
          </a:p>
          <a:p>
            <a:pPr algn="just"/>
            <a:r>
              <a:rPr lang="es-419" dirty="0"/>
              <a:t>Durante la ejecución del proyecto, debido a diferentes cambios que exija el proyecto a través de su propia naturaleza o desde el lado del cliente, puede llegar a aprobarse una nueva Línea Base con nuevas fechas contractuales. Una vez que el cliente apruebe esta nueva Línea Base, ésta pasará a ser la nueva Línea Base de Proyecto y será contra la cual compararemos el avance del proyecto.</a:t>
            </a:r>
          </a:p>
          <a:p>
            <a:pPr algn="just"/>
            <a:endParaRPr lang="es-419" dirty="0"/>
          </a:p>
        </p:txBody>
      </p:sp>
    </p:spTree>
    <p:extLst>
      <p:ext uri="{BB962C8B-B14F-4D97-AF65-F5344CB8AC3E}">
        <p14:creationId xmlns:p14="http://schemas.microsoft.com/office/powerpoint/2010/main" val="24375921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B15A954F-74C8-50F7-A43D-FF1AF1EB637A}"/>
              </a:ext>
            </a:extLst>
          </p:cNvPr>
          <p:cNvSpPr txBox="1"/>
          <p:nvPr/>
        </p:nvSpPr>
        <p:spPr>
          <a:xfrm>
            <a:off x="1010826" y="519108"/>
            <a:ext cx="6097314" cy="523220"/>
          </a:xfrm>
          <a:prstGeom prst="rect">
            <a:avLst/>
          </a:prstGeom>
          <a:noFill/>
        </p:spPr>
        <p:txBody>
          <a:bodyPr wrap="square">
            <a:spAutoFit/>
          </a:bodyPr>
          <a:lstStyle/>
          <a:p>
            <a:r>
              <a:rPr lang="en-US" sz="2800" dirty="0" err="1"/>
              <a:t>Consideraciones</a:t>
            </a:r>
            <a:r>
              <a:rPr lang="en-US" sz="2800" dirty="0"/>
              <a:t> para </a:t>
            </a:r>
            <a:r>
              <a:rPr lang="en-US" sz="2800" dirty="0" err="1"/>
              <a:t>crear</a:t>
            </a:r>
            <a:r>
              <a:rPr lang="en-US" sz="2800" dirty="0"/>
              <a:t> Linea Base</a:t>
            </a:r>
          </a:p>
        </p:txBody>
      </p:sp>
      <p:sp>
        <p:nvSpPr>
          <p:cNvPr id="12" name="CuadroTexto 11">
            <a:extLst>
              <a:ext uri="{FF2B5EF4-FFF2-40B4-BE49-F238E27FC236}">
                <a16:creationId xmlns:a16="http://schemas.microsoft.com/office/drawing/2014/main" id="{BFFD35CB-3A7D-D572-49E9-60208330EB55}"/>
              </a:ext>
            </a:extLst>
          </p:cNvPr>
          <p:cNvSpPr txBox="1"/>
          <p:nvPr/>
        </p:nvSpPr>
        <p:spPr>
          <a:xfrm>
            <a:off x="1010826" y="1237899"/>
            <a:ext cx="9528422" cy="2862322"/>
          </a:xfrm>
          <a:prstGeom prst="rect">
            <a:avLst/>
          </a:prstGeom>
          <a:noFill/>
        </p:spPr>
        <p:txBody>
          <a:bodyPr wrap="square">
            <a:spAutoFit/>
          </a:bodyPr>
          <a:lstStyle/>
          <a:p>
            <a:pPr marL="342900" indent="-342900" algn="just">
              <a:buFont typeface="+mj-lt"/>
              <a:buAutoNum type="arabicPeriod"/>
            </a:pPr>
            <a:r>
              <a:rPr lang="es-419" dirty="0"/>
              <a:t>Definir la estructura WBS</a:t>
            </a:r>
          </a:p>
          <a:p>
            <a:pPr marL="342900" indent="-342900" algn="just">
              <a:buFont typeface="+mj-lt"/>
              <a:buAutoNum type="arabicPeriod"/>
            </a:pPr>
            <a:r>
              <a:rPr lang="es-419" dirty="0"/>
              <a:t>Identificar las actividades</a:t>
            </a:r>
          </a:p>
          <a:p>
            <a:pPr marL="342900" indent="-342900" algn="just">
              <a:buFont typeface="+mj-lt"/>
              <a:buAutoNum type="arabicPeriod"/>
            </a:pPr>
            <a:r>
              <a:rPr lang="es-419" dirty="0"/>
              <a:t>Definir los recursos a utilizar y asignarlos a cada actividad</a:t>
            </a:r>
          </a:p>
          <a:p>
            <a:pPr marL="342900" indent="-342900" algn="just">
              <a:buFont typeface="+mj-lt"/>
              <a:buAutoNum type="arabicPeriod"/>
            </a:pPr>
            <a:r>
              <a:rPr lang="es-419" dirty="0"/>
              <a:t>Calcular la duración de las actividades en función de los rendimientos de los recursos asignados</a:t>
            </a:r>
          </a:p>
          <a:p>
            <a:pPr marL="342900" indent="-342900" algn="just">
              <a:buFont typeface="+mj-lt"/>
              <a:buAutoNum type="arabicPeriod"/>
            </a:pPr>
            <a:r>
              <a:rPr lang="es-419" dirty="0"/>
              <a:t>Relacionar las actividades entre sí de una manera lógica</a:t>
            </a:r>
          </a:p>
          <a:p>
            <a:pPr marL="342900" indent="-342900" algn="just">
              <a:buFont typeface="+mj-lt"/>
              <a:buAutoNum type="arabicPeriod"/>
            </a:pPr>
            <a:r>
              <a:rPr lang="es-419" dirty="0"/>
              <a:t>Incorporar las restricciones a nuestro cronograma de proyecto, si las hubiera</a:t>
            </a:r>
          </a:p>
          <a:p>
            <a:pPr marL="342900" indent="-342900" algn="just">
              <a:buFont typeface="+mj-lt"/>
              <a:buAutoNum type="arabicPeriod"/>
            </a:pPr>
            <a:r>
              <a:rPr lang="es-419" dirty="0"/>
              <a:t>Identificar la Ruta Crítica del cronograma de un proyecto. </a:t>
            </a:r>
          </a:p>
          <a:p>
            <a:pPr marL="342900" indent="-342900" algn="just">
              <a:buFont typeface="+mj-lt"/>
              <a:buAutoNum type="arabicPeriod"/>
            </a:pPr>
            <a:r>
              <a:rPr lang="es-419" dirty="0"/>
              <a:t>También es importante comprender que en una Línea Base no habrá </a:t>
            </a:r>
            <a:r>
              <a:rPr lang="es-419" dirty="0" err="1"/>
              <a:t>ningúna</a:t>
            </a:r>
            <a:r>
              <a:rPr lang="es-419" dirty="0"/>
              <a:t> actividad en progreso o terminada. En otras palabras, todas las actividades del proyecto comenzarán desde la fecha que denominamos Data Date en adelante.</a:t>
            </a:r>
          </a:p>
        </p:txBody>
      </p:sp>
    </p:spTree>
    <p:extLst>
      <p:ext uri="{BB962C8B-B14F-4D97-AF65-F5344CB8AC3E}">
        <p14:creationId xmlns:p14="http://schemas.microsoft.com/office/powerpoint/2010/main" val="2213230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B15A954F-74C8-50F7-A43D-FF1AF1EB637A}"/>
              </a:ext>
            </a:extLst>
          </p:cNvPr>
          <p:cNvSpPr txBox="1"/>
          <p:nvPr/>
        </p:nvSpPr>
        <p:spPr>
          <a:xfrm>
            <a:off x="1010826" y="519108"/>
            <a:ext cx="6097314" cy="523220"/>
          </a:xfrm>
          <a:prstGeom prst="rect">
            <a:avLst/>
          </a:prstGeom>
          <a:noFill/>
        </p:spPr>
        <p:txBody>
          <a:bodyPr wrap="square">
            <a:spAutoFit/>
          </a:bodyPr>
          <a:lstStyle/>
          <a:p>
            <a:r>
              <a:rPr lang="en-US" sz="2800" dirty="0" err="1"/>
              <a:t>Parametros</a:t>
            </a:r>
            <a:r>
              <a:rPr lang="en-US" sz="2800" dirty="0"/>
              <a:t> de </a:t>
            </a:r>
            <a:r>
              <a:rPr lang="en-US" sz="2800" dirty="0" err="1"/>
              <a:t>calidad</a:t>
            </a:r>
            <a:r>
              <a:rPr lang="en-US" sz="2800" dirty="0"/>
              <a:t> de Cronograma</a:t>
            </a:r>
          </a:p>
        </p:txBody>
      </p:sp>
      <p:sp>
        <p:nvSpPr>
          <p:cNvPr id="3" name="TextBox 2">
            <a:extLst>
              <a:ext uri="{FF2B5EF4-FFF2-40B4-BE49-F238E27FC236}">
                <a16:creationId xmlns:a16="http://schemas.microsoft.com/office/drawing/2014/main" id="{47374CDD-ED4E-C903-C00B-149C0A7304AB}"/>
              </a:ext>
            </a:extLst>
          </p:cNvPr>
          <p:cNvSpPr txBox="1"/>
          <p:nvPr/>
        </p:nvSpPr>
        <p:spPr>
          <a:xfrm>
            <a:off x="1010826" y="1121066"/>
            <a:ext cx="9703646" cy="4524315"/>
          </a:xfrm>
          <a:prstGeom prst="rect">
            <a:avLst/>
          </a:prstGeom>
          <a:noFill/>
        </p:spPr>
        <p:txBody>
          <a:bodyPr wrap="square">
            <a:spAutoFit/>
          </a:bodyPr>
          <a:lstStyle/>
          <a:p>
            <a:pPr marL="342900" indent="-342900">
              <a:buAutoNum type="arabicPeriod"/>
            </a:pPr>
            <a:r>
              <a:rPr lang="es-419" dirty="0"/>
              <a:t>LÓGICA DE LAS TAREAS (El número total de actividades sin enlaces no debe exceder del 5%. )</a:t>
            </a:r>
          </a:p>
          <a:p>
            <a:endParaRPr lang="es-419" dirty="0"/>
          </a:p>
          <a:p>
            <a:pPr marL="342900" indent="-342900">
              <a:buFont typeface="+mj-lt"/>
              <a:buAutoNum type="arabicPeriod" startAt="2"/>
            </a:pPr>
            <a:r>
              <a:rPr lang="es-419" dirty="0" err="1"/>
              <a:t>Lags</a:t>
            </a:r>
            <a:r>
              <a:rPr lang="es-419" dirty="0"/>
              <a:t> Negativos (Leads)</a:t>
            </a:r>
          </a:p>
          <a:p>
            <a:r>
              <a:rPr lang="es-419" dirty="0"/>
              <a:t>       0% No debe planificarse tareas con Holguras negativas</a:t>
            </a:r>
          </a:p>
          <a:p>
            <a:endParaRPr lang="es-419" dirty="0"/>
          </a:p>
          <a:p>
            <a:pPr marL="342900" indent="-342900">
              <a:buFont typeface="+mj-lt"/>
              <a:buAutoNum type="arabicPeriod" startAt="3"/>
            </a:pPr>
            <a:r>
              <a:rPr lang="es-419" dirty="0" err="1"/>
              <a:t>Lags</a:t>
            </a:r>
            <a:r>
              <a:rPr lang="es-419" dirty="0"/>
              <a:t> Positivos</a:t>
            </a:r>
          </a:p>
          <a:p>
            <a:r>
              <a:rPr lang="es-419" dirty="0"/>
              <a:t>      No debe exceder el 5%.</a:t>
            </a:r>
          </a:p>
          <a:p>
            <a:endParaRPr lang="es-419" dirty="0"/>
          </a:p>
          <a:p>
            <a:pPr marL="342900" indent="-342900">
              <a:buFont typeface="+mj-lt"/>
              <a:buAutoNum type="arabicPeriod" startAt="4"/>
            </a:pPr>
            <a:r>
              <a:rPr lang="es-419" dirty="0"/>
              <a:t>Tipos de relación</a:t>
            </a:r>
          </a:p>
          <a:p>
            <a:r>
              <a:rPr lang="es-419" dirty="0"/>
              <a:t>       </a:t>
            </a:r>
            <a:r>
              <a:rPr lang="es-419" b="0" i="0" dirty="0">
                <a:effectLst/>
                <a:latin typeface="-apple-system"/>
              </a:rPr>
              <a:t>DCMA sostiene que al menos el 90% de todas las relaciones entre las tareas debe ser de FC</a:t>
            </a:r>
          </a:p>
          <a:p>
            <a:endParaRPr lang="es-419" dirty="0"/>
          </a:p>
          <a:p>
            <a:pPr marL="342900" indent="-342900">
              <a:buFont typeface="+mj-lt"/>
              <a:buAutoNum type="arabicPeriod" startAt="5"/>
            </a:pPr>
            <a:r>
              <a:rPr lang="es-419" dirty="0"/>
              <a:t>Restricciones Rígidas</a:t>
            </a:r>
          </a:p>
          <a:p>
            <a:r>
              <a:rPr lang="es-419" dirty="0"/>
              <a:t>      No debe exceder el 5%</a:t>
            </a:r>
          </a:p>
          <a:p>
            <a:pPr marL="342900" indent="-342900">
              <a:buAutoNum type="arabicPeriod" startAt="5"/>
            </a:pPr>
            <a:endParaRPr lang="es-419" dirty="0"/>
          </a:p>
          <a:p>
            <a:pPr marL="342900" indent="-342900">
              <a:buFont typeface="+mj-lt"/>
              <a:buAutoNum type="arabicPeriod" startAt="6"/>
            </a:pPr>
            <a:r>
              <a:rPr lang="es-419" dirty="0"/>
              <a:t>Holgura Máxima.</a:t>
            </a:r>
          </a:p>
          <a:p>
            <a:r>
              <a:rPr lang="es-419" dirty="0"/>
              <a:t>       No debe exceder el 5%.</a:t>
            </a:r>
          </a:p>
        </p:txBody>
      </p:sp>
    </p:spTree>
    <p:extLst>
      <p:ext uri="{BB962C8B-B14F-4D97-AF65-F5344CB8AC3E}">
        <p14:creationId xmlns:p14="http://schemas.microsoft.com/office/powerpoint/2010/main" val="60907054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B15A954F-74C8-50F7-A43D-FF1AF1EB637A}"/>
              </a:ext>
            </a:extLst>
          </p:cNvPr>
          <p:cNvSpPr txBox="1"/>
          <p:nvPr/>
        </p:nvSpPr>
        <p:spPr>
          <a:xfrm>
            <a:off x="1010826" y="519108"/>
            <a:ext cx="6097314" cy="523220"/>
          </a:xfrm>
          <a:prstGeom prst="rect">
            <a:avLst/>
          </a:prstGeom>
          <a:noFill/>
        </p:spPr>
        <p:txBody>
          <a:bodyPr wrap="square">
            <a:spAutoFit/>
          </a:bodyPr>
          <a:lstStyle/>
          <a:p>
            <a:r>
              <a:rPr lang="en-US" sz="2800" dirty="0" err="1"/>
              <a:t>Parametros</a:t>
            </a:r>
            <a:r>
              <a:rPr lang="en-US" sz="2800" dirty="0"/>
              <a:t> de </a:t>
            </a:r>
            <a:r>
              <a:rPr lang="en-US" sz="2800" dirty="0" err="1"/>
              <a:t>calidad</a:t>
            </a:r>
            <a:r>
              <a:rPr lang="en-US" sz="2800" dirty="0"/>
              <a:t> de Cronograma</a:t>
            </a:r>
          </a:p>
        </p:txBody>
      </p:sp>
      <p:sp>
        <p:nvSpPr>
          <p:cNvPr id="3" name="TextBox 2">
            <a:extLst>
              <a:ext uri="{FF2B5EF4-FFF2-40B4-BE49-F238E27FC236}">
                <a16:creationId xmlns:a16="http://schemas.microsoft.com/office/drawing/2014/main" id="{47374CDD-ED4E-C903-C00B-149C0A7304AB}"/>
              </a:ext>
            </a:extLst>
          </p:cNvPr>
          <p:cNvSpPr txBox="1"/>
          <p:nvPr/>
        </p:nvSpPr>
        <p:spPr>
          <a:xfrm>
            <a:off x="1013432" y="1415534"/>
            <a:ext cx="9703646" cy="4524315"/>
          </a:xfrm>
          <a:prstGeom prst="rect">
            <a:avLst/>
          </a:prstGeom>
          <a:noFill/>
        </p:spPr>
        <p:txBody>
          <a:bodyPr wrap="square">
            <a:spAutoFit/>
          </a:bodyPr>
          <a:lstStyle/>
          <a:p>
            <a:pPr marL="342900" indent="-342900">
              <a:buFont typeface="+mj-lt"/>
              <a:buAutoNum type="arabicPeriod" startAt="7"/>
            </a:pPr>
            <a:r>
              <a:rPr lang="es-419" dirty="0"/>
              <a:t>Holguras negativas (No se deben planificar este tipo de tareas con Holgura Negativa, por lo tanto su indicador es 0%.)</a:t>
            </a:r>
          </a:p>
          <a:p>
            <a:pPr marL="342900" indent="-342900">
              <a:buFont typeface="+mj-lt"/>
              <a:buAutoNum type="arabicPeriod" startAt="7"/>
            </a:pPr>
            <a:endParaRPr lang="es-419" dirty="0"/>
          </a:p>
          <a:p>
            <a:pPr marL="342900" indent="-342900">
              <a:buFont typeface="+mj-lt"/>
              <a:buAutoNum type="arabicPeriod" startAt="7"/>
            </a:pPr>
            <a:r>
              <a:rPr lang="es-419" dirty="0"/>
              <a:t>Máxima Duración de las Holguras. (No debe exceder el 5% de las tareas.)</a:t>
            </a:r>
          </a:p>
          <a:p>
            <a:pPr marL="342900" indent="-342900">
              <a:buFont typeface="+mj-lt"/>
              <a:buAutoNum type="arabicPeriod" startAt="7"/>
            </a:pPr>
            <a:endParaRPr lang="es-419" dirty="0"/>
          </a:p>
          <a:p>
            <a:pPr marL="342900" indent="-342900">
              <a:buFont typeface="+mj-lt"/>
              <a:buAutoNum type="arabicPeriod" startAt="7"/>
            </a:pPr>
            <a:r>
              <a:rPr lang="es-419" dirty="0"/>
              <a:t>Fechas inválidas (Este caso NO debe suceder por lo tanto el porcentaje es 0%)</a:t>
            </a:r>
          </a:p>
          <a:p>
            <a:pPr marL="342900" indent="-342900">
              <a:buFont typeface="+mj-lt"/>
              <a:buAutoNum type="arabicPeriod" startAt="7"/>
            </a:pPr>
            <a:endParaRPr lang="es-419" dirty="0"/>
          </a:p>
          <a:p>
            <a:pPr marL="342900" indent="-342900">
              <a:buFont typeface="+mj-lt"/>
              <a:buAutoNum type="arabicPeriod" startAt="7"/>
            </a:pPr>
            <a:r>
              <a:rPr lang="es-419" dirty="0"/>
              <a:t>Recursos (Todas las tareas deben poseer un recurso, por lo tanto el porcentaje es 0%.)</a:t>
            </a:r>
          </a:p>
          <a:p>
            <a:pPr marL="342900" indent="-342900">
              <a:buFont typeface="+mj-lt"/>
              <a:buAutoNum type="arabicPeriod" startAt="7"/>
            </a:pPr>
            <a:endParaRPr lang="es-419" dirty="0"/>
          </a:p>
          <a:p>
            <a:pPr marL="342900" indent="-342900">
              <a:buFont typeface="+mj-lt"/>
              <a:buAutoNum type="arabicPeriod" startAt="7"/>
            </a:pPr>
            <a:r>
              <a:rPr lang="es-419" dirty="0"/>
              <a:t>Tareas no ejecutadas (perdidas).(No debe exceder el 5% del total de las tareas.)</a:t>
            </a:r>
          </a:p>
          <a:p>
            <a:pPr marL="342900" indent="-342900">
              <a:buFont typeface="+mj-lt"/>
              <a:buAutoNum type="arabicPeriod" startAt="7"/>
            </a:pPr>
            <a:endParaRPr lang="es-419" dirty="0"/>
          </a:p>
          <a:p>
            <a:pPr marL="342900" indent="-342900">
              <a:buFont typeface="+mj-lt"/>
              <a:buAutoNum type="arabicPeriod" startAt="7"/>
            </a:pPr>
            <a:r>
              <a:rPr lang="es-419" dirty="0"/>
              <a:t>Prueba de la Ruta Crítica (Aprueba o se Desaprueba el Test o prueba.)</a:t>
            </a:r>
          </a:p>
          <a:p>
            <a:pPr marL="342900" indent="-342900">
              <a:buFont typeface="+mj-lt"/>
              <a:buAutoNum type="arabicPeriod" startAt="7"/>
            </a:pPr>
            <a:endParaRPr lang="es-419" dirty="0"/>
          </a:p>
          <a:p>
            <a:pPr marL="342900" indent="-342900">
              <a:buFont typeface="+mj-lt"/>
              <a:buAutoNum type="arabicPeriod" startAt="7"/>
            </a:pPr>
            <a:r>
              <a:rPr lang="es-419" dirty="0"/>
              <a:t>Índice de longitud de ruta crítica (Debe ser igual o superior a 0.95)</a:t>
            </a:r>
          </a:p>
          <a:p>
            <a:pPr marL="342900" indent="-342900">
              <a:buFont typeface="+mj-lt"/>
              <a:buAutoNum type="arabicPeriod" startAt="7"/>
            </a:pPr>
            <a:endParaRPr lang="es-419" dirty="0"/>
          </a:p>
          <a:p>
            <a:pPr marL="342900" indent="-342900">
              <a:buFont typeface="+mj-lt"/>
              <a:buAutoNum type="arabicPeriod" startAt="7"/>
            </a:pPr>
            <a:r>
              <a:rPr lang="es-419" dirty="0"/>
              <a:t>Índice de Ejecución de la línea base (Debe ser igual o superior a 0.95)</a:t>
            </a:r>
          </a:p>
        </p:txBody>
      </p:sp>
    </p:spTree>
    <p:extLst>
      <p:ext uri="{BB962C8B-B14F-4D97-AF65-F5344CB8AC3E}">
        <p14:creationId xmlns:p14="http://schemas.microsoft.com/office/powerpoint/2010/main" val="48020469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B15A954F-74C8-50F7-A43D-FF1AF1EB637A}"/>
              </a:ext>
            </a:extLst>
          </p:cNvPr>
          <p:cNvSpPr txBox="1"/>
          <p:nvPr/>
        </p:nvSpPr>
        <p:spPr>
          <a:xfrm>
            <a:off x="1010826" y="519108"/>
            <a:ext cx="6097314" cy="523220"/>
          </a:xfrm>
          <a:prstGeom prst="rect">
            <a:avLst/>
          </a:prstGeom>
          <a:noFill/>
        </p:spPr>
        <p:txBody>
          <a:bodyPr wrap="square">
            <a:spAutoFit/>
          </a:bodyPr>
          <a:lstStyle/>
          <a:p>
            <a:r>
              <a:rPr lang="en-US" sz="2800" dirty="0"/>
              <a:t>Reglas de </a:t>
            </a:r>
            <a:r>
              <a:rPr lang="en-US" sz="2800" dirty="0" err="1"/>
              <a:t>Credito</a:t>
            </a:r>
            <a:endParaRPr lang="en-US" sz="2800" dirty="0"/>
          </a:p>
        </p:txBody>
      </p:sp>
      <p:pic>
        <p:nvPicPr>
          <p:cNvPr id="2" name="Imagen 1">
            <a:extLst>
              <a:ext uri="{FF2B5EF4-FFF2-40B4-BE49-F238E27FC236}">
                <a16:creationId xmlns:a16="http://schemas.microsoft.com/office/drawing/2014/main" id="{B3BD28DF-D9E4-B43C-F628-DE991558D15C}"/>
              </a:ext>
            </a:extLst>
          </p:cNvPr>
          <p:cNvPicPr>
            <a:picLocks noChangeAspect="1"/>
          </p:cNvPicPr>
          <p:nvPr/>
        </p:nvPicPr>
        <p:blipFill>
          <a:blip r:embed="rId2"/>
          <a:stretch>
            <a:fillRect/>
          </a:stretch>
        </p:blipFill>
        <p:spPr>
          <a:xfrm>
            <a:off x="1600199" y="1146467"/>
            <a:ext cx="9165021" cy="4886027"/>
          </a:xfrm>
          <a:prstGeom prst="rect">
            <a:avLst/>
          </a:prstGeom>
        </p:spPr>
      </p:pic>
    </p:spTree>
    <p:extLst>
      <p:ext uri="{BB962C8B-B14F-4D97-AF65-F5344CB8AC3E}">
        <p14:creationId xmlns:p14="http://schemas.microsoft.com/office/powerpoint/2010/main" val="339208942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05381496"/>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301</TotalTime>
  <Words>1755</Words>
  <Application>Microsoft Office PowerPoint</Application>
  <PresentationFormat>Widescreen</PresentationFormat>
  <Paragraphs>117</Paragraphs>
  <Slides>25</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25</vt:i4>
      </vt:variant>
    </vt:vector>
  </HeadingPairs>
  <TitlesOfParts>
    <vt:vector size="34" baseType="lpstr">
      <vt:lpstr>-apple-system</vt:lpstr>
      <vt:lpstr>Arial</vt:lpstr>
      <vt:lpstr>Calibri</vt:lpstr>
      <vt:lpstr>Calibri Light</vt:lpstr>
      <vt:lpstr>Helvetica</vt:lpstr>
      <vt:lpstr>Prompt</vt:lpstr>
      <vt:lpstr>Symbol</vt:lpstr>
      <vt:lpstr>Times New Roman</vt:lpstr>
      <vt:lpstr>Tema de Office</vt:lpstr>
      <vt:lpstr>PowerPoint Presentation</vt:lpstr>
      <vt:lpstr>PowerPoint Presentation</vt:lpstr>
      <vt:lpstr>Módulo 4</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Ci5D2</dc:creator>
  <cp:lastModifiedBy>Carlos Romero (PERU)</cp:lastModifiedBy>
  <cp:revision>23</cp:revision>
  <dcterms:created xsi:type="dcterms:W3CDTF">2022-04-19T18:02:09Z</dcterms:created>
  <dcterms:modified xsi:type="dcterms:W3CDTF">2023-10-18T00:45:39Z</dcterms:modified>
</cp:coreProperties>
</file>